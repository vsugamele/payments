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4655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36576" cy="514350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0E7490"/>
                </a:solidFill>
              </a:rPr>
              <a:t>VISA INTERCHANGE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664208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 xml:space="preserve">Variáveis de </a:t>
            </a:r>
            <a:r>
              <a:rPr lang="en-US" sz="3400" b="1" dirty="0" err="1">
                <a:solidFill>
                  <a:srgbClr val="FFFFFF"/>
                </a:solidFill>
              </a:rPr>
              <a:t>Expressão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3063240"/>
            <a:ext cx="1463040" cy="457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94A3B8"/>
                </a:solidFill>
              </a:rPr>
              <a:t>Regras</a:t>
            </a:r>
            <a:r>
              <a:rPr lang="en-US" sz="1200" dirty="0">
                <a:solidFill>
                  <a:srgbClr val="94A3B8"/>
                </a:solidFill>
              </a:rPr>
              <a:t xml:space="preserve"> no sistema de Interchange Fee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749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BASE II · VIP · IRF Guide Brazil ·  — 2026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4251960"/>
            <a:ext cx="1737360" cy="685800"/>
          </a:xfrm>
          <a:prstGeom prst="roundRect">
            <a:avLst>
              <a:gd name="adj" fmla="val 13333"/>
            </a:avLst>
          </a:prstGeom>
          <a:solidFill>
            <a:srgbClr val="1E3A6E"/>
          </a:solidFill>
          <a:ln w="12700">
            <a:solidFill>
              <a:srgbClr val="2F549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48640" y="4279392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E7490"/>
                </a:solidFill>
              </a:rPr>
              <a:t>19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188720" y="429768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Variáveis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mapeadas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468880" y="4251960"/>
            <a:ext cx="1737360" cy="685800"/>
          </a:xfrm>
          <a:prstGeom prst="roundRect">
            <a:avLst>
              <a:gd name="adj" fmla="val 13333"/>
            </a:avLst>
          </a:prstGeom>
          <a:solidFill>
            <a:srgbClr val="1E3A6E"/>
          </a:solidFill>
          <a:ln w="12700">
            <a:solidFill>
              <a:srgbClr val="2F549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2560320" y="4279392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E7490"/>
                </a:solidFill>
              </a:rPr>
              <a:t>47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200400" y="429768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Regras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Visa BR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480560" y="4251960"/>
            <a:ext cx="1737360" cy="685800"/>
          </a:xfrm>
          <a:prstGeom prst="roundRect">
            <a:avLst>
              <a:gd name="adj" fmla="val 13333"/>
            </a:avLst>
          </a:prstGeom>
          <a:solidFill>
            <a:srgbClr val="1E3A6E"/>
          </a:solidFill>
          <a:ln w="12700">
            <a:solidFill>
              <a:srgbClr val="2F549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4572000" y="4279392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E7490"/>
                </a:solidFill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5212080" y="429768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Fontes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de dado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554480" cy="237744"/>
          </a:xfrm>
          <a:prstGeom prst="roundRect">
            <a:avLst>
              <a:gd name="adj" fmla="val 30769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20040" y="14630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VISÃO GERAL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50292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</a:rPr>
              <a:t>De onde vêm as variáveis?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102412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 xml:space="preserve">Cada variável usada nas </a:t>
            </a:r>
            <a:r>
              <a:rPr lang="en-US" sz="1050" dirty="0" err="1">
                <a:solidFill>
                  <a:srgbClr val="475569"/>
                </a:solidFill>
              </a:rPr>
              <a:t>expressões</a:t>
            </a:r>
            <a:r>
              <a:rPr lang="en-US" sz="1050" dirty="0">
                <a:solidFill>
                  <a:srgbClr val="475569"/>
                </a:solidFill>
              </a:rPr>
              <a:t xml:space="preserve"> </a:t>
            </a:r>
            <a:r>
              <a:rPr lang="en-US" sz="1050" dirty="0" err="1">
                <a:solidFill>
                  <a:srgbClr val="475569"/>
                </a:solidFill>
              </a:rPr>
              <a:t>tem</a:t>
            </a:r>
            <a:r>
              <a:rPr lang="en-US" sz="1050" dirty="0">
                <a:solidFill>
                  <a:srgbClr val="475569"/>
                </a:solidFill>
              </a:rPr>
              <a:t xml:space="preserve"> origem em um campo específico da transação Visa.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0040" y="1463040"/>
            <a:ext cx="2743200" cy="5943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411480" y="148132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📄  BASE II Clearing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773936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Arquivo de liquidação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(TC 05, TC 07, TC 15...)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0040" y="2057400"/>
            <a:ext cx="2743200" cy="290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429768" y="2203704"/>
            <a:ext cx="109728" cy="109728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94360" y="21488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SETTL_FLAG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29768" y="2505456"/>
            <a:ext cx="109728" cy="109728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594360" y="24505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TRAN_CODE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29768" y="2807208"/>
            <a:ext cx="109728" cy="109728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594360" y="275234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TCQ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29768" y="3108960"/>
            <a:ext cx="109728" cy="109728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594360" y="305409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BAI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29768" y="3410712"/>
            <a:ext cx="109728" cy="109728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594360" y="33558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MOTO_ECI_IND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29768" y="3712464"/>
            <a:ext cx="109728" cy="109728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594360" y="36576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POS_ENTRY_MODE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29768" y="4014216"/>
            <a:ext cx="109728" cy="109728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594360" y="39593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MVV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29768" y="4315968"/>
            <a:ext cx="109728" cy="109728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594360" y="426110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TIMELINESS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91840" y="1463040"/>
            <a:ext cx="2743200" cy="5943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3383280" y="148132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🗂️  Derivado do BIN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83280" y="1773936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Tabela de produtos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registrada na Visa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291840" y="2057400"/>
            <a:ext cx="274320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3401568" y="2203704"/>
            <a:ext cx="109728" cy="109728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3566160" y="21488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401568" y="2505456"/>
            <a:ext cx="109728" cy="109728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3566160" y="24505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PID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401568" y="2807208"/>
            <a:ext cx="109728" cy="109728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3566160" y="275234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SUBTYPE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401568" y="3108960"/>
            <a:ext cx="109728" cy="109728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/>
          <p:nvPr/>
        </p:nvSpPr>
        <p:spPr>
          <a:xfrm>
            <a:off x="3566160" y="305409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ISS_REG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263640" y="1463040"/>
            <a:ext cx="2743200" cy="594360"/>
          </a:xfrm>
          <a:prstGeom prst="rect">
            <a:avLst/>
          </a:prstGeom>
          <a:solidFill>
            <a:srgbClr val="2F5496"/>
          </a:solidFill>
          <a:ln w="12700">
            <a:solidFill>
              <a:srgbClr val="2F54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9" name="Text 37"/>
          <p:cNvSpPr/>
          <p:nvPr/>
        </p:nvSpPr>
        <p:spPr>
          <a:xfrm>
            <a:off x="6355080" y="148132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⚡  VIP / Autorização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355080" y="1773936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Campos retidos do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</a:rPr>
              <a:t>message ISO 8583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263640" y="2057400"/>
            <a:ext cx="274320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Shape 40"/>
          <p:cNvSpPr/>
          <p:nvPr/>
        </p:nvSpPr>
        <p:spPr>
          <a:xfrm>
            <a:off x="6373368" y="2203704"/>
            <a:ext cx="109728" cy="109728"/>
          </a:xfrm>
          <a:prstGeom prst="ellipse">
            <a:avLst/>
          </a:prstGeom>
          <a:solidFill>
            <a:srgbClr val="2F5496"/>
          </a:solidFill>
          <a:ln w="12700">
            <a:solidFill>
              <a:srgbClr val="2F549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3" name="Text 41"/>
          <p:cNvSpPr/>
          <p:nvPr/>
        </p:nvSpPr>
        <p:spPr>
          <a:xfrm>
            <a:off x="6537960" y="21488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RESP_CODE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373368" y="2505456"/>
            <a:ext cx="109728" cy="109728"/>
          </a:xfrm>
          <a:prstGeom prst="ellipse">
            <a:avLst/>
          </a:prstGeom>
          <a:solidFill>
            <a:srgbClr val="2F5496"/>
          </a:solidFill>
          <a:ln w="12700">
            <a:solidFill>
              <a:srgbClr val="2F549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5" name="Text 43"/>
          <p:cNvSpPr/>
          <p:nvPr/>
        </p:nvSpPr>
        <p:spPr>
          <a:xfrm>
            <a:off x="6537960" y="24505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AMOUNT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373368" y="2807208"/>
            <a:ext cx="109728" cy="109728"/>
          </a:xfrm>
          <a:prstGeom prst="ellipse">
            <a:avLst/>
          </a:prstGeom>
          <a:solidFill>
            <a:srgbClr val="2F5496"/>
          </a:solidFill>
          <a:ln w="12700">
            <a:solidFill>
              <a:srgbClr val="2F549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7" name="Text 45"/>
          <p:cNvSpPr/>
          <p:nvPr/>
        </p:nvSpPr>
        <p:spPr>
          <a:xfrm>
            <a:off x="6537960" y="275234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MCC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373368" y="3108960"/>
            <a:ext cx="109728" cy="109728"/>
          </a:xfrm>
          <a:prstGeom prst="ellipse">
            <a:avLst/>
          </a:prstGeom>
          <a:solidFill>
            <a:srgbClr val="2F5496"/>
          </a:solidFill>
          <a:ln w="12700">
            <a:solidFill>
              <a:srgbClr val="2F549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9" name="Text 47"/>
          <p:cNvSpPr/>
          <p:nvPr/>
        </p:nvSpPr>
        <p:spPr>
          <a:xfrm>
            <a:off x="6537960" y="305409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373368" y="3410712"/>
            <a:ext cx="109728" cy="109728"/>
          </a:xfrm>
          <a:prstGeom prst="ellipse">
            <a:avLst/>
          </a:prstGeom>
          <a:solidFill>
            <a:srgbClr val="2F5496"/>
          </a:solidFill>
          <a:ln w="12700">
            <a:solidFill>
              <a:srgbClr val="2F549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1" name="Text 49"/>
          <p:cNvSpPr/>
          <p:nvPr/>
        </p:nvSpPr>
        <p:spPr>
          <a:xfrm>
            <a:off x="594360" y="45631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SPI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29768" y="4617984"/>
            <a:ext cx="109728" cy="109728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3" name="Text 51"/>
          <p:cNvSpPr/>
          <p:nvPr/>
        </p:nvSpPr>
        <p:spPr>
          <a:xfrm>
            <a:off x="6537960" y="36576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TAD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3063240" y="3383280"/>
            <a:ext cx="2286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pt-BR"/>
          </a:p>
        </p:txBody>
      </p:sp>
      <p:sp>
        <p:nvSpPr>
          <p:cNvPr id="55" name="Shape 53"/>
          <p:cNvSpPr/>
          <p:nvPr/>
        </p:nvSpPr>
        <p:spPr>
          <a:xfrm>
            <a:off x="6035040" y="3383280"/>
            <a:ext cx="2286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554480" cy="237744"/>
          </a:xfrm>
          <a:prstGeom prst="roundRect">
            <a:avLst>
              <a:gd name="adj" fmla="val 30769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20040" y="14630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CAMPOS FUNDAMENTAIS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50292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</a:rPr>
              <a:t>SETTL_FLAG  e  AFS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100584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Presentes em quase todas as regras — definem jurisdição e tipo de conta.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429768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320040" y="1371600"/>
            <a:ext cx="429768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11480" y="138988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SETTL_FLAG  —  Settlement Flag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4A3B8"/>
                </a:solidFill>
              </a:rPr>
              <a:t>Origem: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463040" y="182880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38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TCR 0, posição 150  |  Campo BASE II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57200" y="20848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4A3B8"/>
                </a:solidFill>
              </a:rPr>
              <a:t>Valores: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7200" y="2304288"/>
            <a:ext cx="4023360" cy="347472"/>
          </a:xfrm>
          <a:prstGeom prst="rect">
            <a:avLst/>
          </a:prstGeom>
          <a:solidFill>
            <a:srgbClr val="D6E4F7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502920" y="2368296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02920" y="234086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'8'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60120" y="2377440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NNSS doméstico (Brasil → Brasil)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688336"/>
            <a:ext cx="402336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502920" y="275234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502920" y="272491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'9'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60120" y="2761488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NNSS doméstico (padrão recomendado)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072384"/>
            <a:ext cx="4023360" cy="347472"/>
          </a:xfrm>
          <a:prstGeom prst="rect">
            <a:avLst/>
          </a:prstGeom>
          <a:solidFill>
            <a:srgbClr val="D6E4F7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502920" y="3136392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502920" y="310896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'0'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60120" y="3145536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Internacional / cross-border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349300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F6000"/>
                </a:solidFill>
              </a:rPr>
              <a:t>⚠️  Regras NNSS usam IN ('8','9'). Regras internacionais usam ='0'. Nunca misture.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800600" y="1371600"/>
            <a:ext cx="402336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4800600" y="1371600"/>
            <a:ext cx="4023360" cy="34747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4892040" y="138988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AFS  —  Account Funding Source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37760" y="18288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4A3B8"/>
                </a:solidFill>
              </a:rPr>
              <a:t>Origem: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852160" y="1828800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Derivado da tabela de BIN Ranges Visa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937760" y="20848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4A3B8"/>
                </a:solidFill>
              </a:rPr>
              <a:t>Valores: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937760" y="2304288"/>
            <a:ext cx="3749040" cy="274320"/>
          </a:xfrm>
          <a:prstGeom prst="rect">
            <a:avLst/>
          </a:prstGeom>
          <a:solidFill>
            <a:srgbClr val="CFFAFE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Shape 30"/>
          <p:cNvSpPr/>
          <p:nvPr/>
        </p:nvSpPr>
        <p:spPr>
          <a:xfrm>
            <a:off x="4974336" y="2340864"/>
            <a:ext cx="347472" cy="201168"/>
          </a:xfrm>
          <a:prstGeom prst="roundRect">
            <a:avLst>
              <a:gd name="adj" fmla="val 22727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4974336" y="2322576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'C'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394960" y="235915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Crédito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937760" y="2615184"/>
            <a:ext cx="374904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Shape 34"/>
          <p:cNvSpPr/>
          <p:nvPr/>
        </p:nvSpPr>
        <p:spPr>
          <a:xfrm>
            <a:off x="4974336" y="2651760"/>
            <a:ext cx="347472" cy="201168"/>
          </a:xfrm>
          <a:prstGeom prst="roundRect">
            <a:avLst>
              <a:gd name="adj" fmla="val 22727"/>
            </a:avLst>
          </a:prstGeom>
          <a:solidFill>
            <a:srgbClr val="2F5496"/>
          </a:solidFill>
          <a:ln w="12700">
            <a:solidFill>
              <a:srgbClr val="2F549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/>
          <p:nvPr/>
        </p:nvSpPr>
        <p:spPr>
          <a:xfrm>
            <a:off x="4974336" y="2633472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'D'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394960" y="267004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Débito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937760" y="2926080"/>
            <a:ext cx="3749040" cy="274320"/>
          </a:xfrm>
          <a:prstGeom prst="rect">
            <a:avLst/>
          </a:prstGeom>
          <a:solidFill>
            <a:srgbClr val="CFFAFE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0" name="Shape 38"/>
          <p:cNvSpPr/>
          <p:nvPr/>
        </p:nvSpPr>
        <p:spPr>
          <a:xfrm>
            <a:off x="4974336" y="2962656"/>
            <a:ext cx="347472" cy="201168"/>
          </a:xfrm>
          <a:prstGeom prst="roundRect">
            <a:avLst>
              <a:gd name="adj" fmla="val 22727"/>
            </a:avLst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1" name="Text 39"/>
          <p:cNvSpPr/>
          <p:nvPr/>
        </p:nvSpPr>
        <p:spPr>
          <a:xfrm>
            <a:off x="4974336" y="2944368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'P'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394960" y="298094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Pré-pago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937760" y="3236976"/>
            <a:ext cx="374904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4" name="Shape 42"/>
          <p:cNvSpPr/>
          <p:nvPr/>
        </p:nvSpPr>
        <p:spPr>
          <a:xfrm>
            <a:off x="4974336" y="3273552"/>
            <a:ext cx="347472" cy="201168"/>
          </a:xfrm>
          <a:prstGeom prst="roundRect">
            <a:avLst>
              <a:gd name="adj" fmla="val 22727"/>
            </a:avLst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5" name="Text 43"/>
          <p:cNvSpPr/>
          <p:nvPr/>
        </p:nvSpPr>
        <p:spPr>
          <a:xfrm>
            <a:off x="4974336" y="3255264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'H'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394960" y="329184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Charge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937760" y="3547872"/>
            <a:ext cx="3749040" cy="274320"/>
          </a:xfrm>
          <a:prstGeom prst="rect">
            <a:avLst/>
          </a:prstGeom>
          <a:solidFill>
            <a:srgbClr val="CFFAFE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8" name="Shape 46"/>
          <p:cNvSpPr/>
          <p:nvPr/>
        </p:nvSpPr>
        <p:spPr>
          <a:xfrm>
            <a:off x="4974336" y="3584448"/>
            <a:ext cx="347472" cy="201168"/>
          </a:xfrm>
          <a:prstGeom prst="roundRect">
            <a:avLst>
              <a:gd name="adj" fmla="val 22727"/>
            </a:avLst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9" name="Text 47"/>
          <p:cNvSpPr/>
          <p:nvPr/>
        </p:nvSpPr>
        <p:spPr>
          <a:xfrm>
            <a:off x="4974336" y="3566160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'R'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394960" y="360273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Deferred Debit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937760" y="391363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0E7490"/>
                </a:solidFill>
              </a:rPr>
              <a:t>ℹ️  AFS é determinado automaticamente pelo BIN Range — não enviado na transação.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320040" y="4270000"/>
            <a:ext cx="8503920" cy="731520"/>
          </a:xfrm>
          <a:prstGeom prst="rect">
            <a:avLst/>
          </a:prstGeom>
          <a:solidFill>
            <a:srgbClr val="D6E4F7"/>
          </a:solidFill>
          <a:ln w="635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3" name="Text 51"/>
          <p:cNvSpPr/>
          <p:nvPr/>
        </p:nvSpPr>
        <p:spPr>
          <a:xfrm>
            <a:off x="457200" y="43060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3864"/>
                </a:solidFill>
              </a:rPr>
              <a:t>🔒  Trava Geográfica: ACQR_COUNTRY_CODE e ISSR_COUNTRY_CODE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457200" y="4580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 xml:space="preserve">O SETTL_FLAG identifica o tipo de liquidação, mas não é suficiente isoladamente. O código de país </a:t>
            </a:r>
            <a:r>
              <a:rPr lang="en-US" sz="800" b="1" dirty="0">
                <a:solidFill>
                  <a:srgbClr val="1F38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076 (Brasil)</a:t>
            </a:r>
            <a:r>
              <a:rPr lang="en-US" sz="800" dirty="0">
                <a:solidFill>
                  <a:srgbClr val="1E293B"/>
                </a:solidFill>
              </a:rPr>
              <a:t xml:space="preserve"> é o que garante que a transação é doméstica.</a:t>
            </a:r>
            <a:endParaRPr lang="en-US" sz="800" dirty="0"/>
          </a:p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</a:rPr>
              <a:t>ISSR_COUNTRY_CODE:</a:t>
            </a:r>
            <a:r>
              <a:rPr lang="en-US" sz="800" dirty="0">
                <a:solidFill>
                  <a:srgbClr val="1E293B"/>
                </a:solidFill>
              </a:rPr>
              <a:t xml:space="preserve"> VIP Field 19 / Field 43 (autorização) ou TCR 0, pos. 130-132 (clearing)  |  </a:t>
            </a:r>
            <a:r>
              <a:rPr lang="en-US" sz="800" b="1" dirty="0">
                <a:solidFill>
                  <a:srgbClr val="1E293B"/>
                </a:solidFill>
              </a:rPr>
              <a:t>ACQR_COUNTRY_CODE:</a:t>
            </a:r>
            <a:r>
              <a:rPr lang="en-US" sz="800" dirty="0">
                <a:solidFill>
                  <a:srgbClr val="1E293B"/>
                </a:solidFill>
              </a:rPr>
              <a:t xml:space="preserve"> derivado do BIN adquirente (análogo ao ISSR_COUNTRY_CODE)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554480" cy="237744"/>
          </a:xfrm>
          <a:prstGeom prst="roundRect">
            <a:avLst>
              <a:gd name="adj" fmla="val 30769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20040" y="14630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PRODUTO &amp; REGIÃO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50292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</a:rPr>
              <a:t>PID, SUBTYPE, ISS_REG  e  ACQR_REG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100584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Identificam o produto Visa, o subtipo e a região do emissor — todos derivados do BIN.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429768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320040" y="1371600"/>
            <a:ext cx="4297680" cy="32918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11480" y="13898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PID — Product ID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75564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Posição: derivado do BIN Range (Visa Product Table)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11480" y="2066544"/>
            <a:ext cx="457200" cy="182880"/>
          </a:xfrm>
          <a:prstGeom prst="roundRect">
            <a:avLst>
              <a:gd name="adj" fmla="val 20000"/>
            </a:avLst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11480" y="204825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I^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914400" y="208483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Infinite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11480" y="2340864"/>
            <a:ext cx="457200" cy="18288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11480" y="232257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I1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914400" y="235915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HNW / Signature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11480" y="2615184"/>
            <a:ext cx="457200" cy="182880"/>
          </a:xfrm>
          <a:prstGeom prst="roundRect">
            <a:avLst>
              <a:gd name="adj" fmla="val 20000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411480" y="259689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F^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914400" y="263347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Classic / CLS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11480" y="2889504"/>
            <a:ext cx="457200" cy="182880"/>
          </a:xfrm>
          <a:prstGeom prst="roundRect">
            <a:avLst>
              <a:gd name="adj" fmla="val 20000"/>
            </a:avLst>
          </a:prstGeom>
          <a:solidFill>
            <a:srgbClr val="2F5496"/>
          </a:solidFill>
          <a:ln w="12700">
            <a:solidFill>
              <a:srgbClr val="2F549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411480" y="287121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N^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14400" y="290779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Platinum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11480" y="3163824"/>
            <a:ext cx="457200" cy="182880"/>
          </a:xfrm>
          <a:prstGeom prst="roundRect">
            <a:avLst>
              <a:gd name="adj" fmla="val 20000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411480" y="31455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P^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14400" y="318211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Gold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514600" y="2066544"/>
            <a:ext cx="457200" cy="182880"/>
          </a:xfrm>
          <a:prstGeom prst="roundRect">
            <a:avLst>
              <a:gd name="adj" fmla="val 20000"/>
            </a:avLst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2514600" y="204825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S6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017520" y="208483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BNDES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514600" y="2340864"/>
            <a:ext cx="457200" cy="18288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2514600" y="232257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J3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017520" y="235915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Vale (Benefício)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514600" y="2615184"/>
            <a:ext cx="457200" cy="182880"/>
          </a:xfrm>
          <a:prstGeom prst="roundRect">
            <a:avLst>
              <a:gd name="adj" fmla="val 20000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2514600" y="259689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S4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3017520" y="263347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Agro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514600" y="2889504"/>
            <a:ext cx="457200" cy="182880"/>
          </a:xfrm>
          <a:prstGeom prst="roundRect">
            <a:avLst>
              <a:gd name="adj" fmla="val 20000"/>
            </a:avLst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2514600" y="287121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X^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3017520" y="290779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B2B Virtual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514600" y="3163824"/>
            <a:ext cx="457200" cy="182880"/>
          </a:xfrm>
          <a:prstGeom prst="roundRect">
            <a:avLst>
              <a:gd name="adj" fmla="val 20000"/>
            </a:avLst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2514600" y="31455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K^/S^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3017520" y="318211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Corp Travel CTA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800600" y="1371600"/>
            <a:ext cx="18288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1" name="Shape 39"/>
          <p:cNvSpPr/>
          <p:nvPr/>
        </p:nvSpPr>
        <p:spPr>
          <a:xfrm>
            <a:off x="4800600" y="1371600"/>
            <a:ext cx="1828800" cy="310896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Text 40"/>
          <p:cNvSpPr/>
          <p:nvPr/>
        </p:nvSpPr>
        <p:spPr>
          <a:xfrm>
            <a:off x="4892040" y="138988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SUBTYPE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892040" y="173736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Derivado do BIN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4892040" y="1975104"/>
            <a:ext cx="502920" cy="201168"/>
          </a:xfrm>
          <a:prstGeom prst="roundRect">
            <a:avLst>
              <a:gd name="adj" fmla="val 18182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5" name="Text 43"/>
          <p:cNvSpPr/>
          <p:nvPr/>
        </p:nvSpPr>
        <p:spPr>
          <a:xfrm>
            <a:off x="4892040" y="195681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'VA'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5440680" y="1993392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Vale Alim.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892040" y="2267712"/>
            <a:ext cx="502920" cy="201168"/>
          </a:xfrm>
          <a:prstGeom prst="roundRect">
            <a:avLst>
              <a:gd name="adj" fmla="val 18182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8" name="Text 46"/>
          <p:cNvSpPr/>
          <p:nvPr/>
        </p:nvSpPr>
        <p:spPr>
          <a:xfrm>
            <a:off x="4892040" y="2249424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'VR'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5440680" y="2286000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Vale Ref.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892040" y="2560320"/>
            <a:ext cx="502920" cy="201168"/>
          </a:xfrm>
          <a:prstGeom prst="roundRect">
            <a:avLst>
              <a:gd name="adj" fmla="val 18182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1" name="Text 49"/>
          <p:cNvSpPr/>
          <p:nvPr/>
        </p:nvSpPr>
        <p:spPr>
          <a:xfrm>
            <a:off x="4892040" y="2542032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'VCUS'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5440680" y="2578608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Agro Cust.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6812280" y="1371600"/>
            <a:ext cx="201168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4" name="Shape 52"/>
          <p:cNvSpPr/>
          <p:nvPr/>
        </p:nvSpPr>
        <p:spPr>
          <a:xfrm>
            <a:off x="6812280" y="1371600"/>
            <a:ext cx="2011680" cy="310896"/>
          </a:xfrm>
          <a:prstGeom prst="rect">
            <a:avLst/>
          </a:prstGeom>
          <a:solidFill>
            <a:srgbClr val="2F5496"/>
          </a:solidFill>
          <a:ln w="12700">
            <a:solidFill>
              <a:srgbClr val="2F549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5" name="Text 53"/>
          <p:cNvSpPr/>
          <p:nvPr/>
        </p:nvSpPr>
        <p:spPr>
          <a:xfrm>
            <a:off x="6903720" y="13898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ISS_REG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903720" y="17373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Derivado do BIN (região ISO)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6903720" y="1975104"/>
            <a:ext cx="475488" cy="219456"/>
          </a:xfrm>
          <a:prstGeom prst="roundRect">
            <a:avLst>
              <a:gd name="adj" fmla="val 16667"/>
            </a:avLst>
          </a:prstGeom>
          <a:solidFill>
            <a:srgbClr val="2F5496"/>
          </a:solidFill>
          <a:ln w="12700">
            <a:solidFill>
              <a:srgbClr val="2F549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8" name="Text 56"/>
          <p:cNvSpPr/>
          <p:nvPr/>
        </p:nvSpPr>
        <p:spPr>
          <a:xfrm>
            <a:off x="6903720" y="1956816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'5'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7434072" y="1993392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LAC — Latin America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6903720" y="2377440"/>
            <a:ext cx="475488" cy="219456"/>
          </a:xfrm>
          <a:prstGeom prst="roundRect">
            <a:avLst>
              <a:gd name="adj" fmla="val 16667"/>
            </a:avLst>
          </a:prstGeom>
          <a:solidFill>
            <a:srgbClr val="2F5496"/>
          </a:solidFill>
          <a:ln w="12700">
            <a:solidFill>
              <a:srgbClr val="2F549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1" name="Text 59"/>
          <p:cNvSpPr/>
          <p:nvPr/>
        </p:nvSpPr>
        <p:spPr>
          <a:xfrm>
            <a:off x="6903720" y="2359152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≠'5'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7434072" y="2395728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Internacional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4800600" y="3246120"/>
            <a:ext cx="4023360" cy="1417320"/>
          </a:xfrm>
          <a:prstGeom prst="rect">
            <a:avLst/>
          </a:prstGeom>
          <a:solidFill>
            <a:srgbClr val="D6E4F7"/>
          </a:solidFill>
          <a:ln w="635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4" name="Text 62"/>
          <p:cNvSpPr/>
          <p:nvPr/>
        </p:nvSpPr>
        <p:spPr>
          <a:xfrm>
            <a:off x="4937760" y="331012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3864"/>
                </a:solidFill>
              </a:rPr>
              <a:t>Como obter PID, AFS, SUBTYPE, ISS_REG e ACQR_REG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4937760" y="3602736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</a:rPr>
              <a:t xml:space="preserve">1. </a:t>
            </a:r>
            <a:r>
              <a:rPr lang="en-US" sz="800" dirty="0">
                <a:solidFill>
                  <a:srgbClr val="1E293B"/>
                </a:solidFill>
              </a:rPr>
              <a:t>Receber o PAN na autorização (VIP Field 2)
</a:t>
            </a:r>
            <a:r>
              <a:rPr lang="en-US" sz="800" b="1" dirty="0">
                <a:solidFill>
                  <a:srgbClr val="1E293B"/>
                </a:solidFill>
              </a:rPr>
              <a:t xml:space="preserve">2. </a:t>
            </a:r>
            <a:r>
              <a:rPr lang="en-US" sz="800" dirty="0">
                <a:solidFill>
                  <a:srgbClr val="1E293B"/>
                </a:solidFill>
              </a:rPr>
              <a:t>Consultar BIN Range table (IP0015T1 / IP0016T1 no MPE)
</a:t>
            </a:r>
            <a:r>
              <a:rPr lang="en-US" sz="800" b="1" dirty="0">
                <a:solidFill>
                  <a:srgbClr val="1E293B"/>
                </a:solidFill>
              </a:rPr>
              <a:t xml:space="preserve">3. </a:t>
            </a:r>
            <a:r>
              <a:rPr lang="en-US" sz="800" dirty="0">
                <a:solidFill>
                  <a:srgbClr val="1E293B"/>
                </a:solidFill>
              </a:rPr>
              <a:t>Extrair: Product ID, AFS type, Subtype, ISS_REG (região emissor).
ACQR_REG é derivado analogamente do BIN do adquirente (mesmos códigos de região Visa: 1=US 2=CA 3=EU 4=AP 5=LAC 6=CEMEA). Para regras inter-regionais, o motor compara ISS_REG com ACQR_REG.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554480" cy="237744"/>
          </a:xfrm>
          <a:prstGeom prst="roundRect">
            <a:avLst>
              <a:gd name="adj" fmla="val 30769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20040" y="14630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PRESENÇA &amp; eCommerce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50292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3864"/>
                </a:solidFill>
              </a:rPr>
              <a:t>POS_ENTRY_MODE  e  MOTO_ECI_IND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100584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Determinam se a transação é presencial e se tem autenticação Visa Secure (3DS).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48463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320040" y="1371600"/>
            <a:ext cx="4846320" cy="32918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11480" y="138988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POS_ENTRY_MODE  (TCR 0, pos. 162-163  |  VIP Field 22)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77393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4A3B8"/>
                </a:solidFill>
              </a:rPr>
              <a:t>Valores que indicam Card Present (presencial):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4572000" cy="246888"/>
          </a:xfrm>
          <a:prstGeom prst="rect">
            <a:avLst/>
          </a:prstGeom>
          <a:solidFill>
            <a:srgbClr val="DCFCE7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93776" y="2039112"/>
            <a:ext cx="310896" cy="182880"/>
          </a:xfrm>
          <a:prstGeom prst="roundRect">
            <a:avLst>
              <a:gd name="adj" fmla="val 20000"/>
            </a:avLst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93776" y="2020824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859536" y="2048256"/>
            <a:ext cx="822960" cy="164592"/>
          </a:xfrm>
          <a:prstGeom prst="roundRect">
            <a:avLst>
              <a:gd name="adj" fmla="val 16667"/>
            </a:avLst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859536" y="202996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Card Present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1755648" y="204825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Tarja magnética (lida)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57200" y="2286000"/>
            <a:ext cx="4572000" cy="246888"/>
          </a:xfrm>
          <a:prstGeom prst="rect">
            <a:avLst/>
          </a:prstGeom>
          <a:solidFill>
            <a:srgbClr val="DCFCE7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493776" y="2313432"/>
            <a:ext cx="310896" cy="182880"/>
          </a:xfrm>
          <a:prstGeom prst="roundRect">
            <a:avLst>
              <a:gd name="adj" fmla="val 20000"/>
            </a:avLst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93776" y="2295144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859536" y="2322576"/>
            <a:ext cx="822960" cy="164592"/>
          </a:xfrm>
          <a:prstGeom prst="roundRect">
            <a:avLst>
              <a:gd name="adj" fmla="val 16667"/>
            </a:avLst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859536" y="230428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Card Present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1755648" y="232257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Código de barras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" y="2560320"/>
            <a:ext cx="4572000" cy="246888"/>
          </a:xfrm>
          <a:prstGeom prst="rect">
            <a:avLst/>
          </a:prstGeom>
          <a:solidFill>
            <a:srgbClr val="DCFCE7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493776" y="2587752"/>
            <a:ext cx="310896" cy="182880"/>
          </a:xfrm>
          <a:prstGeom prst="roundRect">
            <a:avLst>
              <a:gd name="adj" fmla="val 20000"/>
            </a:avLst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493776" y="2569464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859536" y="2596896"/>
            <a:ext cx="822960" cy="164592"/>
          </a:xfrm>
          <a:prstGeom prst="roundRect">
            <a:avLst>
              <a:gd name="adj" fmla="val 16667"/>
            </a:avLst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859536" y="257860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Card Present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1755648" y="25968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Chip EMV (contato)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57200" y="2834640"/>
            <a:ext cx="4572000" cy="246888"/>
          </a:xfrm>
          <a:prstGeom prst="rect">
            <a:avLst/>
          </a:prstGeom>
          <a:solidFill>
            <a:srgbClr val="DCFCE7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Shape 27"/>
          <p:cNvSpPr/>
          <p:nvPr/>
        </p:nvSpPr>
        <p:spPr>
          <a:xfrm>
            <a:off x="493776" y="2862072"/>
            <a:ext cx="310896" cy="182880"/>
          </a:xfrm>
          <a:prstGeom prst="roundRect">
            <a:avLst>
              <a:gd name="adj" fmla="val 20000"/>
            </a:avLst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493776" y="2843784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859536" y="2871216"/>
            <a:ext cx="822960" cy="164592"/>
          </a:xfrm>
          <a:prstGeom prst="roundRect">
            <a:avLst>
              <a:gd name="adj" fmla="val 16667"/>
            </a:avLst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859536" y="28529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Card Present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1755648" y="287121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Contactless / NFC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57200" y="3108960"/>
            <a:ext cx="4572000" cy="246888"/>
          </a:xfrm>
          <a:prstGeom prst="rect">
            <a:avLst/>
          </a:prstGeom>
          <a:solidFill>
            <a:srgbClr val="DCFCE7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Shape 33"/>
          <p:cNvSpPr/>
          <p:nvPr/>
        </p:nvSpPr>
        <p:spPr>
          <a:xfrm>
            <a:off x="493776" y="3136392"/>
            <a:ext cx="310896" cy="182880"/>
          </a:xfrm>
          <a:prstGeom prst="roundRect">
            <a:avLst>
              <a:gd name="adj" fmla="val 20000"/>
            </a:avLst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493776" y="3118104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859536" y="3145536"/>
            <a:ext cx="822960" cy="164592"/>
          </a:xfrm>
          <a:prstGeom prst="roundRect">
            <a:avLst>
              <a:gd name="adj" fmla="val 16667"/>
            </a:avLst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859536" y="312724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Card Present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1755648" y="314553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Tarja magnética (fallback)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57200" y="3383280"/>
            <a:ext cx="4572000" cy="246888"/>
          </a:xfrm>
          <a:prstGeom prst="rect">
            <a:avLst/>
          </a:prstGeom>
          <a:solidFill>
            <a:srgbClr val="DCFCE7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1" name="Shape 39"/>
          <p:cNvSpPr/>
          <p:nvPr/>
        </p:nvSpPr>
        <p:spPr>
          <a:xfrm>
            <a:off x="493776" y="3410712"/>
            <a:ext cx="310896" cy="182880"/>
          </a:xfrm>
          <a:prstGeom prst="roundRect">
            <a:avLst>
              <a:gd name="adj" fmla="val 20000"/>
            </a:avLst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Text 40"/>
          <p:cNvSpPr/>
          <p:nvPr/>
        </p:nvSpPr>
        <p:spPr>
          <a:xfrm>
            <a:off x="493776" y="3392424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91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859536" y="3419856"/>
            <a:ext cx="822960" cy="164592"/>
          </a:xfrm>
          <a:prstGeom prst="roundRect">
            <a:avLst>
              <a:gd name="adj" fmla="val 16667"/>
            </a:avLst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4" name="Text 42"/>
          <p:cNvSpPr/>
          <p:nvPr/>
        </p:nvSpPr>
        <p:spPr>
          <a:xfrm>
            <a:off x="859536" y="340156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Card Present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1755648" y="341985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Contactless fallback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57200" y="3657600"/>
            <a:ext cx="4572000" cy="246888"/>
          </a:xfrm>
          <a:prstGeom prst="rect">
            <a:avLst/>
          </a:prstGeom>
          <a:solidFill>
            <a:srgbClr val="DCFCE7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7" name="Shape 45"/>
          <p:cNvSpPr/>
          <p:nvPr/>
        </p:nvSpPr>
        <p:spPr>
          <a:xfrm>
            <a:off x="493776" y="3685032"/>
            <a:ext cx="310896" cy="182880"/>
          </a:xfrm>
          <a:prstGeom prst="roundRect">
            <a:avLst>
              <a:gd name="adj" fmla="val 20000"/>
            </a:avLst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8" name="Text 46"/>
          <p:cNvSpPr/>
          <p:nvPr/>
        </p:nvSpPr>
        <p:spPr>
          <a:xfrm>
            <a:off x="493776" y="3666744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95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859536" y="3694176"/>
            <a:ext cx="822960" cy="164592"/>
          </a:xfrm>
          <a:prstGeom prst="roundRect">
            <a:avLst>
              <a:gd name="adj" fmla="val 16667"/>
            </a:avLst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0" name="Text 48"/>
          <p:cNvSpPr/>
          <p:nvPr/>
        </p:nvSpPr>
        <p:spPr>
          <a:xfrm>
            <a:off x="859536" y="367588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Card Present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1755648" y="369417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Chip fallback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457200" y="3931920"/>
            <a:ext cx="4572000" cy="246888"/>
          </a:xfrm>
          <a:prstGeom prst="rect">
            <a:avLst/>
          </a:prstGeom>
          <a:solidFill>
            <a:srgbClr val="FEE2E2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3" name="Shape 51"/>
          <p:cNvSpPr/>
          <p:nvPr/>
        </p:nvSpPr>
        <p:spPr>
          <a:xfrm>
            <a:off x="493776" y="3959352"/>
            <a:ext cx="310896" cy="182880"/>
          </a:xfrm>
          <a:prstGeom prst="roundRect">
            <a:avLst>
              <a:gd name="adj" fmla="val 20000"/>
            </a:avLst>
          </a:prstGeom>
          <a:solidFill>
            <a:srgbClr val="9B1C1C"/>
          </a:solidFill>
          <a:ln w="12700">
            <a:solidFill>
              <a:srgbClr val="9B1C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4" name="Text 52"/>
          <p:cNvSpPr/>
          <p:nvPr/>
        </p:nvSpPr>
        <p:spPr>
          <a:xfrm>
            <a:off x="493776" y="3941064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859536" y="3968496"/>
            <a:ext cx="822960" cy="164592"/>
          </a:xfrm>
          <a:prstGeom prst="roundRect">
            <a:avLst>
              <a:gd name="adj" fmla="val 16667"/>
            </a:avLst>
          </a:prstGeom>
          <a:solidFill>
            <a:srgbClr val="9B1C1C"/>
          </a:solidFill>
          <a:ln w="12700">
            <a:solidFill>
              <a:srgbClr val="9B1C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6" name="Text 54"/>
          <p:cNvSpPr/>
          <p:nvPr/>
        </p:nvSpPr>
        <p:spPr>
          <a:xfrm>
            <a:off x="859536" y="395020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Card Not Present</a:t>
            </a:r>
            <a:endParaRPr lang="en-US" sz="650" dirty="0"/>
          </a:p>
        </p:txBody>
      </p:sp>
      <p:sp>
        <p:nvSpPr>
          <p:cNvPr id="57" name="Text 55"/>
          <p:cNvSpPr/>
          <p:nvPr/>
        </p:nvSpPr>
        <p:spPr>
          <a:xfrm>
            <a:off x="1755648" y="39684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Manual / MOTO / Digitado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57200" y="4206240"/>
            <a:ext cx="4572000" cy="246888"/>
          </a:xfrm>
          <a:prstGeom prst="rect">
            <a:avLst/>
          </a:prstGeom>
          <a:solidFill>
            <a:srgbClr val="FEE2E2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9" name="Shape 57"/>
          <p:cNvSpPr/>
          <p:nvPr/>
        </p:nvSpPr>
        <p:spPr>
          <a:xfrm>
            <a:off x="493776" y="4233672"/>
            <a:ext cx="310896" cy="182880"/>
          </a:xfrm>
          <a:prstGeom prst="roundRect">
            <a:avLst>
              <a:gd name="adj" fmla="val 20000"/>
            </a:avLst>
          </a:prstGeom>
          <a:solidFill>
            <a:srgbClr val="9B1C1C"/>
          </a:solidFill>
          <a:ln w="12700">
            <a:solidFill>
              <a:srgbClr val="9B1C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0" name="Text 58"/>
          <p:cNvSpPr/>
          <p:nvPr/>
        </p:nvSpPr>
        <p:spPr>
          <a:xfrm>
            <a:off x="493776" y="4215384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859536" y="4242816"/>
            <a:ext cx="822960" cy="164592"/>
          </a:xfrm>
          <a:prstGeom prst="roundRect">
            <a:avLst>
              <a:gd name="adj" fmla="val 16667"/>
            </a:avLst>
          </a:prstGeom>
          <a:solidFill>
            <a:srgbClr val="9B1C1C"/>
          </a:solidFill>
          <a:ln w="12700">
            <a:solidFill>
              <a:srgbClr val="9B1C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2" name="Text 60"/>
          <p:cNvSpPr/>
          <p:nvPr/>
        </p:nvSpPr>
        <p:spPr>
          <a:xfrm>
            <a:off x="859536" y="42245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</a:rPr>
              <a:t>Card Not Present</a:t>
            </a:r>
            <a:endParaRPr lang="en-US" sz="650" dirty="0"/>
          </a:p>
        </p:txBody>
      </p:sp>
      <p:sp>
        <p:nvSpPr>
          <p:cNvPr id="63" name="Text 61"/>
          <p:cNvSpPr/>
          <p:nvPr/>
        </p:nvSpPr>
        <p:spPr>
          <a:xfrm>
            <a:off x="1755648" y="424281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Credencial armazenada (token)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5349240" y="1371600"/>
            <a:ext cx="34747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5" name="Shape 63"/>
          <p:cNvSpPr/>
          <p:nvPr/>
        </p:nvSpPr>
        <p:spPr>
          <a:xfrm>
            <a:off x="5349240" y="1371600"/>
            <a:ext cx="3474720" cy="32918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6" name="Text 64"/>
          <p:cNvSpPr/>
          <p:nvPr/>
        </p:nvSpPr>
        <p:spPr>
          <a:xfrm>
            <a:off x="5440680" y="13898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MOTO_ECI_IND  (TCR1, pos.116)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5440680" y="176479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B1C1C"/>
                </a:solidFill>
              </a:rPr>
              <a:t>⚠️  ATENÇÃO — campo do CLEARING BASE II, diferente do ECI da autorização VIP!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5440680" y="2221992"/>
            <a:ext cx="3246120" cy="685800"/>
          </a:xfrm>
          <a:prstGeom prst="rect">
            <a:avLst/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9" name="Shape 67"/>
          <p:cNvSpPr/>
          <p:nvPr/>
        </p:nvSpPr>
        <p:spPr>
          <a:xfrm>
            <a:off x="5504688" y="2368296"/>
            <a:ext cx="384048" cy="384048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0" name="Text 68"/>
          <p:cNvSpPr/>
          <p:nvPr/>
        </p:nvSpPr>
        <p:spPr>
          <a:xfrm>
            <a:off x="5504688" y="2331720"/>
            <a:ext cx="384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'5'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5961888" y="2350008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Visa Secure autenticado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(3DS — CAVV presente)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5440680" y="2999232"/>
            <a:ext cx="3246120" cy="685800"/>
          </a:xfrm>
          <a:prstGeom prst="rect">
            <a:avLst/>
          </a:prstGeom>
          <a:solidFill>
            <a:srgbClr val="FEE2E2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3" name="Shape 71"/>
          <p:cNvSpPr/>
          <p:nvPr/>
        </p:nvSpPr>
        <p:spPr>
          <a:xfrm>
            <a:off x="5504688" y="3145536"/>
            <a:ext cx="384048" cy="384048"/>
          </a:xfrm>
          <a:prstGeom prst="ellipse">
            <a:avLst/>
          </a:prstGeom>
          <a:solidFill>
            <a:srgbClr val="9B1C1C"/>
          </a:solidFill>
          <a:ln w="12700">
            <a:solidFill>
              <a:srgbClr val="9B1C1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4" name="Text 72"/>
          <p:cNvSpPr/>
          <p:nvPr/>
        </p:nvSpPr>
        <p:spPr>
          <a:xfrm>
            <a:off x="5504688" y="3108960"/>
            <a:ext cx="384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Outros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5961888" y="3127248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Não autenticado 3DS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(standard eCommerce)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5440680" y="3858768"/>
            <a:ext cx="3246120" cy="777240"/>
          </a:xfrm>
          <a:prstGeom prst="rect">
            <a:avLst/>
          </a:prstGeom>
          <a:solidFill>
            <a:srgbClr val="D6E4F7"/>
          </a:solidFill>
          <a:ln w="635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7" name="Text 75"/>
          <p:cNvSpPr/>
          <p:nvPr/>
        </p:nvSpPr>
        <p:spPr>
          <a:xfrm>
            <a:off x="5532120" y="3913632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F3864"/>
                </a:solidFill>
              </a:rPr>
              <a:t>Expressão CORRETA para Visa Secure: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5532120" y="4133088"/>
            <a:ext cx="3063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(POS_ENTRY_MODE NOT IN ('02','03','05','07','90','91','95')) &amp; (MOTO_ECI_IND='5')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554480" cy="237744"/>
          </a:xfrm>
          <a:prstGeom prst="roundRect">
            <a:avLst>
              <a:gd name="adj" fmla="val 30769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20040" y="14630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VISA DIRECT &amp; DISPUTES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50292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</a:rPr>
              <a:t>BAI, TCQ  e  TRAN_CODE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100584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</a:rPr>
              <a:t>Identificam OCT, AFT, pagamentos de contas e código de transação BASE II.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0040" y="1371600"/>
            <a:ext cx="36576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320040" y="1371600"/>
            <a:ext cx="3657600" cy="310896"/>
          </a:xfrm>
          <a:prstGeom prst="rect">
            <a:avLst/>
          </a:prstGeom>
          <a:solidFill>
            <a:srgbClr val="2F5496"/>
          </a:solidFill>
          <a:ln w="12700">
            <a:solidFill>
              <a:srgbClr val="2F549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11480" y="13898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BAI — Business Application Identifier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173736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TCR 3, pos. 15-16 / 19-20  |  VIP Field 62.21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11480" y="1975104"/>
            <a:ext cx="3474720" cy="292608"/>
          </a:xfrm>
          <a:prstGeom prst="rect">
            <a:avLst/>
          </a:prstGeom>
          <a:solidFill>
            <a:srgbClr val="D6E4F7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57200" y="2020824"/>
            <a:ext cx="329184" cy="201168"/>
          </a:xfrm>
          <a:prstGeom prst="roundRect">
            <a:avLst>
              <a:gd name="adj" fmla="val 18182"/>
            </a:avLst>
          </a:prstGeom>
          <a:solidFill>
            <a:srgbClr val="2F5496"/>
          </a:solidFill>
          <a:ln w="12700">
            <a:solidFill>
              <a:srgbClr val="2F549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57200" y="2002536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41248" y="2039112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Top-Up (PP Top Up OCT)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11480" y="2304288"/>
            <a:ext cx="347472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457200" y="2350008"/>
            <a:ext cx="329184" cy="201168"/>
          </a:xfrm>
          <a:prstGeom prst="roundRect">
            <a:avLst>
              <a:gd name="adj" fmla="val 18182"/>
            </a:avLst>
          </a:prstGeom>
          <a:solidFill>
            <a:srgbClr val="2F5496"/>
          </a:solidFill>
          <a:ln w="12700">
            <a:solidFill>
              <a:srgbClr val="2F549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457200" y="2331720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41248" y="2368296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Card Payment (OCT)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11480" y="2633472"/>
            <a:ext cx="3474720" cy="292608"/>
          </a:xfrm>
          <a:prstGeom prst="rect">
            <a:avLst/>
          </a:prstGeom>
          <a:solidFill>
            <a:srgbClr val="D6E4F7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457200" y="2679192"/>
            <a:ext cx="329184" cy="201168"/>
          </a:xfrm>
          <a:prstGeom prst="roundRect">
            <a:avLst>
              <a:gd name="adj" fmla="val 18182"/>
            </a:avLst>
          </a:prstGeom>
          <a:solidFill>
            <a:srgbClr val="2F5496"/>
          </a:solidFill>
          <a:ln w="12700">
            <a:solidFill>
              <a:srgbClr val="2F549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457200" y="2660904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41248" y="2697480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Account-to-Account (AFT)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11480" y="2962656"/>
            <a:ext cx="347472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457200" y="3008376"/>
            <a:ext cx="329184" cy="201168"/>
          </a:xfrm>
          <a:prstGeom prst="roundRect">
            <a:avLst>
              <a:gd name="adj" fmla="val 18182"/>
            </a:avLst>
          </a:prstGeom>
          <a:solidFill>
            <a:srgbClr val="2F5496"/>
          </a:solidFill>
          <a:ln w="12700">
            <a:solidFill>
              <a:srgbClr val="2F549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457200" y="2990088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CB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41248" y="3026664"/>
            <a:ext cx="2999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Consumer Bill Payment (CBPS)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114800" y="1371600"/>
            <a:ext cx="219456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4114800" y="1371600"/>
            <a:ext cx="2194560" cy="310896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4206240" y="13898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TCQ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206240" y="173736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</a:rPr>
              <a:t>Transaction Category Qualifier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206240" y="2011680"/>
            <a:ext cx="2011680" cy="475488"/>
          </a:xfrm>
          <a:prstGeom prst="rect">
            <a:avLst/>
          </a:prstGeom>
          <a:solidFill>
            <a:srgbClr val="DCFCE7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Shape 29"/>
          <p:cNvSpPr/>
          <p:nvPr/>
        </p:nvSpPr>
        <p:spPr>
          <a:xfrm>
            <a:off x="4251960" y="2084832"/>
            <a:ext cx="329184" cy="329184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4251960" y="2066544"/>
            <a:ext cx="329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'1'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645152" y="213969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AFT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206240" y="2560320"/>
            <a:ext cx="2011680" cy="475488"/>
          </a:xfrm>
          <a:prstGeom prst="rect">
            <a:avLst/>
          </a:prstGeom>
          <a:solidFill>
            <a:srgbClr val="CFFAFE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Shape 33"/>
          <p:cNvSpPr/>
          <p:nvPr/>
        </p:nvSpPr>
        <p:spPr>
          <a:xfrm>
            <a:off x="4251960" y="2633472"/>
            <a:ext cx="329184" cy="329184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4251960" y="2615184"/>
            <a:ext cx="329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'2'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645152" y="268833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OCT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446520" y="1371600"/>
            <a:ext cx="237744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9" name="Shape 37"/>
          <p:cNvSpPr/>
          <p:nvPr/>
        </p:nvSpPr>
        <p:spPr>
          <a:xfrm>
            <a:off x="6446520" y="1371600"/>
            <a:ext cx="2377440" cy="31089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0" name="Text 38"/>
          <p:cNvSpPr/>
          <p:nvPr/>
        </p:nvSpPr>
        <p:spPr>
          <a:xfrm>
            <a:off x="6537960" y="13898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TRAN_CODE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537960" y="173736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</a:rPr>
              <a:t>Transaction Code BASE II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537960" y="1975104"/>
            <a:ext cx="2194560" cy="292608"/>
          </a:xfrm>
          <a:prstGeom prst="rect">
            <a:avLst/>
          </a:prstGeom>
          <a:solidFill>
            <a:srgbClr val="D6E4F7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3" name="Shape 41"/>
          <p:cNvSpPr/>
          <p:nvPr/>
        </p:nvSpPr>
        <p:spPr>
          <a:xfrm>
            <a:off x="6583680" y="2011680"/>
            <a:ext cx="502920" cy="201168"/>
          </a:xfrm>
          <a:prstGeom prst="roundRect">
            <a:avLst>
              <a:gd name="adj" fmla="val 18182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4" name="Text 42"/>
          <p:cNvSpPr/>
          <p:nvPr/>
        </p:nvSpPr>
        <p:spPr>
          <a:xfrm>
            <a:off x="6583680" y="1993392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7150608" y="2039112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Purchase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537960" y="2304288"/>
            <a:ext cx="219456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7" name="Shape 45"/>
          <p:cNvSpPr/>
          <p:nvPr/>
        </p:nvSpPr>
        <p:spPr>
          <a:xfrm>
            <a:off x="6583680" y="2340864"/>
            <a:ext cx="502920" cy="201168"/>
          </a:xfrm>
          <a:prstGeom prst="roundRect">
            <a:avLst>
              <a:gd name="adj" fmla="val 18182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8" name="Text 46"/>
          <p:cNvSpPr/>
          <p:nvPr/>
        </p:nvSpPr>
        <p:spPr>
          <a:xfrm>
            <a:off x="6583680" y="232257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7150608" y="2368296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ATM Cash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537960" y="2633472"/>
            <a:ext cx="2194560" cy="292608"/>
          </a:xfrm>
          <a:prstGeom prst="rect">
            <a:avLst/>
          </a:prstGeom>
          <a:solidFill>
            <a:srgbClr val="D6E4F7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1" name="Shape 49"/>
          <p:cNvSpPr/>
          <p:nvPr/>
        </p:nvSpPr>
        <p:spPr>
          <a:xfrm>
            <a:off x="6583680" y="2670048"/>
            <a:ext cx="502920" cy="201168"/>
          </a:xfrm>
          <a:prstGeom prst="roundRect">
            <a:avLst>
              <a:gd name="adj" fmla="val 18182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2" name="Text 50"/>
          <p:cNvSpPr/>
          <p:nvPr/>
        </p:nvSpPr>
        <p:spPr>
          <a:xfrm>
            <a:off x="6583680" y="265176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7150608" y="2697480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Dispute Fin.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537960" y="2962656"/>
            <a:ext cx="2194560" cy="29260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5" name="Shape 53"/>
          <p:cNvSpPr/>
          <p:nvPr/>
        </p:nvSpPr>
        <p:spPr>
          <a:xfrm>
            <a:off x="6583680" y="2999232"/>
            <a:ext cx="502920" cy="201168"/>
          </a:xfrm>
          <a:prstGeom prst="roundRect">
            <a:avLst>
              <a:gd name="adj" fmla="val 18182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6" name="Text 54"/>
          <p:cNvSpPr/>
          <p:nvPr/>
        </p:nvSpPr>
        <p:spPr>
          <a:xfrm>
            <a:off x="6583680" y="2980944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35/36/37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7150608" y="3026664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Dispute Rvrsl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554480" cy="237744"/>
          </a:xfrm>
          <a:prstGeom prst="roundRect">
            <a:avLst>
              <a:gd name="adj" fmla="val 30769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20040" y="14630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VALORES &amp; PROGRAMAS ESPECIAIS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50292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</a:rPr>
              <a:t>MVV, INST, AMOUNT  e  SPI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64008" cy="1417320"/>
          </a:xfrm>
          <a:prstGeom prst="rect">
            <a:avLst/>
          </a:prstGeom>
          <a:solidFill>
            <a:srgbClr val="2F5496"/>
          </a:solidFill>
          <a:ln w="12700">
            <a:solidFill>
              <a:srgbClr val="2F549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384048" y="1051560"/>
            <a:ext cx="4142232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484632" y="1124712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</a:rPr>
              <a:t>MVV — Merchant Verification Value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4632" y="1380744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94A3B8"/>
                </a:solidFill>
              </a:rPr>
              <a:t>Campo BASE II / VIP: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84632" y="1527048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F54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TCR 5, pos. 82-91  |  VIP Field 62.20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84632" y="1709928"/>
            <a:ext cx="3977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94A3B8"/>
                </a:solidFill>
              </a:rPr>
              <a:t>Valores válidos: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84632" y="185623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</a:rPr>
              <a:t>10 chars alfanuméricos (A-F, 0-9). Primeiros 6 atribuídos pela Visa.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20040" y="2606040"/>
            <a:ext cx="64008" cy="14173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384048" y="2606040"/>
            <a:ext cx="4142232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484632" y="2679192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</a:rPr>
              <a:t>INST — Número de Parcelas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" y="2935224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94A3B8"/>
                </a:solidFill>
              </a:rPr>
              <a:t>Campo BASE II / VIP: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84632" y="3081528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TCR 2, pos. 42-46 (Special Merchant ID)  |  VIP Field 62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84632" y="3264408"/>
            <a:ext cx="3977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94A3B8"/>
                </a:solidFill>
              </a:rPr>
              <a:t>Valores válidos: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84632" y="341071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</a:rPr>
              <a:t>1 = à vista  |  2-6 = Parcelado range 1  |  7+ = Parcelado range 2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84632" y="3703320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475569"/>
                </a:solidFill>
              </a:rPr>
              <a:t>⚡ Verificar mapeamento exato do campo de parcelamento da autorização para o campo de clearing.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4663440" y="1051560"/>
            <a:ext cx="64008" cy="141732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4727448" y="1051560"/>
            <a:ext cx="4096512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4828032" y="112471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</a:rPr>
              <a:t>AMOUNT — Valor da Transação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28032" y="138074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94A3B8"/>
                </a:solidFill>
              </a:rPr>
              <a:t>Campo BASE II / VIP: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828032" y="152704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472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TCR 0, pos. 77-88  |  VIP Field 4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828032" y="1709928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94A3B8"/>
                </a:solidFill>
              </a:rPr>
              <a:t>Valores válidos: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828032" y="18562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</a:rPr>
              <a:t>Moeda local (BRL para NNSS). Decimal. Ex: 25000.00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828032" y="214884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475569"/>
                </a:solidFill>
              </a:rPr>
              <a:t>⚡ Usado nos tiers BNDES (T1 a T10) com ranges de valor.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4663440" y="2606040"/>
            <a:ext cx="64008" cy="1417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4727448" y="2606040"/>
            <a:ext cx="4096512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4828032" y="267919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</a:rPr>
              <a:t>SPI — Special Purchase Indicator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28032" y="293522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94A3B8"/>
                </a:solidFill>
              </a:rPr>
              <a:t>Campo BASE II / VIP: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828032" y="308152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TCR 2, pos. 47  |  BASE II only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828032" y="3264408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94A3B8"/>
                </a:solidFill>
              </a:rPr>
              <a:t>Valores válidos: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828032" y="34107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</a:rPr>
              <a:t>'5' = Crediário Instantâneo (BR-CRED-SPI5)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</a:rPr>
              <a:t>'1'=Top-Up  '2'=COBAN  '3'=Carnê  '4'=Recurring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828032" y="370332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475569"/>
                </a:solidFill>
              </a:rPr>
              <a:t>⚡ SPI='5' + INST &gt;= 2 = Crediário Instantâneo Parcelado.</a:t>
            </a:r>
            <a:endParaRPr lang="en-US" sz="700" dirty="0"/>
          </a:p>
          <a:p>
            <a:pPr marL="0" indent="0">
              <a:buNone/>
            </a:pPr>
            <a:r>
              <a:rPr lang="en-US" sz="700" b="1" dirty="0">
                <a:solidFill>
                  <a:srgbClr val="2F5496"/>
                </a:solidFill>
              </a:rPr>
              <a:t>⚡ De/Para na Autorização VIP (SPI não trafega no ISO 8583):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</a:rPr>
              <a:t>Crediário (SPI=5) → Field 104, Dataset ID 5D, Tag 82 (valor=43)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1E293B"/>
                </a:solidFill>
              </a:rPr>
              <a:t>Top-Up / COBAN → Field 62.4 ou Field 104, Dataset ID 65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320040" y="4178808"/>
            <a:ext cx="8503920" cy="731520"/>
          </a:xfrm>
          <a:prstGeom prst="rect">
            <a:avLst/>
          </a:prstGeom>
          <a:solidFill>
            <a:srgbClr val="D6E4F7"/>
          </a:solidFill>
          <a:ln w="635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457200" y="423367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3864"/>
                </a:solidFill>
              </a:rPr>
              <a:t>💡  Como obter MVV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57200" y="44622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O MVV é enviado pelo merchant na autorização (Field 62.20) e deve ser retido pelo acquirer para reenvio no clearing e nos disputes. É obrigatório para os programas VPP, B2B Virtual Registered e Visa Direct SFP. O registro é feito pela Visa e os primeiros 6 dígitos identificam o programa.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554480" cy="237744"/>
          </a:xfrm>
          <a:prstGeom prst="roundRect">
            <a:avLst>
              <a:gd name="adj" fmla="val 30769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20040" y="14630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CAMPOS COMPLEMENTARES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50292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3864"/>
                </a:solidFill>
              </a:rPr>
              <a:t>TAD, RESP_CODE, MCC  e  TIMELINESS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64008" cy="14173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384048" y="1051560"/>
            <a:ext cx="4142232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484632" y="1124712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</a:rPr>
              <a:t>TAD — Travel Authorization Data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4632" y="1380744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94A3B8"/>
                </a:solidFill>
              </a:rPr>
              <a:t>Campo BASE II / VIP: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84632" y="1527048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Derivado do produto (VIP retained field)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84632" y="1709928"/>
            <a:ext cx="3977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94A3B8"/>
                </a:solidFill>
              </a:rPr>
              <a:t>Valores válidos: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84632" y="185623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</a:rPr>
              <a:t>'A' = Air  |  'H' = Hotel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84632" y="2148840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7F6000"/>
                </a:solidFill>
              </a:rPr>
              <a:t>⚡ Usado em BR-CTA-TRAV. IRF Guide exige Acquiring ID registrado para CTA.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320040" y="2606040"/>
            <a:ext cx="64008" cy="1417320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384048" y="2606040"/>
            <a:ext cx="4142232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484632" y="2679192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</a:rPr>
              <a:t>RESP_CODE — Código de Resposta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" y="2935224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94A3B8"/>
                </a:solidFill>
              </a:rPr>
              <a:t>Campo BASE II / VIP: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84632" y="3081528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66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TCR 0 (retido da autorização)  |  VIP Field 39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84632" y="3264408"/>
            <a:ext cx="3977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94A3B8"/>
                </a:solidFill>
              </a:rPr>
              <a:t>Valores válidos: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84632" y="341071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</a:rPr>
              <a:t>'00' = Aprovada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84632" y="3703320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475569"/>
                </a:solidFill>
              </a:rPr>
              <a:t>⚡ BR-ATM-CASH: RESP_CODE='00' garante que só transações aprovadas recebem o fee BRL 5.08.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4663440" y="1051560"/>
            <a:ext cx="64008" cy="1417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4727448" y="1051560"/>
            <a:ext cx="4096512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4828032" y="112471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</a:rPr>
              <a:t>MCC — Merchant Category Code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28032" y="138074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94A3B8"/>
                </a:solidFill>
              </a:rPr>
              <a:t>Campo BASE II / VIP: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828032" y="152704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38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TCR 0, pos. 133-136  |  VIP Field 18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828032" y="1709928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94A3B8"/>
                </a:solidFill>
              </a:rPr>
              <a:t>Valores válidos: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828032" y="18562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</a:rPr>
              <a:t>4 dígitos numéricos (ISO 18245). Ex: 5411=Supermercado, 5541=Gas Station.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828032" y="214884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9B1C1C"/>
                </a:solidFill>
              </a:rPr>
              <a:t>⚡ ⚠️  Lista de MCCs do Supermarket estava incompleta. Adicionados 5441,5451,5462,5499,5921.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4663440" y="2606040"/>
            <a:ext cx="64008" cy="1417320"/>
          </a:xfrm>
          <a:prstGeom prst="rect">
            <a:avLst/>
          </a:prstGeom>
          <a:solidFill>
            <a:srgbClr val="7F6000"/>
          </a:solidFill>
          <a:ln w="12700">
            <a:solidFill>
              <a:srgbClr val="7F600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4727448" y="2606040"/>
            <a:ext cx="4096512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4828032" y="267919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</a:rPr>
              <a:t>TIMELINESS / MANDATORY_DATA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28032" y="293522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94A3B8"/>
                </a:solidFill>
              </a:rPr>
              <a:t>Campo BASE II / VIP: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828032" y="308152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7F6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Campos internos do motor de interchange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828032" y="3264408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94A3B8"/>
                </a:solidFill>
              </a:rPr>
              <a:t>Valores válidos: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828032" y="34107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</a:rPr>
              <a:t>TIMELINESS = dias entre data de compra e clearing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E293B"/>
                </a:solidFill>
              </a:rPr>
              <a:t>MANDATORY_DATA = dado obrigatório ausente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828032" y="370332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7F6000"/>
                </a:solidFill>
              </a:rPr>
              <a:t>⚡ ⚠️  Não são campos padrão BASE II. Documentar o mapeamento para reason codes 1R e downgrade.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320040" y="4178808"/>
            <a:ext cx="8503920" cy="71323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457200" y="422452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3864"/>
                </a:solidFill>
              </a:rPr>
              <a:t>MCCs Supermarket corrigidos  (IRF Guide Table 5-4):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57200" y="4462272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0" name="Text 38"/>
          <p:cNvSpPr/>
          <p:nvPr/>
        </p:nvSpPr>
        <p:spPr>
          <a:xfrm>
            <a:off x="457200" y="444398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</a:rPr>
              <a:t>5300 Wholesale</a:t>
            </a:r>
            <a:endParaRPr lang="en-US" sz="650" dirty="0"/>
          </a:p>
        </p:txBody>
      </p:sp>
      <p:sp>
        <p:nvSpPr>
          <p:cNvPr id="41" name="Shape 39"/>
          <p:cNvSpPr/>
          <p:nvPr/>
        </p:nvSpPr>
        <p:spPr>
          <a:xfrm>
            <a:off x="1517904" y="4462272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Text 40"/>
          <p:cNvSpPr/>
          <p:nvPr/>
        </p:nvSpPr>
        <p:spPr>
          <a:xfrm>
            <a:off x="1517904" y="444398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</a:rPr>
              <a:t>5411 Supermarket</a:t>
            </a:r>
            <a:endParaRPr lang="en-US" sz="650" dirty="0"/>
          </a:p>
        </p:txBody>
      </p:sp>
      <p:sp>
        <p:nvSpPr>
          <p:cNvPr id="43" name="Shape 41"/>
          <p:cNvSpPr/>
          <p:nvPr/>
        </p:nvSpPr>
        <p:spPr>
          <a:xfrm>
            <a:off x="2578608" y="4462272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4" name="Text 42"/>
          <p:cNvSpPr/>
          <p:nvPr/>
        </p:nvSpPr>
        <p:spPr>
          <a:xfrm>
            <a:off x="2578608" y="444398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</a:rPr>
              <a:t>5422 Meat/Freezer</a:t>
            </a:r>
            <a:endParaRPr lang="en-US" sz="650" dirty="0"/>
          </a:p>
        </p:txBody>
      </p:sp>
      <p:sp>
        <p:nvSpPr>
          <p:cNvPr id="45" name="Shape 43"/>
          <p:cNvSpPr/>
          <p:nvPr/>
        </p:nvSpPr>
        <p:spPr>
          <a:xfrm>
            <a:off x="3639312" y="4462272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6" name="Text 44"/>
          <p:cNvSpPr/>
          <p:nvPr/>
        </p:nvSpPr>
        <p:spPr>
          <a:xfrm>
            <a:off x="3639312" y="444398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</a:rPr>
              <a:t>5441 Candy/Nut</a:t>
            </a:r>
            <a:endParaRPr lang="en-US" sz="650" dirty="0"/>
          </a:p>
        </p:txBody>
      </p:sp>
      <p:sp>
        <p:nvSpPr>
          <p:cNvPr id="47" name="Shape 45"/>
          <p:cNvSpPr/>
          <p:nvPr/>
        </p:nvSpPr>
        <p:spPr>
          <a:xfrm>
            <a:off x="4700016" y="4462272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8" name="Text 46"/>
          <p:cNvSpPr/>
          <p:nvPr/>
        </p:nvSpPr>
        <p:spPr>
          <a:xfrm>
            <a:off x="4700016" y="444398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</a:rPr>
              <a:t>5451 Dairy</a:t>
            </a:r>
            <a:endParaRPr lang="en-US" sz="650" dirty="0"/>
          </a:p>
        </p:txBody>
      </p:sp>
      <p:sp>
        <p:nvSpPr>
          <p:cNvPr id="49" name="Shape 47"/>
          <p:cNvSpPr/>
          <p:nvPr/>
        </p:nvSpPr>
        <p:spPr>
          <a:xfrm>
            <a:off x="5760720" y="4462272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0" name="Text 48"/>
          <p:cNvSpPr/>
          <p:nvPr/>
        </p:nvSpPr>
        <p:spPr>
          <a:xfrm>
            <a:off x="5760720" y="444398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</a:rPr>
              <a:t>5462 Bakeries</a:t>
            </a:r>
            <a:endParaRPr lang="en-US" sz="650" dirty="0"/>
          </a:p>
        </p:txBody>
      </p:sp>
      <p:sp>
        <p:nvSpPr>
          <p:cNvPr id="51" name="Shape 49"/>
          <p:cNvSpPr/>
          <p:nvPr/>
        </p:nvSpPr>
        <p:spPr>
          <a:xfrm>
            <a:off x="6821424" y="4462272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2" name="Text 50"/>
          <p:cNvSpPr/>
          <p:nvPr/>
        </p:nvSpPr>
        <p:spPr>
          <a:xfrm>
            <a:off x="6821424" y="444398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</a:rPr>
              <a:t>5499 Misc Food</a:t>
            </a:r>
            <a:endParaRPr lang="en-US" sz="650" dirty="0"/>
          </a:p>
        </p:txBody>
      </p:sp>
      <p:sp>
        <p:nvSpPr>
          <p:cNvPr id="53" name="Shape 51"/>
          <p:cNvSpPr/>
          <p:nvPr/>
        </p:nvSpPr>
        <p:spPr>
          <a:xfrm>
            <a:off x="7882128" y="4462272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4" name="Text 52"/>
          <p:cNvSpPr/>
          <p:nvPr/>
        </p:nvSpPr>
        <p:spPr>
          <a:xfrm>
            <a:off x="7882128" y="444398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</a:rPr>
              <a:t>5921 Pkg Liquor</a:t>
            </a:r>
            <a:endParaRPr lang="en-US" sz="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1554480" cy="237744"/>
          </a:xfrm>
          <a:prstGeom prst="roundRect">
            <a:avLst>
              <a:gd name="adj" fmla="val 30769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20040" y="14630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FLUXO DE PONTA A PONTA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50292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864"/>
                </a:solidFill>
              </a:rPr>
              <a:t>Como uma transação vira uma regra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77824" y="1188720"/>
            <a:ext cx="457200" cy="45720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877824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" y="1691640"/>
            <a:ext cx="1572768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393192" y="1755648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3864"/>
                </a:solidFill>
              </a:rPr>
              <a:t>Autorização VIP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93192" y="2039112"/>
            <a:ext cx="14264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</a:rPr>
              <a:t>ISO 8583 → PAN, Amount, MCC, POS Entry Mode, INST, SPI, MVV, TAD, RESP_CODE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892808" y="1417320"/>
            <a:ext cx="146304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2596896" y="1188720"/>
            <a:ext cx="457200" cy="457200"/>
          </a:xfrm>
          <a:prstGeom prst="ellipse">
            <a:avLst/>
          </a:prstGeom>
          <a:solidFill>
            <a:srgbClr val="2F5496"/>
          </a:solidFill>
          <a:ln w="12700">
            <a:solidFill>
              <a:srgbClr val="2F549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2596896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039112" y="1691640"/>
            <a:ext cx="1572768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2112264" y="1755648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3864"/>
                </a:solidFill>
              </a:rPr>
              <a:t>BIN Lookup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112264" y="2039112"/>
            <a:ext cx="14264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</a:rPr>
              <a:t>PAN → consulta IP0015T1/IP0016T1 → AFS, PID, SUBTYPE, ISS_REG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611880" y="1417320"/>
            <a:ext cx="146304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4315968" y="1188720"/>
            <a:ext cx="457200" cy="45720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315968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758184" y="1691640"/>
            <a:ext cx="1572768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3831336" y="1755648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3864"/>
                </a:solidFill>
              </a:rPr>
              <a:t>Clearing BASE II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831336" y="2039112"/>
            <a:ext cx="14264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</a:rPr>
              <a:t>TC 05/07/15… → SETTL_FLAG, TRAN_CODE, TCQ, BAI, MOTO_ECI_IND, TIMELINESS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5330952" y="1417320"/>
            <a:ext cx="146304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6035040" y="118872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603504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477256" y="1691640"/>
            <a:ext cx="1572768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5550408" y="1755648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3864"/>
                </a:solidFill>
              </a:rPr>
              <a:t>Motor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550408" y="2039112"/>
            <a:ext cx="14264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</a:rPr>
              <a:t>Avalia CONDITION_EXPRESSION com todas as variáveis → match na regra de maior prioridade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7050024" y="1417320"/>
            <a:ext cx="146304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Shape 27"/>
          <p:cNvSpPr/>
          <p:nvPr/>
        </p:nvSpPr>
        <p:spPr>
          <a:xfrm>
            <a:off x="7754112" y="1188720"/>
            <a:ext cx="457200" cy="457200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7754112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196328" y="1691640"/>
            <a:ext cx="1572768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7269480" y="1755648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3864"/>
                </a:solidFill>
              </a:rPr>
              <a:t>Resultado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269480" y="2039112"/>
            <a:ext cx="14264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75569"/>
                </a:solidFill>
              </a:rPr>
              <a:t>RATE_PCT / FIXED_FEE / CAP_FEE aplicados → lançamento na VISA_IFEE_RULE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C00000"/>
                </a:solidFill>
              </a:rPr>
              <a:t>▶ Passo 6 — Validação FPI / TC 04</a:t>
            </a:r>
            <a:endParaRPr lang="en-US" sz="75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475569"/>
                </a:solidFill>
              </a:rPr>
              <a:t>O motor gera um FPI (Fee Program Indicator) → viaja no TCR 1 para a VisaNet. A diferença entre o FPI previsto e o cálculo final da bandeira retorna no relatório TC 04 (Shadow Calculation), permitindo auditoria e reclassificação.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320040" y="3429000"/>
            <a:ext cx="8503920" cy="1463040"/>
          </a:xfrm>
          <a:prstGeom prst="rect">
            <a:avLst/>
          </a:prstGeom>
          <a:solidFill>
            <a:srgbClr val="1E2D4E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457200" y="34930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7490"/>
                </a:solidFill>
              </a:rPr>
              <a:t>Exemplo — BR-ECOM-INF-SEC (Infinite eCommerce Visa Secure)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57200" y="3785616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(SETTL_FLAG IN ('8','9'))  &amp;  (PID='I^')  &amp;  (AFS='C')  &amp;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(POS_ENTRY_MODE NOT IN ('02','03','05','07','90','91','95'))  &amp;  (MOTO_ECI_IND='5')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" y="44622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E7490"/>
                </a:solidFill>
              </a:rPr>
              <a:t>→  RATE_PCT = 1.33%  |  FIXED_FEE = 0.00  |  CAP = 0.00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1470</Words>
  <Application>Microsoft Office PowerPoint</Application>
  <PresentationFormat>On-screen Show (16:9)</PresentationFormat>
  <Paragraphs>278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Visa Interchange — Variáveis e Como Obtê-las</dc:title>
  <dc:subject>PptxGenJS Presentation</dc:subject>
  <dc:creator>PptxGenJS</dc:creator>
  <cp:lastModifiedBy>Vinicius Sugamele</cp:lastModifiedBy>
  <cp:revision>2</cp:revision>
  <dcterms:created xsi:type="dcterms:W3CDTF">2026-04-29T01:48:55Z</dcterms:created>
  <dcterms:modified xsi:type="dcterms:W3CDTF">2026-04-29T20:16:04Z</dcterms:modified>
</cp:coreProperties>
</file>