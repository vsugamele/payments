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?>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64" r:id="rId4"/>
    <p:sldId id="265" r:id="rId5"/>
    <p:sldId id="258" r:id="rId6"/>
    <p:sldId id="259" r:id="rId7"/>
    <p:sldId id="260" r:id="rId8"/>
    <p:sldId id="261" r:id="rId9"/>
    <p:sldId id="262" r:id="rId10"/>
    <p:sldId id="263" r:id="rId1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11" d="100"/>
          <a:sy n="111" d="100"/>
        </p:scale>
        <p:origin x="55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2471532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?>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?>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?>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?>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4/30/2026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571150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?>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?>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6.xml.rels><?xml version="1.0" encoding="UTF-8"?>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7.xml.rels><?xml version="1.0" encoding="UTF-8"?>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8.xml.rels><?xml version="1.0" encoding="UTF-8"?>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9.xml.rels><?xml version="1.0" encoding="UTF-8"?>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10.xml.rels><?xml version="1.0" encoding="UTF-8"?>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C2C2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01200" y="731520"/>
            <a:ext cx="2011680" cy="2011680"/>
          </a:xfrm>
          <a:prstGeom prst="ellipse">
            <a:avLst/>
          </a:prstGeom>
          <a:solidFill>
            <a:srgbClr val="F28600">
              <a:alpha val="80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Shape 1"/>
          <p:cNvSpPr/>
          <p:nvPr/>
        </p:nvSpPr>
        <p:spPr>
          <a:xfrm>
            <a:off x="10424160" y="731520"/>
            <a:ext cx="2011680" cy="2011680"/>
          </a:xfrm>
          <a:prstGeom prst="ellipse">
            <a:avLst/>
          </a:prstGeom>
          <a:solidFill>
            <a:srgbClr val="F28600">
              <a:alpha val="75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" name="Text 2"/>
          <p:cNvSpPr/>
          <p:nvPr/>
        </p:nvSpPr>
        <p:spPr>
          <a:xfrm>
            <a:off x="457200" y="2011680"/>
            <a:ext cx="91440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MASTERCARD INTERCHANGE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457200" y="2834640"/>
            <a:ext cx="9144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dirty="0">
                <a:solidFill>
                  <a:srgbClr val="F286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Variáveis de Expressão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457200" y="3429000"/>
            <a:ext cx="3200400" cy="36576"/>
          </a:xfrm>
          <a:prstGeom prst="rect">
            <a:avLst/>
          </a:prstGeom>
          <a:solidFill>
            <a:srgbClr val="F2860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7" name="Text 5"/>
          <p:cNvSpPr/>
          <p:nvPr/>
        </p:nvSpPr>
        <p:spPr>
          <a:xfrm>
            <a:off x="457200" y="352044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Regras no sistema de Interchange Fee</a:t>
            </a:r>
            <a:r>
              <a:rPr lang="en-US" sz="1100" dirty="0"/>
              <a:t xml:space="preserve"> - </a:t>
            </a:r>
            <a:r>
              <a:rPr lang="en-US" sz="11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4663440"/>
            <a:ext cx="2103120" cy="1417320"/>
          </a:xfrm>
          <a:prstGeom prst="rect">
            <a:avLst/>
          </a:prstGeom>
          <a:solidFill>
            <a:srgbClr val="2C2C2C"/>
          </a:solidFill>
          <a:ln w="12700">
            <a:solidFill>
              <a:srgbClr val="F2860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9" name="Text 7"/>
          <p:cNvSpPr/>
          <p:nvPr/>
        </p:nvSpPr>
        <p:spPr>
          <a:xfrm>
            <a:off x="548640" y="4754880"/>
            <a:ext cx="1920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286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~1.002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548640" y="5349240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Regras MC BR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834640" y="4663440"/>
            <a:ext cx="2103120" cy="1417320"/>
          </a:xfrm>
          <a:prstGeom prst="rect">
            <a:avLst/>
          </a:prstGeom>
          <a:solidFill>
            <a:srgbClr val="2C2C2C"/>
          </a:solidFill>
          <a:ln w="12700">
            <a:solidFill>
              <a:srgbClr val="F2860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2" name="Text 10"/>
          <p:cNvSpPr/>
          <p:nvPr/>
        </p:nvSpPr>
        <p:spPr>
          <a:xfrm>
            <a:off x="2926080" y="4754880"/>
            <a:ext cx="1920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286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~30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2926080" y="5349240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Variáveis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mapeadas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212080" y="4663440"/>
            <a:ext cx="2103120" cy="1417320"/>
          </a:xfrm>
          <a:prstGeom prst="rect">
            <a:avLst/>
          </a:prstGeom>
          <a:solidFill>
            <a:srgbClr val="2C2C2C"/>
          </a:solidFill>
          <a:ln w="12700">
            <a:solidFill>
              <a:srgbClr val="F2860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5" name="Text 13"/>
          <p:cNvSpPr/>
          <p:nvPr/>
        </p:nvSpPr>
        <p:spPr>
          <a:xfrm>
            <a:off x="5303520" y="4754880"/>
            <a:ext cx="1920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286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3000" dirty="0"/>
          </a:p>
        </p:txBody>
      </p:sp>
      <p:sp>
        <p:nvSpPr>
          <p:cNvPr id="16" name="Text 14"/>
          <p:cNvSpPr/>
          <p:nvPr/>
        </p:nvSpPr>
        <p:spPr>
          <a:xfrm>
            <a:off x="5303520" y="5349240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Fontes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dado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274320"/>
            <a:ext cx="11521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VISÃO GERAL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320040" y="749808"/>
            <a:ext cx="11521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onde vêm as variáveis? Cada variável tem origem em um campo específico da transação Mastercard.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320040" y="713232"/>
            <a:ext cx="11521440" cy="22860"/>
          </a:xfrm>
          <a:prstGeom prst="rect">
            <a:avLst/>
          </a:prstGeom>
          <a:solidFill>
            <a:srgbClr val="F2860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" name="Shape 3"/>
          <p:cNvSpPr/>
          <p:nvPr/>
        </p:nvSpPr>
        <p:spPr>
          <a:xfrm>
            <a:off x="320040" y="1005840"/>
            <a:ext cx="3749040" cy="365760"/>
          </a:xfrm>
          <a:prstGeom prst="rect">
            <a:avLst/>
          </a:prstGeom>
          <a:solidFill>
            <a:srgbClr val="2C2C2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/>
          <p:nvPr/>
        </p:nvSpPr>
        <p:spPr>
          <a:xfrm>
            <a:off x="374904" y="1024128"/>
            <a:ext cx="363931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📄  IPM / Clearing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4251960" y="1005840"/>
            <a:ext cx="3749040" cy="365760"/>
          </a:xfrm>
          <a:prstGeom prst="rect">
            <a:avLst/>
          </a:prstGeom>
          <a:solidFill>
            <a:srgbClr val="4A4A4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8" name="Text 6"/>
          <p:cNvSpPr/>
          <p:nvPr/>
        </p:nvSpPr>
        <p:spPr>
          <a:xfrm>
            <a:off x="4306824" y="1024128"/>
            <a:ext cx="363931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  Derivado do BIN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8183880" y="1005840"/>
            <a:ext cx="3749040" cy="365760"/>
          </a:xfrm>
          <a:prstGeom prst="rect">
            <a:avLst/>
          </a:prstGeom>
          <a:solidFill>
            <a:srgbClr val="4A4A4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0" name="Text 8"/>
          <p:cNvSpPr/>
          <p:nvPr/>
        </p:nvSpPr>
        <p:spPr>
          <a:xfrm>
            <a:off x="8238744" y="1024128"/>
            <a:ext cx="363931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⚙️  Calculado / Autorização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20040" y="1444752"/>
            <a:ext cx="1920240" cy="237744"/>
          </a:xfrm>
          <a:prstGeom prst="rect">
            <a:avLst/>
          </a:prstGeom>
          <a:solidFill>
            <a:srgbClr val="2C2C2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2" name="Text 10"/>
          <p:cNvSpPr/>
          <p:nvPr/>
        </p:nvSpPr>
        <p:spPr>
          <a:xfrm>
            <a:off x="365760" y="1453896"/>
            <a:ext cx="1828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ACQR_COUNTRY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320040" y="1801368"/>
            <a:ext cx="1920240" cy="237744"/>
          </a:xfrm>
          <a:prstGeom prst="rect">
            <a:avLst/>
          </a:prstGeom>
          <a:solidFill>
            <a:srgbClr val="2C2C2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4" name="Text 12"/>
          <p:cNvSpPr/>
          <p:nvPr/>
        </p:nvSpPr>
        <p:spPr>
          <a:xfrm>
            <a:off x="365760" y="1810512"/>
            <a:ext cx="1828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ISSR_COUNTRY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320040" y="2157984"/>
            <a:ext cx="1920240" cy="237744"/>
          </a:xfrm>
          <a:prstGeom prst="rect">
            <a:avLst/>
          </a:prstGeom>
          <a:solidFill>
            <a:srgbClr val="2C2C2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6" name="Text 14"/>
          <p:cNvSpPr/>
          <p:nvPr/>
        </p:nvSpPr>
        <p:spPr>
          <a:xfrm>
            <a:off x="365760" y="2167128"/>
            <a:ext cx="1828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PROC_CODE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320040" y="2514600"/>
            <a:ext cx="1920240" cy="237744"/>
          </a:xfrm>
          <a:prstGeom prst="rect">
            <a:avLst/>
          </a:prstGeom>
          <a:solidFill>
            <a:srgbClr val="2C2C2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8" name="Text 16"/>
          <p:cNvSpPr/>
          <p:nvPr/>
        </p:nvSpPr>
        <p:spPr>
          <a:xfrm>
            <a:off x="365760" y="2523744"/>
            <a:ext cx="1828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MC_TRANS_TYPE_IDENTIFIER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320040" y="2871216"/>
            <a:ext cx="1920240" cy="237744"/>
          </a:xfrm>
          <a:prstGeom prst="rect">
            <a:avLst/>
          </a:prstGeom>
          <a:solidFill>
            <a:srgbClr val="2C2C2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0" name="Text 18"/>
          <p:cNvSpPr/>
          <p:nvPr/>
        </p:nvSpPr>
        <p:spPr>
          <a:xfrm>
            <a:off x="365760" y="2880360"/>
            <a:ext cx="1828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ENTRY_MODE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320040" y="3227832"/>
            <a:ext cx="1920240" cy="237744"/>
          </a:xfrm>
          <a:prstGeom prst="rect">
            <a:avLst/>
          </a:prstGeom>
          <a:solidFill>
            <a:srgbClr val="2C2C2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2" name="Text 20"/>
          <p:cNvSpPr/>
          <p:nvPr/>
        </p:nvSpPr>
        <p:spPr>
          <a:xfrm>
            <a:off x="365760" y="3236976"/>
            <a:ext cx="1828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ECSLI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320040" y="3584448"/>
            <a:ext cx="1920240" cy="237744"/>
          </a:xfrm>
          <a:prstGeom prst="rect">
            <a:avLst/>
          </a:prstGeom>
          <a:solidFill>
            <a:srgbClr val="2C2C2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4" name="Text 22"/>
          <p:cNvSpPr/>
          <p:nvPr/>
        </p:nvSpPr>
        <p:spPr>
          <a:xfrm>
            <a:off x="365760" y="3593592"/>
            <a:ext cx="1828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AAV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320040" y="3941064"/>
            <a:ext cx="1920240" cy="237744"/>
          </a:xfrm>
          <a:prstGeom prst="rect">
            <a:avLst/>
          </a:prstGeom>
          <a:solidFill>
            <a:srgbClr val="2C2C2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6" name="Text 24"/>
          <p:cNvSpPr/>
          <p:nvPr/>
        </p:nvSpPr>
        <p:spPr>
          <a:xfrm>
            <a:off x="365760" y="3950208"/>
            <a:ext cx="1828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AMOUNT_TX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320040" y="4297680"/>
            <a:ext cx="1920240" cy="237744"/>
          </a:xfrm>
          <a:prstGeom prst="rect">
            <a:avLst/>
          </a:prstGeom>
          <a:solidFill>
            <a:srgbClr val="2C2C2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8" name="Text 26"/>
          <p:cNvSpPr/>
          <p:nvPr/>
        </p:nvSpPr>
        <p:spPr>
          <a:xfrm>
            <a:off x="365760" y="4306824"/>
            <a:ext cx="1828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MCC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320040" y="4654296"/>
            <a:ext cx="1920240" cy="237744"/>
          </a:xfrm>
          <a:prstGeom prst="rect">
            <a:avLst/>
          </a:prstGeom>
          <a:solidFill>
            <a:srgbClr val="2C2C2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0" name="Text 28"/>
          <p:cNvSpPr/>
          <p:nvPr/>
        </p:nvSpPr>
        <p:spPr>
          <a:xfrm>
            <a:off x="365760" y="4663440"/>
            <a:ext cx="1828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PAYPASS_IND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320040" y="5010912"/>
            <a:ext cx="1920240" cy="237744"/>
          </a:xfrm>
          <a:prstGeom prst="rect">
            <a:avLst/>
          </a:prstGeom>
          <a:solidFill>
            <a:srgbClr val="2C2C2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2" name="Text 30"/>
          <p:cNvSpPr/>
          <p:nvPr/>
        </p:nvSpPr>
        <p:spPr>
          <a:xfrm>
            <a:off x="365760" y="5020056"/>
            <a:ext cx="1828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ADDENDUM_1644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320040" y="5367528"/>
            <a:ext cx="1920240" cy="237744"/>
          </a:xfrm>
          <a:prstGeom prst="rect">
            <a:avLst/>
          </a:prstGeom>
          <a:solidFill>
            <a:srgbClr val="2C2C2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4" name="Text 32"/>
          <p:cNvSpPr/>
          <p:nvPr/>
        </p:nvSpPr>
        <p:spPr>
          <a:xfrm>
            <a:off x="365760" y="5376672"/>
            <a:ext cx="1828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FLEXIBLE_INTERCHANGE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4251960" y="1444752"/>
            <a:ext cx="1920240" cy="237744"/>
          </a:xfrm>
          <a:prstGeom prst="rect">
            <a:avLst/>
          </a:prstGeom>
          <a:solidFill>
            <a:srgbClr val="4A4A4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6" name="Text 34"/>
          <p:cNvSpPr/>
          <p:nvPr/>
        </p:nvSpPr>
        <p:spPr>
          <a:xfrm>
            <a:off x="4297680" y="1453896"/>
            <a:ext cx="1828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PROD_TYPE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4251960" y="1801368"/>
            <a:ext cx="1920240" cy="237744"/>
          </a:xfrm>
          <a:prstGeom prst="rect">
            <a:avLst/>
          </a:prstGeom>
          <a:solidFill>
            <a:srgbClr val="4A4A4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8" name="Text 36"/>
          <p:cNvSpPr/>
          <p:nvPr/>
        </p:nvSpPr>
        <p:spPr>
          <a:xfrm>
            <a:off x="4297680" y="1810512"/>
            <a:ext cx="1828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PROD_ID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4251960" y="2157984"/>
            <a:ext cx="1920240" cy="237744"/>
          </a:xfrm>
          <a:prstGeom prst="rect">
            <a:avLst/>
          </a:prstGeom>
          <a:solidFill>
            <a:srgbClr val="4A4A4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0" name="Text 38"/>
          <p:cNvSpPr/>
          <p:nvPr/>
        </p:nvSpPr>
        <p:spPr>
          <a:xfrm>
            <a:off x="4297680" y="2167128"/>
            <a:ext cx="1828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PROD_TIER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4251960" y="2514600"/>
            <a:ext cx="1920240" cy="237744"/>
          </a:xfrm>
          <a:prstGeom prst="rect">
            <a:avLst/>
          </a:prstGeom>
          <a:solidFill>
            <a:srgbClr val="4A4A4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2" name="Text 40"/>
          <p:cNvSpPr/>
          <p:nvPr/>
        </p:nvSpPr>
        <p:spPr>
          <a:xfrm>
            <a:off x="4297680" y="2523744"/>
            <a:ext cx="1828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PROD_CATEGORY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4251960" y="2871216"/>
            <a:ext cx="1920240" cy="237744"/>
          </a:xfrm>
          <a:prstGeom prst="rect">
            <a:avLst/>
          </a:prstGeom>
          <a:solidFill>
            <a:srgbClr val="4A4A4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4" name="Text 42"/>
          <p:cNvSpPr/>
          <p:nvPr/>
        </p:nvSpPr>
        <p:spPr>
          <a:xfrm>
            <a:off x="4297680" y="2880360"/>
            <a:ext cx="1828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ACC_BRAND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4251960" y="3227832"/>
            <a:ext cx="1920240" cy="237744"/>
          </a:xfrm>
          <a:prstGeom prst="rect">
            <a:avLst/>
          </a:prstGeom>
          <a:solidFill>
            <a:srgbClr val="4A4A4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6" name="Text 44"/>
          <p:cNvSpPr/>
          <p:nvPr/>
        </p:nvSpPr>
        <p:spPr>
          <a:xfrm>
            <a:off x="4297680" y="3236976"/>
            <a:ext cx="1828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DOCUMENT_TYPE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4251960" y="3584448"/>
            <a:ext cx="1920240" cy="237744"/>
          </a:xfrm>
          <a:prstGeom prst="rect">
            <a:avLst/>
          </a:prstGeom>
          <a:solidFill>
            <a:srgbClr val="4A4A4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8" name="Text 46"/>
          <p:cNvSpPr/>
          <p:nvPr/>
        </p:nvSpPr>
        <p:spPr>
          <a:xfrm>
            <a:off x="4297680" y="3593592"/>
            <a:ext cx="1828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ISSR_REGION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4251960" y="3941064"/>
            <a:ext cx="1920240" cy="237744"/>
          </a:xfrm>
          <a:prstGeom prst="rect">
            <a:avLst/>
          </a:prstGeom>
          <a:solidFill>
            <a:srgbClr val="4A4A4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0" name="Text 48"/>
          <p:cNvSpPr/>
          <p:nvPr/>
        </p:nvSpPr>
        <p:spPr>
          <a:xfrm>
            <a:off x="4297680" y="3950208"/>
            <a:ext cx="1828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ISS_REGULATORY_STATUS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8183880" y="1444752"/>
            <a:ext cx="1920240" cy="237744"/>
          </a:xfrm>
          <a:prstGeom prst="rect">
            <a:avLst/>
          </a:prstGeom>
          <a:solidFill>
            <a:srgbClr val="4A4A4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2" name="Text 50"/>
          <p:cNvSpPr/>
          <p:nvPr/>
        </p:nvSpPr>
        <p:spPr>
          <a:xfrm>
            <a:off x="8229600" y="1453896"/>
            <a:ext cx="1828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CARD_PRESENT_ID</a:t>
            </a:r>
            <a:endParaRPr lang="en-US" sz="900" dirty="0"/>
          </a:p>
        </p:txBody>
      </p:sp>
      <p:sp>
        <p:nvSpPr>
          <p:cNvPr id="53" name="Shape 51"/>
          <p:cNvSpPr/>
          <p:nvPr/>
        </p:nvSpPr>
        <p:spPr>
          <a:xfrm>
            <a:off x="8183880" y="1801368"/>
            <a:ext cx="1920240" cy="237744"/>
          </a:xfrm>
          <a:prstGeom prst="rect">
            <a:avLst/>
          </a:prstGeom>
          <a:solidFill>
            <a:srgbClr val="4A4A4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4" name="Text 52"/>
          <p:cNvSpPr/>
          <p:nvPr/>
        </p:nvSpPr>
        <p:spPr>
          <a:xfrm>
            <a:off x="8229600" y="1810512"/>
            <a:ext cx="1828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SEGMENT</a:t>
            </a:r>
            <a:endParaRPr lang="en-US" sz="900" dirty="0"/>
          </a:p>
        </p:txBody>
      </p:sp>
      <p:sp>
        <p:nvSpPr>
          <p:cNvPr id="55" name="Shape 53"/>
          <p:cNvSpPr/>
          <p:nvPr/>
        </p:nvSpPr>
        <p:spPr>
          <a:xfrm>
            <a:off x="8183880" y="2157984"/>
            <a:ext cx="1920240" cy="237744"/>
          </a:xfrm>
          <a:prstGeom prst="rect">
            <a:avLst/>
          </a:prstGeom>
          <a:solidFill>
            <a:srgbClr val="4A4A4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6" name="Text 54"/>
          <p:cNvSpPr/>
          <p:nvPr/>
        </p:nvSpPr>
        <p:spPr>
          <a:xfrm>
            <a:off x="8229600" y="2167128"/>
            <a:ext cx="1828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NUM_INST</a:t>
            </a:r>
            <a:endParaRPr lang="en-US" sz="900" dirty="0"/>
          </a:p>
        </p:txBody>
      </p:sp>
      <p:sp>
        <p:nvSpPr>
          <p:cNvPr id="57" name="Shape 55"/>
          <p:cNvSpPr/>
          <p:nvPr/>
        </p:nvSpPr>
        <p:spPr>
          <a:xfrm>
            <a:off x="8183880" y="2514600"/>
            <a:ext cx="1920240" cy="237744"/>
          </a:xfrm>
          <a:prstGeom prst="rect">
            <a:avLst/>
          </a:prstGeom>
          <a:solidFill>
            <a:srgbClr val="4A4A4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8" name="Text 56"/>
          <p:cNvSpPr/>
          <p:nvPr/>
        </p:nvSpPr>
        <p:spPr>
          <a:xfrm>
            <a:off x="8229600" y="2523744"/>
            <a:ext cx="1828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INST_W_INT</a:t>
            </a:r>
            <a:endParaRPr lang="en-US" sz="900" dirty="0"/>
          </a:p>
        </p:txBody>
      </p:sp>
      <p:sp>
        <p:nvSpPr>
          <p:cNvPr id="59" name="Shape 57"/>
          <p:cNvSpPr/>
          <p:nvPr/>
        </p:nvSpPr>
        <p:spPr>
          <a:xfrm>
            <a:off x="8183880" y="2871216"/>
            <a:ext cx="1920240" cy="237744"/>
          </a:xfrm>
          <a:prstGeom prst="rect">
            <a:avLst/>
          </a:prstGeom>
          <a:solidFill>
            <a:srgbClr val="4A4A4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60" name="Text 58"/>
          <p:cNvSpPr/>
          <p:nvPr/>
        </p:nvSpPr>
        <p:spPr>
          <a:xfrm>
            <a:off x="8229600" y="2880360"/>
            <a:ext cx="1828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CAB</a:t>
            </a:r>
            <a:endParaRPr lang="en-US" sz="900" dirty="0"/>
          </a:p>
        </p:txBody>
      </p:sp>
      <p:sp>
        <p:nvSpPr>
          <p:cNvPr id="61" name="Text 59"/>
          <p:cNvSpPr/>
          <p:nvPr/>
        </p:nvSpPr>
        <p:spPr>
          <a:xfrm>
            <a:off x="320040" y="6126480"/>
            <a:ext cx="11521440" cy="502920"/>
          </a:xfrm>
          <a:prstGeom prst="rect">
            <a:avLst/>
          </a:prstGeom>
          <a:solidFill>
            <a:srgbClr val="FFF8F0"/>
          </a:solidFill>
          <a:ln/>
        </p:spPr>
        <p:txBody>
          <a:bodyPr wrap="square" lIns="50800" tIns="101600" rIns="101600" bIns="5080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6C2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 CARD_PRESENT_ID é derivado do DE 22 (POS Entry Mode) do IPM. SEGMENT é derivado do MCC via tabela de segmentação. NUM_INST e INST_W_INT chegam no IPM como dados adicionais de parcelamento.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588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1588" y="0"/>
            <a:ext cx="12188952" cy="73152"/>
          </a:xfrm>
          <a:prstGeom prst="rect">
            <a:avLst/>
          </a:prstGeom>
          <a:solidFill>
            <a:srgbClr val="2C2C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1588" y="6803136"/>
            <a:ext cx="12188952" cy="54864"/>
          </a:xfrm>
          <a:prstGeom prst="rect">
            <a:avLst/>
          </a:prstGeom>
          <a:solidFill>
            <a:srgbClr val="F28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67348" y="109728"/>
            <a:ext cx="11430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2C2C2C"/>
                </a:solidFill>
                <a:latin typeface="Calibri"/>
              </a:rPr>
              <a:t>Como Ler uma Regra — Decomposição Passo a Passo</a:t>
            </a:r>
          </a:p>
        </p:txBody>
      </p:sp>
      <p:sp>
        <p:nvSpPr>
          <p:cNvPr id="6" name="Rectangle 5"/>
          <p:cNvSpPr/>
          <p:nvPr/>
        </p:nvSpPr>
        <p:spPr>
          <a:xfrm>
            <a:off x="367348" y="731520"/>
            <a:ext cx="11430000" cy="18288"/>
          </a:xfrm>
          <a:prstGeom prst="rect">
            <a:avLst/>
          </a:prstGeom>
          <a:solidFill>
            <a:srgbClr val="E8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321628" y="822960"/>
            <a:ext cx="11430000" cy="86868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58788" y="841249"/>
            <a:ext cx="914400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2C2C2C"/>
                </a:solidFill>
                <a:latin typeface="Calibri"/>
              </a:rPr>
              <a:t>EXEMPLO REAL DA PLANILHA — Regra BR-CRED-INF (Crédito Infinite Presencial)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8788" y="1115568"/>
            <a:ext cx="182880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4A4A4A"/>
                </a:solidFill>
                <a:latin typeface="Calibri"/>
              </a:rPr>
              <a:t>EXPRESSION_RULE: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41868" y="1143000"/>
            <a:ext cx="941832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i="1">
                <a:solidFill>
                  <a:srgbClr val="2C2C2C"/>
                </a:solidFill>
                <a:latin typeface="Calibri"/>
              </a:rPr>
              <a:t>(ACQR_COUNTRY=76)&amp;(ISSR_COUNTRY=76)&amp;(PROD_TYPE="CREDIT")&amp;(PROD_ID="MDW"|PROD_ID="MSW")&amp;(PAYPASS_IND=1|CARD_PRESENT_ID=1)&amp;(NUM_INST=1)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1628" y="1828800"/>
            <a:ext cx="11430000" cy="8229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385636" y="2084832"/>
            <a:ext cx="320040" cy="320040"/>
          </a:xfrm>
          <a:prstGeom prst="rect">
            <a:avLst/>
          </a:prstGeom>
          <a:solidFill>
            <a:srgbClr val="2C2C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85636" y="2103120"/>
            <a:ext cx="32004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4548" y="1883665"/>
            <a:ext cx="347472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2C2C2C"/>
                </a:solidFill>
                <a:latin typeface="Calibri"/>
              </a:rPr>
              <a:t>QUEM: País do adquirente e emissor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4548" y="2176272"/>
            <a:ext cx="365760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i="1">
                <a:solidFill>
                  <a:srgbClr val="2C2C2C"/>
                </a:solidFill>
                <a:latin typeface="Calibri"/>
              </a:rPr>
              <a:t>ACQR_COUNTRY=76 &amp; ISSR_COUNTRY=76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65028" y="1993393"/>
            <a:ext cx="694944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>
                <a:solidFill>
                  <a:srgbClr val="000000"/>
                </a:solidFill>
                <a:latin typeface="Calibri"/>
              </a:rPr>
              <a:t>Intracountry Brasil — adquirente E emissor brasileiros. Código 76 = ISO Brasil.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21628" y="2706624"/>
            <a:ext cx="11430000" cy="82296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385636" y="2962656"/>
            <a:ext cx="320040" cy="320040"/>
          </a:xfrm>
          <a:prstGeom prst="rect">
            <a:avLst/>
          </a:prstGeom>
          <a:solidFill>
            <a:srgbClr val="4A4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385636" y="2980944"/>
            <a:ext cx="32004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4548" y="2761489"/>
            <a:ext cx="347472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4A4A4A"/>
                </a:solidFill>
                <a:latin typeface="Calibri"/>
              </a:rPr>
              <a:t>O QUÊ: Produto e tipo de cartão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4548" y="3054096"/>
            <a:ext cx="365760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i="1">
                <a:solidFill>
                  <a:srgbClr val="2C2C2C"/>
                </a:solidFill>
                <a:latin typeface="Calibri"/>
              </a:rPr>
              <a:t>PROD_TYPE="CREDIT" &amp; (PROD_ID="MDW"|PROD_ID="MSW")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665028" y="2871217"/>
            <a:ext cx="694944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>
                <a:solidFill>
                  <a:srgbClr val="000000"/>
                </a:solidFill>
                <a:latin typeface="Calibri"/>
              </a:rPr>
              <a:t>Transação de crédito com produto MDW (World) ou MSW (World Elite). Infinite tier.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21628" y="3584448"/>
            <a:ext cx="11430000" cy="8229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385636" y="3840480"/>
            <a:ext cx="320040" cy="320040"/>
          </a:xfrm>
          <a:prstGeom prst="rect">
            <a:avLst/>
          </a:prstGeom>
          <a:solidFill>
            <a:srgbClr val="F28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385636" y="3858768"/>
            <a:ext cx="32004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4548" y="3639313"/>
            <a:ext cx="347472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28600"/>
                </a:solidFill>
                <a:latin typeface="Calibri"/>
              </a:rPr>
              <a:t>COMO: Canal / forma de captura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4548" y="3931920"/>
            <a:ext cx="365760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i="1">
                <a:solidFill>
                  <a:srgbClr val="2C2C2C"/>
                </a:solidFill>
                <a:latin typeface="Calibri"/>
              </a:rPr>
              <a:t>PAYPASS_IND=1 | CARD_PRESENT_ID=1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665028" y="3749041"/>
            <a:ext cx="694944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>
                <a:solidFill>
                  <a:srgbClr val="000000"/>
                </a:solidFill>
                <a:latin typeface="Calibri"/>
              </a:rPr>
              <a:t>Presencial: aceita NFC (PayPass) OU chip/tarja (card present). Exclui CNP/online.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21628" y="4462272"/>
            <a:ext cx="11430000" cy="82296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385636" y="4718304"/>
            <a:ext cx="320040" cy="320040"/>
          </a:xfrm>
          <a:prstGeom prst="rect">
            <a:avLst/>
          </a:prstGeom>
          <a:solidFill>
            <a:srgbClr val="F28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385636" y="4736592"/>
            <a:ext cx="32004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4548" y="4517137"/>
            <a:ext cx="347472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28600"/>
                </a:solidFill>
                <a:latin typeface="Calibri"/>
              </a:rPr>
              <a:t>QUANDO: Parcelamento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4548" y="4809744"/>
            <a:ext cx="365760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i="1">
                <a:solidFill>
                  <a:srgbClr val="2C2C2C"/>
                </a:solidFill>
                <a:latin typeface="Calibri"/>
              </a:rPr>
              <a:t>NUM_INST=1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665028" y="4626865"/>
            <a:ext cx="694944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>
                <a:solidFill>
                  <a:srgbClr val="000000"/>
                </a:solidFill>
                <a:latin typeface="Calibri"/>
              </a:rPr>
              <a:t>Apenas transações à vista. Parcelado cai em outra regra com IRD diferente.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21628" y="5340096"/>
            <a:ext cx="11430000" cy="8229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385636" y="5596128"/>
            <a:ext cx="320040" cy="320040"/>
          </a:xfrm>
          <a:prstGeom prst="rect">
            <a:avLst/>
          </a:prstGeom>
          <a:solidFill>
            <a:srgbClr val="2C2C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385636" y="5614416"/>
            <a:ext cx="32004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24548" y="5394961"/>
            <a:ext cx="347472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2C2C2C"/>
                </a:solidFill>
                <a:latin typeface="Calibri"/>
              </a:rPr>
              <a:t>RESULTADO: IRD disparado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24548" y="5687568"/>
            <a:ext cx="365760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i="1">
                <a:solidFill>
                  <a:srgbClr val="2C2C2C"/>
                </a:solidFill>
                <a:latin typeface="Calibri"/>
              </a:rPr>
              <a:t>IRD = "Q1"  |  PRIORITY = 100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665028" y="5504689"/>
            <a:ext cx="694944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>
                <a:solidFill>
                  <a:srgbClr val="000000"/>
                </a:solidFill>
                <a:latin typeface="Calibri"/>
              </a:rPr>
              <a:t>Se todas as condições forem TRUE → IRD Q1 → busca taxa na tabela IRD_RATE.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588" y="8626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1588" y="0"/>
            <a:ext cx="12188952" cy="73152"/>
          </a:xfrm>
          <a:prstGeom prst="rect">
            <a:avLst/>
          </a:prstGeom>
          <a:solidFill>
            <a:srgbClr val="2C2C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1588" y="6803136"/>
            <a:ext cx="12188952" cy="54864"/>
          </a:xfrm>
          <a:prstGeom prst="rect">
            <a:avLst/>
          </a:prstGeom>
          <a:solidFill>
            <a:srgbClr val="F28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67348" y="109728"/>
            <a:ext cx="11430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2C2C2C"/>
                </a:solidFill>
                <a:latin typeface="Calibri"/>
              </a:rPr>
              <a:t>Sistema de Prioridades — Ordem de Avaliação das Regras</a:t>
            </a:r>
          </a:p>
        </p:txBody>
      </p:sp>
      <p:sp>
        <p:nvSpPr>
          <p:cNvPr id="6" name="Rectangle 5"/>
          <p:cNvSpPr/>
          <p:nvPr/>
        </p:nvSpPr>
        <p:spPr>
          <a:xfrm>
            <a:off x="367348" y="731520"/>
            <a:ext cx="11430000" cy="18288"/>
          </a:xfrm>
          <a:prstGeom prst="rect">
            <a:avLst/>
          </a:prstGeom>
          <a:solidFill>
            <a:srgbClr val="E8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367348" y="804673"/>
            <a:ext cx="50292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2C2C2C"/>
                </a:solidFill>
                <a:latin typeface="Calibri"/>
              </a:rPr>
              <a:t>COMO O MOTOR AVALIA</a:t>
            </a:r>
          </a:p>
        </p:txBody>
      </p:sp>
      <p:sp>
        <p:nvSpPr>
          <p:cNvPr id="8" name="Rectangle 7"/>
          <p:cNvSpPr/>
          <p:nvPr/>
        </p:nvSpPr>
        <p:spPr>
          <a:xfrm>
            <a:off x="458788" y="1170432"/>
            <a:ext cx="5029200" cy="594360"/>
          </a:xfrm>
          <a:prstGeom prst="rect">
            <a:avLst/>
          </a:prstGeom>
          <a:solidFill>
            <a:srgbClr val="F28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50228" y="1216153"/>
            <a:ext cx="484632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Calibri"/>
              </a:rPr>
              <a:t>PRIORITY 100  —  Regras mais específicas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50228" y="1490472"/>
            <a:ext cx="4846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>
                <a:solidFill>
                  <a:srgbClr val="FFFFFF"/>
                </a:solidFill>
                <a:latin typeface="Calibri"/>
              </a:rPr>
              <a:t>Produto + Segmento + Canal + Parcelamento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15988" y="1856232"/>
            <a:ext cx="4572000" cy="594360"/>
          </a:xfrm>
          <a:prstGeom prst="rect">
            <a:avLst/>
          </a:prstGeom>
          <a:solidFill>
            <a:srgbClr val="F28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007428" y="1901953"/>
            <a:ext cx="438912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Calibri"/>
              </a:rPr>
              <a:t>PRIORITY 500  —  Regras de produto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7428" y="2176272"/>
            <a:ext cx="4389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>
                <a:solidFill>
                  <a:srgbClr val="FFFFFF"/>
                </a:solidFill>
                <a:latin typeface="Calibri"/>
              </a:rPr>
              <a:t>Só produto e país (sem canal específico)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373188" y="2542032"/>
            <a:ext cx="4114800" cy="594360"/>
          </a:xfrm>
          <a:prstGeom prst="rect">
            <a:avLst/>
          </a:prstGeom>
          <a:solidFill>
            <a:srgbClr val="F6C2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464628" y="2587753"/>
            <a:ext cx="393192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Calibri"/>
              </a:rPr>
              <a:t>PRIORITY 2000  —  Transações especiais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64628" y="2862072"/>
            <a:ext cx="3931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>
                <a:solidFill>
                  <a:srgbClr val="FFFFFF"/>
                </a:solidFill>
                <a:latin typeface="Calibri"/>
              </a:rPr>
              <a:t>MoneySend, A2A, rePower, etc.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830388" y="3227832"/>
            <a:ext cx="3657600" cy="594360"/>
          </a:xfrm>
          <a:prstGeom prst="rect">
            <a:avLst/>
          </a:prstGeom>
          <a:solidFill>
            <a:srgbClr val="2C2C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921828" y="3273553"/>
            <a:ext cx="347472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Calibri"/>
              </a:rPr>
              <a:t>PRIORITY 5000-5021  —  Fallbacks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921828" y="3547872"/>
            <a:ext cx="3474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>
                <a:solidFill>
                  <a:srgbClr val="FFFFFF"/>
                </a:solidFill>
                <a:latin typeface="Calibri"/>
              </a:rPr>
              <a:t>Não bateu em nenhuma regra anterior → captura tudo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8788" y="3959353"/>
            <a:ext cx="548640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dirty="0">
                <a:solidFill>
                  <a:srgbClr val="4A4A4A"/>
                </a:solidFill>
                <a:latin typeface="Calibri"/>
              </a:rPr>
              <a:t xml:space="preserve">⬇ </a:t>
            </a:r>
            <a:r>
              <a:rPr lang="pt-BR" sz="1000" b="1" dirty="0">
                <a:solidFill>
                  <a:srgbClr val="4A4A4A"/>
                </a:solidFill>
                <a:latin typeface="Calibri"/>
              </a:rPr>
              <a:t>Capturar a a primeira</a:t>
            </a:r>
            <a:r>
              <a:rPr sz="1000" b="1" dirty="0">
                <a:solidFill>
                  <a:srgbClr val="4A4A4A"/>
                </a:solidFill>
                <a:latin typeface="Calibri"/>
              </a:rPr>
              <a:t xml:space="preserve"> </a:t>
            </a:r>
            <a:r>
              <a:rPr sz="1000" b="1" dirty="0" err="1">
                <a:solidFill>
                  <a:srgbClr val="4A4A4A"/>
                </a:solidFill>
                <a:latin typeface="Calibri"/>
              </a:rPr>
              <a:t>regra</a:t>
            </a:r>
            <a:r>
              <a:rPr sz="1000" b="1" dirty="0">
                <a:solidFill>
                  <a:srgbClr val="4A4A4A"/>
                </a:solidFill>
                <a:latin typeface="Calibri"/>
              </a:rPr>
              <a:t xml:space="preserve"> </a:t>
            </a:r>
            <a:r>
              <a:rPr sz="1000" b="1" dirty="0" err="1">
                <a:solidFill>
                  <a:srgbClr val="4A4A4A"/>
                </a:solidFill>
                <a:latin typeface="Calibri"/>
              </a:rPr>
              <a:t>que</a:t>
            </a:r>
            <a:r>
              <a:rPr sz="1000" b="1" dirty="0">
                <a:solidFill>
                  <a:srgbClr val="4A4A4A"/>
                </a:solidFill>
                <a:latin typeface="Calibri"/>
              </a:rPr>
              <a:t xml:space="preserve"> </a:t>
            </a:r>
            <a:r>
              <a:rPr sz="1000" b="1" dirty="0" err="1">
                <a:solidFill>
                  <a:srgbClr val="4A4A4A"/>
                </a:solidFill>
                <a:latin typeface="Calibri"/>
              </a:rPr>
              <a:t>retorna</a:t>
            </a:r>
            <a:r>
              <a:rPr sz="1000" b="1" dirty="0">
                <a:solidFill>
                  <a:srgbClr val="4A4A4A"/>
                </a:solidFill>
                <a:latin typeface="Calibri"/>
              </a:rPr>
              <a:t xml:space="preserve"> TRUE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85268" y="804673"/>
            <a:ext cx="530352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2C2C2C"/>
                </a:solidFill>
                <a:latin typeface="Calibri"/>
              </a:rPr>
              <a:t>REGRAS DE PRIORIDADE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539548" y="1115568"/>
            <a:ext cx="5486400" cy="475488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603556" y="1207008"/>
            <a:ext cx="27432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000000"/>
                </a:solidFill>
                <a:latin typeface="Calibri"/>
              </a:rPr>
              <a:t>✅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51028" y="1161289"/>
            <a:ext cx="493776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4A4A4A"/>
                </a:solidFill>
                <a:latin typeface="Calibri"/>
              </a:rPr>
              <a:t>Menor número = maior prioridade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951028" y="1371600"/>
            <a:ext cx="493776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>
                <a:solidFill>
                  <a:srgbClr val="4A4A4A"/>
                </a:solidFill>
                <a:latin typeface="Calibri"/>
              </a:rPr>
              <a:t>Priority 100 avalia antes da 500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539548" y="1636775"/>
            <a:ext cx="5486400" cy="475488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603556" y="1728215"/>
            <a:ext cx="27432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000000"/>
                </a:solidFill>
                <a:latin typeface="Calibri"/>
              </a:rPr>
              <a:t>✅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951028" y="1682496"/>
            <a:ext cx="493776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4A4A4A"/>
                </a:solidFill>
                <a:latin typeface="Calibri"/>
              </a:rPr>
              <a:t>Regras específicas devem ter prioridade menor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951028" y="1892807"/>
            <a:ext cx="493776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>
                <a:solidFill>
                  <a:srgbClr val="4A4A4A"/>
                </a:solidFill>
                <a:latin typeface="Calibri"/>
              </a:rPr>
              <a:t>Infinite &lt; Standard &lt; Fallback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539548" y="2157982"/>
            <a:ext cx="5486400" cy="475488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6603556" y="2249422"/>
            <a:ext cx="27432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000000"/>
                </a:solidFill>
                <a:latin typeface="Calibri"/>
              </a:rPr>
              <a:t>✅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951028" y="2203703"/>
            <a:ext cx="493776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4A4A4A"/>
                </a:solidFill>
                <a:latin typeface="Calibri"/>
              </a:rPr>
              <a:t>Regras mutuamente exclusivas podem ter mesma prioridade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951028" y="2414014"/>
            <a:ext cx="493776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>
                <a:solidFill>
                  <a:srgbClr val="4A4A4A"/>
                </a:solidFill>
                <a:latin typeface="Calibri"/>
              </a:rPr>
              <a:t>Se as expressões nunca se sobrepõem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367348" y="4251960"/>
            <a:ext cx="594360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dirty="0">
                <a:solidFill>
                  <a:srgbClr val="2C2C2C"/>
                </a:solidFill>
                <a:latin typeface="Calibri"/>
              </a:rPr>
              <a:t>FAIXAS NA PLANILH</a:t>
            </a:r>
            <a:r>
              <a:rPr lang="pt-BR" sz="1100" b="1" dirty="0">
                <a:solidFill>
                  <a:srgbClr val="2C2C2C"/>
                </a:solidFill>
                <a:latin typeface="Calibri"/>
              </a:rPr>
              <a:t>A</a:t>
            </a:r>
            <a:endParaRPr sz="1100" b="1" dirty="0">
              <a:solidFill>
                <a:srgbClr val="2C2C2C"/>
              </a:solidFill>
              <a:latin typeface="Calibri"/>
            </a:endParaRPr>
          </a:p>
        </p:txBody>
      </p:sp>
      <p:sp>
        <p:nvSpPr>
          <p:cNvPr id="51" name="TextBox 50"/>
          <p:cNvSpPr txBox="1"/>
          <p:nvPr/>
        </p:nvSpPr>
        <p:spPr>
          <a:xfrm>
            <a:off x="458788" y="4553713"/>
            <a:ext cx="5669280" cy="2385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>
                <a:solidFill>
                  <a:srgbClr val="000000"/>
                </a:solidFill>
                <a:latin typeface="Calibri"/>
              </a:rPr>
              <a:t>100-500    Crédito PF por produto (Infinite, Signature, Standard)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58788" y="4846321"/>
            <a:ext cx="5669280" cy="2385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>
                <a:solidFill>
                  <a:srgbClr val="000000"/>
                </a:solidFill>
                <a:latin typeface="Calibri"/>
              </a:rPr>
              <a:t>600-900    Débito por segmento (Supermercado, Frictionless, Base)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58788" y="5138929"/>
            <a:ext cx="5669280" cy="2385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>
                <a:solidFill>
                  <a:srgbClr val="000000"/>
                </a:solidFill>
                <a:latin typeface="Calibri"/>
              </a:rPr>
              <a:t>1000-1500  Prepaid (food, gift, corporate)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458788" y="5431537"/>
            <a:ext cx="5669280" cy="2385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>
                <a:solidFill>
                  <a:srgbClr val="000000"/>
                </a:solidFill>
                <a:latin typeface="Calibri"/>
              </a:rPr>
              <a:t>2000-2500  Transações especiais (MoneySend, A2A, rePower)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458788" y="5724145"/>
            <a:ext cx="5669280" cy="2385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>
                <a:solidFill>
                  <a:srgbClr val="000000"/>
                </a:solidFill>
                <a:latin typeface="Calibri"/>
              </a:rPr>
              <a:t>9001-9009  Disputas e ATM Cash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458788" y="6016753"/>
            <a:ext cx="5669280" cy="2385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>
                <a:solidFill>
                  <a:srgbClr val="000000"/>
                </a:solidFill>
                <a:latin typeface="Calibri"/>
              </a:rPr>
              <a:t>5000-5021  Fallbacks universais (Crédito/Débito sem match)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274320"/>
            <a:ext cx="11521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PAÍS &amp; ROTEAMENTO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320040" y="749808"/>
            <a:ext cx="11521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ACQR_COUNTRY, ISSR_COUNTRY e ISSR_REGION — definem jurisdição doméstica vs. interregional.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320040" y="713232"/>
            <a:ext cx="11521440" cy="22860"/>
          </a:xfrm>
          <a:prstGeom prst="rect">
            <a:avLst/>
          </a:prstGeom>
          <a:solidFill>
            <a:srgbClr val="F2860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" name="Shape 3"/>
          <p:cNvSpPr/>
          <p:nvPr/>
        </p:nvSpPr>
        <p:spPr>
          <a:xfrm>
            <a:off x="320040" y="1051560"/>
            <a:ext cx="3611880" cy="2697480"/>
          </a:xfrm>
          <a:prstGeom prst="rect">
            <a:avLst/>
          </a:prstGeom>
          <a:solidFill>
            <a:srgbClr val="FFF8F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6" name="Shape 4"/>
          <p:cNvSpPr/>
          <p:nvPr/>
        </p:nvSpPr>
        <p:spPr>
          <a:xfrm>
            <a:off x="320040" y="1051560"/>
            <a:ext cx="3611880" cy="365760"/>
          </a:xfrm>
          <a:prstGeom prst="rect">
            <a:avLst/>
          </a:prstGeom>
          <a:solidFill>
            <a:srgbClr val="2C2C2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7" name="Text 5"/>
          <p:cNvSpPr/>
          <p:nvPr/>
        </p:nvSpPr>
        <p:spPr>
          <a:xfrm>
            <a:off x="384048" y="1069848"/>
            <a:ext cx="34747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ACQR_COUNTRY  —  Adquirente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384048" y="146304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Origem: IPM DE 43, Subfield 6 (Acceptor Country Code)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384048" y="1783080"/>
            <a:ext cx="34290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Valor numérico — ISO 3166-1 numeric
</a:t>
            </a:r>
            <a:r>
              <a:rPr lang="en-US" sz="2200" b="1" dirty="0">
                <a:solidFill>
                  <a:srgbClr val="F286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76</a:t>
            </a:r>
            <a:r>
              <a:rPr lang="en-US" sz="9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 = Brasil (BRL acquirer)
</a:t>
            </a:r>
            <a:r>
              <a:rPr lang="en-US" sz="9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Usado na raiz de todas as regras domésticas:
</a:t>
            </a:r>
            <a:r>
              <a:rPr lang="en-US" sz="950" b="1" dirty="0">
                <a:solidFill>
                  <a:srgbClr val="2C2C2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ACQR_COUNTRY=76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069080" y="1051560"/>
            <a:ext cx="3611880" cy="2697480"/>
          </a:xfrm>
          <a:prstGeom prst="rect">
            <a:avLst/>
          </a:prstGeom>
          <a:solidFill>
            <a:srgbClr val="F7F8F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1" name="Shape 9"/>
          <p:cNvSpPr/>
          <p:nvPr/>
        </p:nvSpPr>
        <p:spPr>
          <a:xfrm>
            <a:off x="4069080" y="1051560"/>
            <a:ext cx="3611880" cy="365760"/>
          </a:xfrm>
          <a:prstGeom prst="rect">
            <a:avLst/>
          </a:prstGeom>
          <a:solidFill>
            <a:srgbClr val="4A4A4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2" name="Text 10"/>
          <p:cNvSpPr/>
          <p:nvPr/>
        </p:nvSpPr>
        <p:spPr>
          <a:xfrm>
            <a:off x="4133088" y="1069848"/>
            <a:ext cx="34747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ISSR_COUNTRY  —  Emissor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4133088" y="146304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Origem: Derivado da tabela de BIN Ranges Mastercard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133088" y="1783080"/>
            <a:ext cx="34290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Valor numérico — ISO 3166-1 numeric
</a:t>
            </a:r>
            <a:r>
              <a:rPr lang="en-US" sz="2200" b="1" dirty="0">
                <a:solidFill>
                  <a:srgbClr val="F286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76</a:t>
            </a:r>
            <a:r>
              <a:rPr lang="en-US" sz="9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 = cartão emitido no Brasil
</a:t>
            </a:r>
            <a:r>
              <a:rPr lang="en-US" sz="9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Doméstico: </a:t>
            </a:r>
            <a:r>
              <a:rPr lang="en-US" sz="950" b="1" dirty="0">
                <a:solidFill>
                  <a:srgbClr val="4A4A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ISSR_COUNTRY=76
</a:t>
            </a:r>
            <a:r>
              <a:rPr lang="en-US" sz="9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Interregional: </a:t>
            </a:r>
            <a:r>
              <a:rPr lang="en-US" sz="950" b="1" dirty="0">
                <a:solidFill>
                  <a:srgbClr val="F286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ISSR_COUNTRY&lt;&gt;76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7818120" y="1051560"/>
            <a:ext cx="3749040" cy="2697480"/>
          </a:xfrm>
          <a:prstGeom prst="rect">
            <a:avLst/>
          </a:prstGeom>
          <a:solidFill>
            <a:srgbClr val="FFF8F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6" name="Shape 14"/>
          <p:cNvSpPr/>
          <p:nvPr/>
        </p:nvSpPr>
        <p:spPr>
          <a:xfrm>
            <a:off x="7818120" y="1051560"/>
            <a:ext cx="3749040" cy="365760"/>
          </a:xfrm>
          <a:prstGeom prst="rect">
            <a:avLst/>
          </a:prstGeom>
          <a:solidFill>
            <a:srgbClr val="4A4A4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7" name="Text 15"/>
          <p:cNvSpPr/>
          <p:nvPr/>
        </p:nvSpPr>
        <p:spPr>
          <a:xfrm>
            <a:off x="7882128" y="1069848"/>
            <a:ext cx="3611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ISSR_REGION  —  Região do Emissor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7882128" y="1463040"/>
            <a:ext cx="3611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Origem: Derivado do BIN (região geográfica Mastercard)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7882128" y="1810512"/>
            <a:ext cx="6400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4A4A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"A"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8577072" y="1828800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 &amp; Canada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7882128" y="2176272"/>
            <a:ext cx="6400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4A4A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"B"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8577072" y="2194560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Europa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7882128" y="2542032"/>
            <a:ext cx="6400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4A4A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"C"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8577072" y="2560320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Ásia-Pacífico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7882128" y="2907792"/>
            <a:ext cx="6400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4A4A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"D"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8577072" y="2926080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CEMEA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7882128" y="3273552"/>
            <a:ext cx="6400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4A4A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"E"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8577072" y="3291840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LAC (inclui BR)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320040" y="3886200"/>
            <a:ext cx="11247120" cy="822960"/>
          </a:xfrm>
          <a:prstGeom prst="rect">
            <a:avLst/>
          </a:prstGeom>
          <a:solidFill>
            <a:srgbClr val="FFF8F0"/>
          </a:solidFill>
          <a:ln w="12700">
            <a:solidFill>
              <a:srgbClr val="F2860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0" name="Text 28"/>
          <p:cNvSpPr/>
          <p:nvPr/>
        </p:nvSpPr>
        <p:spPr>
          <a:xfrm>
            <a:off x="457200" y="3913632"/>
            <a:ext cx="10972800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6C2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Trava Geográfica Doméstica: </a:t>
            </a:r>
            <a:r>
              <a:rPr lang="en-US" sz="950" b="1" dirty="0">
                <a:solidFill>
                  <a:srgbClr val="2C2C2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ACQR_COUNTRY=76</a:t>
            </a:r>
            <a:r>
              <a:rPr lang="en-US" sz="9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 &amp;  </a:t>
            </a:r>
            <a:r>
              <a:rPr lang="en-US" sz="950" b="1" dirty="0">
                <a:solidFill>
                  <a:srgbClr val="4A4A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ISSR_COUNTRY=76</a:t>
            </a:r>
            <a:r>
              <a:rPr lang="en-US" sz="95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 garantem transação doméstica. Regras interregionais usam </a:t>
            </a:r>
            <a:r>
              <a:rPr lang="en-US" sz="950" b="1" dirty="0">
                <a:solidFill>
                  <a:srgbClr val="F286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ISSR_COUNTRY&lt;&gt;76</a:t>
            </a:r>
            <a:r>
              <a:rPr lang="en-US" sz="95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IPM: DE 43 SF6 (ACQR) · BIN Table (ISSR_COUNTRY) · ISSR_REGION usado em regras Premium interregionais (ex.: </a:t>
            </a:r>
            <a:endParaRPr lang="en-US" sz="950" dirty="0"/>
          </a:p>
          <a:p>
            <a:pPr marL="0" indent="0">
              <a:buNone/>
            </a:pPr>
            <a:r>
              <a:rPr lang="en-US" sz="950" b="1" dirty="0">
                <a:solidFill>
                  <a:srgbClr val="4A4A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ISSR_REGION="B"</a:t>
            </a:r>
            <a:r>
              <a:rPr lang="en-US" sz="95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→ Europe inbound).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320040" y="4864608"/>
            <a:ext cx="11247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obter ACQR_COUNTRY, ISSR_COUNTRY e ISSR_REGION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320040" y="5184648"/>
            <a:ext cx="11247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Receber o PAN na autorização (ISO 8583 DE 2)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Consultar BIN Table Mastercard (Program Enrollment tables / GDI) → retorna ISSR_COUNTRY e ISSR_REGION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ACQR_COUNTRY: país do adquirente preenchido pelo acquirer no IPM DE 43 Subfield 6 (Acceptor Country Code)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Para regras interregionais, combinar ISSR_COUNTRY&lt;&gt;76 com ISSR_REGION para diferenciar Europa, AP, CEMEA, LAC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274320"/>
            <a:ext cx="11521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PRODUTO &amp; CLASSIFICAÇÃO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320040" y="749808"/>
            <a:ext cx="11521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PROD_TYPE, PROD_ID, PROD_TIER, PROD_CATEGORY, ACC_BRAND e DOCUMENT_TYPE — todos derivados do BIN.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320040" y="713232"/>
            <a:ext cx="11521440" cy="22860"/>
          </a:xfrm>
          <a:prstGeom prst="rect">
            <a:avLst/>
          </a:prstGeom>
          <a:solidFill>
            <a:srgbClr val="F2860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" name="Shape 3"/>
          <p:cNvSpPr/>
          <p:nvPr/>
        </p:nvSpPr>
        <p:spPr>
          <a:xfrm>
            <a:off x="320040" y="1024128"/>
            <a:ext cx="1828800" cy="329184"/>
          </a:xfrm>
          <a:prstGeom prst="rect">
            <a:avLst/>
          </a:prstGeom>
          <a:solidFill>
            <a:srgbClr val="2C2C2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/>
          <p:nvPr/>
        </p:nvSpPr>
        <p:spPr>
          <a:xfrm>
            <a:off x="365760" y="1033272"/>
            <a:ext cx="17373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Variável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148840" y="1024128"/>
            <a:ext cx="2194560" cy="329184"/>
          </a:xfrm>
          <a:prstGeom prst="rect">
            <a:avLst/>
          </a:prstGeom>
          <a:solidFill>
            <a:srgbClr val="2C2C2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8" name="Text 6"/>
          <p:cNvSpPr/>
          <p:nvPr/>
        </p:nvSpPr>
        <p:spPr>
          <a:xfrm>
            <a:off x="2194560" y="1033272"/>
            <a:ext cx="21031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Origem IPM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343400" y="1024128"/>
            <a:ext cx="3840480" cy="329184"/>
          </a:xfrm>
          <a:prstGeom prst="rect">
            <a:avLst/>
          </a:prstGeom>
          <a:solidFill>
            <a:srgbClr val="2C2C2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0" name="Text 8"/>
          <p:cNvSpPr/>
          <p:nvPr/>
        </p:nvSpPr>
        <p:spPr>
          <a:xfrm>
            <a:off x="4389120" y="1033272"/>
            <a:ext cx="37490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Valores-chave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8183880" y="1024128"/>
            <a:ext cx="3291840" cy="329184"/>
          </a:xfrm>
          <a:prstGeom prst="rect">
            <a:avLst/>
          </a:prstGeom>
          <a:solidFill>
            <a:srgbClr val="2C2C2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2" name="Text 10"/>
          <p:cNvSpPr/>
          <p:nvPr/>
        </p:nvSpPr>
        <p:spPr>
          <a:xfrm>
            <a:off x="8229600" y="1033272"/>
            <a:ext cx="3200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Exemplo de uso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20040" y="1389888"/>
            <a:ext cx="1828800" cy="777240"/>
          </a:xfrm>
          <a:prstGeom prst="rect">
            <a:avLst/>
          </a:prstGeom>
          <a:solidFill>
            <a:srgbClr val="F7F8FA"/>
          </a:solidFill>
          <a:ln w="1270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4" name="Text 12"/>
          <p:cNvSpPr/>
          <p:nvPr/>
        </p:nvSpPr>
        <p:spPr>
          <a:xfrm>
            <a:off x="365760" y="1426464"/>
            <a:ext cx="1737360" cy="7040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b="1" dirty="0">
                <a:solidFill>
                  <a:srgbClr val="2C2C2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PROD_TYPE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2148840" y="1389888"/>
            <a:ext cx="2194560" cy="777240"/>
          </a:xfrm>
          <a:prstGeom prst="rect">
            <a:avLst/>
          </a:prstGeom>
          <a:solidFill>
            <a:srgbClr val="F7F8FA"/>
          </a:solidFill>
          <a:ln w="1270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6" name="Text 14"/>
          <p:cNvSpPr/>
          <p:nvPr/>
        </p:nvSpPr>
        <p:spPr>
          <a:xfrm>
            <a:off x="2194560" y="1426464"/>
            <a:ext cx="2103120" cy="7040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PDS 0002 (GCMS)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PDS 0003 (Licensed)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4343400" y="1389888"/>
            <a:ext cx="3840480" cy="777240"/>
          </a:xfrm>
          <a:prstGeom prst="rect">
            <a:avLst/>
          </a:prstGeom>
          <a:solidFill>
            <a:srgbClr val="F7F8FA"/>
          </a:solidFill>
          <a:ln w="1270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8" name="Text 16"/>
          <p:cNvSpPr/>
          <p:nvPr/>
        </p:nvSpPr>
        <p:spPr>
          <a:xfrm>
            <a:off x="4389120" y="1426464"/>
            <a:ext cx="3749040" cy="7040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"CREDIT" / "DEBIT" / "PREPAID"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PDS 0002 = GCMS Product ID (3 chars)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PDS 0003 = Licensed Product ID — diferencia Débito de Pré-Pago no nível de licença do emissor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Extrair AMBOS do IPM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8183880" y="1389888"/>
            <a:ext cx="3291840" cy="777240"/>
          </a:xfrm>
          <a:prstGeom prst="rect">
            <a:avLst/>
          </a:prstGeom>
          <a:solidFill>
            <a:srgbClr val="F7F8FA"/>
          </a:solidFill>
          <a:ln w="1270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0" name="Text 18"/>
          <p:cNvSpPr/>
          <p:nvPr/>
        </p:nvSpPr>
        <p:spPr>
          <a:xfrm>
            <a:off x="8229600" y="1426464"/>
            <a:ext cx="3200400" cy="7040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2C2C2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PROD_TYPE="CREDIT"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320040" y="2167128"/>
            <a:ext cx="1828800" cy="694944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2" name="Text 20"/>
          <p:cNvSpPr/>
          <p:nvPr/>
        </p:nvSpPr>
        <p:spPr>
          <a:xfrm>
            <a:off x="365760" y="2203704"/>
            <a:ext cx="1737360" cy="6217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b="1" dirty="0">
                <a:solidFill>
                  <a:srgbClr val="2C2C2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PROD_ID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2148840" y="2167128"/>
            <a:ext cx="2194560" cy="694944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4" name="Text 22"/>
          <p:cNvSpPr/>
          <p:nvPr/>
        </p:nvSpPr>
        <p:spPr>
          <a:xfrm>
            <a:off x="2194560" y="2203704"/>
            <a:ext cx="2103120" cy="6217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PDS 0002 (GCMS Product Identifier)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4343400" y="2167128"/>
            <a:ext cx="3840480" cy="694944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6" name="Text 24"/>
          <p:cNvSpPr/>
          <p:nvPr/>
        </p:nvSpPr>
        <p:spPr>
          <a:xfrm>
            <a:off x="4389120" y="2203704"/>
            <a:ext cx="3749040" cy="6217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MBK=World Elite · MRJ=Mastercard Restaurant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GCP=Gold · MES=Standard · MCE=Electronic · MWF=Humanitarian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Código de 3 chars — whitelist IP0096T1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8183880" y="2167128"/>
            <a:ext cx="3291840" cy="694944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8" name="Text 26"/>
          <p:cNvSpPr/>
          <p:nvPr/>
        </p:nvSpPr>
        <p:spPr>
          <a:xfrm>
            <a:off x="8229600" y="2203704"/>
            <a:ext cx="3200400" cy="6217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2C2C2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PROD_ID="MBK"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320040" y="2862072"/>
            <a:ext cx="1828800" cy="786384"/>
          </a:xfrm>
          <a:prstGeom prst="rect">
            <a:avLst/>
          </a:prstGeom>
          <a:solidFill>
            <a:srgbClr val="FFF8F0"/>
          </a:solidFill>
          <a:ln w="1270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0" name="Text 28"/>
          <p:cNvSpPr/>
          <p:nvPr/>
        </p:nvSpPr>
        <p:spPr>
          <a:xfrm>
            <a:off x="365760" y="2898648"/>
            <a:ext cx="1737360" cy="713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b="1" dirty="0">
                <a:solidFill>
                  <a:srgbClr val="2C2C2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PROD_TIER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2148840" y="2862072"/>
            <a:ext cx="2194560" cy="786384"/>
          </a:xfrm>
          <a:prstGeom prst="rect">
            <a:avLst/>
          </a:prstGeom>
          <a:solidFill>
            <a:srgbClr val="FFF8F0"/>
          </a:solidFill>
          <a:ln w="1270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2" name="Text 30"/>
          <p:cNvSpPr/>
          <p:nvPr/>
        </p:nvSpPr>
        <p:spPr>
          <a:xfrm>
            <a:off x="2194560" y="2898648"/>
            <a:ext cx="2103120" cy="713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Derivado do BIN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4343400" y="2862072"/>
            <a:ext cx="3840480" cy="786384"/>
          </a:xfrm>
          <a:prstGeom prst="rect">
            <a:avLst/>
          </a:prstGeom>
          <a:solidFill>
            <a:srgbClr val="FFF8F0"/>
          </a:solidFill>
          <a:ln w="1270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4" name="Text 32"/>
          <p:cNvSpPr/>
          <p:nvPr/>
        </p:nvSpPr>
        <p:spPr>
          <a:xfrm>
            <a:off x="4389120" y="2898648"/>
            <a:ext cx="3749040" cy="713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750" dirty="0">
                <a:solidFill>
                  <a:srgbClr val="F6C2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"CORE" / "PREMIUM" / "SUPER_PREMIUM"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F6C2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Usar PROD_ID (whitelist IP0096T1) para regras. PROD_TIER é apenas relatório.</a:t>
            </a:r>
            <a:endParaRPr lang="en-US" sz="750" dirty="0"/>
          </a:p>
        </p:txBody>
      </p:sp>
      <p:sp>
        <p:nvSpPr>
          <p:cNvPr id="35" name="Shape 33"/>
          <p:cNvSpPr/>
          <p:nvPr/>
        </p:nvSpPr>
        <p:spPr>
          <a:xfrm>
            <a:off x="8183880" y="2862072"/>
            <a:ext cx="3291840" cy="786384"/>
          </a:xfrm>
          <a:prstGeom prst="rect">
            <a:avLst/>
          </a:prstGeom>
          <a:solidFill>
            <a:srgbClr val="FFF8F0"/>
          </a:solidFill>
          <a:ln w="1270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6" name="Text 34"/>
          <p:cNvSpPr/>
          <p:nvPr/>
        </p:nvSpPr>
        <p:spPr>
          <a:xfrm>
            <a:off x="8229600" y="2898648"/>
            <a:ext cx="3200400" cy="713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2C2C2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PROD_TIER="PREMIUM"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320040" y="3648456"/>
            <a:ext cx="1828800" cy="786384"/>
          </a:xfrm>
          <a:prstGeom prst="rect">
            <a:avLst/>
          </a:prstGeom>
          <a:solidFill>
            <a:srgbClr val="FFF8F0"/>
          </a:solidFill>
          <a:ln w="1270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8" name="Text 36"/>
          <p:cNvSpPr/>
          <p:nvPr/>
        </p:nvSpPr>
        <p:spPr>
          <a:xfrm>
            <a:off x="365760" y="3685032"/>
            <a:ext cx="1737360" cy="713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b="1" dirty="0">
                <a:solidFill>
                  <a:srgbClr val="2C2C2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PROD_CATEGORY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2148840" y="3648456"/>
            <a:ext cx="2194560" cy="786384"/>
          </a:xfrm>
          <a:prstGeom prst="rect">
            <a:avLst/>
          </a:prstGeom>
          <a:solidFill>
            <a:srgbClr val="FFF8F0"/>
          </a:solidFill>
          <a:ln w="1270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0" name="Text 38"/>
          <p:cNvSpPr/>
          <p:nvPr/>
        </p:nvSpPr>
        <p:spPr>
          <a:xfrm>
            <a:off x="2194560" y="3685032"/>
            <a:ext cx="2103120" cy="713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Derivado do BIN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4343400" y="3648456"/>
            <a:ext cx="3840480" cy="786384"/>
          </a:xfrm>
          <a:prstGeom prst="rect">
            <a:avLst/>
          </a:prstGeom>
          <a:solidFill>
            <a:srgbClr val="FFF8F0"/>
          </a:solidFill>
          <a:ln w="1270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2" name="Text 40"/>
          <p:cNvSpPr/>
          <p:nvPr/>
        </p:nvSpPr>
        <p:spPr>
          <a:xfrm>
            <a:off x="4389120" y="3685032"/>
            <a:ext cx="3749040" cy="713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750" dirty="0">
                <a:solidFill>
                  <a:srgbClr val="F6C2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"CONSUMER" / "COMMERCIAL"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F6C2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Usar PROD_ID (whitelist IP0096T1) para regras. PROD_CATEGORY é apenas relatório.</a:t>
            </a:r>
            <a:endParaRPr lang="en-US" sz="750" dirty="0"/>
          </a:p>
        </p:txBody>
      </p:sp>
      <p:sp>
        <p:nvSpPr>
          <p:cNvPr id="43" name="Shape 41"/>
          <p:cNvSpPr/>
          <p:nvPr/>
        </p:nvSpPr>
        <p:spPr>
          <a:xfrm>
            <a:off x="8183880" y="3648456"/>
            <a:ext cx="3291840" cy="786384"/>
          </a:xfrm>
          <a:prstGeom prst="rect">
            <a:avLst/>
          </a:prstGeom>
          <a:solidFill>
            <a:srgbClr val="FFF8F0"/>
          </a:solidFill>
          <a:ln w="1270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4" name="Text 42"/>
          <p:cNvSpPr/>
          <p:nvPr/>
        </p:nvSpPr>
        <p:spPr>
          <a:xfrm>
            <a:off x="8229600" y="3685032"/>
            <a:ext cx="3200400" cy="713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2C2C2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PROD_CATEGORY="COMMERCIAL"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320040" y="4434840"/>
            <a:ext cx="1828800" cy="694944"/>
          </a:xfrm>
          <a:prstGeom prst="rect">
            <a:avLst/>
          </a:prstGeom>
          <a:solidFill>
            <a:srgbClr val="F7F8FA"/>
          </a:solidFill>
          <a:ln w="1270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6" name="Text 44"/>
          <p:cNvSpPr/>
          <p:nvPr/>
        </p:nvSpPr>
        <p:spPr>
          <a:xfrm>
            <a:off x="365760" y="4471416"/>
            <a:ext cx="1737360" cy="6217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b="1" dirty="0">
                <a:solidFill>
                  <a:srgbClr val="2C2C2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ACC_BRAND</a:t>
            </a:r>
            <a:endParaRPr lang="en-US" sz="950" dirty="0"/>
          </a:p>
        </p:txBody>
      </p:sp>
      <p:sp>
        <p:nvSpPr>
          <p:cNvPr id="47" name="Shape 45"/>
          <p:cNvSpPr/>
          <p:nvPr/>
        </p:nvSpPr>
        <p:spPr>
          <a:xfrm>
            <a:off x="2148840" y="4434840"/>
            <a:ext cx="2194560" cy="694944"/>
          </a:xfrm>
          <a:prstGeom prst="rect">
            <a:avLst/>
          </a:prstGeom>
          <a:solidFill>
            <a:srgbClr val="F7F8FA"/>
          </a:solidFill>
          <a:ln w="1270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8" name="Text 46"/>
          <p:cNvSpPr/>
          <p:nvPr/>
        </p:nvSpPr>
        <p:spPr>
          <a:xfrm>
            <a:off x="2194560" y="4471416"/>
            <a:ext cx="2103120" cy="6217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PDS 0158 SF1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(Card Program ID)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4343400" y="4434840"/>
            <a:ext cx="3840480" cy="694944"/>
          </a:xfrm>
          <a:prstGeom prst="rect">
            <a:avLst/>
          </a:prstGeom>
          <a:solidFill>
            <a:srgbClr val="F7F8FA"/>
          </a:solidFill>
          <a:ln w="1270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0" name="Text 48"/>
          <p:cNvSpPr/>
          <p:nvPr/>
        </p:nvSpPr>
        <p:spPr>
          <a:xfrm>
            <a:off x="4389120" y="4471416"/>
            <a:ext cx="3749040" cy="6217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MSI=Mastercard · MCC=Maestro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PVL=Private Label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Origem correta: PDS 0158 (Business Activity), Subfield 1 (Card Program Identifier) — ou tabela MPE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8183880" y="4434840"/>
            <a:ext cx="3291840" cy="694944"/>
          </a:xfrm>
          <a:prstGeom prst="rect">
            <a:avLst/>
          </a:prstGeom>
          <a:solidFill>
            <a:srgbClr val="F7F8FA"/>
          </a:solidFill>
          <a:ln w="1270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2" name="Text 50"/>
          <p:cNvSpPr/>
          <p:nvPr/>
        </p:nvSpPr>
        <p:spPr>
          <a:xfrm>
            <a:off x="8229600" y="4471416"/>
            <a:ext cx="3200400" cy="6217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2C2C2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ACC_BRAND="MSI"</a:t>
            </a:r>
            <a:endParaRPr lang="en-US" sz="900" dirty="0"/>
          </a:p>
        </p:txBody>
      </p:sp>
      <p:sp>
        <p:nvSpPr>
          <p:cNvPr id="53" name="Shape 51"/>
          <p:cNvSpPr/>
          <p:nvPr/>
        </p:nvSpPr>
        <p:spPr>
          <a:xfrm>
            <a:off x="320040" y="5129784"/>
            <a:ext cx="182880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4" name="Text 52"/>
          <p:cNvSpPr/>
          <p:nvPr/>
        </p:nvSpPr>
        <p:spPr>
          <a:xfrm>
            <a:off x="365760" y="5166360"/>
            <a:ext cx="1737360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b="1" dirty="0">
                <a:solidFill>
                  <a:srgbClr val="2C2C2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DOCUMENT_TYPE</a:t>
            </a:r>
            <a:endParaRPr lang="en-US" sz="950" dirty="0"/>
          </a:p>
        </p:txBody>
      </p:sp>
      <p:sp>
        <p:nvSpPr>
          <p:cNvPr id="55" name="Shape 53"/>
          <p:cNvSpPr/>
          <p:nvPr/>
        </p:nvSpPr>
        <p:spPr>
          <a:xfrm>
            <a:off x="2148840" y="5129784"/>
            <a:ext cx="219456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6" name="Text 54"/>
          <p:cNvSpPr/>
          <p:nvPr/>
        </p:nvSpPr>
        <p:spPr>
          <a:xfrm>
            <a:off x="2194560" y="5166360"/>
            <a:ext cx="2103120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 / Registro</a:t>
            </a:r>
            <a:endParaRPr lang="en-US" sz="900" dirty="0"/>
          </a:p>
        </p:txBody>
      </p:sp>
      <p:sp>
        <p:nvSpPr>
          <p:cNvPr id="57" name="Shape 55"/>
          <p:cNvSpPr/>
          <p:nvPr/>
        </p:nvSpPr>
        <p:spPr>
          <a:xfrm>
            <a:off x="4343400" y="5129784"/>
            <a:ext cx="384048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8" name="Text 56"/>
          <p:cNvSpPr/>
          <p:nvPr/>
        </p:nvSpPr>
        <p:spPr>
          <a:xfrm>
            <a:off x="4389120" y="5166360"/>
            <a:ext cx="3749040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= PJ (pessoa jurídica)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= PF (pessoa física)</a:t>
            </a:r>
            <a:endParaRPr lang="en-US" sz="900" dirty="0"/>
          </a:p>
        </p:txBody>
      </p:sp>
      <p:sp>
        <p:nvSpPr>
          <p:cNvPr id="59" name="Shape 57"/>
          <p:cNvSpPr/>
          <p:nvPr/>
        </p:nvSpPr>
        <p:spPr>
          <a:xfrm>
            <a:off x="8183880" y="5129784"/>
            <a:ext cx="329184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0" name="Text 58"/>
          <p:cNvSpPr/>
          <p:nvPr/>
        </p:nvSpPr>
        <p:spPr>
          <a:xfrm>
            <a:off x="8229600" y="5166360"/>
            <a:ext cx="3200400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2C2C2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DOCUMENT_TYPE=2</a:t>
            </a:r>
            <a:endParaRPr lang="en-US" sz="900" dirty="0"/>
          </a:p>
        </p:txBody>
      </p:sp>
      <p:sp>
        <p:nvSpPr>
          <p:cNvPr id="61" name="Text 59"/>
          <p:cNvSpPr/>
          <p:nvPr/>
        </p:nvSpPr>
        <p:spPr>
          <a:xfrm>
            <a:off x="320040" y="5724144"/>
            <a:ext cx="11521440" cy="868680"/>
          </a:xfrm>
          <a:prstGeom prst="rect">
            <a:avLst/>
          </a:prstGeom>
          <a:solidFill>
            <a:srgbClr val="FFF8F0"/>
          </a:solidFill>
          <a:ln/>
        </p:spPr>
        <p:txBody>
          <a:bodyPr wrap="square" lIns="63500" tIns="101600" rIns="101600" bIns="63500" rtlCol="0" anchor="ctr"/>
          <a:lstStyle/>
          <a:p>
            <a:pPr marL="0" indent="0">
              <a:buNone/>
            </a:pPr>
            <a:r>
              <a:rPr lang="en-US" sz="850" b="1" dirty="0" err="1">
                <a:solidFill>
                  <a:srgbClr val="F286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Importante</a:t>
            </a:r>
            <a:r>
              <a:rPr lang="en-US" sz="850" b="1" dirty="0">
                <a:solidFill>
                  <a:srgbClr val="F286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:
</a:t>
            </a:r>
            <a:r>
              <a:rPr lang="en-US" sz="850" b="1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1. ACC_BRAND: </a:t>
            </a:r>
            <a:r>
              <a:rPr lang="en-US" sz="85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 usar PDS 0006. Ler PDS 0158 SF1 (Card Program Identifier) ou tabela MPE para obter MSI/MCC/PVL.
</a:t>
            </a:r>
            <a:r>
              <a:rPr lang="en-US" sz="850" b="1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2. PROD_TYPE: </a:t>
            </a:r>
            <a:r>
              <a:rPr lang="en-US" sz="85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Extrair AMBOS PDS 0002 (GCMS Product ID) e PDS 0003 (Licensed Product ID) do IPM. O PDS 0003 é o que diferencia Débito de Pré-Pago no nível de licença do emissor (ex.: Maestro vs. DMC).
</a:t>
            </a:r>
            <a:r>
              <a:rPr lang="en-US" sz="850" b="1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3. PROD_TIER / PROD_CATEGORY: </a:t>
            </a:r>
            <a:r>
              <a:rPr lang="en-US" sz="85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São agrupadores de relatório — NUNCA usá-los como condição no motor de pricing. Usar exclusivamente o PROD_ID contra a whitelist IP0096T1 (Restrições de Produto GCMS) para evitar rejeições.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274320"/>
            <a:ext cx="11521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PRESENÇA &amp; TIPO DE TRANSAÇÃO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320040" y="749808"/>
            <a:ext cx="11521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CARD_PRESENT_ID, ENTRY_MODE, PROC_CODE e MC_TRANS_TYPE_IDENTIFIER — identificam como e que tipo de transação é processada.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320040" y="713232"/>
            <a:ext cx="11521440" cy="22860"/>
          </a:xfrm>
          <a:prstGeom prst="rect">
            <a:avLst/>
          </a:prstGeom>
          <a:solidFill>
            <a:srgbClr val="F2860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" name="Shape 3"/>
          <p:cNvSpPr/>
          <p:nvPr/>
        </p:nvSpPr>
        <p:spPr>
          <a:xfrm>
            <a:off x="320040" y="1024128"/>
            <a:ext cx="5394960" cy="329184"/>
          </a:xfrm>
          <a:prstGeom prst="rect">
            <a:avLst/>
          </a:prstGeom>
          <a:solidFill>
            <a:srgbClr val="4A4A4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/>
          <p:nvPr/>
        </p:nvSpPr>
        <p:spPr>
          <a:xfrm>
            <a:off x="384048" y="1033272"/>
            <a:ext cx="526694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CARD_PRESENT_ID  —  Presença Física do Cartão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320040" y="1389888"/>
            <a:ext cx="5394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Derivado de: IPM DE 22 (POS Entry Mode), Subfield 5 (Cardholder Present Data) e Subfield 6 (Card Present Data)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320040" y="1792224"/>
            <a:ext cx="3657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286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49808" y="1792224"/>
            <a:ext cx="49377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 Not Present (CNP)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eCommerce, MOTO, CoF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320040" y="2249424"/>
            <a:ext cx="3657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4A4A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749808" y="2249424"/>
            <a:ext cx="49377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 Present (CP)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Presencial, NFC, chip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320040" y="2788920"/>
            <a:ext cx="5394960" cy="329184"/>
          </a:xfrm>
          <a:prstGeom prst="rect">
            <a:avLst/>
          </a:prstGeom>
          <a:solidFill>
            <a:srgbClr val="2C2C2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3" name="Text 11"/>
          <p:cNvSpPr/>
          <p:nvPr/>
        </p:nvSpPr>
        <p:spPr>
          <a:xfrm>
            <a:off x="384048" y="2798064"/>
            <a:ext cx="526694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ENTRY_MODE  —  Modo de Entrada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320040" y="3154680"/>
            <a:ext cx="5394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Derivado de: IPM DE 22, Subfield 7 (Card Data Input Mode)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320040" y="3465576"/>
            <a:ext cx="5394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 err="1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Transações</a:t>
            </a:r>
            <a:r>
              <a:rPr lang="en-US" sz="9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QR Code: identificadas pelo MC_TRANS_TYPE_IDENTIFIER (PDS 0043) = "C67" (Mastercard Merchant Presented QR). Outros valores: chip, tarja, NFC, digitado — mapeados internamente.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5943600" y="1024128"/>
            <a:ext cx="5623560" cy="329184"/>
          </a:xfrm>
          <a:prstGeom prst="rect">
            <a:avLst/>
          </a:prstGeom>
          <a:solidFill>
            <a:srgbClr val="2C2C2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7" name="Text 15"/>
          <p:cNvSpPr/>
          <p:nvPr/>
        </p:nvSpPr>
        <p:spPr>
          <a:xfrm>
            <a:off x="6007608" y="1033272"/>
            <a:ext cx="549554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PROC_CODE  —  DE 3 (Processing Code)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5943600" y="1389888"/>
            <a:ext cx="5623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Origem: IPM DE 3, Subfield 1 (Cardholder Transaction Type)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5943600" y="1719072"/>
            <a:ext cx="502920" cy="310896"/>
          </a:xfrm>
          <a:prstGeom prst="rect">
            <a:avLst/>
          </a:prstGeom>
          <a:solidFill>
            <a:srgbClr val="FFF8F0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286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00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510528" y="173736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Compra (Purchase)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5943600" y="2066544"/>
            <a:ext cx="502920" cy="310896"/>
          </a:xfrm>
          <a:prstGeom prst="rect">
            <a:avLst/>
          </a:prstGeom>
          <a:solidFill>
            <a:srgbClr val="FFF8F0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286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09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510528" y="2084832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Purchase with Cash Back (Compra com Troco)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5943600" y="2414016"/>
            <a:ext cx="502920" cy="310896"/>
          </a:xfrm>
          <a:prstGeom prst="rect">
            <a:avLst/>
          </a:prstGeom>
          <a:solidFill>
            <a:srgbClr val="FFF8F0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286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510528" y="2432304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Crédito / Refund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5943600" y="2761488"/>
            <a:ext cx="502920" cy="310896"/>
          </a:xfrm>
          <a:prstGeom prst="rect">
            <a:avLst/>
          </a:prstGeom>
          <a:solidFill>
            <a:srgbClr val="FFF8F0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286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28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510528" y="2779776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 Transaction (MoneySend)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5943600" y="3108960"/>
            <a:ext cx="502920" cy="310896"/>
          </a:xfrm>
          <a:prstGeom prst="rect">
            <a:avLst/>
          </a:prstGeom>
          <a:solidFill>
            <a:srgbClr val="FFF8F0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286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30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510528" y="3127248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Cash (available balance inquiry)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5943600" y="3566160"/>
            <a:ext cx="5623560" cy="329184"/>
          </a:xfrm>
          <a:prstGeom prst="rect">
            <a:avLst/>
          </a:prstGeom>
          <a:solidFill>
            <a:srgbClr val="F2860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0" name="Text 28"/>
          <p:cNvSpPr/>
          <p:nvPr/>
        </p:nvSpPr>
        <p:spPr>
          <a:xfrm>
            <a:off x="6007608" y="3575304"/>
            <a:ext cx="549554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MC_TRANS_TYPE_IDENTIFIER  (TTI)  —  PDS 0043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5943600" y="3931920"/>
            <a:ext cx="5623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286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Origem IPM: </a:t>
            </a:r>
            <a:r>
              <a:rPr lang="en-US" sz="85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Presentment/1240 → DE 48 (Additional Data) → PDS Tag 0043
</a:t>
            </a:r>
            <a:r>
              <a:rPr lang="en-US" sz="8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Parser: ler DE 48, localizar tag "0043" (3 chars fixos, left-justified). Obrigatório quando PROC_CODE=28.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5943600" y="4462272"/>
            <a:ext cx="1005840" cy="265176"/>
          </a:xfrm>
          <a:prstGeom prst="rect">
            <a:avLst/>
          </a:prstGeom>
          <a:solidFill>
            <a:srgbClr val="FFF8F0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286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C07/F07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7022592" y="4480560"/>
            <a:ext cx="448056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General Person-to-Person Transfer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5943600" y="4764024"/>
            <a:ext cx="1005840" cy="265176"/>
          </a:xfrm>
          <a:prstGeom prst="rect">
            <a:avLst/>
          </a:prstGeom>
          <a:solidFill>
            <a:srgbClr val="FFF8F0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286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C52/F52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7022592" y="4782312"/>
            <a:ext cx="448056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Transfer to Own Account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5943600" y="5065776"/>
            <a:ext cx="1005840" cy="265176"/>
          </a:xfrm>
          <a:prstGeom prst="rect">
            <a:avLst/>
          </a:prstGeom>
          <a:solidFill>
            <a:srgbClr val="FFF8F0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286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C54/F54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7022592" y="5084064"/>
            <a:ext cx="448056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 of Own Credit Card Bill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5943600" y="5367528"/>
            <a:ext cx="1005840" cy="265176"/>
          </a:xfrm>
          <a:prstGeom prst="rect">
            <a:avLst/>
          </a:prstGeom>
          <a:solidFill>
            <a:srgbClr val="FFF8F0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286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C55/F55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7022592" y="5385816"/>
            <a:ext cx="448056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Disbursement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5943600" y="5669280"/>
            <a:ext cx="1005840" cy="265176"/>
          </a:xfrm>
          <a:prstGeom prst="rect">
            <a:avLst/>
          </a:prstGeom>
          <a:solidFill>
            <a:srgbClr val="FFF8F0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286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C65/F65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7022592" y="5687568"/>
            <a:ext cx="448056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General Business-to-Business Transfer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5943600" y="5971032"/>
            <a:ext cx="1005840" cy="265176"/>
          </a:xfrm>
          <a:prstGeom prst="rect">
            <a:avLst/>
          </a:prstGeom>
          <a:solidFill>
            <a:srgbClr val="FFF8F0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286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C91–C94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7022592" y="5989320"/>
            <a:ext cx="448056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Uso doméstico BR (Utility, Gov, Top-Up, Coupon)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274320"/>
            <a:ext cx="11521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eCOMMERCE &amp; SEGURANÇA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320040" y="749808"/>
            <a:ext cx="11521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ECSLI, AAV e PAYPASS_IND — determinam autenticação Identity Check (3DS), UCAF e contactless.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320040" y="713232"/>
            <a:ext cx="11521440" cy="22860"/>
          </a:xfrm>
          <a:prstGeom prst="rect">
            <a:avLst/>
          </a:prstGeom>
          <a:solidFill>
            <a:srgbClr val="F2860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" name="Shape 3"/>
          <p:cNvSpPr/>
          <p:nvPr/>
        </p:nvSpPr>
        <p:spPr>
          <a:xfrm>
            <a:off x="320040" y="1024128"/>
            <a:ext cx="5394960" cy="4937760"/>
          </a:xfrm>
          <a:prstGeom prst="rect">
            <a:avLst/>
          </a:prstGeom>
          <a:solidFill>
            <a:srgbClr val="F7F8F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6" name="Shape 4"/>
          <p:cNvSpPr/>
          <p:nvPr/>
        </p:nvSpPr>
        <p:spPr>
          <a:xfrm>
            <a:off x="320040" y="1024128"/>
            <a:ext cx="5394960" cy="365760"/>
          </a:xfrm>
          <a:prstGeom prst="rect">
            <a:avLst/>
          </a:prstGeom>
          <a:solidFill>
            <a:srgbClr val="4A4A4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7" name="Text 5"/>
          <p:cNvSpPr/>
          <p:nvPr/>
        </p:nvSpPr>
        <p:spPr>
          <a:xfrm>
            <a:off x="384048" y="1033272"/>
            <a:ext cx="526694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ECSLI  —  PDS 0052 (Electronic Commerce Security Level Indicator)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384048" y="1435608"/>
            <a:ext cx="526694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Origem: IPM PDS 0052 — 3 dígitos compostos de 3 subfields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SF1: Security Protocol  • SF2: Cardholder Authentication  • SF3: UCAF Collection Indicator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84048" y="1993392"/>
            <a:ext cx="525780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F2F2F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0" name="Text 8"/>
          <p:cNvSpPr/>
          <p:nvPr/>
        </p:nvSpPr>
        <p:spPr>
          <a:xfrm>
            <a:off x="405384" y="2180068"/>
            <a:ext cx="56692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4A4A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211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005840" y="2029968"/>
            <a:ext cx="45720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SF1=2 (UCAF) + SF2=1 (Merchant UCAF) + SF3=1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1005840" y="2377440"/>
            <a:ext cx="4572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Merchant UCAF — requer AAV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384048" y="2862072"/>
            <a:ext cx="5257800" cy="804672"/>
          </a:xfrm>
          <a:prstGeom prst="rect">
            <a:avLst/>
          </a:prstGeom>
          <a:solidFill>
            <a:srgbClr val="F7F8FA"/>
          </a:solidFill>
          <a:ln w="12700">
            <a:solidFill>
              <a:srgbClr val="F2F2F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4" name="Text 12"/>
          <p:cNvSpPr/>
          <p:nvPr/>
        </p:nvSpPr>
        <p:spPr>
          <a:xfrm>
            <a:off x="406908" y="3071004"/>
            <a:ext cx="56692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4A4A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212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005840" y="2898648"/>
            <a:ext cx="45720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SF1=2 (UCAF) + SF2=1 + SF3=2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1005840" y="3246120"/>
            <a:ext cx="4572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UCAF pleno — Identity Check autenticado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384048" y="3730752"/>
            <a:ext cx="525780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F2F2F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8" name="Text 16"/>
          <p:cNvSpPr/>
          <p:nvPr/>
        </p:nvSpPr>
        <p:spPr>
          <a:xfrm>
            <a:off x="411480" y="3941064"/>
            <a:ext cx="56692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4A4A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217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005840" y="3767328"/>
            <a:ext cx="45720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SF1=2 (UCAF) + SF2=1 + SF3=7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1005840" y="4114800"/>
            <a:ext cx="4572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UCAF com MDES token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384048" y="4599432"/>
            <a:ext cx="5257800" cy="804672"/>
          </a:xfrm>
          <a:prstGeom prst="rect">
            <a:avLst/>
          </a:prstGeom>
          <a:solidFill>
            <a:srgbClr val="F7F8FA"/>
          </a:solidFill>
          <a:ln w="12700">
            <a:solidFill>
              <a:srgbClr val="F2F2F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2" name="Text 20"/>
          <p:cNvSpPr/>
          <p:nvPr/>
        </p:nvSpPr>
        <p:spPr>
          <a:xfrm>
            <a:off x="411480" y="4759452"/>
            <a:ext cx="56692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4A4A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000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1005840" y="4636008"/>
            <a:ext cx="45720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 autenticado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1005840" y="4983480"/>
            <a:ext cx="4572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eCommerce sem UCAF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5943600" y="1024128"/>
            <a:ext cx="5623560" cy="2423160"/>
          </a:xfrm>
          <a:prstGeom prst="rect">
            <a:avLst/>
          </a:prstGeom>
          <a:solidFill>
            <a:srgbClr val="FFF8F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6" name="Shape 24"/>
          <p:cNvSpPr/>
          <p:nvPr/>
        </p:nvSpPr>
        <p:spPr>
          <a:xfrm>
            <a:off x="5943600" y="1024128"/>
            <a:ext cx="5623560" cy="365760"/>
          </a:xfrm>
          <a:prstGeom prst="rect">
            <a:avLst/>
          </a:prstGeom>
          <a:solidFill>
            <a:srgbClr val="2C2C2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7" name="Text 25"/>
          <p:cNvSpPr/>
          <p:nvPr/>
        </p:nvSpPr>
        <p:spPr>
          <a:xfrm>
            <a:off x="6007608" y="1033272"/>
            <a:ext cx="549554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AAV  —  UCAF Authentication Verification Value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6007608" y="1435608"/>
            <a:ext cx="5495544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Origem IPM: </a:t>
            </a:r>
            <a:r>
              <a:rPr lang="en-US" sz="9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PDS 0185 (Accountholder Authentication Value)
</a:t>
            </a:r>
            <a:r>
              <a:rPr lang="en-US" sz="9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Campo obrigatório para confirmar Frictionless 3DS. Se PDS 0185 ausente → fallback, sem liability shift.
</a:t>
            </a:r>
            <a:r>
              <a:rPr lang="en-US" sz="900" b="1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Também presente em: </a:t>
            </a:r>
            <a:r>
              <a:rPr lang="en-US" sz="9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48, Tag 0082 (UCAF Data)
Valor: string — não vazio (AAV!="") quando autenticado (Identity Check / 3DS aprovado)
Uso nas regras: combinado com ECSLI para confirmar autenticação:
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6007608" y="2377440"/>
            <a:ext cx="549554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286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(ECSLI="211"|"212"|"217") &amp; (AAV!="")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6007608" y="2670048"/>
            <a:ext cx="549554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qualifica para IRD de eCommerce autenticado (ex.: VG, AU, YC)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5943600" y="3584448"/>
            <a:ext cx="5623560" cy="2377440"/>
          </a:xfrm>
          <a:prstGeom prst="rect">
            <a:avLst/>
          </a:prstGeom>
          <a:solidFill>
            <a:srgbClr val="FFF8F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2" name="Shape 30"/>
          <p:cNvSpPr/>
          <p:nvPr/>
        </p:nvSpPr>
        <p:spPr>
          <a:xfrm>
            <a:off x="5943600" y="3584448"/>
            <a:ext cx="5623560" cy="365760"/>
          </a:xfrm>
          <a:prstGeom prst="rect">
            <a:avLst/>
          </a:prstGeom>
          <a:solidFill>
            <a:srgbClr val="F2860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3" name="Text 31"/>
          <p:cNvSpPr/>
          <p:nvPr/>
        </p:nvSpPr>
        <p:spPr>
          <a:xfrm>
            <a:off x="6007608" y="3593592"/>
            <a:ext cx="549554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PAYPASS_IND  —  PDS 0044 SF2 (PayPass Indicator)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6007608" y="4005072"/>
            <a:ext cx="549554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286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Origem: IPM PDS 0044, Subfield 2 (PayPass Chargeback Eligibility Indicator)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F286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Também detectável via DE 22 SF7 = "A" (Contactless / PayPass)</a:t>
            </a:r>
            <a:endParaRPr lang="en-US" sz="900" dirty="0"/>
          </a:p>
          <a:p>
            <a:pPr marL="0" indent="0">
              <a:buNone/>
            </a:pP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F286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Valores: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6007608" y="4681728"/>
            <a:ext cx="549554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 = PayPass / Contactless NFC  →  qualifica contactless</a:t>
            </a:r>
            <a:endParaRPr lang="en-US" sz="1000" dirty="0"/>
          </a:p>
          <a:p>
            <a:pPr marL="0" indent="0">
              <a:buNone/>
            </a:pPr>
            <a:r>
              <a:rPr lang="en-US" sz="1000" b="1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 = Não contactless  →  não qualifica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6007608" y="5212080"/>
            <a:ext cx="549554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Uso: PAYPASS_IND=1 identifica transação tap-to-pay (ex.: IRD VG)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274320"/>
            <a:ext cx="11521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PARCELAMENTO &amp; VALOR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320040" y="749808"/>
            <a:ext cx="11521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NUM_INST, INST_W_INT, AMOUNT_TX, MCC e SEGMENT — controlam qualificação de parcelamento, ticket e ramo de atividade.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320040" y="713232"/>
            <a:ext cx="11521440" cy="22860"/>
          </a:xfrm>
          <a:prstGeom prst="rect">
            <a:avLst/>
          </a:prstGeom>
          <a:solidFill>
            <a:srgbClr val="F2860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" name="Shape 3"/>
          <p:cNvSpPr/>
          <p:nvPr/>
        </p:nvSpPr>
        <p:spPr>
          <a:xfrm>
            <a:off x="320040" y="1024128"/>
            <a:ext cx="3566160" cy="2377440"/>
          </a:xfrm>
          <a:prstGeom prst="rect">
            <a:avLst/>
          </a:prstGeom>
          <a:solidFill>
            <a:srgbClr val="FFF8F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6" name="Shape 4"/>
          <p:cNvSpPr/>
          <p:nvPr/>
        </p:nvSpPr>
        <p:spPr>
          <a:xfrm>
            <a:off x="320040" y="1024128"/>
            <a:ext cx="3566160" cy="347472"/>
          </a:xfrm>
          <a:prstGeom prst="rect">
            <a:avLst/>
          </a:prstGeom>
          <a:solidFill>
            <a:srgbClr val="4A4A4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7" name="Text 5"/>
          <p:cNvSpPr/>
          <p:nvPr/>
        </p:nvSpPr>
        <p:spPr>
          <a:xfrm>
            <a:off x="384048" y="1033272"/>
            <a:ext cx="343814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NUM_INST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84048" y="1417320"/>
            <a:ext cx="343814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Número de parcelas da transação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Origem: IPM DE 48, Tag 0095 ou addendum parcelamento</a:t>
            </a:r>
            <a:endParaRPr lang="en-US" sz="900" dirty="0"/>
          </a:p>
          <a:p>
            <a:pPr marL="0" indent="0">
              <a:buNone/>
            </a:pP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Valores: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384048" y="2103120"/>
            <a:ext cx="594360" cy="329184"/>
          </a:xfrm>
          <a:prstGeom prst="rect">
            <a:avLst/>
          </a:prstGeom>
          <a:solidFill>
            <a:srgbClr val="FFF8F0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4A4A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051560" y="2121408"/>
            <a:ext cx="277063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À vista (sem parcelamento)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384048" y="2468880"/>
            <a:ext cx="594360" cy="329184"/>
          </a:xfrm>
          <a:prstGeom prst="rect">
            <a:avLst/>
          </a:prstGeom>
          <a:solidFill>
            <a:srgbClr val="FFF8F0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4A4A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2–6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051560" y="2487168"/>
            <a:ext cx="277063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Parcelado curto prazo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384048" y="2834640"/>
            <a:ext cx="594360" cy="329184"/>
          </a:xfrm>
          <a:prstGeom prst="rect">
            <a:avLst/>
          </a:prstGeom>
          <a:solidFill>
            <a:srgbClr val="FFF8F0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4A4A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≥2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051560" y="2852928"/>
            <a:ext cx="277063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Crediário / com juros (INST_W_INT)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069080" y="1024128"/>
            <a:ext cx="3566160" cy="2377440"/>
          </a:xfrm>
          <a:prstGeom prst="rect">
            <a:avLst/>
          </a:prstGeom>
          <a:solidFill>
            <a:srgbClr val="FFF8F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6" name="Shape 14"/>
          <p:cNvSpPr/>
          <p:nvPr/>
        </p:nvSpPr>
        <p:spPr>
          <a:xfrm>
            <a:off x="4069080" y="1024128"/>
            <a:ext cx="3566160" cy="347472"/>
          </a:xfrm>
          <a:prstGeom prst="rect">
            <a:avLst/>
          </a:prstGeom>
          <a:solidFill>
            <a:srgbClr val="F2860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7" name="Text 15"/>
          <p:cNvSpPr/>
          <p:nvPr/>
        </p:nvSpPr>
        <p:spPr>
          <a:xfrm>
            <a:off x="4133088" y="1033272"/>
            <a:ext cx="343814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INST_W_INT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133088" y="1417320"/>
            <a:ext cx="343814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286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Parcelamento com juros (Crediário)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F286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Origem: IPM DE 48 / flag de parcelamento com juros</a:t>
            </a:r>
            <a:endParaRPr lang="en-US" sz="900" dirty="0"/>
          </a:p>
          <a:p>
            <a:pPr marL="0" indent="0">
              <a:buNone/>
            </a:pP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F286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Valores: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4133088" y="2103120"/>
            <a:ext cx="502920" cy="402336"/>
          </a:xfrm>
          <a:prstGeom prst="rect">
            <a:avLst/>
          </a:prstGeom>
          <a:solidFill>
            <a:srgbClr val="FFF8F0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286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"Y"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700016" y="2139696"/>
            <a:ext cx="287121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 juros — Crediário (Mastercard Crediário IRD = CR)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4133088" y="2560320"/>
            <a:ext cx="502920" cy="402336"/>
          </a:xfrm>
          <a:prstGeom prst="rect">
            <a:avLst/>
          </a:prstGeom>
          <a:solidFill>
            <a:srgbClr val="FFF8F0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286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"N"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700016" y="2596896"/>
            <a:ext cx="287121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juros — parcelamento lojista (PF)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4133088" y="3090672"/>
            <a:ext cx="343814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286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Regra: NUM_INST&gt;1 &amp; INST_W_INT="Y" → qualifica Crediário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7818120" y="1024128"/>
            <a:ext cx="3749040" cy="2377440"/>
          </a:xfrm>
          <a:prstGeom prst="rect">
            <a:avLst/>
          </a:prstGeom>
          <a:solidFill>
            <a:srgbClr val="F7F8F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5" name="Shape 23"/>
          <p:cNvSpPr/>
          <p:nvPr/>
        </p:nvSpPr>
        <p:spPr>
          <a:xfrm>
            <a:off x="7818120" y="1024128"/>
            <a:ext cx="3749040" cy="347472"/>
          </a:xfrm>
          <a:prstGeom prst="rect">
            <a:avLst/>
          </a:prstGeom>
          <a:solidFill>
            <a:srgbClr val="4A4A4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6" name="Text 24"/>
          <p:cNvSpPr/>
          <p:nvPr/>
        </p:nvSpPr>
        <p:spPr>
          <a:xfrm>
            <a:off x="7882128" y="1033272"/>
            <a:ext cx="362102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AMOUNT_TX  —  DE 4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7882128" y="1417320"/>
            <a:ext cx="3621024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Valor da transação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Origem: IPM DE 4 (Amount, Transaction)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Unidade: centavos (ex.: 2000 = R$ 20,00)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7882128" y="2048256"/>
            <a:ext cx="3621024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Uso: Large Ticket e limites de AMOUNT_TX para IRDs regulados: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AMOUNT_TX&gt;=2000  → large ticket eCommerce debit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AMOUNT_TX&lt;=15   → regulated debit (ISS_REGULATORY_STATUS)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320040" y="3566160"/>
            <a:ext cx="5120640" cy="2468880"/>
          </a:xfrm>
          <a:prstGeom prst="rect">
            <a:avLst/>
          </a:prstGeom>
          <a:solidFill>
            <a:srgbClr val="FFF8F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0" name="Shape 28"/>
          <p:cNvSpPr/>
          <p:nvPr/>
        </p:nvSpPr>
        <p:spPr>
          <a:xfrm>
            <a:off x="320040" y="3566160"/>
            <a:ext cx="5120640" cy="347472"/>
          </a:xfrm>
          <a:prstGeom prst="rect">
            <a:avLst/>
          </a:prstGeom>
          <a:solidFill>
            <a:srgbClr val="F2860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1" name="Text 29"/>
          <p:cNvSpPr/>
          <p:nvPr/>
        </p:nvSpPr>
        <p:spPr>
          <a:xfrm>
            <a:off x="384048" y="3575304"/>
            <a:ext cx="499262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MCC  —  DE 26 (Acceptor Business Code)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384048" y="3959352"/>
            <a:ext cx="499262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286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Origem: IPM DE 26 — código de ramo de atividade (4 dígitos numérico)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F286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Usado diretamente nas regras e também para derivar SEGMENT: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384048" y="4407408"/>
            <a:ext cx="1920240" cy="347472"/>
          </a:xfrm>
          <a:prstGeom prst="rect">
            <a:avLst/>
          </a:prstGeom>
          <a:solidFill>
            <a:srgbClr val="FFF8F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286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4111 / 4112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2377440" y="4425696"/>
            <a:ext cx="299923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Metrô, Trem → IRD NM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384048" y="4791456"/>
            <a:ext cx="1920240" cy="347472"/>
          </a:xfrm>
          <a:prstGeom prst="rect">
            <a:avLst/>
          </a:prstGeom>
          <a:solidFill>
            <a:srgbClr val="FFF8F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286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4784 / 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2377440" y="4809744"/>
            <a:ext cx="299923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Pedágio → IRD VP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384048" y="5175504"/>
            <a:ext cx="1920240" cy="347472"/>
          </a:xfrm>
          <a:prstGeom prst="rect">
            <a:avLst/>
          </a:prstGeom>
          <a:solidFill>
            <a:srgbClr val="FFF8F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286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6532 / 6533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2377440" y="5193792"/>
            <a:ext cx="299923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Hotel (MAP) → IRD E6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384048" y="5559552"/>
            <a:ext cx="1920240" cy="347472"/>
          </a:xfrm>
          <a:prstGeom prst="rect">
            <a:avLst/>
          </a:prstGeom>
          <a:solidFill>
            <a:srgbClr val="FFF8F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286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6538 / 4829 / 6540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2377440" y="5577840"/>
            <a:ext cx="299923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MoneySend Funding (PROC=00)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5573354" y="3977640"/>
            <a:ext cx="5989320" cy="2468880"/>
          </a:xfrm>
          <a:prstGeom prst="rect">
            <a:avLst/>
          </a:prstGeom>
          <a:solidFill>
            <a:srgbClr val="FFF8F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2" name="Shape 40"/>
          <p:cNvSpPr/>
          <p:nvPr/>
        </p:nvSpPr>
        <p:spPr>
          <a:xfrm>
            <a:off x="5577840" y="3566160"/>
            <a:ext cx="5989320" cy="347472"/>
          </a:xfrm>
          <a:prstGeom prst="rect">
            <a:avLst/>
          </a:prstGeom>
          <a:solidFill>
            <a:srgbClr val="4A4A4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3" name="Text 41"/>
          <p:cNvSpPr/>
          <p:nvPr/>
        </p:nvSpPr>
        <p:spPr>
          <a:xfrm>
            <a:off x="5641848" y="3575304"/>
            <a:ext cx="586130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  —  Segmento do Estabelecimento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5641848" y="3959352"/>
            <a:ext cx="586130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Derivado do MCC via tabela de segmentação interna (Brazil intracountry acceptor business segments):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5641848" y="4334256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4A4A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"SPR_MKT"</a:t>
            </a:r>
            <a:endParaRPr lang="en-US" sz="850" dirty="0"/>
          </a:p>
        </p:txBody>
      </p:sp>
      <p:sp>
        <p:nvSpPr>
          <p:cNvPr id="46" name="Text 44"/>
          <p:cNvSpPr/>
          <p:nvPr/>
        </p:nvSpPr>
        <p:spPr>
          <a:xfrm>
            <a:off x="8275320" y="4352544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Supermercado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5641848" y="4681728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4A4A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"WHOLE"</a:t>
            </a:r>
            <a:endParaRPr lang="en-US" sz="850" dirty="0"/>
          </a:p>
        </p:txBody>
      </p:sp>
      <p:sp>
        <p:nvSpPr>
          <p:cNvPr id="48" name="Text 46"/>
          <p:cNvSpPr/>
          <p:nvPr/>
        </p:nvSpPr>
        <p:spPr>
          <a:xfrm>
            <a:off x="8275320" y="4700016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Atacado / Distribuidor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5641848" y="5029200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4A4A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"RESTAURANT"</a:t>
            </a:r>
            <a:endParaRPr lang="en-US" sz="850" dirty="0"/>
          </a:p>
        </p:txBody>
      </p:sp>
      <p:sp>
        <p:nvSpPr>
          <p:cNvPr id="50" name="Text 48"/>
          <p:cNvSpPr/>
          <p:nvPr/>
        </p:nvSpPr>
        <p:spPr>
          <a:xfrm>
            <a:off x="8275320" y="5047488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Restaurante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5641848" y="537667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4A4A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"FAST_FOOD"</a:t>
            </a:r>
            <a:endParaRPr lang="en-US" sz="850" dirty="0"/>
          </a:p>
        </p:txBody>
      </p:sp>
      <p:sp>
        <p:nvSpPr>
          <p:cNvPr id="52" name="Text 50"/>
          <p:cNvSpPr/>
          <p:nvPr/>
        </p:nvSpPr>
        <p:spPr>
          <a:xfrm>
            <a:off x="8275320" y="539496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 Food</a:t>
            </a:r>
            <a:endParaRPr lang="en-US" sz="900" dirty="0"/>
          </a:p>
        </p:txBody>
      </p:sp>
      <p:sp>
        <p:nvSpPr>
          <p:cNvPr id="53" name="Text 51"/>
          <p:cNvSpPr/>
          <p:nvPr/>
        </p:nvSpPr>
        <p:spPr>
          <a:xfrm>
            <a:off x="5641848" y="5724144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4A4A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"PHARMA"</a:t>
            </a:r>
            <a:endParaRPr lang="en-US" sz="850" dirty="0"/>
          </a:p>
        </p:txBody>
      </p:sp>
      <p:sp>
        <p:nvSpPr>
          <p:cNvPr id="54" name="Text 52"/>
          <p:cNvSpPr/>
          <p:nvPr/>
        </p:nvSpPr>
        <p:spPr>
          <a:xfrm>
            <a:off x="8275320" y="5742432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Farmácia</a:t>
            </a:r>
            <a:endParaRPr lang="en-US" sz="900" dirty="0"/>
          </a:p>
        </p:txBody>
      </p:sp>
      <p:sp>
        <p:nvSpPr>
          <p:cNvPr id="55" name="Text 53"/>
          <p:cNvSpPr/>
          <p:nvPr/>
        </p:nvSpPr>
        <p:spPr>
          <a:xfrm>
            <a:off x="5641848" y="6071616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4A4A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"GEN_EX"/"GOV_SVC"/"COMM_T"/"LOT"</a:t>
            </a:r>
            <a:endParaRPr lang="en-US" sz="850" dirty="0"/>
          </a:p>
        </p:txBody>
      </p:sp>
      <p:sp>
        <p:nvSpPr>
          <p:cNvPr id="56" name="Text 54"/>
          <p:cNvSpPr/>
          <p:nvPr/>
        </p:nvSpPr>
        <p:spPr>
          <a:xfrm>
            <a:off x="8275320" y="6089904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Gov, Comércio, Loteria...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274320"/>
            <a:ext cx="11521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VARIÁVEIS ESPECIAIS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320040" y="749808"/>
            <a:ext cx="11521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ADDENDUM_1644, FLEXIBLE_INTERCHANGE, ISS_REGULATORY_STATUS e CAB — variáveis de programa, regulação e classificação.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320040" y="713232"/>
            <a:ext cx="11521440" cy="22860"/>
          </a:xfrm>
          <a:prstGeom prst="rect">
            <a:avLst/>
          </a:prstGeom>
          <a:solidFill>
            <a:srgbClr val="F2860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" name="Shape 3"/>
          <p:cNvSpPr/>
          <p:nvPr/>
        </p:nvSpPr>
        <p:spPr>
          <a:xfrm>
            <a:off x="320040" y="1024128"/>
            <a:ext cx="5486400" cy="2487168"/>
          </a:xfrm>
          <a:prstGeom prst="rect">
            <a:avLst/>
          </a:prstGeom>
          <a:solidFill>
            <a:srgbClr val="FFF8F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6" name="Shape 4"/>
          <p:cNvSpPr/>
          <p:nvPr/>
        </p:nvSpPr>
        <p:spPr>
          <a:xfrm>
            <a:off x="320040" y="1024128"/>
            <a:ext cx="5486400" cy="347472"/>
          </a:xfrm>
          <a:prstGeom prst="rect">
            <a:avLst/>
          </a:prstGeom>
          <a:solidFill>
            <a:srgbClr val="2C2C2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7" name="Text 5"/>
          <p:cNvSpPr/>
          <p:nvPr/>
        </p:nvSpPr>
        <p:spPr>
          <a:xfrm>
            <a:off x="384048" y="1033272"/>
            <a:ext cx="53583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ADDENDUM_1644  —  Addendum Financial Detail / 1644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384048" y="1417320"/>
            <a:ext cx="5358384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Indica se a transação enviou Financial Detail Addendum (mensagem 1644) vinculada ao First Presentment/1240.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Origem: presença de mensagem /1644 Financial Detail Addendum atrelada à transação 1240.</a:t>
            </a:r>
            <a:endParaRPr lang="en-US" sz="900" dirty="0"/>
          </a:p>
          <a:p>
            <a:pPr marL="0" indent="0">
              <a:buNone/>
            </a:pP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Valores: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384048" y="2075688"/>
            <a:ext cx="535838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 = Addendum enviado  /  0  = Sem addendum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84048" y="2377440"/>
            <a:ext cx="5358384" cy="868680"/>
          </a:xfrm>
          <a:prstGeom prst="rect">
            <a:avLst/>
          </a:prstGeom>
          <a:solidFill>
            <a:srgbClr val="FFF8F0"/>
          </a:solidFill>
          <a:ln w="12700">
            <a:solidFill>
              <a:srgbClr val="F2860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1" name="Text 9"/>
          <p:cNvSpPr/>
          <p:nvPr/>
        </p:nvSpPr>
        <p:spPr>
          <a:xfrm>
            <a:off x="457200" y="2404872"/>
            <a:ext cx="5212080" cy="8138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286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ADENDO FISCAL VÁLIDO — duas tags obrigatórias:
</a:t>
            </a:r>
            <a:r>
              <a:rPr lang="en-US" sz="900" b="1" dirty="0">
                <a:solidFill>
                  <a:srgbClr val="2C2C2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PDS 0595 </a:t>
            </a:r>
            <a:r>
              <a:rPr lang="en-US" sz="9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(Acceptor Type)  +  </a:t>
            </a:r>
            <a:r>
              <a:rPr lang="en-US" sz="900" b="1" dirty="0">
                <a:solidFill>
                  <a:srgbClr val="2C2C2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PDS 0596 </a:t>
            </a:r>
            <a:r>
              <a:rPr lang="en-US" sz="9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(Acceptor Tax ID / CNPJ)
</a:t>
            </a:r>
            <a:r>
              <a:rPr lang="en-US" sz="85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Presença do 1644 sem essas duas tags NÃO qualifica para IRD BB. O motor concederá o desconto só com ambas presentes.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384048" y="3273552"/>
            <a:ext cx="535838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Regra completa: PROD_TYPE="CREDIT" &amp; DOCUMENT_TYPE=1 &amp; ADDENDUM_1644=1 &amp; PDS0595 presente &amp; PDS0596 presente → IRD BB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6080760" y="1024128"/>
            <a:ext cx="5486400" cy="2331720"/>
          </a:xfrm>
          <a:prstGeom prst="rect">
            <a:avLst/>
          </a:prstGeom>
          <a:solidFill>
            <a:srgbClr val="FFF8F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4" name="Shape 12"/>
          <p:cNvSpPr/>
          <p:nvPr/>
        </p:nvSpPr>
        <p:spPr>
          <a:xfrm>
            <a:off x="6080760" y="1024128"/>
            <a:ext cx="5486400" cy="347472"/>
          </a:xfrm>
          <a:prstGeom prst="rect">
            <a:avLst/>
          </a:prstGeom>
          <a:solidFill>
            <a:srgbClr val="F2860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5" name="Text 13"/>
          <p:cNvSpPr/>
          <p:nvPr/>
        </p:nvSpPr>
        <p:spPr>
          <a:xfrm>
            <a:off x="6144768" y="1033272"/>
            <a:ext cx="53583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FLEXIBLE_INTERCHANGE  —  PDS 0017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6144768" y="1417320"/>
            <a:ext cx="5358384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286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Programa de interchange flexível negociado entre adquirente e Mastercard.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F286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Origem: IPM PDS 0017 (Interchange Structure Indicator / Transaction Integrity Class)</a:t>
            </a:r>
            <a:endParaRPr lang="en-US" sz="900" dirty="0"/>
          </a:p>
          <a:p>
            <a:pPr marL="0" indent="0">
              <a:buNone/>
            </a:pP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F286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Valores: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6144768" y="2194560"/>
            <a:ext cx="5358384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"Y"  = Habilitado — participante do programa Flex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    → IRD FI (ACQR_COUNTRY=76 &amp; FLEXIBLE_INTERCHANGE="Y")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"N" / ausente  = Não habilitado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20040" y="3675888"/>
            <a:ext cx="5486400" cy="2468880"/>
          </a:xfrm>
          <a:prstGeom prst="rect">
            <a:avLst/>
          </a:prstGeom>
          <a:solidFill>
            <a:srgbClr val="FFF8F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9" name="Shape 17"/>
          <p:cNvSpPr/>
          <p:nvPr/>
        </p:nvSpPr>
        <p:spPr>
          <a:xfrm>
            <a:off x="320040" y="3675888"/>
            <a:ext cx="5486400" cy="347472"/>
          </a:xfrm>
          <a:prstGeom prst="rect">
            <a:avLst/>
          </a:prstGeom>
          <a:solidFill>
            <a:srgbClr val="F2860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0" name="Text 18"/>
          <p:cNvSpPr/>
          <p:nvPr/>
        </p:nvSpPr>
        <p:spPr>
          <a:xfrm>
            <a:off x="384048" y="3685032"/>
            <a:ext cx="53583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ISS_REGULATORY_STATUS  —  Status Regulatório do Emissor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384048" y="4069080"/>
            <a:ext cx="5358384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286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Indica se o emissor está sujeito a regulação de interchange para débito.
Origem: Derivado da regulação do país do emissor (ISSR_COUNTRY via BIN Table)
Usado apenas em regras interregionais (ISSR_COUNTRY&lt;&gt;76):
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384048" y="4800600"/>
            <a:ext cx="2377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286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"REGULATED"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384048" y="5111496"/>
            <a:ext cx="535838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Emissor em país com regulação de débito → IRD LS (AMOUNT_TX&lt;=15)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84048" y="5303520"/>
            <a:ext cx="2377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286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"REGULATED_FRAUD_ADJ"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384048" y="5614416"/>
            <a:ext cx="535838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Regulado com ajuste fraude → IRD LT (AMOUNT_TX&lt;=15)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6096000" y="3669850"/>
            <a:ext cx="5486400" cy="2468880"/>
          </a:xfrm>
          <a:prstGeom prst="rect">
            <a:avLst/>
          </a:prstGeom>
          <a:solidFill>
            <a:srgbClr val="FFF8F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7" name="Shape 25"/>
          <p:cNvSpPr/>
          <p:nvPr/>
        </p:nvSpPr>
        <p:spPr>
          <a:xfrm>
            <a:off x="6096000" y="3669850"/>
            <a:ext cx="5486400" cy="347472"/>
          </a:xfrm>
          <a:prstGeom prst="rect">
            <a:avLst/>
          </a:prstGeom>
          <a:solidFill>
            <a:srgbClr val="4A4A4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8" name="Text 26"/>
          <p:cNvSpPr/>
          <p:nvPr/>
        </p:nvSpPr>
        <p:spPr>
          <a:xfrm>
            <a:off x="6160008" y="3678994"/>
            <a:ext cx="53583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CAB  —  Category Acceptor Business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6160008" y="4063042"/>
            <a:ext cx="535838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Código de categoria derivado do MCC/SEGMENT para classificação de programas específicos.
Origem: derivado internamente (categoria de estabelecimento para programas Mastercard)
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6160008" y="4675690"/>
            <a:ext cx="914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4A4A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"CF01"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7147560" y="4693978"/>
            <a:ext cx="437083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Alimentação / Food → usado em IRD FF (PROD_ID=MES)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6160008" y="5178610"/>
            <a:ext cx="914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4A4A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"I001"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7147560" y="5196898"/>
            <a:ext cx="437083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EZ Savings → IRD EZ (PROC_CODE=20)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6160008" y="5727250"/>
            <a:ext cx="535838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6C2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CAB é </a:t>
            </a:r>
            <a:r>
              <a:rPr lang="en-US" sz="850" dirty="0" err="1">
                <a:solidFill>
                  <a:srgbClr val="F6C2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derivado</a:t>
            </a:r>
            <a:r>
              <a:rPr lang="en-US" sz="850" dirty="0">
                <a:solidFill>
                  <a:srgbClr val="F6C2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do MCC e do programa. Não é um campo IPM padrão.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A4A4A"/>
      </a:dk2>
      <a:lt2>
        <a:srgbClr val="E7E6E6"/>
      </a:lt2>
      <a:accent1>
        <a:srgbClr val="4A4A4A"/>
      </a:accent1>
      <a:accent2>
        <a:srgbClr val="F28600"/>
      </a:accent2>
      <a:accent3>
        <a:srgbClr val="6B7280"/>
      </a:accent3>
      <a:accent4>
        <a:srgbClr val="F6C27A"/>
      </a:accent4>
      <a:accent5>
        <a:srgbClr val="4A4A4A"/>
      </a:accent5>
      <a:accent6>
        <a:srgbClr val="4A4A4A"/>
      </a:accent6>
      <a:hlink>
        <a:srgbClr val="2C2C2C"/>
      </a:hlink>
      <a:folHlink>
        <a:srgbClr val="4A4A4A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2C2C2C"/>
      </a:dk2>
      <a:lt2>
        <a:srgbClr val="E8E8E8"/>
      </a:lt2>
      <a:accent1>
        <a:srgbClr val="2C2C2C"/>
      </a:accent1>
      <a:accent2>
        <a:srgbClr val="F28600"/>
      </a:accent2>
      <a:accent3>
        <a:srgbClr val="4A4A4A"/>
      </a:accent3>
      <a:accent4>
        <a:srgbClr val="2C2C2C"/>
      </a:accent4>
      <a:accent5>
        <a:srgbClr val="F28600"/>
      </a:accent5>
      <a:accent6>
        <a:srgbClr val="4A4A4A"/>
      </a:accent6>
      <a:hlink>
        <a:srgbClr val="4A4A4A"/>
      </a:hlink>
      <a:folHlink>
        <a:srgbClr val="4A4A4A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2744</Words>
  <Application>Microsoft Office PowerPoint</Application>
  <PresentationFormat>Widescreen</PresentationFormat>
  <Paragraphs>328</Paragraphs>
  <Slides>10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Vinicius Sugamele</cp:lastModifiedBy>
  <cp:revision>3</cp:revision>
  <dcterms:created xsi:type="dcterms:W3CDTF">2026-04-30T01:51:26Z</dcterms:created>
  <dcterms:modified xsi:type="dcterms:W3CDTF">2026-04-30T18:48:16Z</dcterms:modified>
</cp:coreProperties>
</file>