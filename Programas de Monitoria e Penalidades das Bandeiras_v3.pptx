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12192000"/>
  <p:embeddedFontLst>
    <p:embeddedFont>
      <p:font typeface="微软雅黑" panose="020B0503020204020204" pitchFamily="34" charset="-122"/>
      <p:regular r:id="rId56"/>
      <p:bold r:id="rId57"/>
    </p:embeddedFont>
    <p:embeddedFont>
      <p:font typeface="MiSans" panose="020B0604020202020204" charset="-122"/>
      <p:regular r:id="rId58"/>
    </p:embeddedFont>
    <p:embeddedFont>
      <p:font typeface="Liter" panose="020B0604020202020204" charset="0"/>
      <p:regular r:id="rId59"/>
    </p:embeddedFont>
    <p:embeddedFont>
      <p:font typeface="Quattrocento Sans" panose="020B0502050000020003" pitchFamily="34" charset="0"/>
      <p:regular r:id="rId60"/>
      <p:bold r:id="rId6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21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seekingalpha.com/12277c934eaa889a662c7c87550717567e18c9c5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11" b="2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38B2A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00050" y="981075"/>
            <a:ext cx="3067050" cy="495300"/>
          </a:xfrm>
          <a:custGeom>
            <a:avLst/>
            <a:gdLst/>
            <a:ahLst/>
            <a:cxnLst/>
            <a:rect l="l" t="t" r="r" b="b"/>
            <a:pathLst>
              <a:path w="3067050" h="495300">
                <a:moveTo>
                  <a:pt x="0" y="0"/>
                </a:moveTo>
                <a:lnTo>
                  <a:pt x="3067050" y="0"/>
                </a:lnTo>
                <a:lnTo>
                  <a:pt x="306705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400050" y="98107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47700" y="1095375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1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GUIA DE CONFORMIDADE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8117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Programas de Monitoria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 Penalidades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 Bandeiras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657725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Guia Completo de Conformidade para MCC de Alto Risco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245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524000" y="56102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Abril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Navegação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Sumário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85900"/>
            <a:ext cx="5543550" cy="1133475"/>
          </a:xfrm>
          <a:custGeom>
            <a:avLst/>
            <a:gdLst/>
            <a:ahLst/>
            <a:cxnLst/>
            <a:rect l="l" t="t" r="r" b="b"/>
            <a:pathLst>
              <a:path w="5543550" h="1133475">
                <a:moveTo>
                  <a:pt x="38100" y="0"/>
                </a:moveTo>
                <a:lnTo>
                  <a:pt x="5467346" y="0"/>
                </a:lnTo>
                <a:cubicBezTo>
                  <a:pt x="5509433" y="0"/>
                  <a:pt x="5543550" y="34117"/>
                  <a:pt x="5543550" y="76204"/>
                </a:cubicBezTo>
                <a:lnTo>
                  <a:pt x="5543550" y="1057271"/>
                </a:lnTo>
                <a:cubicBezTo>
                  <a:pt x="5543550" y="1099358"/>
                  <a:pt x="5509433" y="1133475"/>
                  <a:pt x="5467346" y="1133475"/>
                </a:cubicBez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485900"/>
            <a:ext cx="38100" cy="1133475"/>
          </a:xfrm>
          <a:custGeom>
            <a:avLst/>
            <a:gdLst/>
            <a:ahLst/>
            <a:cxnLst/>
            <a:rect l="l" t="t" r="r" b="b"/>
            <a:pathLst>
              <a:path w="38100" h="1133475">
                <a:moveTo>
                  <a:pt x="38100" y="0"/>
                </a:moveTo>
                <a:lnTo>
                  <a:pt x="38100" y="0"/>
                </a:lnTo>
                <a:lnTo>
                  <a:pt x="38100" y="1133475"/>
                </a:ln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096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5870" y="1790700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5400" y="1676400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MCC de Alto Risco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981200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Conceitos, classificações e listas de Merchant Category Codes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485900"/>
            <a:ext cx="5543550" cy="1133475"/>
          </a:xfrm>
          <a:custGeom>
            <a:avLst/>
            <a:gdLst/>
            <a:ahLst/>
            <a:cxnLst/>
            <a:rect l="l" t="t" r="r" b="b"/>
            <a:pathLst>
              <a:path w="5543550" h="1133475">
                <a:moveTo>
                  <a:pt x="38100" y="0"/>
                </a:moveTo>
                <a:lnTo>
                  <a:pt x="5467346" y="0"/>
                </a:lnTo>
                <a:cubicBezTo>
                  <a:pt x="5509433" y="0"/>
                  <a:pt x="5543550" y="34117"/>
                  <a:pt x="5543550" y="76204"/>
                </a:cubicBezTo>
                <a:lnTo>
                  <a:pt x="5543550" y="1057271"/>
                </a:lnTo>
                <a:cubicBezTo>
                  <a:pt x="5543550" y="1099358"/>
                  <a:pt x="5509433" y="1133475"/>
                  <a:pt x="5467346" y="1133475"/>
                </a:cubicBez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267450" y="1485900"/>
            <a:ext cx="38100" cy="1133475"/>
          </a:xfrm>
          <a:custGeom>
            <a:avLst/>
            <a:gdLst/>
            <a:ahLst/>
            <a:cxnLst/>
            <a:rect l="l" t="t" r="r" b="b"/>
            <a:pathLst>
              <a:path w="38100" h="1133475">
                <a:moveTo>
                  <a:pt x="38100" y="0"/>
                </a:moveTo>
                <a:lnTo>
                  <a:pt x="38100" y="0"/>
                </a:lnTo>
                <a:lnTo>
                  <a:pt x="38100" y="1133475"/>
                </a:ln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770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611243" y="1790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62800" y="1676400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Regras das Bandeiras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62800" y="1981200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Atualizações regulamentares e estruturas de penalidades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771775"/>
            <a:ext cx="5543550" cy="1133475"/>
          </a:xfrm>
          <a:custGeom>
            <a:avLst/>
            <a:gdLst/>
            <a:ahLst/>
            <a:cxnLst/>
            <a:rect l="l" t="t" r="r" b="b"/>
            <a:pathLst>
              <a:path w="5543550" h="1133475">
                <a:moveTo>
                  <a:pt x="38100" y="0"/>
                </a:moveTo>
                <a:lnTo>
                  <a:pt x="5467346" y="0"/>
                </a:lnTo>
                <a:cubicBezTo>
                  <a:pt x="5509433" y="0"/>
                  <a:pt x="5543550" y="34117"/>
                  <a:pt x="5543550" y="76204"/>
                </a:cubicBezTo>
                <a:lnTo>
                  <a:pt x="5543550" y="1057271"/>
                </a:lnTo>
                <a:cubicBezTo>
                  <a:pt x="5543550" y="1099358"/>
                  <a:pt x="5509433" y="1133475"/>
                  <a:pt x="5467346" y="1133475"/>
                </a:cubicBez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00050" y="2771775"/>
            <a:ext cx="38100" cy="1133475"/>
          </a:xfrm>
          <a:custGeom>
            <a:avLst/>
            <a:gdLst/>
            <a:ahLst/>
            <a:cxnLst/>
            <a:rect l="l" t="t" r="r" b="b"/>
            <a:pathLst>
              <a:path w="38100" h="1133475">
                <a:moveTo>
                  <a:pt x="38100" y="0"/>
                </a:moveTo>
                <a:lnTo>
                  <a:pt x="38100" y="0"/>
                </a:lnTo>
                <a:lnTo>
                  <a:pt x="38100" y="1133475"/>
                </a:ln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09600" y="2962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40866" y="30765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5400" y="296227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Programas de Mitigação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3267075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VIRP, BRAM e Controle de Mitigação de Risco Elo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2771775"/>
            <a:ext cx="5543550" cy="1133475"/>
          </a:xfrm>
          <a:custGeom>
            <a:avLst/>
            <a:gdLst/>
            <a:ahLst/>
            <a:cxnLst/>
            <a:rect l="l" t="t" r="r" b="b"/>
            <a:pathLst>
              <a:path w="5543550" h="1133475">
                <a:moveTo>
                  <a:pt x="38100" y="0"/>
                </a:moveTo>
                <a:lnTo>
                  <a:pt x="5467346" y="0"/>
                </a:lnTo>
                <a:cubicBezTo>
                  <a:pt x="5509433" y="0"/>
                  <a:pt x="5543550" y="34117"/>
                  <a:pt x="5543550" y="76204"/>
                </a:cubicBezTo>
                <a:lnTo>
                  <a:pt x="5543550" y="1057271"/>
                </a:lnTo>
                <a:cubicBezTo>
                  <a:pt x="5543550" y="1099358"/>
                  <a:pt x="5509433" y="1133475"/>
                  <a:pt x="5467346" y="1133475"/>
                </a:cubicBez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267450" y="2771775"/>
            <a:ext cx="38100" cy="1133475"/>
          </a:xfrm>
          <a:custGeom>
            <a:avLst/>
            <a:gdLst/>
            <a:ahLst/>
            <a:cxnLst/>
            <a:rect l="l" t="t" r="r" b="b"/>
            <a:pathLst>
              <a:path w="38100" h="1133475">
                <a:moveTo>
                  <a:pt x="38100" y="0"/>
                </a:moveTo>
                <a:lnTo>
                  <a:pt x="38100" y="0"/>
                </a:lnTo>
                <a:lnTo>
                  <a:pt x="38100" y="1133475"/>
                </a:ln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477000" y="2962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11392" y="30765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62800" y="296227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Monitoria de Credenciador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62800" y="3267075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MATCH, MMP, QMAP e VAMP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057650"/>
            <a:ext cx="5543550" cy="1133475"/>
          </a:xfrm>
          <a:custGeom>
            <a:avLst/>
            <a:gdLst/>
            <a:ahLst/>
            <a:cxnLst/>
            <a:rect l="l" t="t" r="r" b="b"/>
            <a:pathLst>
              <a:path w="5543550" h="1133475">
                <a:moveTo>
                  <a:pt x="38100" y="0"/>
                </a:moveTo>
                <a:lnTo>
                  <a:pt x="5467346" y="0"/>
                </a:lnTo>
                <a:cubicBezTo>
                  <a:pt x="5509433" y="0"/>
                  <a:pt x="5543550" y="34117"/>
                  <a:pt x="5543550" y="76204"/>
                </a:cubicBezTo>
                <a:lnTo>
                  <a:pt x="5543550" y="1057271"/>
                </a:lnTo>
                <a:cubicBezTo>
                  <a:pt x="5543550" y="1099358"/>
                  <a:pt x="5509433" y="1133475"/>
                  <a:pt x="5467346" y="1133475"/>
                </a:cubicBez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00050" y="4057650"/>
            <a:ext cx="38100" cy="1133475"/>
          </a:xfrm>
          <a:custGeom>
            <a:avLst/>
            <a:gdLst/>
            <a:ahLst/>
            <a:cxnLst/>
            <a:rect l="l" t="t" r="r" b="b"/>
            <a:pathLst>
              <a:path w="38100" h="1133475">
                <a:moveTo>
                  <a:pt x="38100" y="0"/>
                </a:moveTo>
                <a:lnTo>
                  <a:pt x="38100" y="0"/>
                </a:lnTo>
                <a:lnTo>
                  <a:pt x="38100" y="1133475"/>
                </a:ln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09600" y="424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40569" y="43624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5400" y="4248150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Monitoria de Chargeback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" y="4552950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PED (Elo) e ECP (Mastercard)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7450" y="4057650"/>
            <a:ext cx="5543550" cy="1133475"/>
          </a:xfrm>
          <a:custGeom>
            <a:avLst/>
            <a:gdLst/>
            <a:ahLst/>
            <a:cxnLst/>
            <a:rect l="l" t="t" r="r" b="b"/>
            <a:pathLst>
              <a:path w="5543550" h="1133475">
                <a:moveTo>
                  <a:pt x="38100" y="0"/>
                </a:moveTo>
                <a:lnTo>
                  <a:pt x="5467346" y="0"/>
                </a:lnTo>
                <a:cubicBezTo>
                  <a:pt x="5509433" y="0"/>
                  <a:pt x="5543550" y="34117"/>
                  <a:pt x="5543550" y="76204"/>
                </a:cubicBezTo>
                <a:lnTo>
                  <a:pt x="5543550" y="1057271"/>
                </a:lnTo>
                <a:cubicBezTo>
                  <a:pt x="5543550" y="1099358"/>
                  <a:pt x="5509433" y="1133475"/>
                  <a:pt x="5467346" y="1133475"/>
                </a:cubicBez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267450" y="4057650"/>
            <a:ext cx="38100" cy="1133475"/>
          </a:xfrm>
          <a:custGeom>
            <a:avLst/>
            <a:gdLst/>
            <a:ahLst/>
            <a:cxnLst/>
            <a:rect l="l" t="t" r="r" b="b"/>
            <a:pathLst>
              <a:path w="38100" h="1133475">
                <a:moveTo>
                  <a:pt x="38100" y="0"/>
                </a:moveTo>
                <a:lnTo>
                  <a:pt x="38100" y="0"/>
                </a:lnTo>
                <a:lnTo>
                  <a:pt x="38100" y="1133475"/>
                </a:ln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477000" y="424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606480" y="43624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62800" y="4248150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Monitoria de Fraude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62800" y="4552950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PEF (Elo) e EFM (Mastercard)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343525"/>
            <a:ext cx="11410950" cy="1133475"/>
          </a:xfrm>
          <a:custGeom>
            <a:avLst/>
            <a:gdLst/>
            <a:ahLst/>
            <a:cxnLst/>
            <a:rect l="l" t="t" r="r" b="b"/>
            <a:pathLst>
              <a:path w="11410950" h="1133475">
                <a:moveTo>
                  <a:pt x="38100" y="0"/>
                </a:moveTo>
                <a:lnTo>
                  <a:pt x="11334746" y="0"/>
                </a:lnTo>
                <a:cubicBezTo>
                  <a:pt x="11376833" y="0"/>
                  <a:pt x="11410950" y="34117"/>
                  <a:pt x="11410950" y="76204"/>
                </a:cubicBezTo>
                <a:lnTo>
                  <a:pt x="11410950" y="1057271"/>
                </a:lnTo>
                <a:cubicBezTo>
                  <a:pt x="11410950" y="1099358"/>
                  <a:pt x="11376833" y="1133475"/>
                  <a:pt x="11334746" y="1133475"/>
                </a:cubicBez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00050" y="5343525"/>
            <a:ext cx="38100" cy="1133475"/>
          </a:xfrm>
          <a:custGeom>
            <a:avLst/>
            <a:gdLst/>
            <a:ahLst/>
            <a:cxnLst/>
            <a:rect l="l" t="t" r="r" b="b"/>
            <a:pathLst>
              <a:path w="38100" h="1133475">
                <a:moveTo>
                  <a:pt x="38100" y="0"/>
                </a:moveTo>
                <a:lnTo>
                  <a:pt x="38100" y="0"/>
                </a:lnTo>
                <a:lnTo>
                  <a:pt x="38100" y="1133475"/>
                </a:lnTo>
                <a:lnTo>
                  <a:pt x="38100" y="1133475"/>
                </a:lnTo>
                <a:cubicBezTo>
                  <a:pt x="17072" y="1133475"/>
                  <a:pt x="0" y="1116403"/>
                  <a:pt x="0" y="1095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09600" y="5534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49796" y="56483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95400" y="5534025"/>
            <a:ext cx="1042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Retentativas de Autorização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95400" y="5838825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Regras e penalidades das bandeiras Elo, Mastercard e Visa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cmillan.ca/df8f714b32483c0567b7a5224a0d52b72c457da1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9673" r="1967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381000" y="952500"/>
            <a:ext cx="1787426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8B2AC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5431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MCC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Alto Risco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562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Conceitos, classificações e listas de Merchant Category Codes de alto risco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762625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DE ALTO RISCO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são MCC de Alto Risco?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1362075"/>
          </a:xfrm>
          <a:custGeom>
            <a:avLst/>
            <a:gdLst/>
            <a:ahLst/>
            <a:cxnLst/>
            <a:rect l="l" t="t" r="r" b="b"/>
            <a:pathLst>
              <a:path w="11410950" h="1362075">
                <a:moveTo>
                  <a:pt x="38100" y="0"/>
                </a:moveTo>
                <a:lnTo>
                  <a:pt x="11334756" y="0"/>
                </a:lnTo>
                <a:cubicBezTo>
                  <a:pt x="11376837" y="0"/>
                  <a:pt x="11410950" y="34113"/>
                  <a:pt x="11410950" y="76194"/>
                </a:cubicBezTo>
                <a:lnTo>
                  <a:pt x="11410950" y="1285881"/>
                </a:lnTo>
                <a:cubicBezTo>
                  <a:pt x="11410950" y="1327962"/>
                  <a:pt x="11376837" y="1362075"/>
                  <a:pt x="11334756" y="1362075"/>
                </a:cubicBez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1362075"/>
          </a:xfrm>
          <a:custGeom>
            <a:avLst/>
            <a:gdLst/>
            <a:ahLst/>
            <a:cxnLst/>
            <a:rect l="l" t="t" r="r" b="b"/>
            <a:pathLst>
              <a:path w="38100" h="1362075">
                <a:moveTo>
                  <a:pt x="38100" y="0"/>
                </a:moveTo>
                <a:lnTo>
                  <a:pt x="38100" y="0"/>
                </a:lnTo>
                <a:lnTo>
                  <a:pt x="38100" y="1362075"/>
                </a:lnTo>
                <a:lnTo>
                  <a:pt x="38100" y="1362075"/>
                </a:lnTo>
                <a:cubicBezTo>
                  <a:pt x="17072" y="1362075"/>
                  <a:pt x="0" y="1345003"/>
                  <a:pt x="0" y="13239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817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5350" y="1409700"/>
            <a:ext cx="10839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28800"/>
            <a:ext cx="11096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São </a:t>
            </a: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estabelecimentos comerciais ou segmentos de atividades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consideradas pelas bandeiras Elo, Visa e Mastercard como tendo </a:t>
            </a: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maior probabilidade de fraudes, estornos (chargebacks)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ou envolvimento em </a:t>
            </a: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atividades reguladas, sensíveis ou controversas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733675"/>
            <a:ext cx="3695700" cy="3114675"/>
          </a:xfrm>
          <a:custGeom>
            <a:avLst/>
            <a:gdLst/>
            <a:ahLst/>
            <a:cxnLst/>
            <a:rect l="l" t="t" r="r" b="b"/>
            <a:pathLst>
              <a:path w="3695700" h="3114675">
                <a:moveTo>
                  <a:pt x="76185" y="0"/>
                </a:moveTo>
                <a:lnTo>
                  <a:pt x="3619515" y="0"/>
                </a:lnTo>
                <a:cubicBezTo>
                  <a:pt x="3661591" y="0"/>
                  <a:pt x="3695700" y="34109"/>
                  <a:pt x="3695700" y="76185"/>
                </a:cubicBezTo>
                <a:lnTo>
                  <a:pt x="3695700" y="3038490"/>
                </a:lnTo>
                <a:cubicBezTo>
                  <a:pt x="3695700" y="3080566"/>
                  <a:pt x="3661591" y="3114675"/>
                  <a:pt x="3619515" y="3114675"/>
                </a:cubicBezTo>
                <a:lnTo>
                  <a:pt x="76185" y="3114675"/>
                </a:lnTo>
                <a:cubicBezTo>
                  <a:pt x="34109" y="3114675"/>
                  <a:pt x="0" y="3080566"/>
                  <a:pt x="0" y="3038490"/>
                </a:cubicBezTo>
                <a:lnTo>
                  <a:pt x="0" y="76185"/>
                </a:lnTo>
                <a:cubicBezTo>
                  <a:pt x="0" y="34109"/>
                  <a:pt x="34109" y="0"/>
                  <a:pt x="7618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1270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2925" y="28908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1313" y="2986088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4425" y="2986088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3462338"/>
            <a:ext cx="3457575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Risco maior de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atividades ilegais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ocorrerem sem controles adequados que poderiam causar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danos significativos à saúde, segurança e/ou bem-estar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53768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2925" y="54959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Farmácias, jogos de azar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6513" y="2733675"/>
            <a:ext cx="3695700" cy="3114675"/>
          </a:xfrm>
          <a:custGeom>
            <a:avLst/>
            <a:gdLst/>
            <a:ahLst/>
            <a:cxnLst/>
            <a:rect l="l" t="t" r="r" b="b"/>
            <a:pathLst>
              <a:path w="3695700" h="3114675">
                <a:moveTo>
                  <a:pt x="76185" y="0"/>
                </a:moveTo>
                <a:lnTo>
                  <a:pt x="3619515" y="0"/>
                </a:lnTo>
                <a:cubicBezTo>
                  <a:pt x="3661591" y="0"/>
                  <a:pt x="3695700" y="34109"/>
                  <a:pt x="3695700" y="76185"/>
                </a:cubicBezTo>
                <a:lnTo>
                  <a:pt x="3695700" y="3038490"/>
                </a:lnTo>
                <a:cubicBezTo>
                  <a:pt x="3695700" y="3080566"/>
                  <a:pt x="3661591" y="3114675"/>
                  <a:pt x="3619515" y="3114675"/>
                </a:cubicBezTo>
                <a:lnTo>
                  <a:pt x="76185" y="3114675"/>
                </a:lnTo>
                <a:cubicBezTo>
                  <a:pt x="34109" y="3114675"/>
                  <a:pt x="0" y="3080566"/>
                  <a:pt x="0" y="3038490"/>
                </a:cubicBezTo>
                <a:lnTo>
                  <a:pt x="0" y="76185"/>
                </a:lnTo>
                <a:cubicBezTo>
                  <a:pt x="0" y="34109"/>
                  <a:pt x="34109" y="0"/>
                  <a:pt x="76185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 w="12700">
            <a:solidFill>
              <a:srgbClr val="7180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403675" y="28908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83757" y="2986088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75175" y="2986088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03675" y="3462338"/>
            <a:ext cx="3457575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Risco maior de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atividades ilegais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ocorrerem sem controles adequados que poderiam causar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danos financeiros ou outros danos econômicos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3675" y="53768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403675" y="54959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Quasi-cash, criptomoedas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07263" y="2733675"/>
            <a:ext cx="3695700" cy="3114675"/>
          </a:xfrm>
          <a:custGeom>
            <a:avLst/>
            <a:gdLst/>
            <a:ahLst/>
            <a:cxnLst/>
            <a:rect l="l" t="t" r="r" b="b"/>
            <a:pathLst>
              <a:path w="3695700" h="3114675">
                <a:moveTo>
                  <a:pt x="76185" y="0"/>
                </a:moveTo>
                <a:lnTo>
                  <a:pt x="3619515" y="0"/>
                </a:lnTo>
                <a:cubicBezTo>
                  <a:pt x="3661591" y="0"/>
                  <a:pt x="3695700" y="34109"/>
                  <a:pt x="3695700" y="76185"/>
                </a:cubicBezTo>
                <a:lnTo>
                  <a:pt x="3695700" y="3038490"/>
                </a:lnTo>
                <a:cubicBezTo>
                  <a:pt x="3695700" y="3080566"/>
                  <a:pt x="3661591" y="3114675"/>
                  <a:pt x="3619515" y="3114675"/>
                </a:cubicBezTo>
                <a:lnTo>
                  <a:pt x="76185" y="3114675"/>
                </a:lnTo>
                <a:cubicBezTo>
                  <a:pt x="34109" y="3114675"/>
                  <a:pt x="0" y="3080566"/>
                  <a:pt x="0" y="3038490"/>
                </a:cubicBezTo>
                <a:lnTo>
                  <a:pt x="0" y="76185"/>
                </a:lnTo>
                <a:cubicBezTo>
                  <a:pt x="0" y="34109"/>
                  <a:pt x="34109" y="0"/>
                  <a:pt x="7618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264426" y="28908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441978" y="2986088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35926" y="2986088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64426" y="3462338"/>
            <a:ext cx="3457575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Risco maior de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conformidade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 regulamentos aplicáveis ou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práticas de marketing fraudulentas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sem controles apropriados.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64426" y="53768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264426" y="54959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Marketing direto, tabacarias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600551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390523"/>
                </a:lnTo>
                <a:cubicBezTo>
                  <a:pt x="11420475" y="432608"/>
                  <a:pt x="11386358" y="466725"/>
                  <a:pt x="113442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523875" y="6162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52475" y="6124575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Observação: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Cada bandeira possui suas próprias regras, programas de monitoria e listas de MCC que fazem parte desses programas.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LISTA DE MCC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MCC de Alto Risco - Visa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43000"/>
            <a:ext cx="11410950" cy="1704975"/>
          </a:xfrm>
          <a:custGeom>
            <a:avLst/>
            <a:gdLst/>
            <a:ahLst/>
            <a:cxnLst/>
            <a:rect l="l" t="t" r="r" b="b"/>
            <a:pathLst>
              <a:path w="11410950" h="1704975">
                <a:moveTo>
                  <a:pt x="38100" y="0"/>
                </a:moveTo>
                <a:lnTo>
                  <a:pt x="11334755" y="0"/>
                </a:lnTo>
                <a:cubicBezTo>
                  <a:pt x="11376836" y="0"/>
                  <a:pt x="11410950" y="34114"/>
                  <a:pt x="11410950" y="76195"/>
                </a:cubicBezTo>
                <a:lnTo>
                  <a:pt x="11410950" y="1628780"/>
                </a:lnTo>
                <a:cubicBezTo>
                  <a:pt x="11410950" y="1670861"/>
                  <a:pt x="11376836" y="1704975"/>
                  <a:pt x="11334755" y="1704975"/>
                </a:cubicBezTo>
                <a:lnTo>
                  <a:pt x="38100" y="1704975"/>
                </a:lnTo>
                <a:cubicBezTo>
                  <a:pt x="17072" y="1704975"/>
                  <a:pt x="0" y="1687903"/>
                  <a:pt x="0" y="1666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143000"/>
            <a:ext cx="38100" cy="1704975"/>
          </a:xfrm>
          <a:custGeom>
            <a:avLst/>
            <a:gdLst/>
            <a:ahLst/>
            <a:cxnLst/>
            <a:rect l="l" t="t" r="r" b="b"/>
            <a:pathLst>
              <a:path w="38100" h="1704975">
                <a:moveTo>
                  <a:pt x="38100" y="0"/>
                </a:moveTo>
                <a:lnTo>
                  <a:pt x="38100" y="0"/>
                </a:lnTo>
                <a:lnTo>
                  <a:pt x="38100" y="1704975"/>
                </a:lnTo>
                <a:lnTo>
                  <a:pt x="38100" y="1704975"/>
                </a:lnTo>
                <a:cubicBezTo>
                  <a:pt x="17072" y="1704975"/>
                  <a:pt x="0" y="1687903"/>
                  <a:pt x="0" y="1666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3340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93688" y="13144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8700" y="12954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2024062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33400" y="17526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5967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Telemarketing Receptivo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0064" y="17716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Direto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9350" y="2024062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29350" y="1752600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7273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Serviço de Encontros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816828" y="17716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Acompanhante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2376488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3400" y="21050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7995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Jogos de Azar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8436" y="2124075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Transações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9350" y="2376488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229350" y="2105025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5122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Medicamentos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57458" y="2124075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Farmacêuticos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2728913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  <a:lnTo>
                  <a:pt x="111633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33400" y="24574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5912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Drogarias e Farmácias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34055" y="24765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Varejo farmacêutico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2924175"/>
            <a:ext cx="11410950" cy="1352550"/>
          </a:xfrm>
          <a:custGeom>
            <a:avLst/>
            <a:gdLst/>
            <a:ahLst/>
            <a:cxnLst/>
            <a:rect l="l" t="t" r="r" b="b"/>
            <a:pathLst>
              <a:path w="11410950" h="13525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1276347"/>
                </a:lnTo>
                <a:cubicBezTo>
                  <a:pt x="11410950" y="1318433"/>
                  <a:pt x="11376833" y="1352550"/>
                  <a:pt x="11334747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00050" y="2924175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33400" y="3038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75382" y="309562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8700" y="3076575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3805237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33400" y="3533775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6051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Quasi Cash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83956" y="355282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 a Dinheiro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29350" y="3805237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229350" y="3533775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6012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Instituição Financeira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179820" y="3552825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Agências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3400" y="4157663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33400" y="388620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4816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Rede de Computadores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76230" y="390525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Serviços de Info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29350" y="4157663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229350" y="388620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5816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Produtos Digitais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932468" y="390525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Jogos Digitais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352925"/>
            <a:ext cx="11410950" cy="1352550"/>
          </a:xfrm>
          <a:custGeom>
            <a:avLst/>
            <a:gdLst/>
            <a:ahLst/>
            <a:cxnLst/>
            <a:rect l="l" t="t" r="r" b="b"/>
            <a:pathLst>
              <a:path w="11410950" h="13525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1276347"/>
                </a:lnTo>
                <a:cubicBezTo>
                  <a:pt x="11410950" y="1318433"/>
                  <a:pt x="11376833" y="1352550"/>
                  <a:pt x="11334747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00050" y="4352925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533400" y="4467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72852" y="45243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8700" y="4505325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33400" y="5233988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33400" y="4962525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6211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Valores Mobiliários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84155" y="498157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Corretores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29350" y="5233988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6229350" y="4962525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5966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Marketing Direto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08085" y="4981575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Outbound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33400" y="5586413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533400" y="531495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5968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Continuidade/Assinatura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040064" y="533400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Direto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29350" y="5586413"/>
            <a:ext cx="5467350" cy="9525"/>
          </a:xfrm>
          <a:custGeom>
            <a:avLst/>
            <a:gdLst/>
            <a:ahLst/>
            <a:cxnLst/>
            <a:rect l="l" t="t" r="r" b="b"/>
            <a:pathLst>
              <a:path w="5467350" h="9525">
                <a:moveTo>
                  <a:pt x="0" y="0"/>
                </a:moveTo>
                <a:lnTo>
                  <a:pt x="5467350" y="0"/>
                </a:lnTo>
                <a:lnTo>
                  <a:pt x="5467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229350" y="53149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5993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Tabacarias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322844" y="5334000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Varejo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85763" y="5786438"/>
            <a:ext cx="11420475" cy="390525"/>
          </a:xfrm>
          <a:custGeom>
            <a:avLst/>
            <a:gdLst/>
            <a:ahLst/>
            <a:cxnLst/>
            <a:rect l="l" t="t" r="r" b="b"/>
            <a:pathLst>
              <a:path w="11420475" h="390525">
                <a:moveTo>
                  <a:pt x="76199" y="0"/>
                </a:moveTo>
                <a:lnTo>
                  <a:pt x="11344276" y="0"/>
                </a:lnTo>
                <a:cubicBezTo>
                  <a:pt x="11386359" y="0"/>
                  <a:pt x="11420475" y="34116"/>
                  <a:pt x="11420475" y="76199"/>
                </a:cubicBezTo>
                <a:lnTo>
                  <a:pt x="11420475" y="314326"/>
                </a:lnTo>
                <a:cubicBezTo>
                  <a:pt x="11420475" y="356409"/>
                  <a:pt x="11386359" y="390525"/>
                  <a:pt x="113442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504825" y="5905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714375" y="5867400"/>
            <a:ext cx="1108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Transações de criptomoeda sob MCCs 6051 e 6012 são obrigadas a usar o Código de Condição Especial 7.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LISTA DE MCC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MCC de Alto Risco - Mastercard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43000"/>
            <a:ext cx="5619750" cy="2562225"/>
          </a:xfrm>
          <a:custGeom>
            <a:avLst/>
            <a:gdLst/>
            <a:ahLst/>
            <a:cxnLst/>
            <a:rect l="l" t="t" r="r" b="b"/>
            <a:pathLst>
              <a:path w="5619750" h="2562225">
                <a:moveTo>
                  <a:pt x="38100" y="0"/>
                </a:moveTo>
                <a:lnTo>
                  <a:pt x="5543549" y="0"/>
                </a:lnTo>
                <a:cubicBezTo>
                  <a:pt x="5585606" y="0"/>
                  <a:pt x="5619750" y="34144"/>
                  <a:pt x="5619750" y="76201"/>
                </a:cubicBezTo>
                <a:lnTo>
                  <a:pt x="5619750" y="2486024"/>
                </a:lnTo>
                <a:cubicBezTo>
                  <a:pt x="5619750" y="2528081"/>
                  <a:pt x="5585606" y="2562225"/>
                  <a:pt x="5543549" y="2562225"/>
                </a:cubicBezTo>
                <a:lnTo>
                  <a:pt x="38100" y="2562225"/>
                </a:lnTo>
                <a:cubicBezTo>
                  <a:pt x="17072" y="2562225"/>
                  <a:pt x="0" y="2545153"/>
                  <a:pt x="0" y="2524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143000"/>
            <a:ext cx="38100" cy="2562225"/>
          </a:xfrm>
          <a:custGeom>
            <a:avLst/>
            <a:gdLst/>
            <a:ahLst/>
            <a:cxnLst/>
            <a:rect l="l" t="t" r="r" b="b"/>
            <a:pathLst>
              <a:path w="38100" h="2562225">
                <a:moveTo>
                  <a:pt x="38100" y="0"/>
                </a:moveTo>
                <a:lnTo>
                  <a:pt x="38100" y="0"/>
                </a:lnTo>
                <a:lnTo>
                  <a:pt x="38100" y="2562225"/>
                </a:lnTo>
                <a:lnTo>
                  <a:pt x="38100" y="2562225"/>
                </a:lnTo>
                <a:cubicBezTo>
                  <a:pt x="17072" y="2562225"/>
                  <a:pt x="0" y="2545153"/>
                  <a:pt x="0" y="2524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95313" y="1333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9625" y="12954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Conteúdo Sensível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198596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1500" y="171450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5967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Telemarketing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90542" y="173355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Receptivo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37648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71500" y="210502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7841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Aluguel de Vídeos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0533" y="212407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Entretenimento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276701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1500" y="24955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7801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Jogos de Azar Online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36952" y="25146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EUA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15753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71500" y="2886075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7802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Corridas Licenciadas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98070" y="2905125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Cavalos/Cães EUA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" y="354806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71500" y="32766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7995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Jogos de Azar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5086" y="329565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Transações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819525"/>
            <a:ext cx="5619750" cy="2105025"/>
          </a:xfrm>
          <a:custGeom>
            <a:avLst/>
            <a:gdLst/>
            <a:ahLst/>
            <a:cxnLst/>
            <a:rect l="l" t="t" r="r" b="b"/>
            <a:pathLst>
              <a:path w="5619750" h="2105025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2028823"/>
                </a:lnTo>
                <a:cubicBezTo>
                  <a:pt x="5619750" y="2070908"/>
                  <a:pt x="5585633" y="2105025"/>
                  <a:pt x="5543548" y="2105025"/>
                </a:cubicBezTo>
                <a:lnTo>
                  <a:pt x="38100" y="2105025"/>
                </a:lnTo>
                <a:cubicBezTo>
                  <a:pt x="17072" y="2105025"/>
                  <a:pt x="0" y="2087953"/>
                  <a:pt x="0" y="2066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00050" y="3819525"/>
            <a:ext cx="38100" cy="2105025"/>
          </a:xfrm>
          <a:custGeom>
            <a:avLst/>
            <a:gdLst/>
            <a:ahLst/>
            <a:cxnLst/>
            <a:rect l="l" t="t" r="r" b="b"/>
            <a:pathLst>
              <a:path w="38100" h="2105025">
                <a:moveTo>
                  <a:pt x="38100" y="0"/>
                </a:moveTo>
                <a:lnTo>
                  <a:pt x="38100" y="0"/>
                </a:lnTo>
                <a:lnTo>
                  <a:pt x="38100" y="2105025"/>
                </a:lnTo>
                <a:lnTo>
                  <a:pt x="38100" y="2105025"/>
                </a:lnTo>
                <a:cubicBezTo>
                  <a:pt x="17072" y="2105025"/>
                  <a:pt x="0" y="2087953"/>
                  <a:pt x="0" y="2066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95313" y="4010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41672"/>
                </a:moveTo>
                <a:cubicBezTo>
                  <a:pt x="23812" y="31812"/>
                  <a:pt x="31812" y="23812"/>
                  <a:pt x="41672" y="23812"/>
                </a:cubicBezTo>
                <a:cubicBezTo>
                  <a:pt x="51532" y="23812"/>
                  <a:pt x="59531" y="31812"/>
                  <a:pt x="59531" y="41672"/>
                </a:cubicBezTo>
                <a:lnTo>
                  <a:pt x="59531" y="83344"/>
                </a:lnTo>
                <a:lnTo>
                  <a:pt x="23812" y="83344"/>
                </a:lnTo>
                <a:lnTo>
                  <a:pt x="23812" y="41672"/>
                </a:lnTo>
                <a:close/>
                <a:moveTo>
                  <a:pt x="65484" y="136922"/>
                </a:moveTo>
                <a:cubicBezTo>
                  <a:pt x="65484" y="118802"/>
                  <a:pt x="72219" y="102245"/>
                  <a:pt x="83344" y="89669"/>
                </a:cubicBezTo>
                <a:lnTo>
                  <a:pt x="83344" y="41672"/>
                </a:lnTo>
                <a:cubicBezTo>
                  <a:pt x="83344" y="18641"/>
                  <a:pt x="64703" y="0"/>
                  <a:pt x="41672" y="0"/>
                </a:cubicBezTo>
                <a:cubicBezTo>
                  <a:pt x="18641" y="0"/>
                  <a:pt x="0" y="18641"/>
                  <a:pt x="0" y="41672"/>
                </a:cubicBezTo>
                <a:lnTo>
                  <a:pt x="0" y="148828"/>
                </a:lnTo>
                <a:cubicBezTo>
                  <a:pt x="0" y="171859"/>
                  <a:pt x="18641" y="190500"/>
                  <a:pt x="41672" y="190500"/>
                </a:cubicBezTo>
                <a:cubicBezTo>
                  <a:pt x="55550" y="190500"/>
                  <a:pt x="67828" y="183728"/>
                  <a:pt x="75419" y="173273"/>
                </a:cubicBezTo>
                <a:cubicBezTo>
                  <a:pt x="69093" y="162632"/>
                  <a:pt x="65484" y="150205"/>
                  <a:pt x="65484" y="136922"/>
                </a:cubicBezTo>
                <a:close/>
                <a:moveTo>
                  <a:pt x="89557" y="161999"/>
                </a:moveTo>
                <a:cubicBezTo>
                  <a:pt x="91269" y="165236"/>
                  <a:pt x="95622" y="165608"/>
                  <a:pt x="98227" y="163004"/>
                </a:cubicBezTo>
                <a:lnTo>
                  <a:pt x="163004" y="98227"/>
                </a:lnTo>
                <a:cubicBezTo>
                  <a:pt x="165608" y="95622"/>
                  <a:pt x="165236" y="91269"/>
                  <a:pt x="161999" y="89557"/>
                </a:cubicBezTo>
                <a:cubicBezTo>
                  <a:pt x="154521" y="85576"/>
                  <a:pt x="146000" y="83344"/>
                  <a:pt x="136922" y="83344"/>
                </a:cubicBezTo>
                <a:cubicBezTo>
                  <a:pt x="107342" y="83344"/>
                  <a:pt x="83344" y="107342"/>
                  <a:pt x="83344" y="136922"/>
                </a:cubicBezTo>
                <a:cubicBezTo>
                  <a:pt x="83344" y="145963"/>
                  <a:pt x="85576" y="154521"/>
                  <a:pt x="89557" y="161999"/>
                </a:cubicBezTo>
                <a:close/>
                <a:moveTo>
                  <a:pt x="110840" y="175617"/>
                </a:moveTo>
                <a:cubicBezTo>
                  <a:pt x="108235" y="178222"/>
                  <a:pt x="108607" y="182575"/>
                  <a:pt x="111844" y="184286"/>
                </a:cubicBezTo>
                <a:cubicBezTo>
                  <a:pt x="119323" y="188268"/>
                  <a:pt x="127843" y="190500"/>
                  <a:pt x="136922" y="190500"/>
                </a:cubicBezTo>
                <a:cubicBezTo>
                  <a:pt x="166501" y="190500"/>
                  <a:pt x="190500" y="166501"/>
                  <a:pt x="190500" y="136922"/>
                </a:cubicBezTo>
                <a:cubicBezTo>
                  <a:pt x="190500" y="127881"/>
                  <a:pt x="188268" y="119323"/>
                  <a:pt x="184286" y="111844"/>
                </a:cubicBezTo>
                <a:cubicBezTo>
                  <a:pt x="182575" y="108607"/>
                  <a:pt x="178222" y="108235"/>
                  <a:pt x="175617" y="110840"/>
                </a:cubicBezTo>
                <a:lnTo>
                  <a:pt x="110840" y="175617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09625" y="39719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Farmácias e Saúde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" y="466248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71500" y="4391025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5122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Medicamentos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8158" y="4410075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Farmacêuticos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1500" y="505301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71500" y="478155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5912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Drogarias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6375" y="480060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Farmácias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1500" y="544353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571500" y="5172075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5993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Tabacarias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90418" y="5191125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1250" y="1143000"/>
            <a:ext cx="5619750" cy="2333625"/>
          </a:xfrm>
          <a:custGeom>
            <a:avLst/>
            <a:gdLst/>
            <a:ahLst/>
            <a:cxnLst/>
            <a:rect l="l" t="t" r="r" b="b"/>
            <a:pathLst>
              <a:path w="5619750" h="2333625">
                <a:moveTo>
                  <a:pt x="38100" y="0"/>
                </a:moveTo>
                <a:lnTo>
                  <a:pt x="5543557" y="0"/>
                </a:lnTo>
                <a:cubicBezTo>
                  <a:pt x="5585609" y="0"/>
                  <a:pt x="5619750" y="34141"/>
                  <a:pt x="5619750" y="76193"/>
                </a:cubicBezTo>
                <a:lnTo>
                  <a:pt x="5619750" y="2257432"/>
                </a:lnTo>
                <a:cubicBezTo>
                  <a:pt x="5619750" y="2299484"/>
                  <a:pt x="5585609" y="2333625"/>
                  <a:pt x="5543557" y="2333625"/>
                </a:cubicBezTo>
                <a:lnTo>
                  <a:pt x="38100" y="2333625"/>
                </a:lnTo>
                <a:cubicBezTo>
                  <a:pt x="17072" y="2333625"/>
                  <a:pt x="0" y="2316553"/>
                  <a:pt x="0" y="2295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191250" y="1143000"/>
            <a:ext cx="38100" cy="2333625"/>
          </a:xfrm>
          <a:custGeom>
            <a:avLst/>
            <a:gdLst/>
            <a:ahLst/>
            <a:cxnLst/>
            <a:rect l="l" t="t" r="r" b="b"/>
            <a:pathLst>
              <a:path w="38100" h="2333625">
                <a:moveTo>
                  <a:pt x="38100" y="0"/>
                </a:moveTo>
                <a:lnTo>
                  <a:pt x="38100" y="0"/>
                </a:lnTo>
                <a:lnTo>
                  <a:pt x="38100" y="2333625"/>
                </a:lnTo>
                <a:lnTo>
                  <a:pt x="38100" y="2333625"/>
                </a:lnTo>
                <a:cubicBezTo>
                  <a:pt x="17072" y="2333625"/>
                  <a:pt x="0" y="2316553"/>
                  <a:pt x="0" y="2295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374606" y="1333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47625"/>
                </a:moveTo>
                <a:cubicBezTo>
                  <a:pt x="0" y="34491"/>
                  <a:pt x="10678" y="23812"/>
                  <a:pt x="23812" y="23812"/>
                </a:cubicBezTo>
                <a:lnTo>
                  <a:pt x="190500" y="23812"/>
                </a:lnTo>
                <a:cubicBezTo>
                  <a:pt x="203634" y="23812"/>
                  <a:pt x="214313" y="34491"/>
                  <a:pt x="214313" y="47625"/>
                </a:cubicBezTo>
                <a:lnTo>
                  <a:pt x="214313" y="71438"/>
                </a:lnTo>
                <a:cubicBezTo>
                  <a:pt x="214313" y="74712"/>
                  <a:pt x="211559" y="77279"/>
                  <a:pt x="208471" y="78358"/>
                </a:cubicBezTo>
                <a:cubicBezTo>
                  <a:pt x="201476" y="80776"/>
                  <a:pt x="196453" y="87437"/>
                  <a:pt x="196453" y="95250"/>
                </a:cubicBezTo>
                <a:cubicBezTo>
                  <a:pt x="196453" y="103063"/>
                  <a:pt x="201476" y="109724"/>
                  <a:pt x="208471" y="112142"/>
                </a:cubicBezTo>
                <a:cubicBezTo>
                  <a:pt x="211559" y="113221"/>
                  <a:pt x="214313" y="115788"/>
                  <a:pt x="214313" y="119063"/>
                </a:cubicBezTo>
                <a:lnTo>
                  <a:pt x="214313" y="142875"/>
                </a:lnTo>
                <a:cubicBezTo>
                  <a:pt x="214313" y="156009"/>
                  <a:pt x="203634" y="166688"/>
                  <a:pt x="190500" y="166688"/>
                </a:cubicBezTo>
                <a:lnTo>
                  <a:pt x="23812" y="166688"/>
                </a:lnTo>
                <a:cubicBezTo>
                  <a:pt x="10678" y="166688"/>
                  <a:pt x="0" y="156009"/>
                  <a:pt x="0" y="142875"/>
                </a:cubicBezTo>
                <a:lnTo>
                  <a:pt x="0" y="119063"/>
                </a:lnTo>
                <a:cubicBezTo>
                  <a:pt x="0" y="115788"/>
                  <a:pt x="2753" y="113221"/>
                  <a:pt x="5842" y="112142"/>
                </a:cubicBezTo>
                <a:cubicBezTo>
                  <a:pt x="12836" y="109724"/>
                  <a:pt x="17859" y="103063"/>
                  <a:pt x="17859" y="95250"/>
                </a:cubicBezTo>
                <a:cubicBezTo>
                  <a:pt x="17859" y="87437"/>
                  <a:pt x="12836" y="80776"/>
                  <a:pt x="5842" y="78358"/>
                </a:cubicBezTo>
                <a:cubicBezTo>
                  <a:pt x="2753" y="77279"/>
                  <a:pt x="0" y="74712"/>
                  <a:pt x="0" y="71438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600825" y="12954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Loterias e Jogos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2700" y="198596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362700" y="171450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7800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Loteria Governamental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11545" y="173355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2700" y="237648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362700" y="2105025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7994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Videogames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363623" y="2124075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Lojas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2700" y="276701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362700" y="249555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9406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Loteria Governamental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54246" y="2514600"/>
            <a:ext cx="37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Geral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1250" y="3590925"/>
            <a:ext cx="5619750" cy="2333625"/>
          </a:xfrm>
          <a:custGeom>
            <a:avLst/>
            <a:gdLst/>
            <a:ahLst/>
            <a:cxnLst/>
            <a:rect l="l" t="t" r="r" b="b"/>
            <a:pathLst>
              <a:path w="5619750" h="2333625">
                <a:moveTo>
                  <a:pt x="38100" y="0"/>
                </a:moveTo>
                <a:lnTo>
                  <a:pt x="5543557" y="0"/>
                </a:lnTo>
                <a:cubicBezTo>
                  <a:pt x="5585609" y="0"/>
                  <a:pt x="5619750" y="34141"/>
                  <a:pt x="5619750" y="76193"/>
                </a:cubicBezTo>
                <a:lnTo>
                  <a:pt x="5619750" y="2257432"/>
                </a:lnTo>
                <a:cubicBezTo>
                  <a:pt x="5619750" y="2299484"/>
                  <a:pt x="5585609" y="2333625"/>
                  <a:pt x="5543557" y="2333625"/>
                </a:cubicBezTo>
                <a:lnTo>
                  <a:pt x="38100" y="2333625"/>
                </a:lnTo>
                <a:cubicBezTo>
                  <a:pt x="17072" y="2333625"/>
                  <a:pt x="0" y="2316553"/>
                  <a:pt x="0" y="2295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6191250" y="3590925"/>
            <a:ext cx="38100" cy="2333625"/>
          </a:xfrm>
          <a:custGeom>
            <a:avLst/>
            <a:gdLst/>
            <a:ahLst/>
            <a:cxnLst/>
            <a:rect l="l" t="t" r="r" b="b"/>
            <a:pathLst>
              <a:path w="38100" h="2333625">
                <a:moveTo>
                  <a:pt x="38100" y="0"/>
                </a:moveTo>
                <a:lnTo>
                  <a:pt x="38100" y="0"/>
                </a:lnTo>
                <a:lnTo>
                  <a:pt x="38100" y="2333625"/>
                </a:lnTo>
                <a:lnTo>
                  <a:pt x="38100" y="2333625"/>
                </a:lnTo>
                <a:cubicBezTo>
                  <a:pt x="17072" y="2333625"/>
                  <a:pt x="0" y="2316553"/>
                  <a:pt x="0" y="2295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6362700" y="37814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600825" y="37433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Tecnologia e Financeiro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62700" y="443388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362700" y="4162425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4816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Rede de Computadores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722620" y="4181475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Cybersegurança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2700" y="482441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6362700" y="455295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6211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Valores Mobiliários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864602" y="45720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Títulos/Cripto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62700" y="521493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6362700" y="4943475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6051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Quasi Cash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641806" y="496252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 a Dinheiro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62700" y="560546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6362700" y="53340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5968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Continuidade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257086" y="535305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Faturamento Recorrente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85763" y="600551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390523"/>
                </a:lnTo>
                <a:cubicBezTo>
                  <a:pt x="11420475" y="432608"/>
                  <a:pt x="11386358" y="466725"/>
                  <a:pt x="113442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523875" y="6162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752475" y="6124575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Comerciantes especializados não presenciais devem ser registrados no aplicativo de Registro de Comerciantes Especializados no My Company Performance.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REGRAS DAS BANDEIRAS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Regras Elo para MCC de Alto Risco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3314700"/>
          </a:xfrm>
          <a:custGeom>
            <a:avLst/>
            <a:gdLst/>
            <a:ahLst/>
            <a:cxnLst/>
            <a:rect l="l" t="t" r="r" b="b"/>
            <a:pathLst>
              <a:path w="11410950" h="33147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3238495"/>
                </a:lnTo>
                <a:cubicBezTo>
                  <a:pt x="11410950" y="3280582"/>
                  <a:pt x="11376832" y="3314700"/>
                  <a:pt x="11334745" y="3314700"/>
                </a:cubicBezTo>
                <a:lnTo>
                  <a:pt x="38100" y="3314700"/>
                </a:lnTo>
                <a:cubicBezTo>
                  <a:pt x="17072" y="3314700"/>
                  <a:pt x="0" y="3297628"/>
                  <a:pt x="0" y="3276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3314700"/>
          </a:xfrm>
          <a:custGeom>
            <a:avLst/>
            <a:gdLst/>
            <a:ahLst/>
            <a:cxnLst/>
            <a:rect l="l" t="t" r="r" b="b"/>
            <a:pathLst>
              <a:path w="38100" h="3314700">
                <a:moveTo>
                  <a:pt x="38100" y="0"/>
                </a:moveTo>
                <a:lnTo>
                  <a:pt x="38100" y="0"/>
                </a:lnTo>
                <a:lnTo>
                  <a:pt x="38100" y="3314700"/>
                </a:lnTo>
                <a:lnTo>
                  <a:pt x="38100" y="3314700"/>
                </a:lnTo>
                <a:cubicBezTo>
                  <a:pt x="17072" y="3314700"/>
                  <a:pt x="0" y="3297628"/>
                  <a:pt x="0" y="3276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817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5350" y="1409700"/>
            <a:ext cx="10839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Critérios de Classificação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66900"/>
            <a:ext cx="1109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 será considerado de </a:t>
            </a: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alto risco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quando atingir os seguintes critérios: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286000"/>
            <a:ext cx="5429250" cy="1066800"/>
          </a:xfrm>
          <a:custGeom>
            <a:avLst/>
            <a:gdLst/>
            <a:ahLst/>
            <a:cxnLst/>
            <a:rect l="l" t="t" r="r" b="b"/>
            <a:pathLst>
              <a:path w="5429250" h="1066800">
                <a:moveTo>
                  <a:pt x="76202" y="0"/>
                </a:moveTo>
                <a:lnTo>
                  <a:pt x="5353048" y="0"/>
                </a:lnTo>
                <a:cubicBezTo>
                  <a:pt x="5395133" y="0"/>
                  <a:pt x="5429250" y="34117"/>
                  <a:pt x="5429250" y="76202"/>
                </a:cubicBezTo>
                <a:lnTo>
                  <a:pt x="5429250" y="990598"/>
                </a:lnTo>
                <a:cubicBezTo>
                  <a:pt x="5429250" y="1032683"/>
                  <a:pt x="5395133" y="1066800"/>
                  <a:pt x="53530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62000" y="247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66775" y="25622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81100" y="2438400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Cancelamento por Fraude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1100" y="2743200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 cancelado por ser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fictício/fraudulento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exercer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atividade ilegal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0" y="2286000"/>
            <a:ext cx="5429250" cy="1066800"/>
          </a:xfrm>
          <a:custGeom>
            <a:avLst/>
            <a:gdLst/>
            <a:ahLst/>
            <a:cxnLst/>
            <a:rect l="l" t="t" r="r" b="b"/>
            <a:pathLst>
              <a:path w="5429250" h="1066800">
                <a:moveTo>
                  <a:pt x="76202" y="0"/>
                </a:moveTo>
                <a:lnTo>
                  <a:pt x="5353048" y="0"/>
                </a:lnTo>
                <a:cubicBezTo>
                  <a:pt x="5395133" y="0"/>
                  <a:pt x="5429250" y="34117"/>
                  <a:pt x="5429250" y="76202"/>
                </a:cubicBezTo>
                <a:lnTo>
                  <a:pt x="5429250" y="990598"/>
                </a:lnTo>
                <a:cubicBezTo>
                  <a:pt x="5429250" y="1032683"/>
                  <a:pt x="5395133" y="1066800"/>
                  <a:pt x="53530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343650" y="247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431756" y="2562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62750" y="2438400"/>
            <a:ext cx="389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Indicadores de Fraude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2750" y="27432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 de fraude bruta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800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valor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R$ 20.000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6 meses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3505200"/>
            <a:ext cx="5429250" cy="838200"/>
          </a:xfrm>
          <a:custGeom>
            <a:avLst/>
            <a:gdLst/>
            <a:ahLst/>
            <a:cxnLst/>
            <a:rect l="l" t="t" r="r" b="b"/>
            <a:pathLst>
              <a:path w="5429250" h="838200">
                <a:moveTo>
                  <a:pt x="76201" y="0"/>
                </a:moveTo>
                <a:lnTo>
                  <a:pt x="5353049" y="0"/>
                </a:lnTo>
                <a:cubicBezTo>
                  <a:pt x="5395134" y="0"/>
                  <a:pt x="5429250" y="34116"/>
                  <a:pt x="5429250" y="76201"/>
                </a:cubicBezTo>
                <a:lnTo>
                  <a:pt x="5429250" y="761999"/>
                </a:lnTo>
                <a:cubicBezTo>
                  <a:pt x="5429250" y="804084"/>
                  <a:pt x="5395134" y="838200"/>
                  <a:pt x="53530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62000" y="3695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50106" y="3781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181100" y="3657600"/>
            <a:ext cx="439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Atividade de Alto Risco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3962400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 envolvido em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atividade de alto risco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identificada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250" y="3505200"/>
            <a:ext cx="5429250" cy="838200"/>
          </a:xfrm>
          <a:custGeom>
            <a:avLst/>
            <a:gdLst/>
            <a:ahLst/>
            <a:cxnLst/>
            <a:rect l="l" t="t" r="r" b="b"/>
            <a:pathLst>
              <a:path w="5429250" h="838200">
                <a:moveTo>
                  <a:pt x="76201" y="0"/>
                </a:moveTo>
                <a:lnTo>
                  <a:pt x="5353049" y="0"/>
                </a:lnTo>
                <a:cubicBezTo>
                  <a:pt x="5395134" y="0"/>
                  <a:pt x="5429250" y="34116"/>
                  <a:pt x="5429250" y="76201"/>
                </a:cubicBezTo>
                <a:lnTo>
                  <a:pt x="5429250" y="761999"/>
                </a:lnTo>
                <a:cubicBezTo>
                  <a:pt x="5429250" y="804084"/>
                  <a:pt x="5395134" y="838200"/>
                  <a:pt x="53530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343650" y="3695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31756" y="3781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5637" y="107435"/>
                </a:moveTo>
                <a:lnTo>
                  <a:pt x="25915" y="37713"/>
                </a:lnTo>
                <a:cubicBezTo>
                  <a:pt x="20081" y="45891"/>
                  <a:pt x="16669" y="55892"/>
                  <a:pt x="16669" y="66675"/>
                </a:cubicBezTo>
                <a:cubicBezTo>
                  <a:pt x="16669" y="94283"/>
                  <a:pt x="39067" y="116681"/>
                  <a:pt x="66675" y="116681"/>
                </a:cubicBezTo>
                <a:cubicBezTo>
                  <a:pt x="77484" y="116681"/>
                  <a:pt x="87485" y="113269"/>
                  <a:pt x="95637" y="107435"/>
                </a:cubicBezTo>
                <a:close/>
                <a:moveTo>
                  <a:pt x="107435" y="95637"/>
                </a:moveTo>
                <a:cubicBezTo>
                  <a:pt x="113269" y="87459"/>
                  <a:pt x="116681" y="77458"/>
                  <a:pt x="116681" y="66675"/>
                </a:cubicBezTo>
                <a:cubicBezTo>
                  <a:pt x="116681" y="39067"/>
                  <a:pt x="94283" y="16669"/>
                  <a:pt x="66675" y="16669"/>
                </a:cubicBezTo>
                <a:cubicBezTo>
                  <a:pt x="55866" y="16669"/>
                  <a:pt x="45865" y="20081"/>
                  <a:pt x="37713" y="25915"/>
                </a:cubicBezTo>
                <a:lnTo>
                  <a:pt x="107435" y="95637"/>
                </a:ln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762750" y="3657600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Motivos Depreciativos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2750" y="3962400"/>
            <a:ext cx="436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 cancelado por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motivos depreciativos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à bandeira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4691063"/>
            <a:ext cx="5629275" cy="1876425"/>
          </a:xfrm>
          <a:custGeom>
            <a:avLst/>
            <a:gdLst/>
            <a:ahLst/>
            <a:cxnLst/>
            <a:rect l="l" t="t" r="r" b="b"/>
            <a:pathLst>
              <a:path w="5629275" h="1876425">
                <a:moveTo>
                  <a:pt x="76202" y="0"/>
                </a:moveTo>
                <a:lnTo>
                  <a:pt x="5553073" y="0"/>
                </a:lnTo>
                <a:cubicBezTo>
                  <a:pt x="5595158" y="0"/>
                  <a:pt x="5629275" y="34117"/>
                  <a:pt x="5629275" y="76202"/>
                </a:cubicBezTo>
                <a:lnTo>
                  <a:pt x="5629275" y="1800223"/>
                </a:lnTo>
                <a:cubicBezTo>
                  <a:pt x="5629275" y="1842308"/>
                  <a:pt x="5595158" y="1876425"/>
                  <a:pt x="5553073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04838" y="4924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59531" y="119063"/>
                </a:moveTo>
                <a:cubicBezTo>
                  <a:pt x="59531" y="125634"/>
                  <a:pt x="54196" y="130969"/>
                  <a:pt x="47625" y="130969"/>
                </a:cubicBezTo>
                <a:cubicBezTo>
                  <a:pt x="41054" y="130969"/>
                  <a:pt x="35719" y="125634"/>
                  <a:pt x="35719" y="119063"/>
                </a:cubicBezTo>
                <a:cubicBezTo>
                  <a:pt x="35719" y="112491"/>
                  <a:pt x="41054" y="107156"/>
                  <a:pt x="47625" y="107156"/>
                </a:cubicBezTo>
                <a:cubicBezTo>
                  <a:pt x="54196" y="107156"/>
                  <a:pt x="59531" y="112491"/>
                  <a:pt x="59531" y="119063"/>
                </a:cubicBezTo>
                <a:close/>
                <a:moveTo>
                  <a:pt x="47625" y="83344"/>
                </a:moveTo>
                <a:cubicBezTo>
                  <a:pt x="41054" y="83344"/>
                  <a:pt x="35719" y="78009"/>
                  <a:pt x="35719" y="71438"/>
                </a:cubicBezTo>
                <a:cubicBezTo>
                  <a:pt x="35719" y="64866"/>
                  <a:pt x="41054" y="59531"/>
                  <a:pt x="47625" y="59531"/>
                </a:cubicBezTo>
                <a:cubicBezTo>
                  <a:pt x="54196" y="59531"/>
                  <a:pt x="59531" y="64866"/>
                  <a:pt x="59531" y="71438"/>
                </a:cubicBezTo>
                <a:cubicBezTo>
                  <a:pt x="59531" y="78009"/>
                  <a:pt x="54196" y="83344"/>
                  <a:pt x="47625" y="83344"/>
                </a:cubicBezTo>
                <a:close/>
                <a:moveTo>
                  <a:pt x="92273" y="62508"/>
                </a:moveTo>
                <a:lnTo>
                  <a:pt x="145852" y="62508"/>
                </a:lnTo>
                <a:cubicBezTo>
                  <a:pt x="150800" y="62508"/>
                  <a:pt x="154781" y="66489"/>
                  <a:pt x="154781" y="71438"/>
                </a:cubicBezTo>
                <a:cubicBezTo>
                  <a:pt x="154781" y="76386"/>
                  <a:pt x="150800" y="80367"/>
                  <a:pt x="145852" y="80367"/>
                </a:cubicBezTo>
                <a:lnTo>
                  <a:pt x="92273" y="80367"/>
                </a:lnTo>
                <a:cubicBezTo>
                  <a:pt x="87325" y="80367"/>
                  <a:pt x="83344" y="76386"/>
                  <a:pt x="83344" y="71438"/>
                </a:cubicBezTo>
                <a:cubicBezTo>
                  <a:pt x="83344" y="66489"/>
                  <a:pt x="87325" y="62508"/>
                  <a:pt x="92273" y="62508"/>
                </a:cubicBezTo>
                <a:close/>
                <a:moveTo>
                  <a:pt x="92273" y="110133"/>
                </a:moveTo>
                <a:lnTo>
                  <a:pt x="145852" y="110133"/>
                </a:lnTo>
                <a:cubicBezTo>
                  <a:pt x="150800" y="110133"/>
                  <a:pt x="154781" y="114114"/>
                  <a:pt x="154781" y="119063"/>
                </a:cubicBezTo>
                <a:cubicBezTo>
                  <a:pt x="154781" y="124011"/>
                  <a:pt x="150800" y="127992"/>
                  <a:pt x="145852" y="127992"/>
                </a:cubicBezTo>
                <a:lnTo>
                  <a:pt x="92273" y="127992"/>
                </a:lnTo>
                <a:cubicBezTo>
                  <a:pt x="87325" y="127992"/>
                  <a:pt x="83344" y="124011"/>
                  <a:pt x="83344" y="119063"/>
                </a:cubicBezTo>
                <a:cubicBezTo>
                  <a:pt x="83344" y="114114"/>
                  <a:pt x="87325" y="110133"/>
                  <a:pt x="92273" y="11013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19150" y="48863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Listas Restritivas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1025" y="5267325"/>
            <a:ext cx="531495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Estabelecimentos de alto risco serão incluídos em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listas restritivas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é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mandatório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o emissor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negue transações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oriundas desses estabelecimentos ou justifique as aprovações.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6963" y="4691063"/>
            <a:ext cx="5629275" cy="1876425"/>
          </a:xfrm>
          <a:custGeom>
            <a:avLst/>
            <a:gdLst/>
            <a:ahLst/>
            <a:cxnLst/>
            <a:rect l="l" t="t" r="r" b="b"/>
            <a:pathLst>
              <a:path w="5629275" h="1876425">
                <a:moveTo>
                  <a:pt x="76202" y="0"/>
                </a:moveTo>
                <a:lnTo>
                  <a:pt x="5553073" y="0"/>
                </a:lnTo>
                <a:cubicBezTo>
                  <a:pt x="5595158" y="0"/>
                  <a:pt x="5629275" y="34117"/>
                  <a:pt x="5629275" y="76202"/>
                </a:cubicBezTo>
                <a:lnTo>
                  <a:pt x="5629275" y="1800223"/>
                </a:lnTo>
                <a:cubicBezTo>
                  <a:pt x="5629275" y="1842308"/>
                  <a:pt x="5595158" y="1876425"/>
                  <a:pt x="5553073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384131" y="49244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610350" y="48863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Prevenção à Fraude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72225" y="5267325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Mitigar fraude e prover segurança seguindo: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0800" y="5648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638925" y="5610225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Prevenir, detectar, analisar e revisar casos de fraude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0" y="5915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638925" y="5876925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Processos de proteção física das instalações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00800" y="6181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638925" y="6143625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Monitorar atividade dos colaboradores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8070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kern="0" spc="53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REGRAS DAS BANDEIRAS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611298"/>
            <a:ext cx="1166560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Regras Mastercard para MCC de Alto Risco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591" y="1086752"/>
            <a:ext cx="11495799" cy="1833894"/>
          </a:xfrm>
          <a:custGeom>
            <a:avLst/>
            <a:gdLst/>
            <a:ahLst/>
            <a:cxnLst/>
            <a:rect l="l" t="t" r="r" b="b"/>
            <a:pathLst>
              <a:path w="11495799" h="1833894">
                <a:moveTo>
                  <a:pt x="33961" y="0"/>
                </a:moveTo>
                <a:lnTo>
                  <a:pt x="11427872" y="0"/>
                </a:lnTo>
                <a:cubicBezTo>
                  <a:pt x="11465387" y="0"/>
                  <a:pt x="11495799" y="30412"/>
                  <a:pt x="11495799" y="67927"/>
                </a:cubicBezTo>
                <a:lnTo>
                  <a:pt x="11495799" y="1765967"/>
                </a:lnTo>
                <a:cubicBezTo>
                  <a:pt x="11495799" y="1803482"/>
                  <a:pt x="11465387" y="1833894"/>
                  <a:pt x="11427872" y="1833894"/>
                </a:cubicBezTo>
                <a:lnTo>
                  <a:pt x="33961" y="1833894"/>
                </a:lnTo>
                <a:cubicBezTo>
                  <a:pt x="15205" y="1833894"/>
                  <a:pt x="0" y="1818689"/>
                  <a:pt x="0" y="1799933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56591" y="1086752"/>
            <a:ext cx="33961" cy="1833894"/>
          </a:xfrm>
          <a:custGeom>
            <a:avLst/>
            <a:gdLst/>
            <a:ahLst/>
            <a:cxnLst/>
            <a:rect l="l" t="t" r="r" b="b"/>
            <a:pathLst>
              <a:path w="33961" h="1833894">
                <a:moveTo>
                  <a:pt x="33961" y="0"/>
                </a:moveTo>
                <a:lnTo>
                  <a:pt x="33961" y="0"/>
                </a:lnTo>
                <a:lnTo>
                  <a:pt x="33961" y="1833894"/>
                </a:lnTo>
                <a:lnTo>
                  <a:pt x="33961" y="1833894"/>
                </a:lnTo>
                <a:cubicBezTo>
                  <a:pt x="15205" y="1833894"/>
                  <a:pt x="0" y="1818689"/>
                  <a:pt x="0" y="1799933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8847" y="1290518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53250" y="14447"/>
                </a:moveTo>
                <a:cubicBezTo>
                  <a:pt x="57588" y="17471"/>
                  <a:pt x="58623" y="23441"/>
                  <a:pt x="55598" y="27739"/>
                </a:cubicBezTo>
                <a:lnTo>
                  <a:pt x="33311" y="59578"/>
                </a:lnTo>
                <a:cubicBezTo>
                  <a:pt x="31679" y="61886"/>
                  <a:pt x="29132" y="63358"/>
                  <a:pt x="26307" y="63597"/>
                </a:cubicBezTo>
                <a:cubicBezTo>
                  <a:pt x="23481" y="63836"/>
                  <a:pt x="20695" y="62881"/>
                  <a:pt x="18705" y="60891"/>
                </a:cubicBezTo>
                <a:lnTo>
                  <a:pt x="2786" y="44972"/>
                </a:lnTo>
                <a:cubicBezTo>
                  <a:pt x="-915" y="41231"/>
                  <a:pt x="-915" y="35181"/>
                  <a:pt x="2786" y="31440"/>
                </a:cubicBezTo>
                <a:cubicBezTo>
                  <a:pt x="6487" y="27699"/>
                  <a:pt x="12576" y="27739"/>
                  <a:pt x="16317" y="31440"/>
                </a:cubicBezTo>
                <a:lnTo>
                  <a:pt x="24197" y="39320"/>
                </a:lnTo>
                <a:lnTo>
                  <a:pt x="39957" y="16795"/>
                </a:lnTo>
                <a:cubicBezTo>
                  <a:pt x="42982" y="12457"/>
                  <a:pt x="48952" y="11422"/>
                  <a:pt x="53250" y="14447"/>
                </a:cubicBezTo>
                <a:close/>
                <a:moveTo>
                  <a:pt x="53250" y="78124"/>
                </a:moveTo>
                <a:cubicBezTo>
                  <a:pt x="57588" y="81148"/>
                  <a:pt x="58623" y="87118"/>
                  <a:pt x="55598" y="91416"/>
                </a:cubicBezTo>
                <a:lnTo>
                  <a:pt x="33311" y="123255"/>
                </a:lnTo>
                <a:cubicBezTo>
                  <a:pt x="31679" y="125563"/>
                  <a:pt x="29132" y="127035"/>
                  <a:pt x="26307" y="127274"/>
                </a:cubicBezTo>
                <a:cubicBezTo>
                  <a:pt x="23481" y="127513"/>
                  <a:pt x="20695" y="126558"/>
                  <a:pt x="18705" y="124568"/>
                </a:cubicBezTo>
                <a:lnTo>
                  <a:pt x="2786" y="108649"/>
                </a:lnTo>
                <a:cubicBezTo>
                  <a:pt x="-955" y="104908"/>
                  <a:pt x="-955" y="98858"/>
                  <a:pt x="2786" y="95157"/>
                </a:cubicBezTo>
                <a:cubicBezTo>
                  <a:pt x="6527" y="91456"/>
                  <a:pt x="12576" y="91416"/>
                  <a:pt x="16277" y="95157"/>
                </a:cubicBezTo>
                <a:lnTo>
                  <a:pt x="24157" y="103037"/>
                </a:lnTo>
                <a:lnTo>
                  <a:pt x="39917" y="80511"/>
                </a:lnTo>
                <a:cubicBezTo>
                  <a:pt x="42942" y="76173"/>
                  <a:pt x="48912" y="75139"/>
                  <a:pt x="53210" y="78163"/>
                </a:cubicBezTo>
                <a:close/>
                <a:moveTo>
                  <a:pt x="89148" y="38206"/>
                </a:moveTo>
                <a:cubicBezTo>
                  <a:pt x="89148" y="31162"/>
                  <a:pt x="94839" y="25471"/>
                  <a:pt x="101883" y="25471"/>
                </a:cubicBezTo>
                <a:lnTo>
                  <a:pt x="191031" y="25471"/>
                </a:lnTo>
                <a:cubicBezTo>
                  <a:pt x="198075" y="25471"/>
                  <a:pt x="203766" y="31162"/>
                  <a:pt x="203766" y="38206"/>
                </a:cubicBezTo>
                <a:cubicBezTo>
                  <a:pt x="203766" y="45250"/>
                  <a:pt x="198075" y="50942"/>
                  <a:pt x="191031" y="50942"/>
                </a:cubicBezTo>
                <a:lnTo>
                  <a:pt x="101883" y="50942"/>
                </a:lnTo>
                <a:cubicBezTo>
                  <a:pt x="94839" y="50942"/>
                  <a:pt x="89148" y="45250"/>
                  <a:pt x="89148" y="38206"/>
                </a:cubicBezTo>
                <a:close/>
                <a:moveTo>
                  <a:pt x="89148" y="101883"/>
                </a:moveTo>
                <a:cubicBezTo>
                  <a:pt x="89148" y="94839"/>
                  <a:pt x="94839" y="89148"/>
                  <a:pt x="101883" y="89148"/>
                </a:cubicBezTo>
                <a:lnTo>
                  <a:pt x="191031" y="89148"/>
                </a:lnTo>
                <a:cubicBezTo>
                  <a:pt x="198075" y="89148"/>
                  <a:pt x="203766" y="94839"/>
                  <a:pt x="203766" y="101883"/>
                </a:cubicBezTo>
                <a:cubicBezTo>
                  <a:pt x="203766" y="108927"/>
                  <a:pt x="198075" y="114618"/>
                  <a:pt x="191031" y="114618"/>
                </a:cubicBezTo>
                <a:lnTo>
                  <a:pt x="101883" y="114618"/>
                </a:lnTo>
                <a:cubicBezTo>
                  <a:pt x="94839" y="114618"/>
                  <a:pt x="89148" y="108927"/>
                  <a:pt x="89148" y="101883"/>
                </a:cubicBezTo>
                <a:close/>
                <a:moveTo>
                  <a:pt x="63677" y="165560"/>
                </a:moveTo>
                <a:cubicBezTo>
                  <a:pt x="63677" y="158516"/>
                  <a:pt x="69368" y="152825"/>
                  <a:pt x="76412" y="152825"/>
                </a:cubicBezTo>
                <a:lnTo>
                  <a:pt x="191031" y="152825"/>
                </a:lnTo>
                <a:cubicBezTo>
                  <a:pt x="198075" y="152825"/>
                  <a:pt x="203766" y="158516"/>
                  <a:pt x="203766" y="165560"/>
                </a:cubicBezTo>
                <a:cubicBezTo>
                  <a:pt x="203766" y="172604"/>
                  <a:pt x="198075" y="178295"/>
                  <a:pt x="191031" y="178295"/>
                </a:cubicBezTo>
                <a:lnTo>
                  <a:pt x="76412" y="178295"/>
                </a:lnTo>
                <a:cubicBezTo>
                  <a:pt x="69368" y="178295"/>
                  <a:pt x="63677" y="172604"/>
                  <a:pt x="63677" y="165560"/>
                </a:cubicBezTo>
                <a:close/>
                <a:moveTo>
                  <a:pt x="25471" y="149641"/>
                </a:moveTo>
                <a:cubicBezTo>
                  <a:pt x="34257" y="149641"/>
                  <a:pt x="41390" y="156774"/>
                  <a:pt x="41390" y="165560"/>
                </a:cubicBezTo>
                <a:cubicBezTo>
                  <a:pt x="41390" y="174346"/>
                  <a:pt x="34257" y="181479"/>
                  <a:pt x="25471" y="181479"/>
                </a:cubicBezTo>
                <a:cubicBezTo>
                  <a:pt x="16685" y="181479"/>
                  <a:pt x="9552" y="174346"/>
                  <a:pt x="9552" y="165560"/>
                </a:cubicBezTo>
                <a:cubicBezTo>
                  <a:pt x="9552" y="156774"/>
                  <a:pt x="16685" y="149641"/>
                  <a:pt x="25471" y="14964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98084" y="1256557"/>
            <a:ext cx="1098638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Obrigações do Adquirente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3376" y="1664089"/>
            <a:ext cx="11215621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Adquirente deve garantir que cada Comerciante implemente, em </a:t>
            </a:r>
            <a:r>
              <a:rPr lang="en-US" sz="120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 real e em lote</a:t>
            </a:r>
            <a:r>
              <a:rPr lang="en-US" sz="120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procedimentos para monitorar continuamente: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3376" y="2037660"/>
            <a:ext cx="5501682" cy="713181"/>
          </a:xfrm>
          <a:custGeom>
            <a:avLst/>
            <a:gdLst/>
            <a:ahLst/>
            <a:cxnLst/>
            <a:rect l="l" t="t" r="r" b="b"/>
            <a:pathLst>
              <a:path w="5501682" h="713181">
                <a:moveTo>
                  <a:pt x="67923" y="0"/>
                </a:moveTo>
                <a:lnTo>
                  <a:pt x="5433759" y="0"/>
                </a:lnTo>
                <a:cubicBezTo>
                  <a:pt x="5471272" y="0"/>
                  <a:pt x="5501682" y="30410"/>
                  <a:pt x="5501682" y="67923"/>
                </a:cubicBezTo>
                <a:lnTo>
                  <a:pt x="5501682" y="645258"/>
                </a:lnTo>
                <a:cubicBezTo>
                  <a:pt x="5501682" y="682771"/>
                  <a:pt x="5471272" y="713181"/>
                  <a:pt x="5433759" y="713181"/>
                </a:cubicBezTo>
                <a:lnTo>
                  <a:pt x="67923" y="713181"/>
                </a:lnTo>
                <a:cubicBezTo>
                  <a:pt x="30410" y="713181"/>
                  <a:pt x="0" y="682771"/>
                  <a:pt x="0" y="645258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79220" y="2190485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98084" y="2309348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95515" y="148579"/>
                </a:moveTo>
                <a:lnTo>
                  <a:pt x="21226" y="148579"/>
                </a:lnTo>
                <a:lnTo>
                  <a:pt x="21226" y="74290"/>
                </a:lnTo>
                <a:lnTo>
                  <a:pt x="37145" y="74290"/>
                </a:lnTo>
                <a:lnTo>
                  <a:pt x="37145" y="53064"/>
                </a:lnTo>
                <a:lnTo>
                  <a:pt x="21226" y="53064"/>
                </a:lnTo>
                <a:cubicBezTo>
                  <a:pt x="9518" y="53064"/>
                  <a:pt x="0" y="62582"/>
                  <a:pt x="0" y="74290"/>
                </a:cubicBezTo>
                <a:lnTo>
                  <a:pt x="0" y="148579"/>
                </a:lnTo>
                <a:cubicBezTo>
                  <a:pt x="0" y="160287"/>
                  <a:pt x="9518" y="169805"/>
                  <a:pt x="21226" y="169805"/>
                </a:cubicBezTo>
                <a:lnTo>
                  <a:pt x="95515" y="169805"/>
                </a:lnTo>
                <a:cubicBezTo>
                  <a:pt x="107223" y="169805"/>
                  <a:pt x="116741" y="160287"/>
                  <a:pt x="116741" y="148579"/>
                </a:cubicBezTo>
                <a:lnTo>
                  <a:pt x="116741" y="132660"/>
                </a:lnTo>
                <a:lnTo>
                  <a:pt x="95515" y="132660"/>
                </a:lnTo>
                <a:lnTo>
                  <a:pt x="95515" y="148579"/>
                </a:lnTo>
                <a:close/>
                <a:moveTo>
                  <a:pt x="74290" y="116741"/>
                </a:moveTo>
                <a:lnTo>
                  <a:pt x="148579" y="116741"/>
                </a:lnTo>
                <a:cubicBezTo>
                  <a:pt x="160287" y="116741"/>
                  <a:pt x="169805" y="107223"/>
                  <a:pt x="169805" y="95515"/>
                </a:cubicBezTo>
                <a:lnTo>
                  <a:pt x="169805" y="21226"/>
                </a:lnTo>
                <a:cubicBezTo>
                  <a:pt x="169805" y="9518"/>
                  <a:pt x="160287" y="0"/>
                  <a:pt x="148579" y="0"/>
                </a:cubicBezTo>
                <a:lnTo>
                  <a:pt x="74290" y="0"/>
                </a:lnTo>
                <a:cubicBezTo>
                  <a:pt x="62582" y="0"/>
                  <a:pt x="53064" y="9518"/>
                  <a:pt x="53064" y="21226"/>
                </a:cubicBezTo>
                <a:lnTo>
                  <a:pt x="53064" y="95515"/>
                </a:lnTo>
                <a:cubicBezTo>
                  <a:pt x="53064" y="107223"/>
                  <a:pt x="62582" y="116741"/>
                  <a:pt x="74290" y="11674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88635" y="2173504"/>
            <a:ext cx="286970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Múltiplas Transações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635" y="2411231"/>
            <a:ext cx="28612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Simultâneas usando o mesmo número de conta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2760" y="2037660"/>
            <a:ext cx="5501682" cy="713181"/>
          </a:xfrm>
          <a:custGeom>
            <a:avLst/>
            <a:gdLst/>
            <a:ahLst/>
            <a:cxnLst/>
            <a:rect l="l" t="t" r="r" b="b"/>
            <a:pathLst>
              <a:path w="5501682" h="713181">
                <a:moveTo>
                  <a:pt x="67923" y="0"/>
                </a:moveTo>
                <a:lnTo>
                  <a:pt x="5433759" y="0"/>
                </a:lnTo>
                <a:cubicBezTo>
                  <a:pt x="5471272" y="0"/>
                  <a:pt x="5501682" y="30410"/>
                  <a:pt x="5501682" y="67923"/>
                </a:cubicBezTo>
                <a:lnTo>
                  <a:pt x="5501682" y="645258"/>
                </a:lnTo>
                <a:cubicBezTo>
                  <a:pt x="5501682" y="682771"/>
                  <a:pt x="5471272" y="713181"/>
                  <a:pt x="5433759" y="713181"/>
                </a:cubicBezTo>
                <a:lnTo>
                  <a:pt x="67923" y="713181"/>
                </a:lnTo>
                <a:cubicBezTo>
                  <a:pt x="30410" y="713181"/>
                  <a:pt x="0" y="682771"/>
                  <a:pt x="0" y="645258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318604" y="2190485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437467" y="2309348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144832" y="24774"/>
                </a:moveTo>
                <a:lnTo>
                  <a:pt x="148579" y="28323"/>
                </a:lnTo>
                <a:lnTo>
                  <a:pt x="148579" y="10613"/>
                </a:lnTo>
                <a:cubicBezTo>
                  <a:pt x="148579" y="4743"/>
                  <a:pt x="153322" y="0"/>
                  <a:pt x="159192" y="0"/>
                </a:cubicBezTo>
                <a:cubicBezTo>
                  <a:pt x="165062" y="0"/>
                  <a:pt x="169805" y="4743"/>
                  <a:pt x="169805" y="10613"/>
                </a:cubicBezTo>
                <a:lnTo>
                  <a:pt x="169805" y="53064"/>
                </a:lnTo>
                <a:cubicBezTo>
                  <a:pt x="169805" y="58934"/>
                  <a:pt x="165062" y="63677"/>
                  <a:pt x="159192" y="63677"/>
                </a:cubicBezTo>
                <a:lnTo>
                  <a:pt x="116741" y="63677"/>
                </a:lnTo>
                <a:cubicBezTo>
                  <a:pt x="110871" y="63677"/>
                  <a:pt x="106128" y="58934"/>
                  <a:pt x="106128" y="53064"/>
                </a:cubicBezTo>
                <a:cubicBezTo>
                  <a:pt x="106128" y="47194"/>
                  <a:pt x="110871" y="42451"/>
                  <a:pt x="116741" y="42451"/>
                </a:cubicBezTo>
                <a:lnTo>
                  <a:pt x="132627" y="42451"/>
                </a:lnTo>
                <a:lnTo>
                  <a:pt x="130106" y="40063"/>
                </a:lnTo>
                <a:cubicBezTo>
                  <a:pt x="130040" y="39997"/>
                  <a:pt x="129974" y="39931"/>
                  <a:pt x="129907" y="39864"/>
                </a:cubicBezTo>
                <a:cubicBezTo>
                  <a:pt x="105034" y="14991"/>
                  <a:pt x="64738" y="14991"/>
                  <a:pt x="39864" y="39864"/>
                </a:cubicBezTo>
                <a:cubicBezTo>
                  <a:pt x="14991" y="64738"/>
                  <a:pt x="14991" y="105034"/>
                  <a:pt x="39864" y="129907"/>
                </a:cubicBezTo>
                <a:cubicBezTo>
                  <a:pt x="64738" y="154781"/>
                  <a:pt x="105034" y="154781"/>
                  <a:pt x="129907" y="129907"/>
                </a:cubicBezTo>
                <a:cubicBezTo>
                  <a:pt x="132627" y="127188"/>
                  <a:pt x="135048" y="124303"/>
                  <a:pt x="137171" y="121251"/>
                </a:cubicBezTo>
                <a:cubicBezTo>
                  <a:pt x="140520" y="116442"/>
                  <a:pt x="147153" y="115282"/>
                  <a:pt x="151962" y="118631"/>
                </a:cubicBezTo>
                <a:cubicBezTo>
                  <a:pt x="156771" y="121981"/>
                  <a:pt x="157932" y="128614"/>
                  <a:pt x="154582" y="133423"/>
                </a:cubicBezTo>
                <a:cubicBezTo>
                  <a:pt x="151763" y="137469"/>
                  <a:pt x="148546" y="141316"/>
                  <a:pt x="144931" y="144931"/>
                </a:cubicBezTo>
                <a:cubicBezTo>
                  <a:pt x="111766" y="178096"/>
                  <a:pt x="58006" y="178096"/>
                  <a:pt x="24874" y="144931"/>
                </a:cubicBezTo>
                <a:cubicBezTo>
                  <a:pt x="-8258" y="111766"/>
                  <a:pt x="-8291" y="58039"/>
                  <a:pt x="24874" y="24874"/>
                </a:cubicBezTo>
                <a:cubicBezTo>
                  <a:pt x="58006" y="-8258"/>
                  <a:pt x="111667" y="-8291"/>
                  <a:pt x="144832" y="2477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28019" y="2173504"/>
            <a:ext cx="278480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Tentativas Consecutivas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8019" y="2411231"/>
            <a:ext cx="277631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Excessivas usando o mesmo número de conta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3855" y="3060735"/>
            <a:ext cx="11504290" cy="3591376"/>
          </a:xfrm>
          <a:custGeom>
            <a:avLst/>
            <a:gdLst/>
            <a:ahLst/>
            <a:cxnLst/>
            <a:rect l="l" t="t" r="r" b="b"/>
            <a:pathLst>
              <a:path w="11504290" h="3591376">
                <a:moveTo>
                  <a:pt x="67913" y="0"/>
                </a:moveTo>
                <a:lnTo>
                  <a:pt x="11436377" y="0"/>
                </a:lnTo>
                <a:cubicBezTo>
                  <a:pt x="11473884" y="0"/>
                  <a:pt x="11504290" y="30406"/>
                  <a:pt x="11504290" y="67913"/>
                </a:cubicBezTo>
                <a:lnTo>
                  <a:pt x="11504290" y="3523463"/>
                </a:lnTo>
                <a:cubicBezTo>
                  <a:pt x="11504290" y="3560970"/>
                  <a:pt x="11473884" y="3591376"/>
                  <a:pt x="11436377" y="3591376"/>
                </a:cubicBezTo>
                <a:lnTo>
                  <a:pt x="67913" y="3591376"/>
                </a:lnTo>
                <a:cubicBezTo>
                  <a:pt x="30406" y="3591376"/>
                  <a:pt x="0" y="3560970"/>
                  <a:pt x="0" y="3523463"/>
                </a:cubicBezTo>
                <a:lnTo>
                  <a:pt x="0" y="67913"/>
                </a:lnTo>
                <a:cubicBezTo>
                  <a:pt x="0" y="30406"/>
                  <a:pt x="30406" y="0"/>
                  <a:pt x="6791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30641" y="3268747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159670" y="15561"/>
                </a:moveTo>
                <a:lnTo>
                  <a:pt x="218650" y="75378"/>
                </a:lnTo>
                <a:cubicBezTo>
                  <a:pt x="229675" y="86561"/>
                  <a:pt x="229675" y="104470"/>
                  <a:pt x="218650" y="115653"/>
                </a:cubicBezTo>
                <a:lnTo>
                  <a:pt x="156406" y="178653"/>
                </a:lnTo>
                <a:cubicBezTo>
                  <a:pt x="152705" y="182394"/>
                  <a:pt x="146656" y="182434"/>
                  <a:pt x="142915" y="178733"/>
                </a:cubicBezTo>
                <a:cubicBezTo>
                  <a:pt x="139174" y="175032"/>
                  <a:pt x="139134" y="168983"/>
                  <a:pt x="142835" y="165242"/>
                </a:cubicBezTo>
                <a:lnTo>
                  <a:pt x="205079" y="102201"/>
                </a:lnTo>
                <a:cubicBezTo>
                  <a:pt x="208741" y="98500"/>
                  <a:pt x="208741" y="92491"/>
                  <a:pt x="205079" y="88789"/>
                </a:cubicBezTo>
                <a:lnTo>
                  <a:pt x="146059" y="29013"/>
                </a:lnTo>
                <a:cubicBezTo>
                  <a:pt x="142358" y="25272"/>
                  <a:pt x="142397" y="19222"/>
                  <a:pt x="146138" y="15521"/>
                </a:cubicBezTo>
                <a:cubicBezTo>
                  <a:pt x="149879" y="11820"/>
                  <a:pt x="155929" y="11860"/>
                  <a:pt x="159630" y="15601"/>
                </a:cubicBezTo>
                <a:close/>
                <a:moveTo>
                  <a:pt x="12775" y="91337"/>
                </a:moveTo>
                <a:lnTo>
                  <a:pt x="12775" y="38206"/>
                </a:lnTo>
                <a:cubicBezTo>
                  <a:pt x="12775" y="24157"/>
                  <a:pt x="24197" y="12735"/>
                  <a:pt x="38246" y="12735"/>
                </a:cubicBezTo>
                <a:lnTo>
                  <a:pt x="91376" y="12735"/>
                </a:lnTo>
                <a:cubicBezTo>
                  <a:pt x="98142" y="12735"/>
                  <a:pt x="104629" y="15402"/>
                  <a:pt x="109405" y="20178"/>
                </a:cubicBezTo>
                <a:lnTo>
                  <a:pt x="166714" y="77487"/>
                </a:lnTo>
                <a:cubicBezTo>
                  <a:pt x="176664" y="87436"/>
                  <a:pt x="176664" y="103555"/>
                  <a:pt x="166714" y="113504"/>
                </a:cubicBezTo>
                <a:lnTo>
                  <a:pt x="113584" y="166634"/>
                </a:lnTo>
                <a:cubicBezTo>
                  <a:pt x="103634" y="176584"/>
                  <a:pt x="87516" y="176584"/>
                  <a:pt x="77566" y="166634"/>
                </a:cubicBezTo>
                <a:lnTo>
                  <a:pt x="20257" y="109325"/>
                </a:lnTo>
                <a:cubicBezTo>
                  <a:pt x="15481" y="104549"/>
                  <a:pt x="12815" y="98062"/>
                  <a:pt x="12815" y="91297"/>
                </a:cubicBezTo>
                <a:close/>
                <a:moveTo>
                  <a:pt x="70084" y="57309"/>
                </a:moveTo>
                <a:cubicBezTo>
                  <a:pt x="70084" y="50280"/>
                  <a:pt x="64378" y="44574"/>
                  <a:pt x="57349" y="44574"/>
                </a:cubicBezTo>
                <a:cubicBezTo>
                  <a:pt x="50320" y="44574"/>
                  <a:pt x="44614" y="50280"/>
                  <a:pt x="44614" y="57309"/>
                </a:cubicBezTo>
                <a:cubicBezTo>
                  <a:pt x="44614" y="64338"/>
                  <a:pt x="50320" y="70045"/>
                  <a:pt x="57349" y="70045"/>
                </a:cubicBezTo>
                <a:cubicBezTo>
                  <a:pt x="64378" y="70045"/>
                  <a:pt x="70084" y="64338"/>
                  <a:pt x="70084" y="5730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2613" y="3234786"/>
            <a:ext cx="11003365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Segmentos Específicos que Precisam de Monitoramento Especial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7905" y="3642318"/>
            <a:ext cx="2716880" cy="1086752"/>
          </a:xfrm>
          <a:custGeom>
            <a:avLst/>
            <a:gdLst/>
            <a:ahLst/>
            <a:cxnLst/>
            <a:rect l="l" t="t" r="r" b="b"/>
            <a:pathLst>
              <a:path w="2716880" h="1086752">
                <a:moveTo>
                  <a:pt x="67922" y="0"/>
                </a:moveTo>
                <a:lnTo>
                  <a:pt x="2648958" y="0"/>
                </a:lnTo>
                <a:cubicBezTo>
                  <a:pt x="2686471" y="0"/>
                  <a:pt x="2716880" y="30410"/>
                  <a:pt x="2716880" y="67922"/>
                </a:cubicBezTo>
                <a:lnTo>
                  <a:pt x="2716880" y="1018830"/>
                </a:lnTo>
                <a:cubicBezTo>
                  <a:pt x="2716880" y="1056342"/>
                  <a:pt x="2686471" y="1086752"/>
                  <a:pt x="2648958" y="1086752"/>
                </a:cubicBezTo>
                <a:lnTo>
                  <a:pt x="67922" y="1086752"/>
                </a:lnTo>
                <a:cubicBezTo>
                  <a:pt x="30410" y="1086752"/>
                  <a:pt x="0" y="1056342"/>
                  <a:pt x="0" y="1018830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670855" y="374420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779106" y="3863064"/>
            <a:ext cx="191031" cy="169805"/>
          </a:xfrm>
          <a:custGeom>
            <a:avLst/>
            <a:gdLst/>
            <a:ahLst/>
            <a:cxnLst/>
            <a:rect l="l" t="t" r="r" b="b"/>
            <a:pathLst>
              <a:path w="191031" h="169805">
                <a:moveTo>
                  <a:pt x="13598" y="-8258"/>
                </a:moveTo>
                <a:cubicBezTo>
                  <a:pt x="10480" y="-11376"/>
                  <a:pt x="5439" y="-11376"/>
                  <a:pt x="2355" y="-8258"/>
                </a:cubicBezTo>
                <a:cubicBezTo>
                  <a:pt x="-730" y="-5141"/>
                  <a:pt x="-763" y="-99"/>
                  <a:pt x="2322" y="3018"/>
                </a:cubicBezTo>
                <a:lnTo>
                  <a:pt x="177433" y="178129"/>
                </a:lnTo>
                <a:cubicBezTo>
                  <a:pt x="180550" y="181247"/>
                  <a:pt x="185592" y="181247"/>
                  <a:pt x="188676" y="178129"/>
                </a:cubicBezTo>
                <a:cubicBezTo>
                  <a:pt x="191760" y="175012"/>
                  <a:pt x="191793" y="169971"/>
                  <a:pt x="188676" y="166886"/>
                </a:cubicBezTo>
                <a:lnTo>
                  <a:pt x="103309" y="81487"/>
                </a:lnTo>
                <a:cubicBezTo>
                  <a:pt x="121550" y="77872"/>
                  <a:pt x="135313" y="61753"/>
                  <a:pt x="135313" y="42451"/>
                </a:cubicBezTo>
                <a:cubicBezTo>
                  <a:pt x="135313" y="20463"/>
                  <a:pt x="117504" y="2653"/>
                  <a:pt x="95515" y="2653"/>
                </a:cubicBezTo>
                <a:cubicBezTo>
                  <a:pt x="76213" y="2653"/>
                  <a:pt x="60095" y="16417"/>
                  <a:pt x="56480" y="34657"/>
                </a:cubicBezTo>
                <a:lnTo>
                  <a:pt x="13598" y="-8258"/>
                </a:lnTo>
                <a:close/>
                <a:moveTo>
                  <a:pt x="78137" y="101286"/>
                </a:moveTo>
                <a:cubicBezTo>
                  <a:pt x="49051" y="105001"/>
                  <a:pt x="26532" y="129841"/>
                  <a:pt x="26532" y="159955"/>
                </a:cubicBezTo>
                <a:cubicBezTo>
                  <a:pt x="26532" y="165394"/>
                  <a:pt x="30943" y="169805"/>
                  <a:pt x="36382" y="169805"/>
                </a:cubicBezTo>
                <a:lnTo>
                  <a:pt x="146656" y="169805"/>
                </a:lnTo>
                <a:lnTo>
                  <a:pt x="78137" y="10128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85827" y="4219655"/>
            <a:ext cx="25810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Conteúdo Adulto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0072" y="4457382"/>
            <a:ext cx="257254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5967, 7841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33352" y="3642318"/>
            <a:ext cx="2716880" cy="1086752"/>
          </a:xfrm>
          <a:custGeom>
            <a:avLst/>
            <a:gdLst/>
            <a:ahLst/>
            <a:cxnLst/>
            <a:rect l="l" t="t" r="r" b="b"/>
            <a:pathLst>
              <a:path w="2716880" h="1086752">
                <a:moveTo>
                  <a:pt x="67922" y="0"/>
                </a:moveTo>
                <a:lnTo>
                  <a:pt x="2648958" y="0"/>
                </a:lnTo>
                <a:cubicBezTo>
                  <a:pt x="2686471" y="0"/>
                  <a:pt x="2716880" y="30410"/>
                  <a:pt x="2716880" y="67922"/>
                </a:cubicBezTo>
                <a:lnTo>
                  <a:pt x="2716880" y="1018830"/>
                </a:lnTo>
                <a:cubicBezTo>
                  <a:pt x="2716880" y="1056342"/>
                  <a:pt x="2686471" y="1086752"/>
                  <a:pt x="2648958" y="1086752"/>
                </a:cubicBezTo>
                <a:lnTo>
                  <a:pt x="67922" y="1086752"/>
                </a:lnTo>
                <a:cubicBezTo>
                  <a:pt x="30410" y="1086752"/>
                  <a:pt x="0" y="1056342"/>
                  <a:pt x="0" y="1018830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486302" y="374420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605165" y="3863064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46895" y="763"/>
                </a:moveTo>
                <a:cubicBezTo>
                  <a:pt x="34160" y="-2653"/>
                  <a:pt x="21060" y="4908"/>
                  <a:pt x="17677" y="17644"/>
                </a:cubicBezTo>
                <a:lnTo>
                  <a:pt x="829" y="80492"/>
                </a:lnTo>
                <a:cubicBezTo>
                  <a:pt x="-2587" y="93227"/>
                  <a:pt x="4975" y="106327"/>
                  <a:pt x="17710" y="109743"/>
                </a:cubicBezTo>
                <a:lnTo>
                  <a:pt x="80558" y="126591"/>
                </a:lnTo>
                <a:cubicBezTo>
                  <a:pt x="93293" y="130007"/>
                  <a:pt x="106393" y="122445"/>
                  <a:pt x="109809" y="109710"/>
                </a:cubicBezTo>
                <a:lnTo>
                  <a:pt x="126657" y="46862"/>
                </a:lnTo>
                <a:cubicBezTo>
                  <a:pt x="130073" y="34127"/>
                  <a:pt x="122512" y="21027"/>
                  <a:pt x="109776" y="17611"/>
                </a:cubicBezTo>
                <a:lnTo>
                  <a:pt x="46895" y="763"/>
                </a:lnTo>
                <a:close/>
                <a:moveTo>
                  <a:pt x="54523" y="68983"/>
                </a:moveTo>
                <a:cubicBezTo>
                  <a:pt x="52506" y="65694"/>
                  <a:pt x="52433" y="61570"/>
                  <a:pt x="54332" y="58211"/>
                </a:cubicBezTo>
                <a:cubicBezTo>
                  <a:pt x="56231" y="54853"/>
                  <a:pt x="59803" y="52789"/>
                  <a:pt x="63661" y="52822"/>
                </a:cubicBezTo>
                <a:cubicBezTo>
                  <a:pt x="67519" y="52856"/>
                  <a:pt x="71056" y="54980"/>
                  <a:pt x="72897" y="58370"/>
                </a:cubicBezTo>
                <a:cubicBezTo>
                  <a:pt x="74914" y="61659"/>
                  <a:pt x="74987" y="65784"/>
                  <a:pt x="73088" y="69143"/>
                </a:cubicBezTo>
                <a:cubicBezTo>
                  <a:pt x="71189" y="72501"/>
                  <a:pt x="67617" y="74564"/>
                  <a:pt x="63759" y="74531"/>
                </a:cubicBezTo>
                <a:cubicBezTo>
                  <a:pt x="59901" y="74498"/>
                  <a:pt x="56364" y="72374"/>
                  <a:pt x="54523" y="68983"/>
                </a:cubicBezTo>
                <a:close/>
                <a:moveTo>
                  <a:pt x="26267" y="73063"/>
                </a:moveTo>
                <a:cubicBezTo>
                  <a:pt x="29556" y="71045"/>
                  <a:pt x="33680" y="70972"/>
                  <a:pt x="37039" y="72871"/>
                </a:cubicBezTo>
                <a:cubicBezTo>
                  <a:pt x="40397" y="74770"/>
                  <a:pt x="42461" y="78342"/>
                  <a:pt x="42428" y="82201"/>
                </a:cubicBezTo>
                <a:cubicBezTo>
                  <a:pt x="42394" y="86059"/>
                  <a:pt x="40270" y="89595"/>
                  <a:pt x="36880" y="91436"/>
                </a:cubicBezTo>
                <a:cubicBezTo>
                  <a:pt x="33591" y="93453"/>
                  <a:pt x="29466" y="93526"/>
                  <a:pt x="26107" y="91627"/>
                </a:cubicBezTo>
                <a:cubicBezTo>
                  <a:pt x="22749" y="89728"/>
                  <a:pt x="20686" y="86156"/>
                  <a:pt x="20719" y="82298"/>
                </a:cubicBezTo>
                <a:cubicBezTo>
                  <a:pt x="20752" y="78440"/>
                  <a:pt x="22876" y="74904"/>
                  <a:pt x="26267" y="73063"/>
                </a:cubicBezTo>
                <a:close/>
                <a:moveTo>
                  <a:pt x="87622" y="105034"/>
                </a:moveTo>
                <a:cubicBezTo>
                  <a:pt x="84333" y="107051"/>
                  <a:pt x="80208" y="107124"/>
                  <a:pt x="76850" y="105225"/>
                </a:cubicBezTo>
                <a:cubicBezTo>
                  <a:pt x="73491" y="103326"/>
                  <a:pt x="71428" y="99754"/>
                  <a:pt x="71461" y="95896"/>
                </a:cubicBezTo>
                <a:cubicBezTo>
                  <a:pt x="71494" y="92038"/>
                  <a:pt x="73619" y="88501"/>
                  <a:pt x="77009" y="86660"/>
                </a:cubicBezTo>
                <a:cubicBezTo>
                  <a:pt x="80298" y="84643"/>
                  <a:pt x="84423" y="84570"/>
                  <a:pt x="87781" y="86469"/>
                </a:cubicBezTo>
                <a:cubicBezTo>
                  <a:pt x="91140" y="88368"/>
                  <a:pt x="93203" y="91940"/>
                  <a:pt x="93170" y="95798"/>
                </a:cubicBezTo>
                <a:cubicBezTo>
                  <a:pt x="93137" y="99656"/>
                  <a:pt x="91013" y="103193"/>
                  <a:pt x="87622" y="105034"/>
                </a:cubicBezTo>
                <a:close/>
                <a:moveTo>
                  <a:pt x="90607" y="35918"/>
                </a:moveTo>
                <a:cubicBezTo>
                  <a:pt x="93896" y="33901"/>
                  <a:pt x="98020" y="33827"/>
                  <a:pt x="101379" y="35726"/>
                </a:cubicBezTo>
                <a:cubicBezTo>
                  <a:pt x="104737" y="37625"/>
                  <a:pt x="106801" y="41198"/>
                  <a:pt x="106768" y="45056"/>
                </a:cubicBezTo>
                <a:cubicBezTo>
                  <a:pt x="106735" y="48914"/>
                  <a:pt x="104610" y="52450"/>
                  <a:pt x="101220" y="54291"/>
                </a:cubicBezTo>
                <a:cubicBezTo>
                  <a:pt x="97931" y="56308"/>
                  <a:pt x="93806" y="56382"/>
                  <a:pt x="90448" y="54482"/>
                </a:cubicBezTo>
                <a:cubicBezTo>
                  <a:pt x="87089" y="52583"/>
                  <a:pt x="85026" y="49011"/>
                  <a:pt x="85059" y="45153"/>
                </a:cubicBezTo>
                <a:cubicBezTo>
                  <a:pt x="85092" y="41295"/>
                  <a:pt x="87216" y="37759"/>
                  <a:pt x="90607" y="35918"/>
                </a:cubicBezTo>
                <a:close/>
                <a:moveTo>
                  <a:pt x="50477" y="40694"/>
                </a:moveTo>
                <a:cubicBezTo>
                  <a:pt x="47188" y="42711"/>
                  <a:pt x="43064" y="42784"/>
                  <a:pt x="39705" y="40885"/>
                </a:cubicBezTo>
                <a:cubicBezTo>
                  <a:pt x="36347" y="38986"/>
                  <a:pt x="34283" y="35414"/>
                  <a:pt x="34316" y="31556"/>
                </a:cubicBezTo>
                <a:cubicBezTo>
                  <a:pt x="34349" y="27697"/>
                  <a:pt x="36474" y="24161"/>
                  <a:pt x="39864" y="22320"/>
                </a:cubicBezTo>
                <a:cubicBezTo>
                  <a:pt x="43153" y="20303"/>
                  <a:pt x="47278" y="20230"/>
                  <a:pt x="50636" y="22129"/>
                </a:cubicBezTo>
                <a:cubicBezTo>
                  <a:pt x="53995" y="24028"/>
                  <a:pt x="56058" y="27600"/>
                  <a:pt x="56025" y="31458"/>
                </a:cubicBezTo>
                <a:cubicBezTo>
                  <a:pt x="55992" y="35316"/>
                  <a:pt x="53868" y="38852"/>
                  <a:pt x="50477" y="40694"/>
                </a:cubicBezTo>
                <a:close/>
                <a:moveTo>
                  <a:pt x="138630" y="63677"/>
                </a:moveTo>
                <a:lnTo>
                  <a:pt x="125165" y="113822"/>
                </a:lnTo>
                <a:cubicBezTo>
                  <a:pt x="119460" y="135048"/>
                  <a:pt x="97638" y="147651"/>
                  <a:pt x="76412" y="141980"/>
                </a:cubicBezTo>
                <a:lnTo>
                  <a:pt x="63710" y="138564"/>
                </a:lnTo>
                <a:lnTo>
                  <a:pt x="63710" y="148579"/>
                </a:lnTo>
                <a:cubicBezTo>
                  <a:pt x="63710" y="160287"/>
                  <a:pt x="73228" y="169805"/>
                  <a:pt x="84936" y="169805"/>
                </a:cubicBezTo>
                <a:lnTo>
                  <a:pt x="148613" y="169805"/>
                </a:lnTo>
                <a:cubicBezTo>
                  <a:pt x="160320" y="169805"/>
                  <a:pt x="169838" y="160287"/>
                  <a:pt x="169838" y="148579"/>
                </a:cubicBezTo>
                <a:lnTo>
                  <a:pt x="169838" y="84903"/>
                </a:lnTo>
                <a:cubicBezTo>
                  <a:pt x="169838" y="73195"/>
                  <a:pt x="160320" y="63677"/>
                  <a:pt x="148613" y="63677"/>
                </a:cubicBezTo>
                <a:lnTo>
                  <a:pt x="138630" y="63677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401274" y="4219655"/>
            <a:ext cx="25810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Jogos de Aposta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05519" y="4457382"/>
            <a:ext cx="257254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7801, 7802, 7995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48799" y="3642318"/>
            <a:ext cx="2716880" cy="1086752"/>
          </a:xfrm>
          <a:custGeom>
            <a:avLst/>
            <a:gdLst/>
            <a:ahLst/>
            <a:cxnLst/>
            <a:rect l="l" t="t" r="r" b="b"/>
            <a:pathLst>
              <a:path w="2716880" h="1086752">
                <a:moveTo>
                  <a:pt x="67922" y="0"/>
                </a:moveTo>
                <a:lnTo>
                  <a:pt x="2648958" y="0"/>
                </a:lnTo>
                <a:cubicBezTo>
                  <a:pt x="2686471" y="0"/>
                  <a:pt x="2716880" y="30410"/>
                  <a:pt x="2716880" y="67922"/>
                </a:cubicBezTo>
                <a:lnTo>
                  <a:pt x="2716880" y="1018830"/>
                </a:lnTo>
                <a:cubicBezTo>
                  <a:pt x="2716880" y="1056342"/>
                  <a:pt x="2686471" y="1086752"/>
                  <a:pt x="2648958" y="1086752"/>
                </a:cubicBezTo>
                <a:lnTo>
                  <a:pt x="67922" y="1086752"/>
                </a:lnTo>
                <a:cubicBezTo>
                  <a:pt x="30410" y="1086752"/>
                  <a:pt x="0" y="1056342"/>
                  <a:pt x="0" y="1018830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7301748" y="374420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420612" y="3863064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21226" y="37145"/>
                </a:moveTo>
                <a:cubicBezTo>
                  <a:pt x="21226" y="28356"/>
                  <a:pt x="28356" y="21226"/>
                  <a:pt x="37145" y="21226"/>
                </a:cubicBezTo>
                <a:cubicBezTo>
                  <a:pt x="45934" y="21226"/>
                  <a:pt x="53064" y="28356"/>
                  <a:pt x="53064" y="37145"/>
                </a:cubicBezTo>
                <a:lnTo>
                  <a:pt x="53064" y="74290"/>
                </a:lnTo>
                <a:lnTo>
                  <a:pt x="21226" y="74290"/>
                </a:lnTo>
                <a:lnTo>
                  <a:pt x="21226" y="37145"/>
                </a:lnTo>
                <a:close/>
                <a:moveTo>
                  <a:pt x="58370" y="122047"/>
                </a:moveTo>
                <a:cubicBezTo>
                  <a:pt x="58370" y="105896"/>
                  <a:pt x="64373" y="91138"/>
                  <a:pt x="74290" y="79928"/>
                </a:cubicBezTo>
                <a:lnTo>
                  <a:pt x="74290" y="37145"/>
                </a:lnTo>
                <a:cubicBezTo>
                  <a:pt x="74290" y="16616"/>
                  <a:pt x="57674" y="0"/>
                  <a:pt x="37145" y="0"/>
                </a:cubicBezTo>
                <a:cubicBezTo>
                  <a:pt x="16616" y="0"/>
                  <a:pt x="0" y="16616"/>
                  <a:pt x="0" y="37145"/>
                </a:cubicBezTo>
                <a:lnTo>
                  <a:pt x="0" y="132660"/>
                </a:lnTo>
                <a:cubicBezTo>
                  <a:pt x="0" y="153189"/>
                  <a:pt x="16616" y="169805"/>
                  <a:pt x="37145" y="169805"/>
                </a:cubicBezTo>
                <a:cubicBezTo>
                  <a:pt x="49515" y="169805"/>
                  <a:pt x="60460" y="163769"/>
                  <a:pt x="67226" y="154450"/>
                </a:cubicBezTo>
                <a:cubicBezTo>
                  <a:pt x="61587" y="144964"/>
                  <a:pt x="58370" y="133887"/>
                  <a:pt x="58370" y="122047"/>
                </a:cubicBezTo>
                <a:close/>
                <a:moveTo>
                  <a:pt x="79828" y="144401"/>
                </a:moveTo>
                <a:cubicBezTo>
                  <a:pt x="81354" y="147286"/>
                  <a:pt x="85234" y="147618"/>
                  <a:pt x="87556" y="145296"/>
                </a:cubicBezTo>
                <a:lnTo>
                  <a:pt x="145296" y="87556"/>
                </a:lnTo>
                <a:cubicBezTo>
                  <a:pt x="147618" y="85234"/>
                  <a:pt x="147286" y="81354"/>
                  <a:pt x="144401" y="79828"/>
                </a:cubicBezTo>
                <a:cubicBezTo>
                  <a:pt x="137734" y="76280"/>
                  <a:pt x="130140" y="74290"/>
                  <a:pt x="122047" y="74290"/>
                </a:cubicBezTo>
                <a:cubicBezTo>
                  <a:pt x="95681" y="74290"/>
                  <a:pt x="74290" y="95681"/>
                  <a:pt x="74290" y="122047"/>
                </a:cubicBezTo>
                <a:cubicBezTo>
                  <a:pt x="74290" y="130106"/>
                  <a:pt x="76280" y="137734"/>
                  <a:pt x="79828" y="144401"/>
                </a:cubicBezTo>
                <a:close/>
                <a:moveTo>
                  <a:pt x="98799" y="156539"/>
                </a:moveTo>
                <a:cubicBezTo>
                  <a:pt x="96477" y="158861"/>
                  <a:pt x="96809" y="162741"/>
                  <a:pt x="99694" y="164266"/>
                </a:cubicBezTo>
                <a:cubicBezTo>
                  <a:pt x="106360" y="167815"/>
                  <a:pt x="113955" y="169805"/>
                  <a:pt x="122047" y="169805"/>
                </a:cubicBezTo>
                <a:cubicBezTo>
                  <a:pt x="148414" y="169805"/>
                  <a:pt x="169805" y="148414"/>
                  <a:pt x="169805" y="122047"/>
                </a:cubicBezTo>
                <a:cubicBezTo>
                  <a:pt x="169805" y="113988"/>
                  <a:pt x="167815" y="106360"/>
                  <a:pt x="164266" y="99694"/>
                </a:cubicBezTo>
                <a:cubicBezTo>
                  <a:pt x="162741" y="96809"/>
                  <a:pt x="158861" y="96477"/>
                  <a:pt x="156539" y="98799"/>
                </a:cubicBezTo>
                <a:lnTo>
                  <a:pt x="98799" y="156539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216721" y="4219655"/>
            <a:ext cx="25810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Farmacêuticos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20966" y="4457382"/>
            <a:ext cx="257254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5122, 5912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64245" y="3642318"/>
            <a:ext cx="2716880" cy="1086752"/>
          </a:xfrm>
          <a:custGeom>
            <a:avLst/>
            <a:gdLst/>
            <a:ahLst/>
            <a:cxnLst/>
            <a:rect l="l" t="t" r="r" b="b"/>
            <a:pathLst>
              <a:path w="2716880" h="1086752">
                <a:moveTo>
                  <a:pt x="67922" y="0"/>
                </a:moveTo>
                <a:lnTo>
                  <a:pt x="2648958" y="0"/>
                </a:lnTo>
                <a:cubicBezTo>
                  <a:pt x="2686471" y="0"/>
                  <a:pt x="2716880" y="30410"/>
                  <a:pt x="2716880" y="67922"/>
                </a:cubicBezTo>
                <a:lnTo>
                  <a:pt x="2716880" y="1018830"/>
                </a:lnTo>
                <a:cubicBezTo>
                  <a:pt x="2716880" y="1056342"/>
                  <a:pt x="2686471" y="1086752"/>
                  <a:pt x="2648958" y="1086752"/>
                </a:cubicBezTo>
                <a:lnTo>
                  <a:pt x="67922" y="1086752"/>
                </a:lnTo>
                <a:cubicBezTo>
                  <a:pt x="30410" y="1086752"/>
                  <a:pt x="0" y="1056342"/>
                  <a:pt x="0" y="1018830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10117195" y="374420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10225446" y="3863064"/>
            <a:ext cx="191031" cy="169805"/>
          </a:xfrm>
          <a:custGeom>
            <a:avLst/>
            <a:gdLst/>
            <a:ahLst/>
            <a:cxnLst/>
            <a:rect l="l" t="t" r="r" b="b"/>
            <a:pathLst>
              <a:path w="191031" h="169805">
                <a:moveTo>
                  <a:pt x="119394" y="0"/>
                </a:moveTo>
                <a:cubicBezTo>
                  <a:pt x="123805" y="0"/>
                  <a:pt x="127354" y="3549"/>
                  <a:pt x="127354" y="7960"/>
                </a:cubicBezTo>
                <a:lnTo>
                  <a:pt x="127354" y="14261"/>
                </a:lnTo>
                <a:cubicBezTo>
                  <a:pt x="127354" y="27626"/>
                  <a:pt x="132660" y="40461"/>
                  <a:pt x="142112" y="49913"/>
                </a:cubicBezTo>
                <a:lnTo>
                  <a:pt x="149077" y="56878"/>
                </a:lnTo>
                <a:cubicBezTo>
                  <a:pt x="155544" y="63345"/>
                  <a:pt x="159192" y="72101"/>
                  <a:pt x="159192" y="81254"/>
                </a:cubicBezTo>
                <a:lnTo>
                  <a:pt x="159192" y="87556"/>
                </a:lnTo>
                <a:cubicBezTo>
                  <a:pt x="159192" y="91967"/>
                  <a:pt x="155644" y="95515"/>
                  <a:pt x="151233" y="95515"/>
                </a:cubicBezTo>
                <a:cubicBezTo>
                  <a:pt x="146822" y="95515"/>
                  <a:pt x="143273" y="91967"/>
                  <a:pt x="143273" y="87556"/>
                </a:cubicBezTo>
                <a:lnTo>
                  <a:pt x="143273" y="81254"/>
                </a:lnTo>
                <a:cubicBezTo>
                  <a:pt x="143273" y="76313"/>
                  <a:pt x="141316" y="71603"/>
                  <a:pt x="137834" y="68121"/>
                </a:cubicBezTo>
                <a:lnTo>
                  <a:pt x="130869" y="61156"/>
                </a:lnTo>
                <a:cubicBezTo>
                  <a:pt x="118432" y="48719"/>
                  <a:pt x="111435" y="31838"/>
                  <a:pt x="111435" y="14261"/>
                </a:cubicBezTo>
                <a:lnTo>
                  <a:pt x="111435" y="7960"/>
                </a:lnTo>
                <a:cubicBezTo>
                  <a:pt x="111435" y="3549"/>
                  <a:pt x="114983" y="0"/>
                  <a:pt x="119394" y="0"/>
                </a:cubicBezTo>
                <a:close/>
                <a:moveTo>
                  <a:pt x="183071" y="95515"/>
                </a:moveTo>
                <a:cubicBezTo>
                  <a:pt x="178660" y="95515"/>
                  <a:pt x="175111" y="91967"/>
                  <a:pt x="175111" y="87556"/>
                </a:cubicBezTo>
                <a:lnTo>
                  <a:pt x="175111" y="81254"/>
                </a:lnTo>
                <a:cubicBezTo>
                  <a:pt x="175111" y="67889"/>
                  <a:pt x="169805" y="55054"/>
                  <a:pt x="160353" y="45602"/>
                </a:cubicBezTo>
                <a:lnTo>
                  <a:pt x="153388" y="38637"/>
                </a:lnTo>
                <a:cubicBezTo>
                  <a:pt x="146921" y="32170"/>
                  <a:pt x="143273" y="23415"/>
                  <a:pt x="143273" y="14261"/>
                </a:cubicBezTo>
                <a:lnTo>
                  <a:pt x="143273" y="7960"/>
                </a:lnTo>
                <a:cubicBezTo>
                  <a:pt x="143273" y="3549"/>
                  <a:pt x="146822" y="0"/>
                  <a:pt x="151233" y="0"/>
                </a:cubicBezTo>
                <a:cubicBezTo>
                  <a:pt x="155644" y="0"/>
                  <a:pt x="159192" y="3549"/>
                  <a:pt x="159192" y="7960"/>
                </a:cubicBezTo>
                <a:lnTo>
                  <a:pt x="159192" y="14261"/>
                </a:lnTo>
                <a:cubicBezTo>
                  <a:pt x="159192" y="19203"/>
                  <a:pt x="161149" y="23912"/>
                  <a:pt x="164631" y="27394"/>
                </a:cubicBezTo>
                <a:lnTo>
                  <a:pt x="171596" y="34359"/>
                </a:lnTo>
                <a:cubicBezTo>
                  <a:pt x="184033" y="46796"/>
                  <a:pt x="191031" y="63677"/>
                  <a:pt x="191031" y="81254"/>
                </a:cubicBezTo>
                <a:lnTo>
                  <a:pt x="191031" y="87556"/>
                </a:lnTo>
                <a:cubicBezTo>
                  <a:pt x="191031" y="91967"/>
                  <a:pt x="187482" y="95515"/>
                  <a:pt x="183071" y="95515"/>
                </a:cubicBezTo>
                <a:close/>
                <a:moveTo>
                  <a:pt x="106128" y="148579"/>
                </a:moveTo>
                <a:lnTo>
                  <a:pt x="137967" y="148579"/>
                </a:lnTo>
                <a:lnTo>
                  <a:pt x="137967" y="137967"/>
                </a:lnTo>
                <a:lnTo>
                  <a:pt x="106128" y="137967"/>
                </a:lnTo>
                <a:lnTo>
                  <a:pt x="106128" y="148579"/>
                </a:lnTo>
                <a:close/>
                <a:moveTo>
                  <a:pt x="0" y="137967"/>
                </a:moveTo>
                <a:cubicBezTo>
                  <a:pt x="0" y="126259"/>
                  <a:pt x="9518" y="116741"/>
                  <a:pt x="21226" y="116741"/>
                </a:cubicBezTo>
                <a:lnTo>
                  <a:pt x="148579" y="116741"/>
                </a:lnTo>
                <a:cubicBezTo>
                  <a:pt x="154450" y="116741"/>
                  <a:pt x="159192" y="121484"/>
                  <a:pt x="159192" y="127354"/>
                </a:cubicBezTo>
                <a:lnTo>
                  <a:pt x="159192" y="159192"/>
                </a:lnTo>
                <a:cubicBezTo>
                  <a:pt x="159192" y="165062"/>
                  <a:pt x="154450" y="169805"/>
                  <a:pt x="148579" y="169805"/>
                </a:cubicBezTo>
                <a:lnTo>
                  <a:pt x="21226" y="169805"/>
                </a:lnTo>
                <a:cubicBezTo>
                  <a:pt x="9518" y="169805"/>
                  <a:pt x="0" y="160287"/>
                  <a:pt x="0" y="148579"/>
                </a:cubicBezTo>
                <a:lnTo>
                  <a:pt x="0" y="137967"/>
                </a:lnTo>
                <a:close/>
                <a:moveTo>
                  <a:pt x="191031" y="124701"/>
                </a:moveTo>
                <a:lnTo>
                  <a:pt x="191031" y="161845"/>
                </a:lnTo>
                <a:cubicBezTo>
                  <a:pt x="191031" y="166256"/>
                  <a:pt x="187482" y="169805"/>
                  <a:pt x="183071" y="169805"/>
                </a:cubicBezTo>
                <a:cubicBezTo>
                  <a:pt x="178660" y="169805"/>
                  <a:pt x="175111" y="166256"/>
                  <a:pt x="175111" y="161845"/>
                </a:cubicBezTo>
                <a:lnTo>
                  <a:pt x="175111" y="124701"/>
                </a:lnTo>
                <a:cubicBezTo>
                  <a:pt x="175111" y="120290"/>
                  <a:pt x="178660" y="116741"/>
                  <a:pt x="183071" y="116741"/>
                </a:cubicBezTo>
                <a:cubicBezTo>
                  <a:pt x="187482" y="116741"/>
                  <a:pt x="191031" y="120290"/>
                  <a:pt x="191031" y="12470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9032167" y="4219655"/>
            <a:ext cx="25810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Tabaco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36413" y="4457382"/>
            <a:ext cx="257254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5993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7905" y="4830953"/>
            <a:ext cx="2716880" cy="1086752"/>
          </a:xfrm>
          <a:custGeom>
            <a:avLst/>
            <a:gdLst/>
            <a:ahLst/>
            <a:cxnLst/>
            <a:rect l="l" t="t" r="r" b="b"/>
            <a:pathLst>
              <a:path w="2716880" h="1086752">
                <a:moveTo>
                  <a:pt x="67922" y="0"/>
                </a:moveTo>
                <a:lnTo>
                  <a:pt x="2648958" y="0"/>
                </a:lnTo>
                <a:cubicBezTo>
                  <a:pt x="2686471" y="0"/>
                  <a:pt x="2716880" y="30410"/>
                  <a:pt x="2716880" y="67922"/>
                </a:cubicBezTo>
                <a:lnTo>
                  <a:pt x="2716880" y="1018830"/>
                </a:lnTo>
                <a:cubicBezTo>
                  <a:pt x="2716880" y="1056342"/>
                  <a:pt x="2686471" y="1086752"/>
                  <a:pt x="2648958" y="1086752"/>
                </a:cubicBezTo>
                <a:lnTo>
                  <a:pt x="67922" y="1086752"/>
                </a:lnTo>
                <a:cubicBezTo>
                  <a:pt x="30410" y="1086752"/>
                  <a:pt x="0" y="1056342"/>
                  <a:pt x="0" y="1018830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1670855" y="4932836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779106" y="5051699"/>
            <a:ext cx="191031" cy="169805"/>
          </a:xfrm>
          <a:custGeom>
            <a:avLst/>
            <a:gdLst/>
            <a:ahLst/>
            <a:cxnLst/>
            <a:rect l="l" t="t" r="r" b="b"/>
            <a:pathLst>
              <a:path w="191031" h="169805">
                <a:moveTo>
                  <a:pt x="0" y="42451"/>
                </a:moveTo>
                <a:cubicBezTo>
                  <a:pt x="0" y="30744"/>
                  <a:pt x="9518" y="21226"/>
                  <a:pt x="21226" y="21226"/>
                </a:cubicBezTo>
                <a:lnTo>
                  <a:pt x="169805" y="21226"/>
                </a:lnTo>
                <a:cubicBezTo>
                  <a:pt x="181512" y="21226"/>
                  <a:pt x="191031" y="30744"/>
                  <a:pt x="191031" y="42451"/>
                </a:cubicBezTo>
                <a:lnTo>
                  <a:pt x="191031" y="63677"/>
                </a:lnTo>
                <a:cubicBezTo>
                  <a:pt x="191031" y="66595"/>
                  <a:pt x="188576" y="68884"/>
                  <a:pt x="185824" y="69846"/>
                </a:cubicBezTo>
                <a:cubicBezTo>
                  <a:pt x="179589" y="72001"/>
                  <a:pt x="175111" y="77938"/>
                  <a:pt x="175111" y="84903"/>
                </a:cubicBezTo>
                <a:cubicBezTo>
                  <a:pt x="175111" y="91867"/>
                  <a:pt x="179589" y="97804"/>
                  <a:pt x="185824" y="99959"/>
                </a:cubicBezTo>
                <a:cubicBezTo>
                  <a:pt x="188576" y="100921"/>
                  <a:pt x="191031" y="103210"/>
                  <a:pt x="191031" y="106128"/>
                </a:cubicBezTo>
                <a:lnTo>
                  <a:pt x="191031" y="127354"/>
                </a:lnTo>
                <a:cubicBezTo>
                  <a:pt x="191031" y="139061"/>
                  <a:pt x="181512" y="148579"/>
                  <a:pt x="169805" y="148579"/>
                </a:cubicBezTo>
                <a:lnTo>
                  <a:pt x="21226" y="148579"/>
                </a:lnTo>
                <a:cubicBezTo>
                  <a:pt x="9518" y="148579"/>
                  <a:pt x="0" y="139061"/>
                  <a:pt x="0" y="127354"/>
                </a:cubicBezTo>
                <a:lnTo>
                  <a:pt x="0" y="106128"/>
                </a:lnTo>
                <a:cubicBezTo>
                  <a:pt x="0" y="103210"/>
                  <a:pt x="2454" y="100921"/>
                  <a:pt x="5207" y="99959"/>
                </a:cubicBezTo>
                <a:cubicBezTo>
                  <a:pt x="11442" y="97804"/>
                  <a:pt x="15919" y="91867"/>
                  <a:pt x="15919" y="84903"/>
                </a:cubicBezTo>
                <a:cubicBezTo>
                  <a:pt x="15919" y="77938"/>
                  <a:pt x="11442" y="72001"/>
                  <a:pt x="5207" y="69846"/>
                </a:cubicBezTo>
                <a:cubicBezTo>
                  <a:pt x="2454" y="68884"/>
                  <a:pt x="0" y="66595"/>
                  <a:pt x="0" y="63677"/>
                </a:cubicBezTo>
                <a:lnTo>
                  <a:pt x="0" y="42451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585827" y="5408290"/>
            <a:ext cx="25810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Loteria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0072" y="5646017"/>
            <a:ext cx="257254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7800, 9406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333352" y="4830953"/>
            <a:ext cx="2716880" cy="1086752"/>
          </a:xfrm>
          <a:custGeom>
            <a:avLst/>
            <a:gdLst/>
            <a:ahLst/>
            <a:cxnLst/>
            <a:rect l="l" t="t" r="r" b="b"/>
            <a:pathLst>
              <a:path w="2716880" h="1086752">
                <a:moveTo>
                  <a:pt x="67922" y="0"/>
                </a:moveTo>
                <a:lnTo>
                  <a:pt x="2648958" y="0"/>
                </a:lnTo>
                <a:cubicBezTo>
                  <a:pt x="2686471" y="0"/>
                  <a:pt x="2716880" y="30410"/>
                  <a:pt x="2716880" y="67922"/>
                </a:cubicBezTo>
                <a:lnTo>
                  <a:pt x="2716880" y="1018830"/>
                </a:lnTo>
                <a:cubicBezTo>
                  <a:pt x="2716880" y="1056342"/>
                  <a:pt x="2686471" y="1086752"/>
                  <a:pt x="2648958" y="1086752"/>
                </a:cubicBezTo>
                <a:lnTo>
                  <a:pt x="67922" y="1086752"/>
                </a:lnTo>
                <a:cubicBezTo>
                  <a:pt x="30410" y="1086752"/>
                  <a:pt x="0" y="1056342"/>
                  <a:pt x="0" y="1018830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4486302" y="4932836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4626391" y="5051699"/>
            <a:ext cx="127354" cy="169805"/>
          </a:xfrm>
          <a:custGeom>
            <a:avLst/>
            <a:gdLst/>
            <a:ahLst/>
            <a:cxnLst/>
            <a:rect l="l" t="t" r="r" b="b"/>
            <a:pathLst>
              <a:path w="127354" h="169805">
                <a:moveTo>
                  <a:pt x="42451" y="31838"/>
                </a:moveTo>
                <a:lnTo>
                  <a:pt x="42451" y="53064"/>
                </a:lnTo>
                <a:lnTo>
                  <a:pt x="84903" y="53064"/>
                </a:lnTo>
                <a:lnTo>
                  <a:pt x="84903" y="31838"/>
                </a:lnTo>
                <a:cubicBezTo>
                  <a:pt x="84903" y="20131"/>
                  <a:pt x="75384" y="10613"/>
                  <a:pt x="63677" y="10613"/>
                </a:cubicBezTo>
                <a:cubicBezTo>
                  <a:pt x="51970" y="10613"/>
                  <a:pt x="42451" y="20131"/>
                  <a:pt x="42451" y="31838"/>
                </a:cubicBezTo>
                <a:close/>
                <a:moveTo>
                  <a:pt x="21226" y="53064"/>
                </a:moveTo>
                <a:lnTo>
                  <a:pt x="21226" y="31838"/>
                </a:lnTo>
                <a:cubicBezTo>
                  <a:pt x="21226" y="8391"/>
                  <a:pt x="40229" y="-10613"/>
                  <a:pt x="63677" y="-10613"/>
                </a:cubicBezTo>
                <a:cubicBezTo>
                  <a:pt x="87125" y="-10613"/>
                  <a:pt x="106128" y="8391"/>
                  <a:pt x="106128" y="31838"/>
                </a:cubicBezTo>
                <a:lnTo>
                  <a:pt x="106128" y="53064"/>
                </a:lnTo>
                <a:cubicBezTo>
                  <a:pt x="117835" y="53064"/>
                  <a:pt x="127354" y="62582"/>
                  <a:pt x="127354" y="74290"/>
                </a:cubicBezTo>
                <a:lnTo>
                  <a:pt x="127354" y="148579"/>
                </a:lnTo>
                <a:cubicBezTo>
                  <a:pt x="127354" y="160287"/>
                  <a:pt x="117835" y="169805"/>
                  <a:pt x="106128" y="169805"/>
                </a:cubicBezTo>
                <a:lnTo>
                  <a:pt x="21226" y="169805"/>
                </a:lnTo>
                <a:cubicBezTo>
                  <a:pt x="9518" y="169805"/>
                  <a:pt x="0" y="160287"/>
                  <a:pt x="0" y="148579"/>
                </a:cubicBezTo>
                <a:lnTo>
                  <a:pt x="0" y="74290"/>
                </a:lnTo>
                <a:cubicBezTo>
                  <a:pt x="0" y="62582"/>
                  <a:pt x="9518" y="53064"/>
                  <a:pt x="21226" y="53064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3401274" y="5408290"/>
            <a:ext cx="25810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Cyberlocker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405519" y="5646017"/>
            <a:ext cx="257254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4816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48799" y="4830953"/>
            <a:ext cx="2716880" cy="1086752"/>
          </a:xfrm>
          <a:custGeom>
            <a:avLst/>
            <a:gdLst/>
            <a:ahLst/>
            <a:cxnLst/>
            <a:rect l="l" t="t" r="r" b="b"/>
            <a:pathLst>
              <a:path w="2716880" h="1086752">
                <a:moveTo>
                  <a:pt x="67922" y="0"/>
                </a:moveTo>
                <a:lnTo>
                  <a:pt x="2648958" y="0"/>
                </a:lnTo>
                <a:cubicBezTo>
                  <a:pt x="2686471" y="0"/>
                  <a:pt x="2716880" y="30410"/>
                  <a:pt x="2716880" y="67922"/>
                </a:cubicBezTo>
                <a:lnTo>
                  <a:pt x="2716880" y="1018830"/>
                </a:lnTo>
                <a:cubicBezTo>
                  <a:pt x="2716880" y="1056342"/>
                  <a:pt x="2686471" y="1086752"/>
                  <a:pt x="2648958" y="1086752"/>
                </a:cubicBezTo>
                <a:lnTo>
                  <a:pt x="67922" y="1086752"/>
                </a:lnTo>
                <a:cubicBezTo>
                  <a:pt x="30410" y="1086752"/>
                  <a:pt x="0" y="1056342"/>
                  <a:pt x="0" y="1018830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7301748" y="4932836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7420612" y="5051699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10613" y="10613"/>
                </a:moveTo>
                <a:cubicBezTo>
                  <a:pt x="16483" y="10613"/>
                  <a:pt x="21226" y="15355"/>
                  <a:pt x="21226" y="21226"/>
                </a:cubicBezTo>
                <a:lnTo>
                  <a:pt x="21226" y="132660"/>
                </a:lnTo>
                <a:cubicBezTo>
                  <a:pt x="21226" y="135579"/>
                  <a:pt x="23614" y="137967"/>
                  <a:pt x="26532" y="137967"/>
                </a:cubicBezTo>
                <a:lnTo>
                  <a:pt x="159192" y="137967"/>
                </a:lnTo>
                <a:cubicBezTo>
                  <a:pt x="165062" y="137967"/>
                  <a:pt x="169805" y="142709"/>
                  <a:pt x="169805" y="148579"/>
                </a:cubicBezTo>
                <a:cubicBezTo>
                  <a:pt x="169805" y="154450"/>
                  <a:pt x="165062" y="159192"/>
                  <a:pt x="159192" y="159192"/>
                </a:cubicBezTo>
                <a:lnTo>
                  <a:pt x="26532" y="159192"/>
                </a:lnTo>
                <a:cubicBezTo>
                  <a:pt x="11873" y="159192"/>
                  <a:pt x="0" y="147319"/>
                  <a:pt x="0" y="132660"/>
                </a:cubicBezTo>
                <a:lnTo>
                  <a:pt x="0" y="21226"/>
                </a:lnTo>
                <a:cubicBezTo>
                  <a:pt x="0" y="15355"/>
                  <a:pt x="4743" y="10613"/>
                  <a:pt x="10613" y="10613"/>
                </a:cubicBezTo>
                <a:close/>
                <a:moveTo>
                  <a:pt x="42451" y="31838"/>
                </a:moveTo>
                <a:cubicBezTo>
                  <a:pt x="42451" y="25968"/>
                  <a:pt x="47194" y="21226"/>
                  <a:pt x="53064" y="21226"/>
                </a:cubicBezTo>
                <a:lnTo>
                  <a:pt x="116741" y="21226"/>
                </a:lnTo>
                <a:cubicBezTo>
                  <a:pt x="122611" y="21226"/>
                  <a:pt x="127354" y="25968"/>
                  <a:pt x="127354" y="31838"/>
                </a:cubicBezTo>
                <a:cubicBezTo>
                  <a:pt x="127354" y="37709"/>
                  <a:pt x="122611" y="42451"/>
                  <a:pt x="116741" y="42451"/>
                </a:cubicBezTo>
                <a:lnTo>
                  <a:pt x="53064" y="42451"/>
                </a:lnTo>
                <a:cubicBezTo>
                  <a:pt x="47194" y="42451"/>
                  <a:pt x="42451" y="37709"/>
                  <a:pt x="42451" y="31838"/>
                </a:cubicBezTo>
                <a:close/>
                <a:moveTo>
                  <a:pt x="53064" y="58370"/>
                </a:moveTo>
                <a:lnTo>
                  <a:pt x="95515" y="58370"/>
                </a:lnTo>
                <a:cubicBezTo>
                  <a:pt x="101386" y="58370"/>
                  <a:pt x="106128" y="63113"/>
                  <a:pt x="106128" y="68983"/>
                </a:cubicBezTo>
                <a:cubicBezTo>
                  <a:pt x="106128" y="74853"/>
                  <a:pt x="101386" y="79596"/>
                  <a:pt x="95515" y="79596"/>
                </a:cubicBezTo>
                <a:lnTo>
                  <a:pt x="53064" y="79596"/>
                </a:lnTo>
                <a:cubicBezTo>
                  <a:pt x="47194" y="79596"/>
                  <a:pt x="42451" y="74853"/>
                  <a:pt x="42451" y="68983"/>
                </a:cubicBezTo>
                <a:cubicBezTo>
                  <a:pt x="42451" y="63113"/>
                  <a:pt x="47194" y="58370"/>
                  <a:pt x="53064" y="58370"/>
                </a:cubicBezTo>
                <a:close/>
                <a:moveTo>
                  <a:pt x="53064" y="95515"/>
                </a:moveTo>
                <a:lnTo>
                  <a:pt x="137967" y="95515"/>
                </a:lnTo>
                <a:cubicBezTo>
                  <a:pt x="143837" y="95515"/>
                  <a:pt x="148579" y="100258"/>
                  <a:pt x="148579" y="106128"/>
                </a:cubicBezTo>
                <a:cubicBezTo>
                  <a:pt x="148579" y="111998"/>
                  <a:pt x="143837" y="116741"/>
                  <a:pt x="137967" y="116741"/>
                </a:cubicBezTo>
                <a:lnTo>
                  <a:pt x="53064" y="116741"/>
                </a:lnTo>
                <a:cubicBezTo>
                  <a:pt x="47194" y="116741"/>
                  <a:pt x="42451" y="111998"/>
                  <a:pt x="42451" y="106128"/>
                </a:cubicBezTo>
                <a:cubicBezTo>
                  <a:pt x="42451" y="100258"/>
                  <a:pt x="47194" y="95515"/>
                  <a:pt x="53064" y="95515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6216721" y="5408290"/>
            <a:ext cx="25810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Títulos de Alto Risco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20966" y="5646017"/>
            <a:ext cx="257254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6211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964245" y="4830953"/>
            <a:ext cx="2716880" cy="1086752"/>
          </a:xfrm>
          <a:custGeom>
            <a:avLst/>
            <a:gdLst/>
            <a:ahLst/>
            <a:cxnLst/>
            <a:rect l="l" t="t" r="r" b="b"/>
            <a:pathLst>
              <a:path w="2716880" h="1086752">
                <a:moveTo>
                  <a:pt x="67922" y="0"/>
                </a:moveTo>
                <a:lnTo>
                  <a:pt x="2648958" y="0"/>
                </a:lnTo>
                <a:cubicBezTo>
                  <a:pt x="2686471" y="0"/>
                  <a:pt x="2716880" y="30410"/>
                  <a:pt x="2716880" y="67922"/>
                </a:cubicBezTo>
                <a:lnTo>
                  <a:pt x="2716880" y="1018830"/>
                </a:lnTo>
                <a:cubicBezTo>
                  <a:pt x="2716880" y="1056342"/>
                  <a:pt x="2686471" y="1086752"/>
                  <a:pt x="2648958" y="1086752"/>
                </a:cubicBezTo>
                <a:lnTo>
                  <a:pt x="67922" y="1086752"/>
                </a:lnTo>
                <a:cubicBezTo>
                  <a:pt x="30410" y="1086752"/>
                  <a:pt x="0" y="1056342"/>
                  <a:pt x="0" y="1018830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10117195" y="4932836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10236058" y="5051699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21856" y="75782"/>
                </a:moveTo>
                <a:cubicBezTo>
                  <a:pt x="26267" y="44939"/>
                  <a:pt x="52832" y="21226"/>
                  <a:pt x="84903" y="21226"/>
                </a:cubicBezTo>
                <a:cubicBezTo>
                  <a:pt x="102480" y="21226"/>
                  <a:pt x="118399" y="28356"/>
                  <a:pt x="129941" y="39864"/>
                </a:cubicBezTo>
                <a:cubicBezTo>
                  <a:pt x="130007" y="39931"/>
                  <a:pt x="130073" y="39997"/>
                  <a:pt x="130140" y="40063"/>
                </a:cubicBezTo>
                <a:lnTo>
                  <a:pt x="132660" y="42451"/>
                </a:lnTo>
                <a:lnTo>
                  <a:pt x="116774" y="42451"/>
                </a:lnTo>
                <a:cubicBezTo>
                  <a:pt x="110904" y="42451"/>
                  <a:pt x="106161" y="47194"/>
                  <a:pt x="106161" y="53064"/>
                </a:cubicBezTo>
                <a:cubicBezTo>
                  <a:pt x="106161" y="58934"/>
                  <a:pt x="110904" y="63677"/>
                  <a:pt x="116774" y="63677"/>
                </a:cubicBezTo>
                <a:lnTo>
                  <a:pt x="159225" y="63677"/>
                </a:lnTo>
                <a:cubicBezTo>
                  <a:pt x="165096" y="63677"/>
                  <a:pt x="169838" y="58934"/>
                  <a:pt x="169838" y="53064"/>
                </a:cubicBezTo>
                <a:lnTo>
                  <a:pt x="169838" y="10613"/>
                </a:lnTo>
                <a:cubicBezTo>
                  <a:pt x="169838" y="4743"/>
                  <a:pt x="165096" y="0"/>
                  <a:pt x="159225" y="0"/>
                </a:cubicBezTo>
                <a:cubicBezTo>
                  <a:pt x="153355" y="0"/>
                  <a:pt x="148613" y="4743"/>
                  <a:pt x="148613" y="10613"/>
                </a:cubicBezTo>
                <a:lnTo>
                  <a:pt x="148613" y="28323"/>
                </a:lnTo>
                <a:lnTo>
                  <a:pt x="144865" y="24774"/>
                </a:lnTo>
                <a:cubicBezTo>
                  <a:pt x="129509" y="9485"/>
                  <a:pt x="108284" y="0"/>
                  <a:pt x="84903" y="0"/>
                </a:cubicBezTo>
                <a:cubicBezTo>
                  <a:pt x="42120" y="0"/>
                  <a:pt x="6733" y="31639"/>
                  <a:pt x="862" y="72797"/>
                </a:cubicBezTo>
                <a:cubicBezTo>
                  <a:pt x="33" y="78601"/>
                  <a:pt x="4046" y="83974"/>
                  <a:pt x="9850" y="84803"/>
                </a:cubicBezTo>
                <a:cubicBezTo>
                  <a:pt x="15654" y="85632"/>
                  <a:pt x="21027" y="81586"/>
                  <a:pt x="21856" y="75815"/>
                </a:cubicBezTo>
                <a:close/>
                <a:moveTo>
                  <a:pt x="168943" y="97008"/>
                </a:moveTo>
                <a:cubicBezTo>
                  <a:pt x="169772" y="91204"/>
                  <a:pt x="165726" y="85831"/>
                  <a:pt x="159955" y="85002"/>
                </a:cubicBezTo>
                <a:cubicBezTo>
                  <a:pt x="154184" y="84173"/>
                  <a:pt x="148778" y="88219"/>
                  <a:pt x="147949" y="93990"/>
                </a:cubicBezTo>
                <a:cubicBezTo>
                  <a:pt x="143538" y="124833"/>
                  <a:pt x="116973" y="148546"/>
                  <a:pt x="84903" y="148546"/>
                </a:cubicBezTo>
                <a:cubicBezTo>
                  <a:pt x="67325" y="148546"/>
                  <a:pt x="51406" y="141416"/>
                  <a:pt x="39864" y="129907"/>
                </a:cubicBezTo>
                <a:cubicBezTo>
                  <a:pt x="39798" y="129841"/>
                  <a:pt x="39732" y="129775"/>
                  <a:pt x="39665" y="129708"/>
                </a:cubicBezTo>
                <a:lnTo>
                  <a:pt x="37145" y="127321"/>
                </a:lnTo>
                <a:lnTo>
                  <a:pt x="53031" y="127321"/>
                </a:lnTo>
                <a:cubicBezTo>
                  <a:pt x="58901" y="127321"/>
                  <a:pt x="63644" y="122578"/>
                  <a:pt x="63644" y="116708"/>
                </a:cubicBezTo>
                <a:cubicBezTo>
                  <a:pt x="63644" y="110838"/>
                  <a:pt x="58901" y="106095"/>
                  <a:pt x="53031" y="106095"/>
                </a:cubicBezTo>
                <a:lnTo>
                  <a:pt x="10613" y="106128"/>
                </a:lnTo>
                <a:cubicBezTo>
                  <a:pt x="7794" y="106128"/>
                  <a:pt x="5074" y="107256"/>
                  <a:pt x="3084" y="109279"/>
                </a:cubicBezTo>
                <a:cubicBezTo>
                  <a:pt x="1094" y="111302"/>
                  <a:pt x="-33" y="113988"/>
                  <a:pt x="0" y="116840"/>
                </a:cubicBezTo>
                <a:lnTo>
                  <a:pt x="332" y="158960"/>
                </a:lnTo>
                <a:cubicBezTo>
                  <a:pt x="365" y="164830"/>
                  <a:pt x="5174" y="169540"/>
                  <a:pt x="11044" y="169473"/>
                </a:cubicBezTo>
                <a:cubicBezTo>
                  <a:pt x="16914" y="169407"/>
                  <a:pt x="21624" y="164631"/>
                  <a:pt x="21557" y="158761"/>
                </a:cubicBezTo>
                <a:lnTo>
                  <a:pt x="21425" y="141681"/>
                </a:lnTo>
                <a:lnTo>
                  <a:pt x="24973" y="145031"/>
                </a:lnTo>
                <a:cubicBezTo>
                  <a:pt x="40329" y="160320"/>
                  <a:pt x="61521" y="169805"/>
                  <a:pt x="84903" y="169805"/>
                </a:cubicBezTo>
                <a:cubicBezTo>
                  <a:pt x="127685" y="169805"/>
                  <a:pt x="163073" y="138166"/>
                  <a:pt x="168943" y="97008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9032167" y="5408290"/>
            <a:ext cx="25810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Criptomoeda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036413" y="5646017"/>
            <a:ext cx="257254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6051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22150" y="6057794"/>
            <a:ext cx="11147699" cy="416022"/>
          </a:xfrm>
          <a:custGeom>
            <a:avLst/>
            <a:gdLst/>
            <a:ahLst/>
            <a:cxnLst/>
            <a:rect l="l" t="t" r="r" b="b"/>
            <a:pathLst>
              <a:path w="11147699" h="416022">
                <a:moveTo>
                  <a:pt x="67924" y="0"/>
                </a:moveTo>
                <a:lnTo>
                  <a:pt x="11079775" y="0"/>
                </a:lnTo>
                <a:cubicBezTo>
                  <a:pt x="11117289" y="0"/>
                  <a:pt x="11147699" y="30411"/>
                  <a:pt x="11147699" y="67924"/>
                </a:cubicBezTo>
                <a:lnTo>
                  <a:pt x="11147699" y="348098"/>
                </a:lnTo>
                <a:cubicBezTo>
                  <a:pt x="11147699" y="385612"/>
                  <a:pt x="11117289" y="416022"/>
                  <a:pt x="11079775" y="416022"/>
                </a:cubicBezTo>
                <a:lnTo>
                  <a:pt x="67924" y="416022"/>
                </a:lnTo>
                <a:cubicBezTo>
                  <a:pt x="30411" y="416022"/>
                  <a:pt x="0" y="385612"/>
                  <a:pt x="0" y="348098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645259" y="6197883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59432" y="42451"/>
                </a:moveTo>
                <a:cubicBezTo>
                  <a:pt x="59432" y="37765"/>
                  <a:pt x="63236" y="33961"/>
                  <a:pt x="67922" y="33961"/>
                </a:cubicBezTo>
                <a:cubicBezTo>
                  <a:pt x="72608" y="33961"/>
                  <a:pt x="76412" y="37765"/>
                  <a:pt x="76412" y="42451"/>
                </a:cubicBezTo>
                <a:cubicBezTo>
                  <a:pt x="76412" y="47137"/>
                  <a:pt x="72608" y="50942"/>
                  <a:pt x="67922" y="50942"/>
                </a:cubicBezTo>
                <a:cubicBezTo>
                  <a:pt x="63236" y="50942"/>
                  <a:pt x="59432" y="47137"/>
                  <a:pt x="59432" y="42451"/>
                </a:cubicBezTo>
                <a:close/>
                <a:moveTo>
                  <a:pt x="57309" y="59432"/>
                </a:moveTo>
                <a:lnTo>
                  <a:pt x="70045" y="59432"/>
                </a:lnTo>
                <a:cubicBezTo>
                  <a:pt x="73573" y="59432"/>
                  <a:pt x="76412" y="62271"/>
                  <a:pt x="76412" y="65799"/>
                </a:cubicBezTo>
                <a:lnTo>
                  <a:pt x="76412" y="89148"/>
                </a:lnTo>
                <a:lnTo>
                  <a:pt x="78535" y="89148"/>
                </a:lnTo>
                <a:cubicBezTo>
                  <a:pt x="82064" y="89148"/>
                  <a:pt x="84903" y="91987"/>
                  <a:pt x="84903" y="95515"/>
                </a:cubicBezTo>
                <a:cubicBezTo>
                  <a:pt x="84903" y="99044"/>
                  <a:pt x="82064" y="101883"/>
                  <a:pt x="78535" y="101883"/>
                </a:cubicBezTo>
                <a:lnTo>
                  <a:pt x="57309" y="101883"/>
                </a:lnTo>
                <a:cubicBezTo>
                  <a:pt x="53780" y="101883"/>
                  <a:pt x="50942" y="99044"/>
                  <a:pt x="50942" y="95515"/>
                </a:cubicBezTo>
                <a:cubicBezTo>
                  <a:pt x="50942" y="91987"/>
                  <a:pt x="53780" y="89148"/>
                  <a:pt x="57309" y="89148"/>
                </a:cubicBezTo>
                <a:lnTo>
                  <a:pt x="63677" y="89148"/>
                </a:lnTo>
                <a:lnTo>
                  <a:pt x="63677" y="72167"/>
                </a:lnTo>
                <a:lnTo>
                  <a:pt x="57309" y="72167"/>
                </a:lnTo>
                <a:cubicBezTo>
                  <a:pt x="53780" y="72167"/>
                  <a:pt x="50942" y="69328"/>
                  <a:pt x="50942" y="65799"/>
                </a:cubicBezTo>
                <a:cubicBezTo>
                  <a:pt x="50942" y="62271"/>
                  <a:pt x="53780" y="59432"/>
                  <a:pt x="57309" y="5943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843491" y="6163922"/>
            <a:ext cx="1078815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Requisito:</a:t>
            </a:r>
            <a:r>
              <a:rPr lang="en-US" sz="107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Devem ter monitoramento e seguir as leis locais e regulamentos Mastercard, assim como ter os registros legais e/ou aprovação de autoridades legais.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REGRAS DAS BANDEIRAS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Regras Visa para MCC de Alto Risco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19750" cy="3981450"/>
          </a:xfrm>
          <a:custGeom>
            <a:avLst/>
            <a:gdLst/>
            <a:ahLst/>
            <a:cxnLst/>
            <a:rect l="l" t="t" r="r" b="b"/>
            <a:pathLst>
              <a:path w="5619750" h="398145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3905245"/>
                </a:lnTo>
                <a:cubicBezTo>
                  <a:pt x="5619750" y="3947332"/>
                  <a:pt x="5585632" y="3981450"/>
                  <a:pt x="5543545" y="3981450"/>
                </a:cubicBezTo>
                <a:lnTo>
                  <a:pt x="38100" y="3981450"/>
                </a:lnTo>
                <a:cubicBezTo>
                  <a:pt x="17072" y="3981450"/>
                  <a:pt x="0" y="3964378"/>
                  <a:pt x="0" y="3943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3981450"/>
          </a:xfrm>
          <a:custGeom>
            <a:avLst/>
            <a:gdLst/>
            <a:ahLst/>
            <a:cxnLst/>
            <a:rect l="l" t="t" r="r" b="b"/>
            <a:pathLst>
              <a:path w="38100" h="3981450">
                <a:moveTo>
                  <a:pt x="38100" y="0"/>
                </a:moveTo>
                <a:lnTo>
                  <a:pt x="38100" y="0"/>
                </a:lnTo>
                <a:lnTo>
                  <a:pt x="38100" y="3981450"/>
                </a:lnTo>
                <a:lnTo>
                  <a:pt x="38100" y="3981450"/>
                </a:lnTo>
                <a:cubicBezTo>
                  <a:pt x="17072" y="3981450"/>
                  <a:pt x="0" y="3964378"/>
                  <a:pt x="0" y="3943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66750" y="1447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5350" y="1409700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Obrigações do Comerciante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18669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23900" y="2019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55018" y="207645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981200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Cumprir obrigações sob o Contrato Comercial em conformidade com as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leis aplicáveis e regulamentos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26670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239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2218" y="28765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781300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Cumprir as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Regras da Visa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sobre uso das Marcas, aceitação, risco, processamento e produtos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4671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23900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40581" y="36766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581400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enviar conscientemente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transações ilegais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que deveria saber que eram ilegais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42672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23900" y="441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42367" y="4476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381500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Incluir direito da Visa de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limitar ou rescindir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contrato do Adquirente com o Comerciante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963" y="1223963"/>
            <a:ext cx="5629275" cy="3971925"/>
          </a:xfrm>
          <a:custGeom>
            <a:avLst/>
            <a:gdLst/>
            <a:ahLst/>
            <a:cxnLst/>
            <a:rect l="l" t="t" r="r" b="b"/>
            <a:pathLst>
              <a:path w="5629275" h="3971925">
                <a:moveTo>
                  <a:pt x="76182" y="0"/>
                </a:moveTo>
                <a:lnTo>
                  <a:pt x="5553093" y="0"/>
                </a:lnTo>
                <a:cubicBezTo>
                  <a:pt x="5595167" y="0"/>
                  <a:pt x="5629275" y="34108"/>
                  <a:pt x="5629275" y="76182"/>
                </a:cubicBezTo>
                <a:lnTo>
                  <a:pt x="5629275" y="3895743"/>
                </a:lnTo>
                <a:cubicBezTo>
                  <a:pt x="5629275" y="3937817"/>
                  <a:pt x="5595167" y="3971925"/>
                  <a:pt x="5553093" y="3971925"/>
                </a:cubicBezTo>
                <a:lnTo>
                  <a:pt x="76182" y="3971925"/>
                </a:lnTo>
                <a:cubicBezTo>
                  <a:pt x="34108" y="3971925"/>
                  <a:pt x="0" y="3937817"/>
                  <a:pt x="0" y="3895743"/>
                </a:cubicBezTo>
                <a:lnTo>
                  <a:pt x="0" y="76182"/>
                </a:lnTo>
                <a:cubicBezTo>
                  <a:pt x="0" y="34136"/>
                  <a:pt x="34136" y="0"/>
                  <a:pt x="7618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400800" y="1457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657975" y="1419225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Segmentos de Alto Risco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2225" y="1876425"/>
            <a:ext cx="5238750" cy="381000"/>
          </a:xfrm>
          <a:custGeom>
            <a:avLst/>
            <a:gdLst/>
            <a:ahLst/>
            <a:cxnLst/>
            <a:rect l="l" t="t" r="r" b="b"/>
            <a:pathLst>
              <a:path w="5238750" h="381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304800"/>
                </a:lnTo>
                <a:cubicBezTo>
                  <a:pt x="5238750" y="346856"/>
                  <a:pt x="5204606" y="381000"/>
                  <a:pt x="51625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67475" y="1990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753225" y="1952625"/>
            <a:ext cx="3752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Jogos de azar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on-line ilegais / com codificação incorreta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2225" y="2333625"/>
            <a:ext cx="5238750" cy="381000"/>
          </a:xfrm>
          <a:custGeom>
            <a:avLst/>
            <a:gdLst/>
            <a:ahLst/>
            <a:cxnLst/>
            <a:rect l="l" t="t" r="r" b="b"/>
            <a:pathLst>
              <a:path w="5238750" h="381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304800"/>
                </a:lnTo>
                <a:cubicBezTo>
                  <a:pt x="5238750" y="346856"/>
                  <a:pt x="5204606" y="381000"/>
                  <a:pt x="51625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467475" y="2447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753225" y="2409825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Pornografia proibida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(abuso de menores, bestialidade, estupro)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2225" y="2790825"/>
            <a:ext cx="5238750" cy="381000"/>
          </a:xfrm>
          <a:custGeom>
            <a:avLst/>
            <a:gdLst/>
            <a:ahLst/>
            <a:cxnLst/>
            <a:rect l="l" t="t" r="r" b="b"/>
            <a:pathLst>
              <a:path w="5238750" h="381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304800"/>
                </a:lnTo>
                <a:cubicBezTo>
                  <a:pt x="5238750" y="346856"/>
                  <a:pt x="5204606" y="381000"/>
                  <a:pt x="51625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467475" y="2905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753225" y="2867025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Produtos farmacêuticos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ilegais / falsificados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2225" y="3248025"/>
            <a:ext cx="5238750" cy="381000"/>
          </a:xfrm>
          <a:custGeom>
            <a:avLst/>
            <a:gdLst/>
            <a:ahLst/>
            <a:cxnLst/>
            <a:rect l="l" t="t" r="r" b="b"/>
            <a:pathLst>
              <a:path w="5238750" h="381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304800"/>
                </a:lnTo>
                <a:cubicBezTo>
                  <a:pt x="5238750" y="346856"/>
                  <a:pt x="5204606" y="381000"/>
                  <a:pt x="51625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467475" y="3362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753225" y="3324225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Drogas sintéticas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suplementos ilegais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2225" y="3705225"/>
            <a:ext cx="5238750" cy="381000"/>
          </a:xfrm>
          <a:custGeom>
            <a:avLst/>
            <a:gdLst/>
            <a:ahLst/>
            <a:cxnLst/>
            <a:rect l="l" t="t" r="r" b="b"/>
            <a:pathLst>
              <a:path w="5238750" h="381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304800"/>
                </a:lnTo>
                <a:cubicBezTo>
                  <a:pt x="5238750" y="346856"/>
                  <a:pt x="5204606" y="381000"/>
                  <a:pt x="51625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467475" y="3819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753225" y="3781425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Mercadorias falsificadas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que violem propriedade intelectual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2225" y="4162425"/>
            <a:ext cx="5238750" cy="381000"/>
          </a:xfrm>
          <a:custGeom>
            <a:avLst/>
            <a:gdLst/>
            <a:ahLst/>
            <a:cxnLst/>
            <a:rect l="l" t="t" r="r" b="b"/>
            <a:pathLst>
              <a:path w="5238750" h="381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304800"/>
                </a:lnTo>
                <a:cubicBezTo>
                  <a:pt x="5238750" y="346856"/>
                  <a:pt x="5204606" y="381000"/>
                  <a:pt x="51625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467475" y="4276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753225" y="4267200"/>
            <a:ext cx="16807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Tabaco contrabandeado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2225" y="4619625"/>
            <a:ext cx="5238750" cy="381000"/>
          </a:xfrm>
          <a:custGeom>
            <a:avLst/>
            <a:gdLst/>
            <a:ahLst/>
            <a:cxnLst/>
            <a:rect l="l" t="t" r="r" b="b"/>
            <a:pathLst>
              <a:path w="5238750" h="38100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304800"/>
                </a:lnTo>
                <a:cubicBezTo>
                  <a:pt x="5238750" y="346856"/>
                  <a:pt x="5204606" y="381000"/>
                  <a:pt x="51625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467475" y="4733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753225" y="4695825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Venda de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produtos ou serviços ilegais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5763" y="53578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581025" y="55530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790575" y="5514975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Importante: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Todos os comerciantes devem seguir as diretrizes de compliance da Visa para evitar penalidades e possível rescisão do contrato.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rs.els-cdn.com/c6842fcce0ec5b9d1ee4331a583d2b2c293801e7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29602" b="2960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381000" y="1138238"/>
            <a:ext cx="2021532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8B2AC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728913"/>
            <a:ext cx="59340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Regras das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Bandeiras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748213"/>
            <a:ext cx="5705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Atualizações regulamentares e estruturas de penalidades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576888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ATUALIZAÇÃO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Revisão do Capítulo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Provedores de Serviços e Parceiros de Habilitação de Rede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11410950" cy="1533525"/>
          </a:xfrm>
          <a:custGeom>
            <a:avLst/>
            <a:gdLst/>
            <a:ahLst/>
            <a:cxnLst/>
            <a:rect l="l" t="t" r="r" b="b"/>
            <a:pathLst>
              <a:path w="11410950" h="1533525">
                <a:moveTo>
                  <a:pt x="38100" y="0"/>
                </a:moveTo>
                <a:lnTo>
                  <a:pt x="11334749" y="0"/>
                </a:lnTo>
                <a:cubicBezTo>
                  <a:pt x="11376806" y="0"/>
                  <a:pt x="11410950" y="34144"/>
                  <a:pt x="11410950" y="76201"/>
                </a:cubicBezTo>
                <a:lnTo>
                  <a:pt x="11410950" y="1457324"/>
                </a:lnTo>
                <a:cubicBezTo>
                  <a:pt x="11410950" y="1499381"/>
                  <a:pt x="11376806" y="1533525"/>
                  <a:pt x="11334749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00050" y="15621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71500" y="1714500"/>
            <a:ext cx="2600325" cy="419100"/>
          </a:xfrm>
          <a:custGeom>
            <a:avLst/>
            <a:gdLst/>
            <a:ahLst/>
            <a:cxnLst/>
            <a:rect l="l" t="t" r="r" b="b"/>
            <a:pathLst>
              <a:path w="2600325" h="419100">
                <a:moveTo>
                  <a:pt x="76201" y="0"/>
                </a:moveTo>
                <a:lnTo>
                  <a:pt x="2524124" y="0"/>
                </a:lnTo>
                <a:cubicBezTo>
                  <a:pt x="2566209" y="0"/>
                  <a:pt x="2600325" y="34116"/>
                  <a:pt x="2600325" y="76201"/>
                </a:cubicBezTo>
                <a:lnTo>
                  <a:pt x="2600325" y="342899"/>
                </a:lnTo>
                <a:cubicBezTo>
                  <a:pt x="2600325" y="384984"/>
                  <a:pt x="2566209" y="419100"/>
                  <a:pt x="25241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23900" y="1828800"/>
            <a:ext cx="23806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Vigente a partir de 01/05/2026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247900"/>
            <a:ext cx="1120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Nova Regra para Facilitadores de Pagamentos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667000"/>
            <a:ext cx="111728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 </a:t>
            </a: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Facilitador de Pagamentos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fornece um </a:t>
            </a:r>
            <a:r>
              <a:rPr lang="en-US" sz="135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Serviço de Programa PF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um Adquirente relacionado a </a:t>
            </a:r>
            <a:r>
              <a:rPr lang="en-US" sz="135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Comerciantes Especializados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 ser: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255169"/>
            <a:ext cx="3695700" cy="1838325"/>
          </a:xfrm>
          <a:custGeom>
            <a:avLst/>
            <a:gdLst/>
            <a:ahLst/>
            <a:cxnLst/>
            <a:rect l="l" t="t" r="r" b="b"/>
            <a:pathLst>
              <a:path w="3695700" h="1838325">
                <a:moveTo>
                  <a:pt x="76199" y="0"/>
                </a:moveTo>
                <a:lnTo>
                  <a:pt x="3619501" y="0"/>
                </a:lnTo>
                <a:cubicBezTo>
                  <a:pt x="3661557" y="0"/>
                  <a:pt x="3695700" y="34143"/>
                  <a:pt x="3695700" y="76199"/>
                </a:cubicBezTo>
                <a:lnTo>
                  <a:pt x="3695700" y="1762126"/>
                </a:lnTo>
                <a:cubicBezTo>
                  <a:pt x="3695700" y="1804182"/>
                  <a:pt x="3661557" y="1838325"/>
                  <a:pt x="3619501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930301" y="341233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094607" y="35742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5300" y="4136231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Aprovado pela Mastercard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4825" y="4479131"/>
            <a:ext cx="345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 ser aprovado como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Parceiro de Habilitação de Rede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6513" y="3255169"/>
            <a:ext cx="3695700" cy="1838325"/>
          </a:xfrm>
          <a:custGeom>
            <a:avLst/>
            <a:gdLst/>
            <a:ahLst/>
            <a:cxnLst/>
            <a:rect l="l" t="t" r="r" b="b"/>
            <a:pathLst>
              <a:path w="3695700" h="1838325">
                <a:moveTo>
                  <a:pt x="76199" y="0"/>
                </a:moveTo>
                <a:lnTo>
                  <a:pt x="3619501" y="0"/>
                </a:lnTo>
                <a:cubicBezTo>
                  <a:pt x="3661557" y="0"/>
                  <a:pt x="3695700" y="34143"/>
                  <a:pt x="3695700" y="76199"/>
                </a:cubicBezTo>
                <a:lnTo>
                  <a:pt x="3695700" y="1762126"/>
                </a:lnTo>
                <a:cubicBezTo>
                  <a:pt x="3695700" y="1804182"/>
                  <a:pt x="3661557" y="1838325"/>
                  <a:pt x="3619501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791051" y="341233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955357" y="35742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87523" y="196453"/>
                </a:moveTo>
                <a:cubicBezTo>
                  <a:pt x="241771" y="196453"/>
                  <a:pt x="285750" y="152474"/>
                  <a:pt x="285750" y="98227"/>
                </a:cubicBezTo>
                <a:cubicBezTo>
                  <a:pt x="285750" y="43979"/>
                  <a:pt x="241771" y="0"/>
                  <a:pt x="187523" y="0"/>
                </a:cubicBezTo>
                <a:cubicBezTo>
                  <a:pt x="133276" y="0"/>
                  <a:pt x="89297" y="43979"/>
                  <a:pt x="89297" y="98227"/>
                </a:cubicBezTo>
                <a:cubicBezTo>
                  <a:pt x="89297" y="108663"/>
                  <a:pt x="90915" y="118765"/>
                  <a:pt x="93929" y="128197"/>
                </a:cubicBezTo>
                <a:lnTo>
                  <a:pt x="3907" y="218219"/>
                </a:lnTo>
                <a:cubicBezTo>
                  <a:pt x="1395" y="220731"/>
                  <a:pt x="0" y="224135"/>
                  <a:pt x="0" y="227707"/>
                </a:cubicBezTo>
                <a:lnTo>
                  <a:pt x="0" y="272355"/>
                </a:lnTo>
                <a:cubicBezTo>
                  <a:pt x="0" y="279778"/>
                  <a:pt x="5972" y="285750"/>
                  <a:pt x="13395" y="285750"/>
                </a:cubicBezTo>
                <a:lnTo>
                  <a:pt x="58043" y="285750"/>
                </a:lnTo>
                <a:cubicBezTo>
                  <a:pt x="65466" y="285750"/>
                  <a:pt x="71438" y="279778"/>
                  <a:pt x="71438" y="272355"/>
                </a:cubicBezTo>
                <a:lnTo>
                  <a:pt x="71438" y="250031"/>
                </a:lnTo>
                <a:lnTo>
                  <a:pt x="93762" y="250031"/>
                </a:lnTo>
                <a:cubicBezTo>
                  <a:pt x="101185" y="250031"/>
                  <a:pt x="107156" y="244060"/>
                  <a:pt x="107156" y="236637"/>
                </a:cubicBezTo>
                <a:lnTo>
                  <a:pt x="107156" y="214313"/>
                </a:lnTo>
                <a:lnTo>
                  <a:pt x="129480" y="214313"/>
                </a:lnTo>
                <a:cubicBezTo>
                  <a:pt x="133052" y="214313"/>
                  <a:pt x="136457" y="212917"/>
                  <a:pt x="138968" y="210406"/>
                </a:cubicBezTo>
                <a:lnTo>
                  <a:pt x="157553" y="191821"/>
                </a:lnTo>
                <a:cubicBezTo>
                  <a:pt x="166985" y="194835"/>
                  <a:pt x="177087" y="196453"/>
                  <a:pt x="187523" y="196453"/>
                </a:cubicBezTo>
                <a:close/>
                <a:moveTo>
                  <a:pt x="209848" y="53578"/>
                </a:moveTo>
                <a:cubicBezTo>
                  <a:pt x="222169" y="53578"/>
                  <a:pt x="232172" y="63581"/>
                  <a:pt x="232172" y="75902"/>
                </a:cubicBezTo>
                <a:cubicBezTo>
                  <a:pt x="232172" y="88223"/>
                  <a:pt x="222169" y="98227"/>
                  <a:pt x="209848" y="98227"/>
                </a:cubicBezTo>
                <a:cubicBezTo>
                  <a:pt x="197527" y="98227"/>
                  <a:pt x="187523" y="88223"/>
                  <a:pt x="187523" y="75902"/>
                </a:cubicBezTo>
                <a:cubicBezTo>
                  <a:pt x="187523" y="63581"/>
                  <a:pt x="197527" y="53578"/>
                  <a:pt x="209848" y="5357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356050" y="4136231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Permissão Específica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65575" y="4479131"/>
            <a:ext cx="345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 ter permissão para atuar como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Facilitador de Pagamentos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7263" y="3255169"/>
            <a:ext cx="3695700" cy="1838325"/>
          </a:xfrm>
          <a:custGeom>
            <a:avLst/>
            <a:gdLst/>
            <a:ahLst/>
            <a:cxnLst/>
            <a:rect l="l" t="t" r="r" b="b"/>
            <a:pathLst>
              <a:path w="3695700" h="1838325">
                <a:moveTo>
                  <a:pt x="76199" y="0"/>
                </a:moveTo>
                <a:lnTo>
                  <a:pt x="3619501" y="0"/>
                </a:lnTo>
                <a:cubicBezTo>
                  <a:pt x="3661557" y="0"/>
                  <a:pt x="3695700" y="34143"/>
                  <a:pt x="3695700" y="76199"/>
                </a:cubicBezTo>
                <a:lnTo>
                  <a:pt x="3695700" y="1762126"/>
                </a:lnTo>
                <a:cubicBezTo>
                  <a:pt x="3695700" y="1804182"/>
                  <a:pt x="3661557" y="1838325"/>
                  <a:pt x="3619501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651950" y="341233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16257" y="35742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134" y="40351"/>
                </a:moveTo>
                <a:cubicBezTo>
                  <a:pt x="20985" y="27012"/>
                  <a:pt x="33207" y="17859"/>
                  <a:pt x="47104" y="17859"/>
                </a:cubicBezTo>
                <a:lnTo>
                  <a:pt x="239092" y="17859"/>
                </a:lnTo>
                <a:cubicBezTo>
                  <a:pt x="252989" y="17859"/>
                  <a:pt x="265212" y="27012"/>
                  <a:pt x="269118" y="40351"/>
                </a:cubicBezTo>
                <a:lnTo>
                  <a:pt x="282178" y="85111"/>
                </a:lnTo>
                <a:cubicBezTo>
                  <a:pt x="289322" y="109500"/>
                  <a:pt x="270960" y="133945"/>
                  <a:pt x="245566" y="133945"/>
                </a:cubicBezTo>
                <a:cubicBezTo>
                  <a:pt x="230888" y="133945"/>
                  <a:pt x="217996" y="125630"/>
                  <a:pt x="211634" y="113240"/>
                </a:cubicBezTo>
                <a:cubicBezTo>
                  <a:pt x="205160" y="125462"/>
                  <a:pt x="192323" y="133945"/>
                  <a:pt x="177366" y="133945"/>
                </a:cubicBezTo>
                <a:cubicBezTo>
                  <a:pt x="162520" y="133945"/>
                  <a:pt x="149628" y="125574"/>
                  <a:pt x="143154" y="113295"/>
                </a:cubicBezTo>
                <a:cubicBezTo>
                  <a:pt x="136680" y="125574"/>
                  <a:pt x="123788" y="133945"/>
                  <a:pt x="108942" y="133945"/>
                </a:cubicBezTo>
                <a:cubicBezTo>
                  <a:pt x="93985" y="133945"/>
                  <a:pt x="81149" y="125518"/>
                  <a:pt x="74675" y="113240"/>
                </a:cubicBezTo>
                <a:cubicBezTo>
                  <a:pt x="68312" y="125574"/>
                  <a:pt x="55420" y="133945"/>
                  <a:pt x="40742" y="133945"/>
                </a:cubicBezTo>
                <a:cubicBezTo>
                  <a:pt x="15292" y="133945"/>
                  <a:pt x="-3014" y="109556"/>
                  <a:pt x="4130" y="85111"/>
                </a:cubicBezTo>
                <a:lnTo>
                  <a:pt x="17134" y="40351"/>
                </a:lnTo>
                <a:close/>
                <a:moveTo>
                  <a:pt x="53801" y="196453"/>
                </a:moveTo>
                <a:lnTo>
                  <a:pt x="232395" y="196453"/>
                </a:lnTo>
                <a:lnTo>
                  <a:pt x="232395" y="159395"/>
                </a:lnTo>
                <a:cubicBezTo>
                  <a:pt x="236637" y="160288"/>
                  <a:pt x="241046" y="160734"/>
                  <a:pt x="245511" y="160734"/>
                </a:cubicBezTo>
                <a:cubicBezTo>
                  <a:pt x="253492" y="160734"/>
                  <a:pt x="261138" y="159283"/>
                  <a:pt x="268114" y="156716"/>
                </a:cubicBezTo>
                <a:lnTo>
                  <a:pt x="268114" y="241102"/>
                </a:lnTo>
                <a:cubicBezTo>
                  <a:pt x="268114" y="255891"/>
                  <a:pt x="256115" y="267891"/>
                  <a:pt x="241325" y="267891"/>
                </a:cubicBezTo>
                <a:lnTo>
                  <a:pt x="44872" y="267891"/>
                </a:lnTo>
                <a:cubicBezTo>
                  <a:pt x="30082" y="267891"/>
                  <a:pt x="18083" y="255891"/>
                  <a:pt x="18083" y="241102"/>
                </a:cubicBezTo>
                <a:lnTo>
                  <a:pt x="18083" y="156716"/>
                </a:lnTo>
                <a:cubicBezTo>
                  <a:pt x="25059" y="159283"/>
                  <a:pt x="32649" y="160734"/>
                  <a:pt x="40686" y="160734"/>
                </a:cubicBezTo>
                <a:cubicBezTo>
                  <a:pt x="45207" y="160734"/>
                  <a:pt x="49560" y="160288"/>
                  <a:pt x="53801" y="159395"/>
                </a:cubicBezTo>
                <a:lnTo>
                  <a:pt x="53801" y="196453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216801" y="4136231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Comerciantes Patrocinados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6326" y="4479131"/>
            <a:ext cx="345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 sejam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Comerciantes Especializados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5255419"/>
            <a:ext cx="11420475" cy="1152525"/>
          </a:xfrm>
          <a:custGeom>
            <a:avLst/>
            <a:gdLst/>
            <a:ahLst/>
            <a:cxnLst/>
            <a:rect l="l" t="t" r="r" b="b"/>
            <a:pathLst>
              <a:path w="11420475" h="1152525">
                <a:moveTo>
                  <a:pt x="76205" y="0"/>
                </a:moveTo>
                <a:lnTo>
                  <a:pt x="11344270" y="0"/>
                </a:lnTo>
                <a:cubicBezTo>
                  <a:pt x="11386357" y="0"/>
                  <a:pt x="11420475" y="34118"/>
                  <a:pt x="11420475" y="76205"/>
                </a:cubicBezTo>
                <a:lnTo>
                  <a:pt x="11420475" y="1076320"/>
                </a:lnTo>
                <a:cubicBezTo>
                  <a:pt x="11420475" y="1118407"/>
                  <a:pt x="11386357" y="1152525"/>
                  <a:pt x="113442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71500" y="5450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42975" y="5412581"/>
            <a:ext cx="1079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desta Mudança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2975" y="5755481"/>
            <a:ext cx="10782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 atualização reforça o controle da Mastercard sobre os facilitadores de pagamento que trabalham com comerciantes de alto risco, garantindo maior supervisão e conformidade regulatória no ecossistema de pagamentos.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797" y="340797"/>
            <a:ext cx="1157856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kern="0" spc="54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ATUALIZAÇÃO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797" y="613434"/>
            <a:ext cx="11663765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Revisão do Capítulo 9 - Parte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0797" y="1022390"/>
            <a:ext cx="11595606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de Registro de Comerciantes Especializados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836" y="1397266"/>
            <a:ext cx="11493367" cy="1252428"/>
          </a:xfrm>
          <a:custGeom>
            <a:avLst/>
            <a:gdLst/>
            <a:ahLst/>
            <a:cxnLst/>
            <a:rect l="l" t="t" r="r" b="b"/>
            <a:pathLst>
              <a:path w="11493367" h="1252428">
                <a:moveTo>
                  <a:pt x="34080" y="0"/>
                </a:moveTo>
                <a:lnTo>
                  <a:pt x="11425210" y="0"/>
                </a:lnTo>
                <a:cubicBezTo>
                  <a:pt x="11462852" y="0"/>
                  <a:pt x="11493367" y="30515"/>
                  <a:pt x="11493367" y="68157"/>
                </a:cubicBezTo>
                <a:lnTo>
                  <a:pt x="11493367" y="1184271"/>
                </a:lnTo>
                <a:cubicBezTo>
                  <a:pt x="11493367" y="1221913"/>
                  <a:pt x="11462852" y="1252428"/>
                  <a:pt x="11425210" y="1252428"/>
                </a:cubicBezTo>
                <a:lnTo>
                  <a:pt x="34080" y="1252428"/>
                </a:lnTo>
                <a:cubicBezTo>
                  <a:pt x="15258" y="1252428"/>
                  <a:pt x="0" y="1237170"/>
                  <a:pt x="0" y="121834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57836" y="1397266"/>
            <a:ext cx="34080" cy="1252428"/>
          </a:xfrm>
          <a:custGeom>
            <a:avLst/>
            <a:gdLst/>
            <a:ahLst/>
            <a:cxnLst/>
            <a:rect l="l" t="t" r="r" b="b"/>
            <a:pathLst>
              <a:path w="34080" h="1252428">
                <a:moveTo>
                  <a:pt x="34080" y="0"/>
                </a:moveTo>
                <a:lnTo>
                  <a:pt x="34080" y="0"/>
                </a:lnTo>
                <a:lnTo>
                  <a:pt x="34080" y="1252428"/>
                </a:lnTo>
                <a:lnTo>
                  <a:pt x="34080" y="1252428"/>
                </a:lnTo>
                <a:cubicBezTo>
                  <a:pt x="15258" y="1252428"/>
                  <a:pt x="0" y="1237170"/>
                  <a:pt x="0" y="121834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11195" y="1533585"/>
            <a:ext cx="2325937" cy="374876"/>
          </a:xfrm>
          <a:custGeom>
            <a:avLst/>
            <a:gdLst/>
            <a:ahLst/>
            <a:cxnLst/>
            <a:rect l="l" t="t" r="r" b="b"/>
            <a:pathLst>
              <a:path w="2325937" h="374876">
                <a:moveTo>
                  <a:pt x="68160" y="0"/>
                </a:moveTo>
                <a:lnTo>
                  <a:pt x="2257777" y="0"/>
                </a:lnTo>
                <a:cubicBezTo>
                  <a:pt x="2295421" y="0"/>
                  <a:pt x="2325937" y="30516"/>
                  <a:pt x="2325937" y="68160"/>
                </a:cubicBezTo>
                <a:lnTo>
                  <a:pt x="2325937" y="306716"/>
                </a:lnTo>
                <a:cubicBezTo>
                  <a:pt x="2325937" y="344360"/>
                  <a:pt x="2295421" y="374876"/>
                  <a:pt x="2257777" y="374876"/>
                </a:cubicBezTo>
                <a:lnTo>
                  <a:pt x="68160" y="374876"/>
                </a:lnTo>
                <a:cubicBezTo>
                  <a:pt x="30541" y="374876"/>
                  <a:pt x="0" y="344335"/>
                  <a:pt x="0" y="306716"/>
                </a:cubicBezTo>
                <a:lnTo>
                  <a:pt x="0" y="68160"/>
                </a:lnTo>
                <a:cubicBezTo>
                  <a:pt x="0" y="30541"/>
                  <a:pt x="30541" y="0"/>
                  <a:pt x="6816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7514" y="1635824"/>
            <a:ext cx="2129447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Vigente a partir de 01/05/2026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1195" y="2010700"/>
            <a:ext cx="11280369" cy="502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Qualquer Cliente que adquira transações realizadas pelos seguintes tipos de </a:t>
            </a:r>
            <a:r>
              <a:rPr lang="en-US" sz="120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Comerciantes Especializados</a:t>
            </a:r>
            <a:r>
              <a:rPr lang="en-US" sz="120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será considerado como um </a:t>
            </a:r>
            <a:r>
              <a:rPr lang="en-US" sz="120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Adquirente de Comerciantes Especializados</a:t>
            </a:r>
            <a:r>
              <a:rPr lang="en-US" sz="120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deverá registrar cada um desses comerciantes no aplicativo de Registro de Comerciantes Especializados no </a:t>
            </a:r>
            <a:r>
              <a:rPr lang="en-US" sz="120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 Company Performance</a:t>
            </a:r>
            <a:r>
              <a:rPr lang="en-US" sz="120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5057" y="2786013"/>
            <a:ext cx="3757283" cy="1431346"/>
          </a:xfrm>
          <a:custGeom>
            <a:avLst/>
            <a:gdLst/>
            <a:ahLst/>
            <a:cxnLst/>
            <a:rect l="l" t="t" r="r" b="b"/>
            <a:pathLst>
              <a:path w="3757283" h="1431346">
                <a:moveTo>
                  <a:pt x="68161" y="0"/>
                </a:moveTo>
                <a:lnTo>
                  <a:pt x="3689122" y="0"/>
                </a:lnTo>
                <a:cubicBezTo>
                  <a:pt x="3726766" y="0"/>
                  <a:pt x="3757283" y="30517"/>
                  <a:pt x="3757283" y="68161"/>
                </a:cubicBezTo>
                <a:lnTo>
                  <a:pt x="3757283" y="1363185"/>
                </a:lnTo>
                <a:cubicBezTo>
                  <a:pt x="3757283" y="1400829"/>
                  <a:pt x="3726766" y="1431346"/>
                  <a:pt x="3689122" y="1431346"/>
                </a:cubicBezTo>
                <a:lnTo>
                  <a:pt x="68161" y="1431346"/>
                </a:lnTo>
                <a:cubicBezTo>
                  <a:pt x="30517" y="1431346"/>
                  <a:pt x="0" y="1400829"/>
                  <a:pt x="0" y="1363185"/>
                </a:cubicBezTo>
                <a:lnTo>
                  <a:pt x="0" y="68161"/>
                </a:lnTo>
                <a:cubicBezTo>
                  <a:pt x="0" y="30517"/>
                  <a:pt x="30517" y="0"/>
                  <a:pt x="6816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0075" y="2943631"/>
            <a:ext cx="153358" cy="136319"/>
          </a:xfrm>
          <a:custGeom>
            <a:avLst/>
            <a:gdLst/>
            <a:ahLst/>
            <a:cxnLst/>
            <a:rect l="l" t="t" r="r" b="b"/>
            <a:pathLst>
              <a:path w="153358" h="136319">
                <a:moveTo>
                  <a:pt x="10916" y="-6630"/>
                </a:moveTo>
                <a:cubicBezTo>
                  <a:pt x="8413" y="-9132"/>
                  <a:pt x="4366" y="-9132"/>
                  <a:pt x="1890" y="-6630"/>
                </a:cubicBezTo>
                <a:cubicBezTo>
                  <a:pt x="-586" y="-4127"/>
                  <a:pt x="-612" y="-80"/>
                  <a:pt x="1864" y="2423"/>
                </a:cubicBezTo>
                <a:lnTo>
                  <a:pt x="142442" y="143001"/>
                </a:lnTo>
                <a:cubicBezTo>
                  <a:pt x="144945" y="145504"/>
                  <a:pt x="148992" y="145504"/>
                  <a:pt x="151468" y="143001"/>
                </a:cubicBezTo>
                <a:cubicBezTo>
                  <a:pt x="153944" y="140499"/>
                  <a:pt x="153971" y="136452"/>
                  <a:pt x="151468" y="133976"/>
                </a:cubicBezTo>
                <a:lnTo>
                  <a:pt x="82936" y="65417"/>
                </a:lnTo>
                <a:cubicBezTo>
                  <a:pt x="97580" y="62515"/>
                  <a:pt x="108629" y="49575"/>
                  <a:pt x="108629" y="34080"/>
                </a:cubicBezTo>
                <a:cubicBezTo>
                  <a:pt x="108629" y="16427"/>
                  <a:pt x="94331" y="2130"/>
                  <a:pt x="76679" y="2130"/>
                </a:cubicBezTo>
                <a:cubicBezTo>
                  <a:pt x="61184" y="2130"/>
                  <a:pt x="48244" y="13179"/>
                  <a:pt x="45342" y="27823"/>
                </a:cubicBezTo>
                <a:lnTo>
                  <a:pt x="10916" y="-6630"/>
                </a:lnTo>
                <a:close/>
                <a:moveTo>
                  <a:pt x="62728" y="81312"/>
                </a:moveTo>
                <a:cubicBezTo>
                  <a:pt x="39378" y="84294"/>
                  <a:pt x="21300" y="104236"/>
                  <a:pt x="21300" y="128411"/>
                </a:cubicBezTo>
                <a:cubicBezTo>
                  <a:pt x="21300" y="132778"/>
                  <a:pt x="24841" y="136319"/>
                  <a:pt x="29207" y="136319"/>
                </a:cubicBezTo>
                <a:lnTo>
                  <a:pt x="117735" y="136319"/>
                </a:lnTo>
                <a:lnTo>
                  <a:pt x="62728" y="8131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90113" y="2892512"/>
            <a:ext cx="1226868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Conteúdo Adulto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1556" y="3476126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1556" y="3233308"/>
            <a:ext cx="68159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5967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0982" y="3233308"/>
            <a:ext cx="783832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Telemarketing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1556" y="3791363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1556" y="3548545"/>
            <a:ext cx="63899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7841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45326" y="3548545"/>
            <a:ext cx="41747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Vídeos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16160" y="2786013"/>
            <a:ext cx="3757283" cy="1431346"/>
          </a:xfrm>
          <a:custGeom>
            <a:avLst/>
            <a:gdLst/>
            <a:ahLst/>
            <a:cxnLst/>
            <a:rect l="l" t="t" r="r" b="b"/>
            <a:pathLst>
              <a:path w="3757283" h="1431346">
                <a:moveTo>
                  <a:pt x="68161" y="0"/>
                </a:moveTo>
                <a:lnTo>
                  <a:pt x="3689122" y="0"/>
                </a:lnTo>
                <a:cubicBezTo>
                  <a:pt x="3726766" y="0"/>
                  <a:pt x="3757283" y="30517"/>
                  <a:pt x="3757283" y="68161"/>
                </a:cubicBezTo>
                <a:lnTo>
                  <a:pt x="3757283" y="1363185"/>
                </a:lnTo>
                <a:cubicBezTo>
                  <a:pt x="3757283" y="1400829"/>
                  <a:pt x="3726766" y="1431346"/>
                  <a:pt x="3689122" y="1431346"/>
                </a:cubicBezTo>
                <a:lnTo>
                  <a:pt x="68161" y="1431346"/>
                </a:lnTo>
                <a:cubicBezTo>
                  <a:pt x="30517" y="1431346"/>
                  <a:pt x="0" y="1400829"/>
                  <a:pt x="0" y="1363185"/>
                </a:cubicBezTo>
                <a:lnTo>
                  <a:pt x="0" y="68161"/>
                </a:lnTo>
                <a:cubicBezTo>
                  <a:pt x="0" y="30517"/>
                  <a:pt x="30517" y="0"/>
                  <a:pt x="6816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339699" y="2943631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37647" y="612"/>
                </a:moveTo>
                <a:cubicBezTo>
                  <a:pt x="27423" y="-2130"/>
                  <a:pt x="16907" y="3940"/>
                  <a:pt x="14191" y="14164"/>
                </a:cubicBezTo>
                <a:lnTo>
                  <a:pt x="666" y="64618"/>
                </a:lnTo>
                <a:cubicBezTo>
                  <a:pt x="-2077" y="74842"/>
                  <a:pt x="3994" y="85359"/>
                  <a:pt x="14218" y="88101"/>
                </a:cubicBezTo>
                <a:lnTo>
                  <a:pt x="64671" y="101627"/>
                </a:lnTo>
                <a:cubicBezTo>
                  <a:pt x="74895" y="104369"/>
                  <a:pt x="85412" y="98299"/>
                  <a:pt x="88155" y="88075"/>
                </a:cubicBezTo>
                <a:lnTo>
                  <a:pt x="101680" y="37621"/>
                </a:lnTo>
                <a:cubicBezTo>
                  <a:pt x="104422" y="27397"/>
                  <a:pt x="98352" y="16880"/>
                  <a:pt x="88128" y="14138"/>
                </a:cubicBezTo>
                <a:lnTo>
                  <a:pt x="37647" y="612"/>
                </a:lnTo>
                <a:close/>
                <a:moveTo>
                  <a:pt x="43771" y="55379"/>
                </a:moveTo>
                <a:cubicBezTo>
                  <a:pt x="42152" y="52739"/>
                  <a:pt x="42093" y="49428"/>
                  <a:pt x="43617" y="46732"/>
                </a:cubicBezTo>
                <a:cubicBezTo>
                  <a:pt x="45142" y="44035"/>
                  <a:pt x="48010" y="42379"/>
                  <a:pt x="51107" y="42406"/>
                </a:cubicBezTo>
                <a:cubicBezTo>
                  <a:pt x="54204" y="42432"/>
                  <a:pt x="57043" y="44138"/>
                  <a:pt x="58521" y="46860"/>
                </a:cubicBezTo>
                <a:cubicBezTo>
                  <a:pt x="60140" y="49500"/>
                  <a:pt x="60199" y="52811"/>
                  <a:pt x="58675" y="55507"/>
                </a:cubicBezTo>
                <a:cubicBezTo>
                  <a:pt x="57150" y="58204"/>
                  <a:pt x="54283" y="59860"/>
                  <a:pt x="51185" y="59833"/>
                </a:cubicBezTo>
                <a:cubicBezTo>
                  <a:pt x="48088" y="59807"/>
                  <a:pt x="45249" y="58101"/>
                  <a:pt x="43771" y="55379"/>
                </a:cubicBezTo>
                <a:close/>
                <a:moveTo>
                  <a:pt x="21087" y="58654"/>
                </a:moveTo>
                <a:cubicBezTo>
                  <a:pt x="23727" y="57035"/>
                  <a:pt x="27038" y="56976"/>
                  <a:pt x="29735" y="58501"/>
                </a:cubicBezTo>
                <a:cubicBezTo>
                  <a:pt x="32431" y="60025"/>
                  <a:pt x="34087" y="62893"/>
                  <a:pt x="34061" y="65990"/>
                </a:cubicBezTo>
                <a:cubicBezTo>
                  <a:pt x="34034" y="69087"/>
                  <a:pt x="32329" y="71926"/>
                  <a:pt x="29607" y="73404"/>
                </a:cubicBezTo>
                <a:cubicBezTo>
                  <a:pt x="26966" y="75024"/>
                  <a:pt x="23655" y="75083"/>
                  <a:pt x="20959" y="73558"/>
                </a:cubicBezTo>
                <a:cubicBezTo>
                  <a:pt x="18263" y="72033"/>
                  <a:pt x="16606" y="69166"/>
                  <a:pt x="16633" y="66068"/>
                </a:cubicBezTo>
                <a:cubicBezTo>
                  <a:pt x="16659" y="62971"/>
                  <a:pt x="18365" y="60132"/>
                  <a:pt x="21087" y="58654"/>
                </a:cubicBezTo>
                <a:close/>
                <a:moveTo>
                  <a:pt x="70343" y="84321"/>
                </a:moveTo>
                <a:cubicBezTo>
                  <a:pt x="67702" y="85940"/>
                  <a:pt x="64391" y="85999"/>
                  <a:pt x="61695" y="84474"/>
                </a:cubicBezTo>
                <a:cubicBezTo>
                  <a:pt x="58999" y="82950"/>
                  <a:pt x="57342" y="80082"/>
                  <a:pt x="57369" y="76985"/>
                </a:cubicBezTo>
                <a:cubicBezTo>
                  <a:pt x="57395" y="73887"/>
                  <a:pt x="59101" y="71049"/>
                  <a:pt x="61823" y="69570"/>
                </a:cubicBezTo>
                <a:cubicBezTo>
                  <a:pt x="64463" y="67951"/>
                  <a:pt x="67774" y="67892"/>
                  <a:pt x="70470" y="69417"/>
                </a:cubicBezTo>
                <a:cubicBezTo>
                  <a:pt x="73167" y="70941"/>
                  <a:pt x="74823" y="73809"/>
                  <a:pt x="74796" y="76906"/>
                </a:cubicBezTo>
                <a:cubicBezTo>
                  <a:pt x="74770" y="80004"/>
                  <a:pt x="73065" y="82842"/>
                  <a:pt x="70343" y="84321"/>
                </a:cubicBezTo>
                <a:close/>
                <a:moveTo>
                  <a:pt x="72739" y="28835"/>
                </a:moveTo>
                <a:cubicBezTo>
                  <a:pt x="75379" y="27215"/>
                  <a:pt x="78690" y="27156"/>
                  <a:pt x="81387" y="28681"/>
                </a:cubicBezTo>
                <a:cubicBezTo>
                  <a:pt x="84083" y="30206"/>
                  <a:pt x="85739" y="33073"/>
                  <a:pt x="85713" y="36171"/>
                </a:cubicBezTo>
                <a:cubicBezTo>
                  <a:pt x="85686" y="39268"/>
                  <a:pt x="83981" y="42107"/>
                  <a:pt x="81259" y="43585"/>
                </a:cubicBezTo>
                <a:cubicBezTo>
                  <a:pt x="78618" y="45204"/>
                  <a:pt x="75307" y="45263"/>
                  <a:pt x="72611" y="43738"/>
                </a:cubicBezTo>
                <a:cubicBezTo>
                  <a:pt x="69915" y="42214"/>
                  <a:pt x="68258" y="39346"/>
                  <a:pt x="68285" y="36249"/>
                </a:cubicBezTo>
                <a:cubicBezTo>
                  <a:pt x="68311" y="33152"/>
                  <a:pt x="70017" y="30313"/>
                  <a:pt x="72739" y="28835"/>
                </a:cubicBezTo>
                <a:close/>
                <a:moveTo>
                  <a:pt x="40523" y="32669"/>
                </a:moveTo>
                <a:cubicBezTo>
                  <a:pt x="37882" y="34288"/>
                  <a:pt x="34571" y="34347"/>
                  <a:pt x="31875" y="32822"/>
                </a:cubicBezTo>
                <a:cubicBezTo>
                  <a:pt x="29179" y="31298"/>
                  <a:pt x="27522" y="28430"/>
                  <a:pt x="27549" y="25333"/>
                </a:cubicBezTo>
                <a:cubicBezTo>
                  <a:pt x="27576" y="22235"/>
                  <a:pt x="29281" y="19397"/>
                  <a:pt x="32003" y="17918"/>
                </a:cubicBezTo>
                <a:cubicBezTo>
                  <a:pt x="34643" y="16299"/>
                  <a:pt x="37954" y="16240"/>
                  <a:pt x="40651" y="17765"/>
                </a:cubicBezTo>
                <a:cubicBezTo>
                  <a:pt x="43347" y="19289"/>
                  <a:pt x="45003" y="22157"/>
                  <a:pt x="44977" y="25254"/>
                </a:cubicBezTo>
                <a:cubicBezTo>
                  <a:pt x="44950" y="28352"/>
                  <a:pt x="43245" y="31190"/>
                  <a:pt x="40523" y="32669"/>
                </a:cubicBezTo>
                <a:close/>
                <a:moveTo>
                  <a:pt x="111291" y="51119"/>
                </a:moveTo>
                <a:lnTo>
                  <a:pt x="100482" y="91376"/>
                </a:lnTo>
                <a:cubicBezTo>
                  <a:pt x="95902" y="108416"/>
                  <a:pt x="78383" y="118533"/>
                  <a:pt x="61343" y="113981"/>
                </a:cubicBezTo>
                <a:lnTo>
                  <a:pt x="51146" y="111238"/>
                </a:lnTo>
                <a:lnTo>
                  <a:pt x="51146" y="119279"/>
                </a:lnTo>
                <a:cubicBezTo>
                  <a:pt x="51146" y="128677"/>
                  <a:pt x="58787" y="136319"/>
                  <a:pt x="68186" y="136319"/>
                </a:cubicBezTo>
                <a:lnTo>
                  <a:pt x="119305" y="136319"/>
                </a:lnTo>
                <a:cubicBezTo>
                  <a:pt x="128704" y="136319"/>
                  <a:pt x="136345" y="128677"/>
                  <a:pt x="136345" y="119279"/>
                </a:cubicBezTo>
                <a:lnTo>
                  <a:pt x="136345" y="68159"/>
                </a:lnTo>
                <a:cubicBezTo>
                  <a:pt x="136345" y="58761"/>
                  <a:pt x="128704" y="51119"/>
                  <a:pt x="119305" y="51119"/>
                </a:cubicBezTo>
                <a:lnTo>
                  <a:pt x="111291" y="51119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61217" y="2892512"/>
            <a:ext cx="1030910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Jogos de Azar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22659" y="3476126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322659" y="3233308"/>
            <a:ext cx="66455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7801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82798" y="3233308"/>
            <a:ext cx="64751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EUA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22659" y="3791363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322659" y="3548545"/>
            <a:ext cx="69011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7802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83754" y="3548545"/>
            <a:ext cx="74975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Corridas EUA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22659" y="4106600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322659" y="3863782"/>
            <a:ext cx="68159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7995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97901" y="3863782"/>
            <a:ext cx="332277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87397" y="2786013"/>
            <a:ext cx="3757283" cy="1431346"/>
          </a:xfrm>
          <a:custGeom>
            <a:avLst/>
            <a:gdLst/>
            <a:ahLst/>
            <a:cxnLst/>
            <a:rect l="l" t="t" r="r" b="b"/>
            <a:pathLst>
              <a:path w="3757283" h="1431346">
                <a:moveTo>
                  <a:pt x="68161" y="0"/>
                </a:moveTo>
                <a:lnTo>
                  <a:pt x="3689122" y="0"/>
                </a:lnTo>
                <a:cubicBezTo>
                  <a:pt x="3726766" y="0"/>
                  <a:pt x="3757283" y="30517"/>
                  <a:pt x="3757283" y="68161"/>
                </a:cubicBezTo>
                <a:lnTo>
                  <a:pt x="3757283" y="1363185"/>
                </a:lnTo>
                <a:cubicBezTo>
                  <a:pt x="3757283" y="1400829"/>
                  <a:pt x="3726766" y="1431346"/>
                  <a:pt x="3689122" y="1431346"/>
                </a:cubicBezTo>
                <a:lnTo>
                  <a:pt x="68161" y="1431346"/>
                </a:lnTo>
                <a:cubicBezTo>
                  <a:pt x="30517" y="1431346"/>
                  <a:pt x="0" y="1400829"/>
                  <a:pt x="0" y="1363185"/>
                </a:cubicBezTo>
                <a:lnTo>
                  <a:pt x="0" y="68161"/>
                </a:lnTo>
                <a:cubicBezTo>
                  <a:pt x="0" y="30517"/>
                  <a:pt x="30517" y="0"/>
                  <a:pt x="6816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8210936" y="2943631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17040" y="29820"/>
                </a:moveTo>
                <a:cubicBezTo>
                  <a:pt x="17040" y="22764"/>
                  <a:pt x="22764" y="17040"/>
                  <a:pt x="29820" y="17040"/>
                </a:cubicBezTo>
                <a:cubicBezTo>
                  <a:pt x="36875" y="17040"/>
                  <a:pt x="42600" y="22764"/>
                  <a:pt x="42600" y="29820"/>
                </a:cubicBezTo>
                <a:lnTo>
                  <a:pt x="42600" y="59639"/>
                </a:lnTo>
                <a:lnTo>
                  <a:pt x="17040" y="59639"/>
                </a:lnTo>
                <a:lnTo>
                  <a:pt x="17040" y="29820"/>
                </a:lnTo>
                <a:close/>
                <a:moveTo>
                  <a:pt x="46860" y="97979"/>
                </a:moveTo>
                <a:cubicBezTo>
                  <a:pt x="46860" y="85013"/>
                  <a:pt x="51679" y="73165"/>
                  <a:pt x="59639" y="64166"/>
                </a:cubicBezTo>
                <a:lnTo>
                  <a:pt x="59639" y="29820"/>
                </a:lnTo>
                <a:cubicBezTo>
                  <a:pt x="59639" y="13339"/>
                  <a:pt x="46300" y="0"/>
                  <a:pt x="29820" y="0"/>
                </a:cubicBezTo>
                <a:cubicBezTo>
                  <a:pt x="13339" y="0"/>
                  <a:pt x="0" y="13339"/>
                  <a:pt x="0" y="29820"/>
                </a:cubicBezTo>
                <a:lnTo>
                  <a:pt x="0" y="106499"/>
                </a:lnTo>
                <a:cubicBezTo>
                  <a:pt x="0" y="122980"/>
                  <a:pt x="13339" y="136319"/>
                  <a:pt x="29820" y="136319"/>
                </a:cubicBezTo>
                <a:cubicBezTo>
                  <a:pt x="39751" y="136319"/>
                  <a:pt x="48537" y="131473"/>
                  <a:pt x="53968" y="123991"/>
                </a:cubicBezTo>
                <a:cubicBezTo>
                  <a:pt x="49442" y="116377"/>
                  <a:pt x="46860" y="107484"/>
                  <a:pt x="46860" y="97979"/>
                </a:cubicBezTo>
                <a:close/>
                <a:moveTo>
                  <a:pt x="64086" y="115924"/>
                </a:moveTo>
                <a:cubicBezTo>
                  <a:pt x="65310" y="118240"/>
                  <a:pt x="68426" y="118507"/>
                  <a:pt x="70289" y="116643"/>
                </a:cubicBezTo>
                <a:lnTo>
                  <a:pt x="116643" y="70289"/>
                </a:lnTo>
                <a:cubicBezTo>
                  <a:pt x="118507" y="68426"/>
                  <a:pt x="118240" y="65310"/>
                  <a:pt x="115924" y="64086"/>
                </a:cubicBezTo>
                <a:cubicBezTo>
                  <a:pt x="110573" y="61237"/>
                  <a:pt x="104475" y="59639"/>
                  <a:pt x="97979" y="59639"/>
                </a:cubicBezTo>
                <a:cubicBezTo>
                  <a:pt x="76812" y="59639"/>
                  <a:pt x="59639" y="76812"/>
                  <a:pt x="59639" y="97979"/>
                </a:cubicBezTo>
                <a:cubicBezTo>
                  <a:pt x="59639" y="104449"/>
                  <a:pt x="61237" y="110573"/>
                  <a:pt x="64086" y="115924"/>
                </a:cubicBezTo>
                <a:close/>
                <a:moveTo>
                  <a:pt x="79315" y="125669"/>
                </a:moveTo>
                <a:cubicBezTo>
                  <a:pt x="77451" y="127532"/>
                  <a:pt x="77718" y="130648"/>
                  <a:pt x="80034" y="131872"/>
                </a:cubicBezTo>
                <a:cubicBezTo>
                  <a:pt x="85386" y="134721"/>
                  <a:pt x="91483" y="136319"/>
                  <a:pt x="97979" y="136319"/>
                </a:cubicBezTo>
                <a:cubicBezTo>
                  <a:pt x="119146" y="136319"/>
                  <a:pt x="136319" y="119146"/>
                  <a:pt x="136319" y="97979"/>
                </a:cubicBezTo>
                <a:cubicBezTo>
                  <a:pt x="136319" y="91509"/>
                  <a:pt x="134721" y="85386"/>
                  <a:pt x="131872" y="80034"/>
                </a:cubicBezTo>
                <a:cubicBezTo>
                  <a:pt x="130648" y="77718"/>
                  <a:pt x="127532" y="77451"/>
                  <a:pt x="125669" y="79315"/>
                </a:cubicBezTo>
                <a:lnTo>
                  <a:pt x="79315" y="125669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432454" y="2892512"/>
            <a:ext cx="1243908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Farmácias Online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93896" y="3476126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193896" y="3233308"/>
            <a:ext cx="64751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5122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8444" y="3233308"/>
            <a:ext cx="826432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Medicamentos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93896" y="3791363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193896" y="3548545"/>
            <a:ext cx="65603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5912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46156" y="3548545"/>
            <a:ext cx="55379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Drogarias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5057" y="4328117"/>
            <a:ext cx="3757283" cy="800872"/>
          </a:xfrm>
          <a:custGeom>
            <a:avLst/>
            <a:gdLst/>
            <a:ahLst/>
            <a:cxnLst/>
            <a:rect l="l" t="t" r="r" b="b"/>
            <a:pathLst>
              <a:path w="3757283" h="800872">
                <a:moveTo>
                  <a:pt x="68162" y="0"/>
                </a:moveTo>
                <a:lnTo>
                  <a:pt x="3689121" y="0"/>
                </a:lnTo>
                <a:cubicBezTo>
                  <a:pt x="3726766" y="0"/>
                  <a:pt x="3757283" y="30517"/>
                  <a:pt x="3757283" y="68162"/>
                </a:cubicBezTo>
                <a:lnTo>
                  <a:pt x="3757283" y="732710"/>
                </a:lnTo>
                <a:cubicBezTo>
                  <a:pt x="3757283" y="770355"/>
                  <a:pt x="3726766" y="800872"/>
                  <a:pt x="3689121" y="800872"/>
                </a:cubicBezTo>
                <a:lnTo>
                  <a:pt x="68162" y="800872"/>
                </a:lnTo>
                <a:cubicBezTo>
                  <a:pt x="30542" y="800872"/>
                  <a:pt x="0" y="770330"/>
                  <a:pt x="0" y="732710"/>
                </a:cubicBezTo>
                <a:lnTo>
                  <a:pt x="0" y="68162"/>
                </a:lnTo>
                <a:cubicBezTo>
                  <a:pt x="0" y="30542"/>
                  <a:pt x="30542" y="0"/>
                  <a:pt x="6816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60075" y="4485736"/>
            <a:ext cx="153358" cy="136319"/>
          </a:xfrm>
          <a:custGeom>
            <a:avLst/>
            <a:gdLst/>
            <a:ahLst/>
            <a:cxnLst/>
            <a:rect l="l" t="t" r="r" b="b"/>
            <a:pathLst>
              <a:path w="153358" h="136319">
                <a:moveTo>
                  <a:pt x="95849" y="0"/>
                </a:moveTo>
                <a:cubicBezTo>
                  <a:pt x="99390" y="0"/>
                  <a:pt x="102239" y="2849"/>
                  <a:pt x="102239" y="6390"/>
                </a:cubicBezTo>
                <a:lnTo>
                  <a:pt x="102239" y="11449"/>
                </a:lnTo>
                <a:cubicBezTo>
                  <a:pt x="102239" y="22178"/>
                  <a:pt x="106499" y="32482"/>
                  <a:pt x="114087" y="40070"/>
                </a:cubicBezTo>
                <a:lnTo>
                  <a:pt x="119678" y="45661"/>
                </a:lnTo>
                <a:cubicBezTo>
                  <a:pt x="124870" y="50853"/>
                  <a:pt x="127799" y="57882"/>
                  <a:pt x="127799" y="65231"/>
                </a:cubicBezTo>
                <a:lnTo>
                  <a:pt x="127799" y="70289"/>
                </a:lnTo>
                <a:cubicBezTo>
                  <a:pt x="127799" y="73830"/>
                  <a:pt x="124950" y="76679"/>
                  <a:pt x="121409" y="76679"/>
                </a:cubicBezTo>
                <a:cubicBezTo>
                  <a:pt x="117868" y="76679"/>
                  <a:pt x="115019" y="73830"/>
                  <a:pt x="115019" y="70289"/>
                </a:cubicBezTo>
                <a:lnTo>
                  <a:pt x="115019" y="65231"/>
                </a:lnTo>
                <a:cubicBezTo>
                  <a:pt x="115019" y="61264"/>
                  <a:pt x="113448" y="57483"/>
                  <a:pt x="110652" y="54687"/>
                </a:cubicBezTo>
                <a:lnTo>
                  <a:pt x="105061" y="49096"/>
                </a:lnTo>
                <a:cubicBezTo>
                  <a:pt x="95077" y="39112"/>
                  <a:pt x="89459" y="25560"/>
                  <a:pt x="89459" y="11449"/>
                </a:cubicBezTo>
                <a:lnTo>
                  <a:pt x="89459" y="6390"/>
                </a:lnTo>
                <a:cubicBezTo>
                  <a:pt x="89459" y="2849"/>
                  <a:pt x="92308" y="0"/>
                  <a:pt x="95849" y="0"/>
                </a:cubicBezTo>
                <a:close/>
                <a:moveTo>
                  <a:pt x="146969" y="76679"/>
                </a:moveTo>
                <a:cubicBezTo>
                  <a:pt x="143427" y="76679"/>
                  <a:pt x="140579" y="73830"/>
                  <a:pt x="140579" y="70289"/>
                </a:cubicBezTo>
                <a:lnTo>
                  <a:pt x="140579" y="65231"/>
                </a:lnTo>
                <a:cubicBezTo>
                  <a:pt x="140579" y="54501"/>
                  <a:pt x="136319" y="44197"/>
                  <a:pt x="128731" y="36609"/>
                </a:cubicBezTo>
                <a:lnTo>
                  <a:pt x="123139" y="31018"/>
                </a:lnTo>
                <a:cubicBezTo>
                  <a:pt x="117948" y="25826"/>
                  <a:pt x="115019" y="18797"/>
                  <a:pt x="115019" y="11449"/>
                </a:cubicBezTo>
                <a:lnTo>
                  <a:pt x="115019" y="6390"/>
                </a:lnTo>
                <a:cubicBezTo>
                  <a:pt x="115019" y="2849"/>
                  <a:pt x="117868" y="0"/>
                  <a:pt x="121409" y="0"/>
                </a:cubicBezTo>
                <a:cubicBezTo>
                  <a:pt x="124950" y="0"/>
                  <a:pt x="127799" y="2849"/>
                  <a:pt x="127799" y="6390"/>
                </a:cubicBezTo>
                <a:lnTo>
                  <a:pt x="127799" y="11449"/>
                </a:lnTo>
                <a:cubicBezTo>
                  <a:pt x="127799" y="15416"/>
                  <a:pt x="129370" y="19196"/>
                  <a:pt x="132165" y="21992"/>
                </a:cubicBezTo>
                <a:lnTo>
                  <a:pt x="137756" y="27583"/>
                </a:lnTo>
                <a:cubicBezTo>
                  <a:pt x="147741" y="37568"/>
                  <a:pt x="153358" y="51119"/>
                  <a:pt x="153358" y="65231"/>
                </a:cubicBezTo>
                <a:lnTo>
                  <a:pt x="153358" y="70289"/>
                </a:lnTo>
                <a:cubicBezTo>
                  <a:pt x="153358" y="73830"/>
                  <a:pt x="150510" y="76679"/>
                  <a:pt x="146969" y="76679"/>
                </a:cubicBezTo>
                <a:close/>
                <a:moveTo>
                  <a:pt x="85199" y="119279"/>
                </a:moveTo>
                <a:lnTo>
                  <a:pt x="110759" y="119279"/>
                </a:lnTo>
                <a:lnTo>
                  <a:pt x="110759" y="110759"/>
                </a:lnTo>
                <a:lnTo>
                  <a:pt x="85199" y="110759"/>
                </a:lnTo>
                <a:lnTo>
                  <a:pt x="85199" y="119279"/>
                </a:lnTo>
                <a:close/>
                <a:moveTo>
                  <a:pt x="0" y="110759"/>
                </a:moveTo>
                <a:cubicBezTo>
                  <a:pt x="0" y="101360"/>
                  <a:pt x="7641" y="93719"/>
                  <a:pt x="17040" y="93719"/>
                </a:cubicBezTo>
                <a:lnTo>
                  <a:pt x="119279" y="93719"/>
                </a:lnTo>
                <a:cubicBezTo>
                  <a:pt x="123991" y="93719"/>
                  <a:pt x="127799" y="97526"/>
                  <a:pt x="127799" y="102239"/>
                </a:cubicBezTo>
                <a:lnTo>
                  <a:pt x="127799" y="127799"/>
                </a:lnTo>
                <a:cubicBezTo>
                  <a:pt x="127799" y="132511"/>
                  <a:pt x="123991" y="136319"/>
                  <a:pt x="119279" y="136319"/>
                </a:cubicBezTo>
                <a:lnTo>
                  <a:pt x="17040" y="136319"/>
                </a:lnTo>
                <a:cubicBezTo>
                  <a:pt x="7641" y="136319"/>
                  <a:pt x="0" y="128677"/>
                  <a:pt x="0" y="119279"/>
                </a:cubicBezTo>
                <a:lnTo>
                  <a:pt x="0" y="110759"/>
                </a:lnTo>
                <a:close/>
                <a:moveTo>
                  <a:pt x="153358" y="100109"/>
                </a:moveTo>
                <a:lnTo>
                  <a:pt x="153358" y="129929"/>
                </a:lnTo>
                <a:cubicBezTo>
                  <a:pt x="153358" y="133470"/>
                  <a:pt x="150510" y="136319"/>
                  <a:pt x="146969" y="136319"/>
                </a:cubicBezTo>
                <a:cubicBezTo>
                  <a:pt x="143427" y="136319"/>
                  <a:pt x="140579" y="133470"/>
                  <a:pt x="140579" y="129929"/>
                </a:cubicBezTo>
                <a:lnTo>
                  <a:pt x="140579" y="100109"/>
                </a:lnTo>
                <a:cubicBezTo>
                  <a:pt x="140579" y="96568"/>
                  <a:pt x="143427" y="93719"/>
                  <a:pt x="146969" y="93719"/>
                </a:cubicBezTo>
                <a:cubicBezTo>
                  <a:pt x="150510" y="93719"/>
                  <a:pt x="153358" y="96568"/>
                  <a:pt x="153358" y="100109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90113" y="4434616"/>
            <a:ext cx="1209828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Tabacaria Online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1556" y="5018231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451556" y="4775413"/>
            <a:ext cx="69011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5993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447238" y="4775413"/>
            <a:ext cx="61343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Tabacarias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16160" y="4328117"/>
            <a:ext cx="3757283" cy="800872"/>
          </a:xfrm>
          <a:custGeom>
            <a:avLst/>
            <a:gdLst/>
            <a:ahLst/>
            <a:cxnLst/>
            <a:rect l="l" t="t" r="r" b="b"/>
            <a:pathLst>
              <a:path w="3757283" h="800872">
                <a:moveTo>
                  <a:pt x="68162" y="0"/>
                </a:moveTo>
                <a:lnTo>
                  <a:pt x="3689121" y="0"/>
                </a:lnTo>
                <a:cubicBezTo>
                  <a:pt x="3726766" y="0"/>
                  <a:pt x="3757283" y="30517"/>
                  <a:pt x="3757283" y="68162"/>
                </a:cubicBezTo>
                <a:lnTo>
                  <a:pt x="3757283" y="732710"/>
                </a:lnTo>
                <a:cubicBezTo>
                  <a:pt x="3757283" y="770355"/>
                  <a:pt x="3726766" y="800872"/>
                  <a:pt x="3689121" y="800872"/>
                </a:cubicBezTo>
                <a:lnTo>
                  <a:pt x="68162" y="800872"/>
                </a:lnTo>
                <a:cubicBezTo>
                  <a:pt x="30542" y="800872"/>
                  <a:pt x="0" y="770330"/>
                  <a:pt x="0" y="732710"/>
                </a:cubicBezTo>
                <a:lnTo>
                  <a:pt x="0" y="68162"/>
                </a:lnTo>
                <a:cubicBezTo>
                  <a:pt x="0" y="30542"/>
                  <a:pt x="30542" y="0"/>
                  <a:pt x="6816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4331179" y="4485736"/>
            <a:ext cx="153358" cy="136319"/>
          </a:xfrm>
          <a:custGeom>
            <a:avLst/>
            <a:gdLst/>
            <a:ahLst/>
            <a:cxnLst/>
            <a:rect l="l" t="t" r="r" b="b"/>
            <a:pathLst>
              <a:path w="153358" h="136319">
                <a:moveTo>
                  <a:pt x="0" y="34080"/>
                </a:moveTo>
                <a:cubicBezTo>
                  <a:pt x="0" y="24681"/>
                  <a:pt x="7641" y="17040"/>
                  <a:pt x="17040" y="17040"/>
                </a:cubicBezTo>
                <a:lnTo>
                  <a:pt x="136319" y="17040"/>
                </a:lnTo>
                <a:cubicBezTo>
                  <a:pt x="145717" y="17040"/>
                  <a:pt x="153358" y="24681"/>
                  <a:pt x="153358" y="34080"/>
                </a:cubicBezTo>
                <a:lnTo>
                  <a:pt x="153358" y="51119"/>
                </a:lnTo>
                <a:cubicBezTo>
                  <a:pt x="153358" y="53462"/>
                  <a:pt x="151388" y="55300"/>
                  <a:pt x="149178" y="56072"/>
                </a:cubicBezTo>
                <a:cubicBezTo>
                  <a:pt x="144173" y="57802"/>
                  <a:pt x="140579" y="62568"/>
                  <a:pt x="140579" y="68159"/>
                </a:cubicBezTo>
                <a:cubicBezTo>
                  <a:pt x="140579" y="73751"/>
                  <a:pt x="144173" y="78516"/>
                  <a:pt x="149178" y="80247"/>
                </a:cubicBezTo>
                <a:cubicBezTo>
                  <a:pt x="151388" y="81019"/>
                  <a:pt x="153358" y="82856"/>
                  <a:pt x="153358" y="85199"/>
                </a:cubicBezTo>
                <a:lnTo>
                  <a:pt x="153358" y="102239"/>
                </a:lnTo>
                <a:cubicBezTo>
                  <a:pt x="153358" y="111638"/>
                  <a:pt x="145717" y="119279"/>
                  <a:pt x="136319" y="119279"/>
                </a:cubicBezTo>
                <a:lnTo>
                  <a:pt x="17040" y="119279"/>
                </a:lnTo>
                <a:cubicBezTo>
                  <a:pt x="7641" y="119279"/>
                  <a:pt x="0" y="111638"/>
                  <a:pt x="0" y="102239"/>
                </a:cubicBezTo>
                <a:lnTo>
                  <a:pt x="0" y="85199"/>
                </a:lnTo>
                <a:cubicBezTo>
                  <a:pt x="0" y="82856"/>
                  <a:pt x="1970" y="81019"/>
                  <a:pt x="4180" y="80247"/>
                </a:cubicBezTo>
                <a:cubicBezTo>
                  <a:pt x="9186" y="78516"/>
                  <a:pt x="12780" y="73751"/>
                  <a:pt x="12780" y="68159"/>
                </a:cubicBezTo>
                <a:cubicBezTo>
                  <a:pt x="12780" y="62568"/>
                  <a:pt x="9186" y="57802"/>
                  <a:pt x="4180" y="56072"/>
                </a:cubicBezTo>
                <a:cubicBezTo>
                  <a:pt x="1970" y="55300"/>
                  <a:pt x="0" y="53462"/>
                  <a:pt x="0" y="51119"/>
                </a:cubicBezTo>
                <a:lnTo>
                  <a:pt x="0" y="34080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561217" y="4434616"/>
            <a:ext cx="1192788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Loterias Estatais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22659" y="5018231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322659" y="4775413"/>
            <a:ext cx="69863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9406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64645" y="4775413"/>
            <a:ext cx="46859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Loterias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087397" y="4328117"/>
            <a:ext cx="3757283" cy="800872"/>
          </a:xfrm>
          <a:custGeom>
            <a:avLst/>
            <a:gdLst/>
            <a:ahLst/>
            <a:cxnLst/>
            <a:rect l="l" t="t" r="r" b="b"/>
            <a:pathLst>
              <a:path w="3757283" h="800872">
                <a:moveTo>
                  <a:pt x="68162" y="0"/>
                </a:moveTo>
                <a:lnTo>
                  <a:pt x="3689121" y="0"/>
                </a:lnTo>
                <a:cubicBezTo>
                  <a:pt x="3726766" y="0"/>
                  <a:pt x="3757283" y="30517"/>
                  <a:pt x="3757283" y="68162"/>
                </a:cubicBezTo>
                <a:lnTo>
                  <a:pt x="3757283" y="732710"/>
                </a:lnTo>
                <a:cubicBezTo>
                  <a:pt x="3757283" y="770355"/>
                  <a:pt x="3726766" y="800872"/>
                  <a:pt x="3689121" y="800872"/>
                </a:cubicBezTo>
                <a:lnTo>
                  <a:pt x="68162" y="800872"/>
                </a:lnTo>
                <a:cubicBezTo>
                  <a:pt x="30542" y="800872"/>
                  <a:pt x="0" y="770330"/>
                  <a:pt x="0" y="732710"/>
                </a:cubicBezTo>
                <a:lnTo>
                  <a:pt x="0" y="68162"/>
                </a:lnTo>
                <a:cubicBezTo>
                  <a:pt x="0" y="30542"/>
                  <a:pt x="30542" y="0"/>
                  <a:pt x="6816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8193896" y="4485736"/>
            <a:ext cx="170398" cy="136319"/>
          </a:xfrm>
          <a:custGeom>
            <a:avLst/>
            <a:gdLst/>
            <a:ahLst/>
            <a:cxnLst/>
            <a:rect l="l" t="t" r="r" b="b"/>
            <a:pathLst>
              <a:path w="170398" h="136319">
                <a:moveTo>
                  <a:pt x="119279" y="17040"/>
                </a:moveTo>
                <a:cubicBezTo>
                  <a:pt x="147501" y="17040"/>
                  <a:pt x="170398" y="39937"/>
                  <a:pt x="170398" y="68159"/>
                </a:cubicBezTo>
                <a:cubicBezTo>
                  <a:pt x="170398" y="96382"/>
                  <a:pt x="147501" y="119279"/>
                  <a:pt x="119279" y="119279"/>
                </a:cubicBezTo>
                <a:lnTo>
                  <a:pt x="51119" y="119279"/>
                </a:lnTo>
                <a:cubicBezTo>
                  <a:pt x="22897" y="119279"/>
                  <a:pt x="0" y="96382"/>
                  <a:pt x="0" y="68159"/>
                </a:cubicBezTo>
                <a:cubicBezTo>
                  <a:pt x="0" y="39937"/>
                  <a:pt x="22897" y="17040"/>
                  <a:pt x="51119" y="17040"/>
                </a:cubicBezTo>
                <a:lnTo>
                  <a:pt x="119279" y="17040"/>
                </a:lnTo>
                <a:close/>
                <a:moveTo>
                  <a:pt x="51119" y="46860"/>
                </a:moveTo>
                <a:cubicBezTo>
                  <a:pt x="47578" y="46860"/>
                  <a:pt x="44730" y="49708"/>
                  <a:pt x="44730" y="53249"/>
                </a:cubicBezTo>
                <a:lnTo>
                  <a:pt x="44730" y="61769"/>
                </a:lnTo>
                <a:lnTo>
                  <a:pt x="36210" y="61769"/>
                </a:lnTo>
                <a:cubicBezTo>
                  <a:pt x="32669" y="61769"/>
                  <a:pt x="29820" y="64618"/>
                  <a:pt x="29820" y="68159"/>
                </a:cubicBezTo>
                <a:cubicBezTo>
                  <a:pt x="29820" y="71700"/>
                  <a:pt x="32669" y="74549"/>
                  <a:pt x="36210" y="74549"/>
                </a:cubicBezTo>
                <a:lnTo>
                  <a:pt x="44730" y="74549"/>
                </a:lnTo>
                <a:lnTo>
                  <a:pt x="44730" y="83069"/>
                </a:lnTo>
                <a:cubicBezTo>
                  <a:pt x="44730" y="86610"/>
                  <a:pt x="47578" y="89459"/>
                  <a:pt x="51119" y="89459"/>
                </a:cubicBezTo>
                <a:cubicBezTo>
                  <a:pt x="54661" y="89459"/>
                  <a:pt x="57509" y="86610"/>
                  <a:pt x="57509" y="83069"/>
                </a:cubicBezTo>
                <a:lnTo>
                  <a:pt x="57509" y="74549"/>
                </a:lnTo>
                <a:lnTo>
                  <a:pt x="66029" y="74549"/>
                </a:lnTo>
                <a:cubicBezTo>
                  <a:pt x="69570" y="74549"/>
                  <a:pt x="72419" y="71700"/>
                  <a:pt x="72419" y="68159"/>
                </a:cubicBezTo>
                <a:cubicBezTo>
                  <a:pt x="72419" y="64618"/>
                  <a:pt x="69570" y="61769"/>
                  <a:pt x="66029" y="61769"/>
                </a:cubicBezTo>
                <a:lnTo>
                  <a:pt x="57509" y="61769"/>
                </a:lnTo>
                <a:lnTo>
                  <a:pt x="57509" y="53249"/>
                </a:lnTo>
                <a:cubicBezTo>
                  <a:pt x="57509" y="49708"/>
                  <a:pt x="54661" y="46860"/>
                  <a:pt x="51119" y="46860"/>
                </a:cubicBezTo>
                <a:close/>
                <a:moveTo>
                  <a:pt x="115019" y="72419"/>
                </a:moveTo>
                <a:cubicBezTo>
                  <a:pt x="110317" y="72419"/>
                  <a:pt x="106499" y="76237"/>
                  <a:pt x="106499" y="80939"/>
                </a:cubicBezTo>
                <a:cubicBezTo>
                  <a:pt x="106499" y="85641"/>
                  <a:pt x="110317" y="89459"/>
                  <a:pt x="115019" y="89459"/>
                </a:cubicBezTo>
                <a:cubicBezTo>
                  <a:pt x="119721" y="89459"/>
                  <a:pt x="123539" y="85641"/>
                  <a:pt x="123539" y="80939"/>
                </a:cubicBezTo>
                <a:cubicBezTo>
                  <a:pt x="123539" y="76237"/>
                  <a:pt x="119721" y="72419"/>
                  <a:pt x="115019" y="72419"/>
                </a:cubicBezTo>
                <a:close/>
                <a:moveTo>
                  <a:pt x="132059" y="46860"/>
                </a:moveTo>
                <a:cubicBezTo>
                  <a:pt x="127356" y="46860"/>
                  <a:pt x="123539" y="50677"/>
                  <a:pt x="123539" y="55379"/>
                </a:cubicBezTo>
                <a:cubicBezTo>
                  <a:pt x="123539" y="60082"/>
                  <a:pt x="127356" y="63899"/>
                  <a:pt x="132059" y="63899"/>
                </a:cubicBezTo>
                <a:cubicBezTo>
                  <a:pt x="136761" y="63899"/>
                  <a:pt x="140579" y="60082"/>
                  <a:pt x="140579" y="55379"/>
                </a:cubicBezTo>
                <a:cubicBezTo>
                  <a:pt x="140579" y="50677"/>
                  <a:pt x="136761" y="46860"/>
                  <a:pt x="132059" y="4686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8432454" y="4434616"/>
            <a:ext cx="1448386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Jogos de Habilidade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93896" y="5018231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193896" y="4775413"/>
            <a:ext cx="67307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7994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03448" y="4775413"/>
            <a:ext cx="69863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Videogames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45057" y="5239748"/>
            <a:ext cx="3757283" cy="800872"/>
          </a:xfrm>
          <a:custGeom>
            <a:avLst/>
            <a:gdLst/>
            <a:ahLst/>
            <a:cxnLst/>
            <a:rect l="l" t="t" r="r" b="b"/>
            <a:pathLst>
              <a:path w="3757283" h="800872">
                <a:moveTo>
                  <a:pt x="68162" y="0"/>
                </a:moveTo>
                <a:lnTo>
                  <a:pt x="3689121" y="0"/>
                </a:lnTo>
                <a:cubicBezTo>
                  <a:pt x="3726766" y="0"/>
                  <a:pt x="3757283" y="30517"/>
                  <a:pt x="3757283" y="68162"/>
                </a:cubicBezTo>
                <a:lnTo>
                  <a:pt x="3757283" y="732710"/>
                </a:lnTo>
                <a:cubicBezTo>
                  <a:pt x="3757283" y="770355"/>
                  <a:pt x="3726766" y="800872"/>
                  <a:pt x="3689121" y="800872"/>
                </a:cubicBezTo>
                <a:lnTo>
                  <a:pt x="68162" y="800872"/>
                </a:lnTo>
                <a:cubicBezTo>
                  <a:pt x="30542" y="800872"/>
                  <a:pt x="0" y="770330"/>
                  <a:pt x="0" y="732710"/>
                </a:cubicBezTo>
                <a:lnTo>
                  <a:pt x="0" y="68162"/>
                </a:lnTo>
                <a:cubicBezTo>
                  <a:pt x="0" y="30542"/>
                  <a:pt x="30542" y="0"/>
                  <a:pt x="6816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485635" y="5397367"/>
            <a:ext cx="102239" cy="136319"/>
          </a:xfrm>
          <a:custGeom>
            <a:avLst/>
            <a:gdLst/>
            <a:ahLst/>
            <a:cxnLst/>
            <a:rect l="l" t="t" r="r" b="b"/>
            <a:pathLst>
              <a:path w="102239" h="136319">
                <a:moveTo>
                  <a:pt x="34080" y="25560"/>
                </a:moveTo>
                <a:lnTo>
                  <a:pt x="34080" y="42600"/>
                </a:lnTo>
                <a:lnTo>
                  <a:pt x="68159" y="42600"/>
                </a:lnTo>
                <a:lnTo>
                  <a:pt x="68159" y="25560"/>
                </a:lnTo>
                <a:cubicBezTo>
                  <a:pt x="68159" y="16161"/>
                  <a:pt x="60518" y="8520"/>
                  <a:pt x="51119" y="8520"/>
                </a:cubicBezTo>
                <a:cubicBezTo>
                  <a:pt x="41721" y="8520"/>
                  <a:pt x="34080" y="16161"/>
                  <a:pt x="34080" y="25560"/>
                </a:cubicBezTo>
                <a:close/>
                <a:moveTo>
                  <a:pt x="17040" y="42600"/>
                </a:moveTo>
                <a:lnTo>
                  <a:pt x="17040" y="25560"/>
                </a:lnTo>
                <a:cubicBezTo>
                  <a:pt x="17040" y="6736"/>
                  <a:pt x="32296" y="-8520"/>
                  <a:pt x="51119" y="-8520"/>
                </a:cubicBezTo>
                <a:cubicBezTo>
                  <a:pt x="69943" y="-8520"/>
                  <a:pt x="85199" y="6736"/>
                  <a:pt x="85199" y="25560"/>
                </a:cubicBezTo>
                <a:lnTo>
                  <a:pt x="85199" y="42600"/>
                </a:lnTo>
                <a:cubicBezTo>
                  <a:pt x="94598" y="42600"/>
                  <a:pt x="102239" y="50241"/>
                  <a:pt x="102239" y="59639"/>
                </a:cubicBezTo>
                <a:lnTo>
                  <a:pt x="102239" y="119279"/>
                </a:lnTo>
                <a:cubicBezTo>
                  <a:pt x="102239" y="128677"/>
                  <a:pt x="94598" y="136319"/>
                  <a:pt x="85199" y="136319"/>
                </a:cubicBezTo>
                <a:lnTo>
                  <a:pt x="17040" y="136319"/>
                </a:lnTo>
                <a:cubicBezTo>
                  <a:pt x="7641" y="136319"/>
                  <a:pt x="0" y="128677"/>
                  <a:pt x="0" y="119279"/>
                </a:cubicBezTo>
                <a:lnTo>
                  <a:pt x="0" y="59639"/>
                </a:lnTo>
                <a:cubicBezTo>
                  <a:pt x="0" y="50241"/>
                  <a:pt x="7641" y="42600"/>
                  <a:pt x="17040" y="4260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690113" y="5346247"/>
            <a:ext cx="1192788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Cybersegurança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51556" y="5929862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451556" y="5687044"/>
            <a:ext cx="65603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4816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483314" y="5687044"/>
            <a:ext cx="57935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Alto Risco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216160" y="5239748"/>
            <a:ext cx="3757283" cy="800872"/>
          </a:xfrm>
          <a:custGeom>
            <a:avLst/>
            <a:gdLst/>
            <a:ahLst/>
            <a:cxnLst/>
            <a:rect l="l" t="t" r="r" b="b"/>
            <a:pathLst>
              <a:path w="3757283" h="800872">
                <a:moveTo>
                  <a:pt x="68162" y="0"/>
                </a:moveTo>
                <a:lnTo>
                  <a:pt x="3689121" y="0"/>
                </a:lnTo>
                <a:cubicBezTo>
                  <a:pt x="3726766" y="0"/>
                  <a:pt x="3757283" y="30517"/>
                  <a:pt x="3757283" y="68162"/>
                </a:cubicBezTo>
                <a:lnTo>
                  <a:pt x="3757283" y="732710"/>
                </a:lnTo>
                <a:cubicBezTo>
                  <a:pt x="3757283" y="770355"/>
                  <a:pt x="3726766" y="800872"/>
                  <a:pt x="3689121" y="800872"/>
                </a:cubicBezTo>
                <a:lnTo>
                  <a:pt x="68162" y="800872"/>
                </a:lnTo>
                <a:cubicBezTo>
                  <a:pt x="30542" y="800872"/>
                  <a:pt x="0" y="770330"/>
                  <a:pt x="0" y="732710"/>
                </a:cubicBezTo>
                <a:lnTo>
                  <a:pt x="0" y="68162"/>
                </a:lnTo>
                <a:cubicBezTo>
                  <a:pt x="0" y="30542"/>
                  <a:pt x="30542" y="0"/>
                  <a:pt x="6816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4339699" y="5397367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8520" y="8520"/>
                </a:moveTo>
                <a:cubicBezTo>
                  <a:pt x="13232" y="8520"/>
                  <a:pt x="17040" y="12327"/>
                  <a:pt x="17040" y="17040"/>
                </a:cubicBezTo>
                <a:lnTo>
                  <a:pt x="17040" y="106499"/>
                </a:lnTo>
                <a:cubicBezTo>
                  <a:pt x="17040" y="108842"/>
                  <a:pt x="18957" y="110759"/>
                  <a:pt x="21300" y="110759"/>
                </a:cubicBezTo>
                <a:lnTo>
                  <a:pt x="127799" y="110759"/>
                </a:lnTo>
                <a:cubicBezTo>
                  <a:pt x="132511" y="110759"/>
                  <a:pt x="136319" y="114566"/>
                  <a:pt x="136319" y="119279"/>
                </a:cubicBezTo>
                <a:cubicBezTo>
                  <a:pt x="136319" y="123991"/>
                  <a:pt x="132511" y="127799"/>
                  <a:pt x="127799" y="127799"/>
                </a:cubicBezTo>
                <a:lnTo>
                  <a:pt x="21300" y="127799"/>
                </a:lnTo>
                <a:cubicBezTo>
                  <a:pt x="9532" y="127799"/>
                  <a:pt x="0" y="118267"/>
                  <a:pt x="0" y="106499"/>
                </a:cubicBezTo>
                <a:lnTo>
                  <a:pt x="0" y="17040"/>
                </a:lnTo>
                <a:cubicBezTo>
                  <a:pt x="0" y="12327"/>
                  <a:pt x="3807" y="8520"/>
                  <a:pt x="8520" y="8520"/>
                </a:cubicBezTo>
                <a:close/>
                <a:moveTo>
                  <a:pt x="34080" y="25560"/>
                </a:moveTo>
                <a:cubicBezTo>
                  <a:pt x="34080" y="20847"/>
                  <a:pt x="37887" y="17040"/>
                  <a:pt x="42600" y="17040"/>
                </a:cubicBezTo>
                <a:lnTo>
                  <a:pt x="93719" y="17040"/>
                </a:lnTo>
                <a:cubicBezTo>
                  <a:pt x="98432" y="17040"/>
                  <a:pt x="102239" y="20847"/>
                  <a:pt x="102239" y="25560"/>
                </a:cubicBezTo>
                <a:cubicBezTo>
                  <a:pt x="102239" y="30272"/>
                  <a:pt x="98432" y="34080"/>
                  <a:pt x="93719" y="34080"/>
                </a:cubicBezTo>
                <a:lnTo>
                  <a:pt x="42600" y="34080"/>
                </a:lnTo>
                <a:cubicBezTo>
                  <a:pt x="37887" y="34080"/>
                  <a:pt x="34080" y="30272"/>
                  <a:pt x="34080" y="25560"/>
                </a:cubicBezTo>
                <a:close/>
                <a:moveTo>
                  <a:pt x="42600" y="46860"/>
                </a:moveTo>
                <a:lnTo>
                  <a:pt x="76679" y="46860"/>
                </a:lnTo>
                <a:cubicBezTo>
                  <a:pt x="81392" y="46860"/>
                  <a:pt x="85199" y="50667"/>
                  <a:pt x="85199" y="55379"/>
                </a:cubicBezTo>
                <a:cubicBezTo>
                  <a:pt x="85199" y="60092"/>
                  <a:pt x="81392" y="63899"/>
                  <a:pt x="76679" y="63899"/>
                </a:cubicBezTo>
                <a:lnTo>
                  <a:pt x="42600" y="63899"/>
                </a:lnTo>
                <a:cubicBezTo>
                  <a:pt x="37887" y="63899"/>
                  <a:pt x="34080" y="60092"/>
                  <a:pt x="34080" y="55379"/>
                </a:cubicBezTo>
                <a:cubicBezTo>
                  <a:pt x="34080" y="50667"/>
                  <a:pt x="37887" y="46860"/>
                  <a:pt x="42600" y="46860"/>
                </a:cubicBezTo>
                <a:close/>
                <a:moveTo>
                  <a:pt x="42600" y="76679"/>
                </a:moveTo>
                <a:lnTo>
                  <a:pt x="110759" y="76679"/>
                </a:lnTo>
                <a:cubicBezTo>
                  <a:pt x="115471" y="76679"/>
                  <a:pt x="119279" y="80487"/>
                  <a:pt x="119279" y="85199"/>
                </a:cubicBezTo>
                <a:cubicBezTo>
                  <a:pt x="119279" y="89912"/>
                  <a:pt x="115471" y="93719"/>
                  <a:pt x="110759" y="93719"/>
                </a:cubicBezTo>
                <a:lnTo>
                  <a:pt x="42600" y="93719"/>
                </a:lnTo>
                <a:cubicBezTo>
                  <a:pt x="37887" y="93719"/>
                  <a:pt x="34080" y="89912"/>
                  <a:pt x="34080" y="85199"/>
                </a:cubicBezTo>
                <a:cubicBezTo>
                  <a:pt x="34080" y="80487"/>
                  <a:pt x="37887" y="76679"/>
                  <a:pt x="42600" y="76679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4561217" y="5346247"/>
            <a:ext cx="1448386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Títulos de Alto Risco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22659" y="5929862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4322659" y="5687044"/>
            <a:ext cx="62195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6211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885690" y="5687044"/>
            <a:ext cx="1047950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Valores Mobiliários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087397" y="5239748"/>
            <a:ext cx="3757283" cy="800872"/>
          </a:xfrm>
          <a:custGeom>
            <a:avLst/>
            <a:gdLst/>
            <a:ahLst/>
            <a:cxnLst/>
            <a:rect l="l" t="t" r="r" b="b"/>
            <a:pathLst>
              <a:path w="3757283" h="800872">
                <a:moveTo>
                  <a:pt x="68162" y="0"/>
                </a:moveTo>
                <a:lnTo>
                  <a:pt x="3689121" y="0"/>
                </a:lnTo>
                <a:cubicBezTo>
                  <a:pt x="3726766" y="0"/>
                  <a:pt x="3757283" y="30517"/>
                  <a:pt x="3757283" y="68162"/>
                </a:cubicBezTo>
                <a:lnTo>
                  <a:pt x="3757283" y="732710"/>
                </a:lnTo>
                <a:cubicBezTo>
                  <a:pt x="3757283" y="770355"/>
                  <a:pt x="3726766" y="800872"/>
                  <a:pt x="3689121" y="800872"/>
                </a:cubicBezTo>
                <a:lnTo>
                  <a:pt x="68162" y="800872"/>
                </a:lnTo>
                <a:cubicBezTo>
                  <a:pt x="30542" y="800872"/>
                  <a:pt x="0" y="770330"/>
                  <a:pt x="0" y="732710"/>
                </a:cubicBezTo>
                <a:lnTo>
                  <a:pt x="0" y="68162"/>
                </a:lnTo>
                <a:cubicBezTo>
                  <a:pt x="0" y="30542"/>
                  <a:pt x="30542" y="0"/>
                  <a:pt x="6816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8210936" y="5397367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17546" y="60838"/>
                </a:moveTo>
                <a:cubicBezTo>
                  <a:pt x="21087" y="36077"/>
                  <a:pt x="42413" y="17040"/>
                  <a:pt x="68159" y="17040"/>
                </a:cubicBezTo>
                <a:cubicBezTo>
                  <a:pt x="82270" y="17040"/>
                  <a:pt x="95050" y="22764"/>
                  <a:pt x="104316" y="32003"/>
                </a:cubicBezTo>
                <a:cubicBezTo>
                  <a:pt x="104369" y="32056"/>
                  <a:pt x="104422" y="32109"/>
                  <a:pt x="104475" y="32163"/>
                </a:cubicBezTo>
                <a:lnTo>
                  <a:pt x="106499" y="34080"/>
                </a:lnTo>
                <a:lnTo>
                  <a:pt x="93746" y="34080"/>
                </a:lnTo>
                <a:cubicBezTo>
                  <a:pt x="89033" y="34080"/>
                  <a:pt x="85226" y="37887"/>
                  <a:pt x="85226" y="42600"/>
                </a:cubicBezTo>
                <a:cubicBezTo>
                  <a:pt x="85226" y="47312"/>
                  <a:pt x="89033" y="51119"/>
                  <a:pt x="93746" y="51119"/>
                </a:cubicBezTo>
                <a:lnTo>
                  <a:pt x="127825" y="51119"/>
                </a:lnTo>
                <a:cubicBezTo>
                  <a:pt x="132538" y="51119"/>
                  <a:pt x="136345" y="47312"/>
                  <a:pt x="136345" y="42600"/>
                </a:cubicBezTo>
                <a:lnTo>
                  <a:pt x="136345" y="8520"/>
                </a:lnTo>
                <a:cubicBezTo>
                  <a:pt x="136345" y="3807"/>
                  <a:pt x="132538" y="0"/>
                  <a:pt x="127825" y="0"/>
                </a:cubicBezTo>
                <a:cubicBezTo>
                  <a:pt x="123113" y="0"/>
                  <a:pt x="119305" y="3807"/>
                  <a:pt x="119305" y="8520"/>
                </a:cubicBezTo>
                <a:lnTo>
                  <a:pt x="119305" y="22738"/>
                </a:lnTo>
                <a:lnTo>
                  <a:pt x="116297" y="19889"/>
                </a:lnTo>
                <a:cubicBezTo>
                  <a:pt x="103970" y="7615"/>
                  <a:pt x="86930" y="0"/>
                  <a:pt x="68159" y="0"/>
                </a:cubicBezTo>
                <a:cubicBezTo>
                  <a:pt x="33813" y="0"/>
                  <a:pt x="5405" y="25400"/>
                  <a:pt x="692" y="58441"/>
                </a:cubicBezTo>
                <a:cubicBezTo>
                  <a:pt x="27" y="63101"/>
                  <a:pt x="3248" y="67414"/>
                  <a:pt x="7908" y="68079"/>
                </a:cubicBezTo>
                <a:cubicBezTo>
                  <a:pt x="12567" y="68745"/>
                  <a:pt x="16880" y="65497"/>
                  <a:pt x="17546" y="60864"/>
                </a:cubicBezTo>
                <a:close/>
                <a:moveTo>
                  <a:pt x="135626" y="77877"/>
                </a:moveTo>
                <a:cubicBezTo>
                  <a:pt x="136292" y="73218"/>
                  <a:pt x="133044" y="68905"/>
                  <a:pt x="128411" y="68239"/>
                </a:cubicBezTo>
                <a:cubicBezTo>
                  <a:pt x="123778" y="67574"/>
                  <a:pt x="119439" y="70822"/>
                  <a:pt x="118773" y="75455"/>
                </a:cubicBezTo>
                <a:cubicBezTo>
                  <a:pt x="115232" y="100216"/>
                  <a:pt x="93905" y="119252"/>
                  <a:pt x="68159" y="119252"/>
                </a:cubicBezTo>
                <a:cubicBezTo>
                  <a:pt x="54048" y="119252"/>
                  <a:pt x="41268" y="113528"/>
                  <a:pt x="32003" y="104289"/>
                </a:cubicBezTo>
                <a:cubicBezTo>
                  <a:pt x="31950" y="104236"/>
                  <a:pt x="31896" y="104183"/>
                  <a:pt x="31843" y="104129"/>
                </a:cubicBezTo>
                <a:lnTo>
                  <a:pt x="29820" y="102212"/>
                </a:lnTo>
                <a:lnTo>
                  <a:pt x="42573" y="102212"/>
                </a:lnTo>
                <a:cubicBezTo>
                  <a:pt x="47286" y="102212"/>
                  <a:pt x="51093" y="98405"/>
                  <a:pt x="51093" y="93692"/>
                </a:cubicBezTo>
                <a:cubicBezTo>
                  <a:pt x="51093" y="88980"/>
                  <a:pt x="47286" y="85173"/>
                  <a:pt x="42573" y="85173"/>
                </a:cubicBezTo>
                <a:lnTo>
                  <a:pt x="8520" y="85199"/>
                </a:lnTo>
                <a:cubicBezTo>
                  <a:pt x="6257" y="85199"/>
                  <a:pt x="4074" y="86104"/>
                  <a:pt x="2476" y="87729"/>
                </a:cubicBezTo>
                <a:cubicBezTo>
                  <a:pt x="879" y="89353"/>
                  <a:pt x="-27" y="91509"/>
                  <a:pt x="0" y="93799"/>
                </a:cubicBezTo>
                <a:lnTo>
                  <a:pt x="266" y="127612"/>
                </a:lnTo>
                <a:cubicBezTo>
                  <a:pt x="293" y="132325"/>
                  <a:pt x="4153" y="136106"/>
                  <a:pt x="8866" y="136052"/>
                </a:cubicBezTo>
                <a:cubicBezTo>
                  <a:pt x="13579" y="135999"/>
                  <a:pt x="17359" y="132165"/>
                  <a:pt x="17306" y="127453"/>
                </a:cubicBezTo>
                <a:lnTo>
                  <a:pt x="17200" y="113741"/>
                </a:lnTo>
                <a:lnTo>
                  <a:pt x="20048" y="116430"/>
                </a:lnTo>
                <a:cubicBezTo>
                  <a:pt x="32376" y="128704"/>
                  <a:pt x="49389" y="136319"/>
                  <a:pt x="68159" y="136319"/>
                </a:cubicBezTo>
                <a:cubicBezTo>
                  <a:pt x="102505" y="136319"/>
                  <a:pt x="130914" y="110919"/>
                  <a:pt x="135626" y="77877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8432454" y="5346247"/>
            <a:ext cx="96275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Criptomoeda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93896" y="5929862"/>
            <a:ext cx="3544285" cy="8520"/>
          </a:xfrm>
          <a:custGeom>
            <a:avLst/>
            <a:gdLst/>
            <a:ahLst/>
            <a:cxnLst/>
            <a:rect l="l" t="t" r="r" b="b"/>
            <a:pathLst>
              <a:path w="3544285" h="8520">
                <a:moveTo>
                  <a:pt x="0" y="0"/>
                </a:moveTo>
                <a:lnTo>
                  <a:pt x="3544285" y="0"/>
                </a:lnTo>
                <a:lnTo>
                  <a:pt x="3544285" y="8520"/>
                </a:lnTo>
                <a:lnTo>
                  <a:pt x="0" y="85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8193896" y="5687044"/>
            <a:ext cx="62195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6211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422279" y="5687044"/>
            <a:ext cx="37487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Cripto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45057" y="6185459"/>
            <a:ext cx="11501887" cy="417476"/>
          </a:xfrm>
          <a:custGeom>
            <a:avLst/>
            <a:gdLst/>
            <a:ahLst/>
            <a:cxnLst/>
            <a:rect l="l" t="t" r="r" b="b"/>
            <a:pathLst>
              <a:path w="11501887" h="417476">
                <a:moveTo>
                  <a:pt x="68161" y="0"/>
                </a:moveTo>
                <a:lnTo>
                  <a:pt x="11433726" y="0"/>
                </a:lnTo>
                <a:cubicBezTo>
                  <a:pt x="11471370" y="0"/>
                  <a:pt x="11501887" y="30517"/>
                  <a:pt x="11501887" y="68161"/>
                </a:cubicBezTo>
                <a:lnTo>
                  <a:pt x="11501887" y="349315"/>
                </a:lnTo>
                <a:cubicBezTo>
                  <a:pt x="11501887" y="386959"/>
                  <a:pt x="11471370" y="417476"/>
                  <a:pt x="11433726" y="417476"/>
                </a:cubicBezTo>
                <a:lnTo>
                  <a:pt x="68161" y="417476"/>
                </a:lnTo>
                <a:cubicBezTo>
                  <a:pt x="30517" y="417476"/>
                  <a:pt x="0" y="386959"/>
                  <a:pt x="0" y="349315"/>
                </a:cubicBezTo>
                <a:lnTo>
                  <a:pt x="0" y="68161"/>
                </a:lnTo>
                <a:cubicBezTo>
                  <a:pt x="0" y="30517"/>
                  <a:pt x="30517" y="0"/>
                  <a:pt x="68161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468595" y="6326038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68159" y="136319"/>
                </a:moveTo>
                <a:cubicBezTo>
                  <a:pt x="105777" y="136319"/>
                  <a:pt x="136319" y="105777"/>
                  <a:pt x="136319" y="68159"/>
                </a:cubicBezTo>
                <a:cubicBezTo>
                  <a:pt x="136319" y="30541"/>
                  <a:pt x="105777" y="0"/>
                  <a:pt x="68159" y="0"/>
                </a:cubicBezTo>
                <a:cubicBezTo>
                  <a:pt x="30541" y="0"/>
                  <a:pt x="0" y="30541"/>
                  <a:pt x="0" y="68159"/>
                </a:cubicBezTo>
                <a:cubicBezTo>
                  <a:pt x="0" y="105777"/>
                  <a:pt x="30541" y="136319"/>
                  <a:pt x="68159" y="136319"/>
                </a:cubicBezTo>
                <a:close/>
                <a:moveTo>
                  <a:pt x="59639" y="42600"/>
                </a:moveTo>
                <a:cubicBezTo>
                  <a:pt x="59639" y="37897"/>
                  <a:pt x="63457" y="34080"/>
                  <a:pt x="68159" y="34080"/>
                </a:cubicBezTo>
                <a:cubicBezTo>
                  <a:pt x="72862" y="34080"/>
                  <a:pt x="76679" y="37897"/>
                  <a:pt x="76679" y="42600"/>
                </a:cubicBezTo>
                <a:cubicBezTo>
                  <a:pt x="76679" y="47302"/>
                  <a:pt x="72862" y="51119"/>
                  <a:pt x="68159" y="51119"/>
                </a:cubicBezTo>
                <a:cubicBezTo>
                  <a:pt x="63457" y="51119"/>
                  <a:pt x="59639" y="47302"/>
                  <a:pt x="59639" y="42600"/>
                </a:cubicBezTo>
                <a:close/>
                <a:moveTo>
                  <a:pt x="57509" y="59639"/>
                </a:moveTo>
                <a:lnTo>
                  <a:pt x="70289" y="59639"/>
                </a:lnTo>
                <a:cubicBezTo>
                  <a:pt x="73830" y="59639"/>
                  <a:pt x="76679" y="62488"/>
                  <a:pt x="76679" y="66029"/>
                </a:cubicBezTo>
                <a:lnTo>
                  <a:pt x="76679" y="89459"/>
                </a:lnTo>
                <a:lnTo>
                  <a:pt x="78809" y="89459"/>
                </a:lnTo>
                <a:cubicBezTo>
                  <a:pt x="82350" y="89459"/>
                  <a:pt x="85199" y="92308"/>
                  <a:pt x="85199" y="95849"/>
                </a:cubicBezTo>
                <a:cubicBezTo>
                  <a:pt x="85199" y="99390"/>
                  <a:pt x="82350" y="102239"/>
                  <a:pt x="78809" y="102239"/>
                </a:cubicBezTo>
                <a:lnTo>
                  <a:pt x="57509" y="102239"/>
                </a:lnTo>
                <a:cubicBezTo>
                  <a:pt x="53968" y="102239"/>
                  <a:pt x="51119" y="99390"/>
                  <a:pt x="51119" y="95849"/>
                </a:cubicBezTo>
                <a:cubicBezTo>
                  <a:pt x="51119" y="92308"/>
                  <a:pt x="53968" y="89459"/>
                  <a:pt x="57509" y="89459"/>
                </a:cubicBezTo>
                <a:lnTo>
                  <a:pt x="63899" y="89459"/>
                </a:lnTo>
                <a:lnTo>
                  <a:pt x="63899" y="72419"/>
                </a:lnTo>
                <a:lnTo>
                  <a:pt x="57509" y="72419"/>
                </a:lnTo>
                <a:cubicBezTo>
                  <a:pt x="53968" y="72419"/>
                  <a:pt x="51119" y="69570"/>
                  <a:pt x="51119" y="66029"/>
                </a:cubicBezTo>
                <a:cubicBezTo>
                  <a:pt x="51119" y="62488"/>
                  <a:pt x="53968" y="59639"/>
                  <a:pt x="57509" y="5963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667679" y="6291958"/>
            <a:ext cx="1114092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5968:</a:t>
            </a:r>
            <a:r>
              <a:rPr lang="en-US" sz="107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Faturamento por opção negativa - Comerciantes que vendem produtos físicos com cobrança recorrente.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ATUALIZAÇÃO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Revisão do Capítulo 9 - Parte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 de Registro e Penalidades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5619750" cy="3810000"/>
          </a:xfrm>
          <a:custGeom>
            <a:avLst/>
            <a:gdLst/>
            <a:ahLst/>
            <a:cxnLst/>
            <a:rect l="l" t="t" r="r" b="b"/>
            <a:pathLst>
              <a:path w="5619750" h="38100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3733800"/>
                </a:lnTo>
                <a:cubicBezTo>
                  <a:pt x="5619750" y="3775856"/>
                  <a:pt x="5585606" y="3810000"/>
                  <a:pt x="5543550" y="3810000"/>
                </a:cubicBezTo>
                <a:lnTo>
                  <a:pt x="38100" y="3810000"/>
                </a:lnTo>
                <a:cubicBezTo>
                  <a:pt x="17072" y="3810000"/>
                  <a:pt x="0" y="3792928"/>
                  <a:pt x="0" y="3771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00050" y="1562100"/>
            <a:ext cx="38100" cy="3810000"/>
          </a:xfrm>
          <a:custGeom>
            <a:avLst/>
            <a:gdLst/>
            <a:ahLst/>
            <a:cxnLst/>
            <a:rect l="l" t="t" r="r" b="b"/>
            <a:pathLst>
              <a:path w="38100" h="3810000">
                <a:moveTo>
                  <a:pt x="38100" y="0"/>
                </a:moveTo>
                <a:lnTo>
                  <a:pt x="38100" y="0"/>
                </a:lnTo>
                <a:lnTo>
                  <a:pt x="38100" y="3810000"/>
                </a:lnTo>
                <a:lnTo>
                  <a:pt x="38100" y="3810000"/>
                </a:lnTo>
                <a:cubicBezTo>
                  <a:pt x="17072" y="3810000"/>
                  <a:pt x="0" y="3792928"/>
                  <a:pt x="0" y="3771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66750" y="1790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95350" y="1752600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Requisitos de Registro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209800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685800"/>
                </a:lnTo>
                <a:cubicBezTo>
                  <a:pt x="5219700" y="727856"/>
                  <a:pt x="5185556" y="762000"/>
                  <a:pt x="5143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239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03672" y="24479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43000" y="232410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Registro de URLs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628900"/>
            <a:ext cx="448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utilizada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transações deve ser registrada no cadastro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086100"/>
            <a:ext cx="5219700" cy="990600"/>
          </a:xfrm>
          <a:custGeom>
            <a:avLst/>
            <a:gdLst/>
            <a:ahLst/>
            <a:cxnLst/>
            <a:rect l="l" t="t" r="r" b="b"/>
            <a:pathLst>
              <a:path w="5219700" h="9906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914403"/>
                </a:lnTo>
                <a:cubicBezTo>
                  <a:pt x="5219700" y="956485"/>
                  <a:pt x="5185585" y="990600"/>
                  <a:pt x="5143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23900" y="323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12006" y="3324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0006"/>
                </a:lnTo>
                <a:cubicBezTo>
                  <a:pt x="133350" y="40812"/>
                  <a:pt x="125875" y="33337"/>
                  <a:pt x="116681" y="33337"/>
                </a:cubicBezTo>
                <a:lnTo>
                  <a:pt x="18752" y="33337"/>
                </a:lnTo>
                <a:cubicBezTo>
                  <a:pt x="15288" y="33337"/>
                  <a:pt x="12502" y="30551"/>
                  <a:pt x="12502" y="27087"/>
                </a:cubicBezTo>
                <a:cubicBezTo>
                  <a:pt x="12502" y="23623"/>
                  <a:pt x="15288" y="20836"/>
                  <a:pt x="18752" y="20836"/>
                </a:cubicBezTo>
                <a:lnTo>
                  <a:pt x="118765" y="20836"/>
                </a:lnTo>
                <a:cubicBezTo>
                  <a:pt x="122229" y="20836"/>
                  <a:pt x="125016" y="18049"/>
                  <a:pt x="125016" y="14585"/>
                </a:cubicBezTo>
                <a:cubicBezTo>
                  <a:pt x="125016" y="11121"/>
                  <a:pt x="122229" y="8334"/>
                  <a:pt x="118765" y="8334"/>
                </a:cubicBezTo>
                <a:lnTo>
                  <a:pt x="16669" y="8334"/>
                </a:lnTo>
                <a:close/>
                <a:moveTo>
                  <a:pt x="108347" y="66675"/>
                </a:moveTo>
                <a:cubicBezTo>
                  <a:pt x="112947" y="66675"/>
                  <a:pt x="116681" y="70410"/>
                  <a:pt x="116681" y="75009"/>
                </a:cubicBezTo>
                <a:cubicBezTo>
                  <a:pt x="116681" y="79609"/>
                  <a:pt x="112947" y="83344"/>
                  <a:pt x="108347" y="83344"/>
                </a:cubicBezTo>
                <a:cubicBezTo>
                  <a:pt x="103747" y="83344"/>
                  <a:pt x="100013" y="79609"/>
                  <a:pt x="100013" y="75009"/>
                </a:cubicBezTo>
                <a:cubicBezTo>
                  <a:pt x="100013" y="70410"/>
                  <a:pt x="103747" y="66675"/>
                  <a:pt x="108347" y="6667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143000" y="3200400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Carteiras Digitais (SWO)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505200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de cada website individual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 ser registrado individualmente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191000"/>
            <a:ext cx="5219700" cy="990600"/>
          </a:xfrm>
          <a:custGeom>
            <a:avLst/>
            <a:gdLst/>
            <a:ahLst/>
            <a:cxnLst/>
            <a:rect l="l" t="t" r="r" b="b"/>
            <a:pathLst>
              <a:path w="5219700" h="9906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914403"/>
                </a:lnTo>
                <a:cubicBezTo>
                  <a:pt x="5219700" y="956485"/>
                  <a:pt x="5185585" y="990600"/>
                  <a:pt x="5143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23900" y="434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95338" y="44291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6695" y="16669"/>
                </a:moveTo>
                <a:cubicBezTo>
                  <a:pt x="16695" y="7475"/>
                  <a:pt x="24170" y="0"/>
                  <a:pt x="33364" y="0"/>
                </a:cubicBezTo>
                <a:lnTo>
                  <a:pt x="72301" y="0"/>
                </a:lnTo>
                <a:cubicBezTo>
                  <a:pt x="76728" y="0"/>
                  <a:pt x="80974" y="1745"/>
                  <a:pt x="84099" y="4870"/>
                </a:cubicBezTo>
                <a:lnTo>
                  <a:pt x="111811" y="32634"/>
                </a:lnTo>
                <a:cubicBezTo>
                  <a:pt x="114936" y="35760"/>
                  <a:pt x="116681" y="40005"/>
                  <a:pt x="116681" y="44433"/>
                </a:cubicBezTo>
                <a:lnTo>
                  <a:pt x="116681" y="69826"/>
                </a:lnTo>
                <a:lnTo>
                  <a:pt x="82302" y="104206"/>
                </a:lnTo>
                <a:lnTo>
                  <a:pt x="71337" y="104206"/>
                </a:lnTo>
                <a:lnTo>
                  <a:pt x="67144" y="90246"/>
                </a:lnTo>
                <a:cubicBezTo>
                  <a:pt x="65920" y="86157"/>
                  <a:pt x="62169" y="83370"/>
                  <a:pt x="57898" y="83370"/>
                </a:cubicBezTo>
                <a:cubicBezTo>
                  <a:pt x="54955" y="83370"/>
                  <a:pt x="52194" y="84698"/>
                  <a:pt x="50371" y="86990"/>
                </a:cubicBezTo>
                <a:lnTo>
                  <a:pt x="34718" y="106524"/>
                </a:lnTo>
                <a:cubicBezTo>
                  <a:pt x="32556" y="109206"/>
                  <a:pt x="32999" y="113165"/>
                  <a:pt x="35682" y="115301"/>
                </a:cubicBezTo>
                <a:cubicBezTo>
                  <a:pt x="38364" y="117437"/>
                  <a:pt x="42323" y="117020"/>
                  <a:pt x="44459" y="114311"/>
                </a:cubicBezTo>
                <a:lnTo>
                  <a:pt x="56726" y="98997"/>
                </a:lnTo>
                <a:lnTo>
                  <a:pt x="60685" y="112202"/>
                </a:lnTo>
                <a:cubicBezTo>
                  <a:pt x="61466" y="114858"/>
                  <a:pt x="63914" y="116655"/>
                  <a:pt x="66675" y="116655"/>
                </a:cubicBezTo>
                <a:lnTo>
                  <a:pt x="74879" y="116655"/>
                </a:lnTo>
                <a:cubicBezTo>
                  <a:pt x="74645" y="117463"/>
                  <a:pt x="74436" y="118296"/>
                  <a:pt x="74280" y="119129"/>
                </a:cubicBezTo>
                <a:lnTo>
                  <a:pt x="71441" y="133324"/>
                </a:lnTo>
                <a:lnTo>
                  <a:pt x="33364" y="133324"/>
                </a:lnTo>
                <a:cubicBezTo>
                  <a:pt x="24170" y="133324"/>
                  <a:pt x="16695" y="125849"/>
                  <a:pt x="16695" y="116655"/>
                </a:cubicBezTo>
                <a:lnTo>
                  <a:pt x="16695" y="16643"/>
                </a:lnTo>
                <a:close/>
                <a:moveTo>
                  <a:pt x="70868" y="15236"/>
                </a:moveTo>
                <a:lnTo>
                  <a:pt x="70868" y="39588"/>
                </a:lnTo>
                <a:cubicBezTo>
                  <a:pt x="70868" y="43052"/>
                  <a:pt x="73655" y="45839"/>
                  <a:pt x="77119" y="45839"/>
                </a:cubicBezTo>
                <a:lnTo>
                  <a:pt x="101471" y="45839"/>
                </a:lnTo>
                <a:lnTo>
                  <a:pt x="70868" y="15236"/>
                </a:lnTo>
                <a:close/>
                <a:moveTo>
                  <a:pt x="86547" y="121604"/>
                </a:moveTo>
                <a:cubicBezTo>
                  <a:pt x="87198" y="118374"/>
                  <a:pt x="88787" y="115405"/>
                  <a:pt x="91105" y="113087"/>
                </a:cubicBezTo>
                <a:lnTo>
                  <a:pt x="122073" y="82120"/>
                </a:lnTo>
                <a:lnTo>
                  <a:pt x="142908" y="102956"/>
                </a:lnTo>
                <a:lnTo>
                  <a:pt x="111941" y="133923"/>
                </a:lnTo>
                <a:cubicBezTo>
                  <a:pt x="109623" y="136241"/>
                  <a:pt x="106654" y="137830"/>
                  <a:pt x="103424" y="138481"/>
                </a:cubicBezTo>
                <a:lnTo>
                  <a:pt x="87902" y="141580"/>
                </a:lnTo>
                <a:cubicBezTo>
                  <a:pt x="87667" y="141632"/>
                  <a:pt x="87407" y="141658"/>
                  <a:pt x="87146" y="141658"/>
                </a:cubicBezTo>
                <a:cubicBezTo>
                  <a:pt x="85063" y="141658"/>
                  <a:pt x="83344" y="139965"/>
                  <a:pt x="83344" y="137856"/>
                </a:cubicBezTo>
                <a:cubicBezTo>
                  <a:pt x="83344" y="137595"/>
                  <a:pt x="83370" y="137361"/>
                  <a:pt x="83422" y="137100"/>
                </a:cubicBezTo>
                <a:lnTo>
                  <a:pt x="86521" y="121578"/>
                </a:lnTo>
                <a:close/>
                <a:moveTo>
                  <a:pt x="156296" y="89568"/>
                </a:moveTo>
                <a:lnTo>
                  <a:pt x="148795" y="97069"/>
                </a:lnTo>
                <a:lnTo>
                  <a:pt x="127959" y="76233"/>
                </a:lnTo>
                <a:lnTo>
                  <a:pt x="135460" y="68733"/>
                </a:lnTo>
                <a:cubicBezTo>
                  <a:pt x="141216" y="62977"/>
                  <a:pt x="150540" y="62977"/>
                  <a:pt x="156296" y="68733"/>
                </a:cubicBezTo>
                <a:cubicBezTo>
                  <a:pt x="162052" y="74488"/>
                  <a:pt x="162052" y="83813"/>
                  <a:pt x="156296" y="8956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143000" y="4305300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Consentimento Prévio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610100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poderá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haver aquisição sem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consentimento prévio e expresso por escrito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Mastercard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963" y="1566863"/>
            <a:ext cx="5629275" cy="3800475"/>
          </a:xfrm>
          <a:custGeom>
            <a:avLst/>
            <a:gdLst/>
            <a:ahLst/>
            <a:cxnLst/>
            <a:rect l="l" t="t" r="r" b="b"/>
            <a:pathLst>
              <a:path w="5629275" h="3800475">
                <a:moveTo>
                  <a:pt x="76200" y="0"/>
                </a:moveTo>
                <a:lnTo>
                  <a:pt x="5553075" y="0"/>
                </a:lnTo>
                <a:cubicBezTo>
                  <a:pt x="5595159" y="0"/>
                  <a:pt x="5629275" y="34116"/>
                  <a:pt x="5629275" y="76200"/>
                </a:cubicBezTo>
                <a:lnTo>
                  <a:pt x="5629275" y="3724275"/>
                </a:lnTo>
                <a:cubicBezTo>
                  <a:pt x="5629275" y="3766359"/>
                  <a:pt x="5595159" y="3800475"/>
                  <a:pt x="5553075" y="3800475"/>
                </a:cubicBezTo>
                <a:lnTo>
                  <a:pt x="76200" y="3800475"/>
                </a:lnTo>
                <a:cubicBezTo>
                  <a:pt x="34116" y="3800475"/>
                  <a:pt x="0" y="3766359"/>
                  <a:pt x="0" y="37242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443663" y="1800225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657975" y="1762125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Taxas e Multas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2225" y="2219325"/>
            <a:ext cx="5238750" cy="1028700"/>
          </a:xfrm>
          <a:custGeom>
            <a:avLst/>
            <a:gdLst/>
            <a:ahLst/>
            <a:cxnLst/>
            <a:rect l="l" t="t" r="r" b="b"/>
            <a:pathLst>
              <a:path w="5238750" h="1028700">
                <a:moveTo>
                  <a:pt x="76196" y="0"/>
                </a:moveTo>
                <a:lnTo>
                  <a:pt x="5162554" y="0"/>
                </a:lnTo>
                <a:cubicBezTo>
                  <a:pt x="5204636" y="0"/>
                  <a:pt x="5238750" y="34114"/>
                  <a:pt x="5238750" y="76196"/>
                </a:cubicBezTo>
                <a:lnTo>
                  <a:pt x="5238750" y="952504"/>
                </a:lnTo>
                <a:cubicBezTo>
                  <a:pt x="5238750" y="994586"/>
                  <a:pt x="5204636" y="1028700"/>
                  <a:pt x="516255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510338" y="2381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42863"/>
                </a:moveTo>
                <a:lnTo>
                  <a:pt x="0" y="53578"/>
                </a:lnTo>
                <a:lnTo>
                  <a:pt x="171450" y="53578"/>
                </a:lnTo>
                <a:lnTo>
                  <a:pt x="171450" y="42863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close/>
                <a:moveTo>
                  <a:pt x="0" y="69652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9652"/>
                </a:lnTo>
                <a:lnTo>
                  <a:pt x="0" y="69652"/>
                </a:lnTo>
                <a:close/>
                <a:moveTo>
                  <a:pt x="21431" y="120551"/>
                </a:moveTo>
                <a:cubicBezTo>
                  <a:pt x="21431" y="116097"/>
                  <a:pt x="25014" y="112514"/>
                  <a:pt x="29468" y="112514"/>
                </a:cubicBezTo>
                <a:lnTo>
                  <a:pt x="45541" y="112514"/>
                </a:lnTo>
                <a:cubicBezTo>
                  <a:pt x="49995" y="112514"/>
                  <a:pt x="53578" y="116097"/>
                  <a:pt x="53578" y="120551"/>
                </a:cubicBezTo>
                <a:cubicBezTo>
                  <a:pt x="53578" y="125004"/>
                  <a:pt x="49995" y="128588"/>
                  <a:pt x="45541" y="128588"/>
                </a:cubicBezTo>
                <a:lnTo>
                  <a:pt x="29468" y="128588"/>
                </a:lnTo>
                <a:cubicBezTo>
                  <a:pt x="25014" y="128588"/>
                  <a:pt x="21431" y="125004"/>
                  <a:pt x="21431" y="120551"/>
                </a:cubicBezTo>
                <a:close/>
                <a:moveTo>
                  <a:pt x="69652" y="120551"/>
                </a:moveTo>
                <a:cubicBezTo>
                  <a:pt x="69652" y="116097"/>
                  <a:pt x="73235" y="112514"/>
                  <a:pt x="77688" y="112514"/>
                </a:cubicBez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7688" y="128588"/>
                </a:lnTo>
                <a:cubicBezTo>
                  <a:pt x="73235" y="128588"/>
                  <a:pt x="69652" y="125004"/>
                  <a:pt x="69652" y="12055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705600" y="233362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Taxa Anual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86525" y="2676525"/>
            <a:ext cx="5086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Mastercard irá cobrar uma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anual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cada comerciante especializado ou patrocinado. Valor informado no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MCBS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1275" y="3362325"/>
            <a:ext cx="5219700" cy="1657350"/>
          </a:xfrm>
          <a:custGeom>
            <a:avLst/>
            <a:gdLst/>
            <a:ahLst/>
            <a:cxnLst/>
            <a:rect l="l" t="t" r="r" b="b"/>
            <a:pathLst>
              <a:path w="5219700" h="1657350">
                <a:moveTo>
                  <a:pt x="38100" y="0"/>
                </a:moveTo>
                <a:lnTo>
                  <a:pt x="5143495" y="0"/>
                </a:lnTo>
                <a:cubicBezTo>
                  <a:pt x="5185582" y="0"/>
                  <a:pt x="5219700" y="34118"/>
                  <a:pt x="5219700" y="76205"/>
                </a:cubicBezTo>
                <a:lnTo>
                  <a:pt x="5219700" y="1581145"/>
                </a:lnTo>
                <a:cubicBezTo>
                  <a:pt x="5219700" y="1623232"/>
                  <a:pt x="5185582" y="1657350"/>
                  <a:pt x="5143495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391275" y="3362325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548438" y="3524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743700" y="3476625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Multa por Não Registro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24625" y="4129088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  <a:lnTo>
                  <a:pt x="4972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24625" y="3857625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Multa inicial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43865" y="3857625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até USD 10.000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24625" y="4519613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  <a:lnTo>
                  <a:pt x="4972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524625" y="424815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Após 10 dias (3 meses)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407253" y="424815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5.000/mês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24625" y="46386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Após 3 meses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29714" y="4638675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25.000/mês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5763" y="5529263"/>
            <a:ext cx="11420475" cy="904875"/>
          </a:xfrm>
          <a:custGeom>
            <a:avLst/>
            <a:gdLst/>
            <a:ahLst/>
            <a:cxnLst/>
            <a:rect l="l" t="t" r="r" b="b"/>
            <a:pathLst>
              <a:path w="11420475" h="90487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828675"/>
                </a:lnTo>
                <a:cubicBezTo>
                  <a:pt x="11420475" y="870759"/>
                  <a:pt x="11386359" y="904875"/>
                  <a:pt x="1134427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571500" y="5724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942975" y="5686425"/>
            <a:ext cx="1064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Consequência da Violação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42975" y="6029325"/>
            <a:ext cx="10639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Caso o adquirente transacione um comerciante especializado </a:t>
            </a: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o Registro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 Mastercard irá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avaliar o cliente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será necessária a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correção imediata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violação.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Taxas e Multas dos Programas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19750" cy="4067175"/>
          </a:xfrm>
          <a:custGeom>
            <a:avLst/>
            <a:gdLst/>
            <a:ahLst/>
            <a:cxnLst/>
            <a:rect l="l" t="t" r="r" b="b"/>
            <a:pathLst>
              <a:path w="5619750" h="4067175">
                <a:moveTo>
                  <a:pt x="38100" y="0"/>
                </a:moveTo>
                <a:lnTo>
                  <a:pt x="5543531" y="0"/>
                </a:lnTo>
                <a:cubicBezTo>
                  <a:pt x="5585626" y="0"/>
                  <a:pt x="5619750" y="34124"/>
                  <a:pt x="5619750" y="76219"/>
                </a:cubicBezTo>
                <a:lnTo>
                  <a:pt x="5619750" y="3990956"/>
                </a:lnTo>
                <a:cubicBezTo>
                  <a:pt x="5619750" y="4033051"/>
                  <a:pt x="5585626" y="4067175"/>
                  <a:pt x="5543531" y="4067175"/>
                </a:cubicBezTo>
                <a:lnTo>
                  <a:pt x="38100" y="4067175"/>
                </a:lnTo>
                <a:cubicBezTo>
                  <a:pt x="17072" y="4067175"/>
                  <a:pt x="0" y="4050103"/>
                  <a:pt x="0" y="4029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4067175"/>
          </a:xfrm>
          <a:custGeom>
            <a:avLst/>
            <a:gdLst/>
            <a:ahLst/>
            <a:cxnLst/>
            <a:rect l="l" t="t" r="r" b="b"/>
            <a:pathLst>
              <a:path w="38100" h="4067175">
                <a:moveTo>
                  <a:pt x="38100" y="0"/>
                </a:moveTo>
                <a:lnTo>
                  <a:pt x="38100" y="0"/>
                </a:lnTo>
                <a:lnTo>
                  <a:pt x="38100" y="4067175"/>
                </a:lnTo>
                <a:lnTo>
                  <a:pt x="38100" y="4067175"/>
                </a:lnTo>
                <a:cubicBezTo>
                  <a:pt x="17072" y="4067175"/>
                  <a:pt x="0" y="4050103"/>
                  <a:pt x="0" y="4029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09600" y="1409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62000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57150"/>
                </a:moveTo>
                <a:lnTo>
                  <a:pt x="0" y="71438"/>
                </a:lnTo>
                <a:lnTo>
                  <a:pt x="228600" y="71438"/>
                </a:ln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close/>
                <a:moveTo>
                  <a:pt x="0" y="92869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92869"/>
                </a:lnTo>
                <a:lnTo>
                  <a:pt x="0" y="92869"/>
                </a:lnTo>
                <a:close/>
                <a:moveTo>
                  <a:pt x="28575" y="160734"/>
                </a:moveTo>
                <a:cubicBezTo>
                  <a:pt x="28575" y="154796"/>
                  <a:pt x="33352" y="150019"/>
                  <a:pt x="39291" y="150019"/>
                </a:cubicBezTo>
                <a:lnTo>
                  <a:pt x="60722" y="150019"/>
                </a:lnTo>
                <a:cubicBezTo>
                  <a:pt x="66660" y="150019"/>
                  <a:pt x="71438" y="154796"/>
                  <a:pt x="71438" y="160734"/>
                </a:cubicBezTo>
                <a:cubicBezTo>
                  <a:pt x="71438" y="166673"/>
                  <a:pt x="66660" y="171450"/>
                  <a:pt x="60722" y="171450"/>
                </a:cubicBezTo>
                <a:lnTo>
                  <a:pt x="39291" y="171450"/>
                </a:lnTo>
                <a:cubicBezTo>
                  <a:pt x="33352" y="171450"/>
                  <a:pt x="28575" y="166673"/>
                  <a:pt x="28575" y="160734"/>
                </a:cubicBezTo>
                <a:close/>
                <a:moveTo>
                  <a:pt x="92869" y="160734"/>
                </a:moveTo>
                <a:cubicBezTo>
                  <a:pt x="92869" y="154796"/>
                  <a:pt x="97646" y="150019"/>
                  <a:pt x="103584" y="150019"/>
                </a:cubicBez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103584" y="171450"/>
                </a:lnTo>
                <a:cubicBezTo>
                  <a:pt x="97646" y="171450"/>
                  <a:pt x="92869" y="166673"/>
                  <a:pt x="92869" y="160734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57300" y="1504950"/>
            <a:ext cx="77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095500"/>
            <a:ext cx="5219700" cy="1228725"/>
          </a:xfrm>
          <a:custGeom>
            <a:avLst/>
            <a:gdLst/>
            <a:ahLst/>
            <a:cxnLst/>
            <a:rect l="l" t="t" r="r" b="b"/>
            <a:pathLst>
              <a:path w="5219700" h="1228725">
                <a:moveTo>
                  <a:pt x="76206" y="0"/>
                </a:moveTo>
                <a:lnTo>
                  <a:pt x="5143494" y="0"/>
                </a:lnTo>
                <a:cubicBezTo>
                  <a:pt x="5185582" y="0"/>
                  <a:pt x="5219700" y="34118"/>
                  <a:pt x="5219700" y="76206"/>
                </a:cubicBezTo>
                <a:lnTo>
                  <a:pt x="5219700" y="1152519"/>
                </a:lnTo>
                <a:cubicBezTo>
                  <a:pt x="5219700" y="1194607"/>
                  <a:pt x="5185582" y="1228725"/>
                  <a:pt x="5143494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47713" y="2257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140509"/>
                </a:moveTo>
                <a:lnTo>
                  <a:pt x="0" y="36668"/>
                </a:lnTo>
                <a:cubicBezTo>
                  <a:pt x="0" y="28899"/>
                  <a:pt x="8070" y="23742"/>
                  <a:pt x="15504" y="25952"/>
                </a:cubicBezTo>
                <a:cubicBezTo>
                  <a:pt x="44872" y="34725"/>
                  <a:pt x="65633" y="27794"/>
                  <a:pt x="86529" y="20828"/>
                </a:cubicBezTo>
                <a:cubicBezTo>
                  <a:pt x="108127" y="13629"/>
                  <a:pt x="129860" y="6396"/>
                  <a:pt x="161304" y="16442"/>
                </a:cubicBezTo>
                <a:cubicBezTo>
                  <a:pt x="167499" y="18417"/>
                  <a:pt x="171450" y="24412"/>
                  <a:pt x="171450" y="30941"/>
                </a:cubicBezTo>
                <a:lnTo>
                  <a:pt x="171450" y="134782"/>
                </a:lnTo>
                <a:cubicBezTo>
                  <a:pt x="171450" y="142551"/>
                  <a:pt x="163380" y="147708"/>
                  <a:pt x="155979" y="145498"/>
                </a:cubicBezTo>
                <a:cubicBezTo>
                  <a:pt x="126612" y="136725"/>
                  <a:pt x="105817" y="143656"/>
                  <a:pt x="84955" y="150622"/>
                </a:cubicBezTo>
                <a:cubicBezTo>
                  <a:pt x="63356" y="157821"/>
                  <a:pt x="41624" y="165054"/>
                  <a:pt x="10180" y="155008"/>
                </a:cubicBezTo>
                <a:cubicBezTo>
                  <a:pt x="3985" y="153033"/>
                  <a:pt x="33" y="147038"/>
                  <a:pt x="33" y="140509"/>
                </a:cubicBezTo>
                <a:close/>
                <a:moveTo>
                  <a:pt x="112514" y="85725"/>
                </a:moveTo>
                <a:cubicBezTo>
                  <a:pt x="112514" y="67977"/>
                  <a:pt x="100526" y="53578"/>
                  <a:pt x="85725" y="53578"/>
                </a:cubicBezTo>
                <a:cubicBezTo>
                  <a:pt x="70924" y="53578"/>
                  <a:pt x="58936" y="67977"/>
                  <a:pt x="58936" y="85725"/>
                </a:cubicBezTo>
                <a:cubicBezTo>
                  <a:pt x="58936" y="103473"/>
                  <a:pt x="70924" y="117872"/>
                  <a:pt x="85725" y="117872"/>
                </a:cubicBezTo>
                <a:cubicBezTo>
                  <a:pt x="100526" y="117872"/>
                  <a:pt x="112514" y="103473"/>
                  <a:pt x="112514" y="85725"/>
                </a:cubicBezTo>
                <a:close/>
                <a:moveTo>
                  <a:pt x="40184" y="138499"/>
                </a:moveTo>
                <a:cubicBezTo>
                  <a:pt x="41657" y="138499"/>
                  <a:pt x="42829" y="137227"/>
                  <a:pt x="42595" y="135787"/>
                </a:cubicBezTo>
                <a:cubicBezTo>
                  <a:pt x="41054" y="126478"/>
                  <a:pt x="33553" y="119211"/>
                  <a:pt x="24110" y="118039"/>
                </a:cubicBezTo>
                <a:cubicBezTo>
                  <a:pt x="22637" y="117872"/>
                  <a:pt x="21431" y="119077"/>
                  <a:pt x="21431" y="120551"/>
                </a:cubicBezTo>
                <a:lnTo>
                  <a:pt x="21431" y="133912"/>
                </a:lnTo>
                <a:cubicBezTo>
                  <a:pt x="21431" y="135117"/>
                  <a:pt x="22235" y="136189"/>
                  <a:pt x="23440" y="136490"/>
                </a:cubicBezTo>
                <a:cubicBezTo>
                  <a:pt x="29434" y="137897"/>
                  <a:pt x="34926" y="138533"/>
                  <a:pt x="40184" y="138533"/>
                </a:cubicBezTo>
                <a:close/>
                <a:moveTo>
                  <a:pt x="146838" y="121388"/>
                </a:moveTo>
                <a:cubicBezTo>
                  <a:pt x="148512" y="121656"/>
                  <a:pt x="150019" y="120383"/>
                  <a:pt x="150019" y="118709"/>
                </a:cubicBezTo>
                <a:lnTo>
                  <a:pt x="150019" y="104444"/>
                </a:lnTo>
                <a:cubicBezTo>
                  <a:pt x="150019" y="102970"/>
                  <a:pt x="148813" y="101731"/>
                  <a:pt x="147340" y="101932"/>
                </a:cubicBezTo>
                <a:cubicBezTo>
                  <a:pt x="138901" y="102970"/>
                  <a:pt x="131970" y="108931"/>
                  <a:pt x="129525" y="116867"/>
                </a:cubicBezTo>
                <a:cubicBezTo>
                  <a:pt x="129056" y="118441"/>
                  <a:pt x="130295" y="119915"/>
                  <a:pt x="131936" y="119948"/>
                </a:cubicBezTo>
                <a:cubicBezTo>
                  <a:pt x="136691" y="120082"/>
                  <a:pt x="141647" y="120517"/>
                  <a:pt x="146804" y="121388"/>
                </a:cubicBezTo>
                <a:close/>
                <a:moveTo>
                  <a:pt x="150019" y="50899"/>
                </a:moveTo>
                <a:lnTo>
                  <a:pt x="150019" y="37538"/>
                </a:lnTo>
                <a:cubicBezTo>
                  <a:pt x="150019" y="36333"/>
                  <a:pt x="149182" y="35261"/>
                  <a:pt x="148010" y="34960"/>
                </a:cubicBezTo>
                <a:cubicBezTo>
                  <a:pt x="142016" y="33553"/>
                  <a:pt x="136524" y="32917"/>
                  <a:pt x="131266" y="32917"/>
                </a:cubicBezTo>
                <a:cubicBezTo>
                  <a:pt x="129793" y="32917"/>
                  <a:pt x="128621" y="34190"/>
                  <a:pt x="128855" y="35629"/>
                </a:cubicBezTo>
                <a:cubicBezTo>
                  <a:pt x="130396" y="44939"/>
                  <a:pt x="137897" y="52205"/>
                  <a:pt x="147340" y="53377"/>
                </a:cubicBezTo>
                <a:cubicBezTo>
                  <a:pt x="148813" y="53545"/>
                  <a:pt x="150019" y="52339"/>
                  <a:pt x="150019" y="50866"/>
                </a:cubicBezTo>
                <a:close/>
                <a:moveTo>
                  <a:pt x="41925" y="54549"/>
                </a:moveTo>
                <a:cubicBezTo>
                  <a:pt x="42394" y="52975"/>
                  <a:pt x="41155" y="51502"/>
                  <a:pt x="39514" y="51468"/>
                </a:cubicBezTo>
                <a:cubicBezTo>
                  <a:pt x="34759" y="51335"/>
                  <a:pt x="29803" y="50899"/>
                  <a:pt x="24646" y="50029"/>
                </a:cubicBezTo>
                <a:cubicBezTo>
                  <a:pt x="22972" y="49761"/>
                  <a:pt x="21465" y="51033"/>
                  <a:pt x="21465" y="52707"/>
                </a:cubicBezTo>
                <a:lnTo>
                  <a:pt x="21431" y="66973"/>
                </a:lnTo>
                <a:cubicBezTo>
                  <a:pt x="21431" y="68446"/>
                  <a:pt x="22637" y="69685"/>
                  <a:pt x="24110" y="69484"/>
                </a:cubicBezTo>
                <a:cubicBezTo>
                  <a:pt x="32549" y="68446"/>
                  <a:pt x="39480" y="62485"/>
                  <a:pt x="41925" y="5454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42975" y="22098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Taxa de Registro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3900" y="2900363"/>
            <a:ext cx="4991100" cy="9525"/>
          </a:xfrm>
          <a:custGeom>
            <a:avLst/>
            <a:gdLst/>
            <a:ahLst/>
            <a:cxnLst/>
            <a:rect l="l" t="t" r="r" b="b"/>
            <a:pathLst>
              <a:path w="4991100" h="9525">
                <a:moveTo>
                  <a:pt x="0" y="0"/>
                </a:moveTo>
                <a:lnTo>
                  <a:pt x="4991100" y="0"/>
                </a:lnTo>
                <a:lnTo>
                  <a:pt x="4991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23900" y="260985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anual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6389" y="259080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950/seller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" y="2943225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de adesão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1905" y="294322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 por nível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650" y="3438525"/>
            <a:ext cx="5200650" cy="1657350"/>
          </a:xfrm>
          <a:custGeom>
            <a:avLst/>
            <a:gdLst/>
            <a:ahLst/>
            <a:cxnLst/>
            <a:rect l="l" t="t" r="r" b="b"/>
            <a:pathLst>
              <a:path w="5200650" h="1657350">
                <a:moveTo>
                  <a:pt x="38100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581145"/>
                </a:lnTo>
                <a:cubicBezTo>
                  <a:pt x="5200650" y="1623232"/>
                  <a:pt x="5166532" y="1657350"/>
                  <a:pt x="5124445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28650" y="3438525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85813" y="3600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81075" y="3552825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205288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  <a:lnTo>
                  <a:pt x="4953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2000" y="39338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registro do adquirente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63207" y="3933825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até USD 100K/mês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595813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  <a:lnTo>
                  <a:pt x="4953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2000" y="432435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registro de merchant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71442" y="432435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2K/mês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4714875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Descumprimento VIRP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9036" y="4714875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50K-400K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1219200"/>
            <a:ext cx="5619750" cy="4067175"/>
          </a:xfrm>
          <a:custGeom>
            <a:avLst/>
            <a:gdLst/>
            <a:ahLst/>
            <a:cxnLst/>
            <a:rect l="l" t="t" r="r" b="b"/>
            <a:pathLst>
              <a:path w="5619750" h="4067175">
                <a:moveTo>
                  <a:pt x="38100" y="0"/>
                </a:moveTo>
                <a:lnTo>
                  <a:pt x="5543531" y="0"/>
                </a:lnTo>
                <a:cubicBezTo>
                  <a:pt x="5585626" y="0"/>
                  <a:pt x="5619750" y="34124"/>
                  <a:pt x="5619750" y="76219"/>
                </a:cubicBezTo>
                <a:lnTo>
                  <a:pt x="5619750" y="3990956"/>
                </a:lnTo>
                <a:cubicBezTo>
                  <a:pt x="5619750" y="4033051"/>
                  <a:pt x="5585626" y="4067175"/>
                  <a:pt x="5543531" y="4067175"/>
                </a:cubicBezTo>
                <a:lnTo>
                  <a:pt x="38100" y="4067175"/>
                </a:lnTo>
                <a:cubicBezTo>
                  <a:pt x="17072" y="4067175"/>
                  <a:pt x="0" y="4050103"/>
                  <a:pt x="0" y="4029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191250" y="1219200"/>
            <a:ext cx="38100" cy="4067175"/>
          </a:xfrm>
          <a:custGeom>
            <a:avLst/>
            <a:gdLst/>
            <a:ahLst/>
            <a:cxnLst/>
            <a:rect l="l" t="t" r="r" b="b"/>
            <a:pathLst>
              <a:path w="38100" h="4067175">
                <a:moveTo>
                  <a:pt x="38100" y="0"/>
                </a:moveTo>
                <a:lnTo>
                  <a:pt x="38100" y="0"/>
                </a:lnTo>
                <a:lnTo>
                  <a:pt x="38100" y="4067175"/>
                </a:lnTo>
                <a:lnTo>
                  <a:pt x="38100" y="4067175"/>
                </a:lnTo>
                <a:cubicBezTo>
                  <a:pt x="17072" y="4067175"/>
                  <a:pt x="0" y="4050103"/>
                  <a:pt x="0" y="4029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400800" y="1409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553200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048500" y="1504950"/>
            <a:ext cx="2047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MASTERCARD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2095500"/>
            <a:ext cx="5219700" cy="1228725"/>
          </a:xfrm>
          <a:custGeom>
            <a:avLst/>
            <a:gdLst/>
            <a:ahLst/>
            <a:cxnLst/>
            <a:rect l="l" t="t" r="r" b="b"/>
            <a:pathLst>
              <a:path w="5219700" h="1228725">
                <a:moveTo>
                  <a:pt x="76206" y="0"/>
                </a:moveTo>
                <a:lnTo>
                  <a:pt x="5143494" y="0"/>
                </a:lnTo>
                <a:cubicBezTo>
                  <a:pt x="5185582" y="0"/>
                  <a:pt x="5219700" y="34118"/>
                  <a:pt x="5219700" y="76206"/>
                </a:cubicBezTo>
                <a:lnTo>
                  <a:pt x="5219700" y="1152519"/>
                </a:lnTo>
                <a:cubicBezTo>
                  <a:pt x="5219700" y="1194607"/>
                  <a:pt x="5185582" y="1228725"/>
                  <a:pt x="5143494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538913" y="2257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140509"/>
                </a:moveTo>
                <a:lnTo>
                  <a:pt x="0" y="36668"/>
                </a:lnTo>
                <a:cubicBezTo>
                  <a:pt x="0" y="28899"/>
                  <a:pt x="8070" y="23742"/>
                  <a:pt x="15504" y="25952"/>
                </a:cubicBezTo>
                <a:cubicBezTo>
                  <a:pt x="44872" y="34725"/>
                  <a:pt x="65633" y="27794"/>
                  <a:pt x="86529" y="20828"/>
                </a:cubicBezTo>
                <a:cubicBezTo>
                  <a:pt x="108127" y="13629"/>
                  <a:pt x="129860" y="6396"/>
                  <a:pt x="161304" y="16442"/>
                </a:cubicBezTo>
                <a:cubicBezTo>
                  <a:pt x="167499" y="18417"/>
                  <a:pt x="171450" y="24412"/>
                  <a:pt x="171450" y="30941"/>
                </a:cubicBezTo>
                <a:lnTo>
                  <a:pt x="171450" y="134782"/>
                </a:lnTo>
                <a:cubicBezTo>
                  <a:pt x="171450" y="142551"/>
                  <a:pt x="163380" y="147708"/>
                  <a:pt x="155979" y="145498"/>
                </a:cubicBezTo>
                <a:cubicBezTo>
                  <a:pt x="126612" y="136725"/>
                  <a:pt x="105817" y="143656"/>
                  <a:pt x="84955" y="150622"/>
                </a:cubicBezTo>
                <a:cubicBezTo>
                  <a:pt x="63356" y="157821"/>
                  <a:pt x="41624" y="165054"/>
                  <a:pt x="10180" y="155008"/>
                </a:cubicBezTo>
                <a:cubicBezTo>
                  <a:pt x="3985" y="153033"/>
                  <a:pt x="33" y="147038"/>
                  <a:pt x="33" y="140509"/>
                </a:cubicBezTo>
                <a:close/>
                <a:moveTo>
                  <a:pt x="112514" y="85725"/>
                </a:moveTo>
                <a:cubicBezTo>
                  <a:pt x="112514" y="67977"/>
                  <a:pt x="100526" y="53578"/>
                  <a:pt x="85725" y="53578"/>
                </a:cubicBezTo>
                <a:cubicBezTo>
                  <a:pt x="70924" y="53578"/>
                  <a:pt x="58936" y="67977"/>
                  <a:pt x="58936" y="85725"/>
                </a:cubicBezTo>
                <a:cubicBezTo>
                  <a:pt x="58936" y="103473"/>
                  <a:pt x="70924" y="117872"/>
                  <a:pt x="85725" y="117872"/>
                </a:cubicBezTo>
                <a:cubicBezTo>
                  <a:pt x="100526" y="117872"/>
                  <a:pt x="112514" y="103473"/>
                  <a:pt x="112514" y="85725"/>
                </a:cubicBezTo>
                <a:close/>
                <a:moveTo>
                  <a:pt x="40184" y="138499"/>
                </a:moveTo>
                <a:cubicBezTo>
                  <a:pt x="41657" y="138499"/>
                  <a:pt x="42829" y="137227"/>
                  <a:pt x="42595" y="135787"/>
                </a:cubicBezTo>
                <a:cubicBezTo>
                  <a:pt x="41054" y="126478"/>
                  <a:pt x="33553" y="119211"/>
                  <a:pt x="24110" y="118039"/>
                </a:cubicBezTo>
                <a:cubicBezTo>
                  <a:pt x="22637" y="117872"/>
                  <a:pt x="21431" y="119077"/>
                  <a:pt x="21431" y="120551"/>
                </a:cubicBezTo>
                <a:lnTo>
                  <a:pt x="21431" y="133912"/>
                </a:lnTo>
                <a:cubicBezTo>
                  <a:pt x="21431" y="135117"/>
                  <a:pt x="22235" y="136189"/>
                  <a:pt x="23440" y="136490"/>
                </a:cubicBezTo>
                <a:cubicBezTo>
                  <a:pt x="29434" y="137897"/>
                  <a:pt x="34926" y="138533"/>
                  <a:pt x="40184" y="138533"/>
                </a:cubicBezTo>
                <a:close/>
                <a:moveTo>
                  <a:pt x="146838" y="121388"/>
                </a:moveTo>
                <a:cubicBezTo>
                  <a:pt x="148512" y="121656"/>
                  <a:pt x="150019" y="120383"/>
                  <a:pt x="150019" y="118709"/>
                </a:cubicBezTo>
                <a:lnTo>
                  <a:pt x="150019" y="104444"/>
                </a:lnTo>
                <a:cubicBezTo>
                  <a:pt x="150019" y="102970"/>
                  <a:pt x="148813" y="101731"/>
                  <a:pt x="147340" y="101932"/>
                </a:cubicBezTo>
                <a:cubicBezTo>
                  <a:pt x="138901" y="102970"/>
                  <a:pt x="131970" y="108931"/>
                  <a:pt x="129525" y="116867"/>
                </a:cubicBezTo>
                <a:cubicBezTo>
                  <a:pt x="129056" y="118441"/>
                  <a:pt x="130295" y="119915"/>
                  <a:pt x="131936" y="119948"/>
                </a:cubicBezTo>
                <a:cubicBezTo>
                  <a:pt x="136691" y="120082"/>
                  <a:pt x="141647" y="120517"/>
                  <a:pt x="146804" y="121388"/>
                </a:cubicBezTo>
                <a:close/>
                <a:moveTo>
                  <a:pt x="150019" y="50899"/>
                </a:moveTo>
                <a:lnTo>
                  <a:pt x="150019" y="37538"/>
                </a:lnTo>
                <a:cubicBezTo>
                  <a:pt x="150019" y="36333"/>
                  <a:pt x="149182" y="35261"/>
                  <a:pt x="148010" y="34960"/>
                </a:cubicBezTo>
                <a:cubicBezTo>
                  <a:pt x="142016" y="33553"/>
                  <a:pt x="136524" y="32917"/>
                  <a:pt x="131266" y="32917"/>
                </a:cubicBezTo>
                <a:cubicBezTo>
                  <a:pt x="129793" y="32917"/>
                  <a:pt x="128621" y="34190"/>
                  <a:pt x="128855" y="35629"/>
                </a:cubicBezTo>
                <a:cubicBezTo>
                  <a:pt x="130396" y="44939"/>
                  <a:pt x="137897" y="52205"/>
                  <a:pt x="147340" y="53377"/>
                </a:cubicBezTo>
                <a:cubicBezTo>
                  <a:pt x="148813" y="53545"/>
                  <a:pt x="150019" y="52339"/>
                  <a:pt x="150019" y="50866"/>
                </a:cubicBezTo>
                <a:close/>
                <a:moveTo>
                  <a:pt x="41925" y="54549"/>
                </a:moveTo>
                <a:cubicBezTo>
                  <a:pt x="42394" y="52975"/>
                  <a:pt x="41155" y="51502"/>
                  <a:pt x="39514" y="51468"/>
                </a:cubicBezTo>
                <a:cubicBezTo>
                  <a:pt x="34759" y="51335"/>
                  <a:pt x="29803" y="50899"/>
                  <a:pt x="24646" y="50029"/>
                </a:cubicBezTo>
                <a:cubicBezTo>
                  <a:pt x="22972" y="49761"/>
                  <a:pt x="21465" y="51033"/>
                  <a:pt x="21465" y="52707"/>
                </a:cubicBezTo>
                <a:lnTo>
                  <a:pt x="21431" y="66973"/>
                </a:lnTo>
                <a:cubicBezTo>
                  <a:pt x="21431" y="68446"/>
                  <a:pt x="22637" y="69685"/>
                  <a:pt x="24110" y="69484"/>
                </a:cubicBezTo>
                <a:cubicBezTo>
                  <a:pt x="32549" y="68446"/>
                  <a:pt x="39480" y="62485"/>
                  <a:pt x="41925" y="5454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734175" y="22098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Taxa de Registro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15100" y="2900363"/>
            <a:ext cx="4991100" cy="9525"/>
          </a:xfrm>
          <a:custGeom>
            <a:avLst/>
            <a:gdLst/>
            <a:ahLst/>
            <a:cxnLst/>
            <a:rect l="l" t="t" r="r" b="b"/>
            <a:pathLst>
              <a:path w="4991100" h="9525">
                <a:moveTo>
                  <a:pt x="0" y="0"/>
                </a:moveTo>
                <a:lnTo>
                  <a:pt x="4991100" y="0"/>
                </a:lnTo>
                <a:lnTo>
                  <a:pt x="49911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515100" y="260985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anual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19134" y="25908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500/seller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15100" y="2943225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de adesão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41112" y="2943225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há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9850" y="3438525"/>
            <a:ext cx="5200650" cy="1657350"/>
          </a:xfrm>
          <a:custGeom>
            <a:avLst/>
            <a:gdLst/>
            <a:ahLst/>
            <a:cxnLst/>
            <a:rect l="l" t="t" r="r" b="b"/>
            <a:pathLst>
              <a:path w="5200650" h="1657350">
                <a:moveTo>
                  <a:pt x="38100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581145"/>
                </a:lnTo>
                <a:cubicBezTo>
                  <a:pt x="5200650" y="1623232"/>
                  <a:pt x="5166532" y="1657350"/>
                  <a:pt x="5124445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419850" y="3438525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577013" y="3600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772275" y="3552825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53200" y="4205288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  <a:lnTo>
                  <a:pt x="4953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553200" y="393382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registro de merchant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694789" y="393382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até USD 10K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553200" y="4595813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  <a:lnTo>
                  <a:pt x="4953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6553200" y="432435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Após 10 dias (3 meses)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658177" y="432435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5K/mês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53200" y="47148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Após 3 meses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580638" y="4714875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25K/mês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5763" y="5443538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581025" y="56388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790575" y="5600700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Caso o adquirente faça adesão ao nível 2, contemplará níveis 2 e 3. Caso faça adesão do nível 1, contemplará níveis 1, 2 e 3.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bankmainstreet.com/ceeaa56d23548447bbd542b5142695189d8cbd92.jpeg"/>
          <p:cNvPicPr>
            <a:picLocks noChangeAspect="1"/>
          </p:cNvPicPr>
          <p:nvPr/>
        </p:nvPicPr>
        <p:blipFill>
          <a:blip r:embed="rId3">
            <a:alphaModFix amt="20000"/>
          </a:blip>
          <a:srcRect t="10331" b="1033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381000" y="1138238"/>
            <a:ext cx="2053233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8B2AC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728913"/>
            <a:ext cx="6057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Programas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Mitigação de Risco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748213"/>
            <a:ext cx="5829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VIRP, BRAM e Controle de Mitigação de Risco Elo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576888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Visa Integrity Risk Program (VIRP)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1638300"/>
          </a:xfrm>
          <a:custGeom>
            <a:avLst/>
            <a:gdLst/>
            <a:ahLst/>
            <a:cxnLst/>
            <a:rect l="l" t="t" r="r" b="b"/>
            <a:pathLst>
              <a:path w="11410950" h="1638300">
                <a:moveTo>
                  <a:pt x="38100" y="0"/>
                </a:moveTo>
                <a:lnTo>
                  <a:pt x="11334753" y="0"/>
                </a:lnTo>
                <a:cubicBezTo>
                  <a:pt x="11376835" y="0"/>
                  <a:pt x="11410950" y="34115"/>
                  <a:pt x="11410950" y="76197"/>
                </a:cubicBezTo>
                <a:lnTo>
                  <a:pt x="11410950" y="1562103"/>
                </a:lnTo>
                <a:cubicBezTo>
                  <a:pt x="11410950" y="1604185"/>
                  <a:pt x="11376835" y="1638300"/>
                  <a:pt x="113347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817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5350" y="1409700"/>
            <a:ext cx="10839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VIRP?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28800"/>
            <a:ext cx="11096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Visa Integrity Risk Program (VIRP)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uma iniciativa global da Visa criada para fortalecer a integridade do ecossistema de pagamentos, </a:t>
            </a:r>
            <a:r>
              <a:rPr lang="en-US" sz="135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substituindo o antigo Global Brand Protection Program (GBPP)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Lançado em </a:t>
            </a:r>
            <a:r>
              <a:rPr lang="en-US" sz="13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abril de 2024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 VIRP estabelece uma estrutura de requisitos obrigatórios para adquirentes que patrocinam </a:t>
            </a:r>
            <a:r>
              <a:rPr lang="en-US" sz="135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Integrity Risk Merchants (HIRMs)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3012281"/>
            <a:ext cx="3695700" cy="1809750"/>
          </a:xfrm>
          <a:custGeom>
            <a:avLst/>
            <a:gdLst/>
            <a:ahLst/>
            <a:cxnLst/>
            <a:rect l="l" t="t" r="r" b="b"/>
            <a:pathLst>
              <a:path w="3695700" h="1809750">
                <a:moveTo>
                  <a:pt x="76209" y="0"/>
                </a:moveTo>
                <a:lnTo>
                  <a:pt x="3619491" y="0"/>
                </a:lnTo>
                <a:cubicBezTo>
                  <a:pt x="3661552" y="0"/>
                  <a:pt x="3695700" y="34148"/>
                  <a:pt x="3695700" y="76209"/>
                </a:cubicBezTo>
                <a:lnTo>
                  <a:pt x="3695700" y="1733541"/>
                </a:lnTo>
                <a:cubicBezTo>
                  <a:pt x="3695700" y="1775630"/>
                  <a:pt x="3661580" y="1809750"/>
                  <a:pt x="3619491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1270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2925" y="31694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1313" y="3264694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4425" y="3264694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3740944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Aprovações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separadas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são necessárias para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MCC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 categoria nível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4355306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2925" y="4474369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Cobre níveis 2 e 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6513" y="3012281"/>
            <a:ext cx="3695700" cy="1809750"/>
          </a:xfrm>
          <a:custGeom>
            <a:avLst/>
            <a:gdLst/>
            <a:ahLst/>
            <a:cxnLst/>
            <a:rect l="l" t="t" r="r" b="b"/>
            <a:pathLst>
              <a:path w="3695700" h="1809750">
                <a:moveTo>
                  <a:pt x="76209" y="0"/>
                </a:moveTo>
                <a:lnTo>
                  <a:pt x="3619491" y="0"/>
                </a:lnTo>
                <a:cubicBezTo>
                  <a:pt x="3661552" y="0"/>
                  <a:pt x="3695700" y="34148"/>
                  <a:pt x="3695700" y="76209"/>
                </a:cubicBezTo>
                <a:lnTo>
                  <a:pt x="3695700" y="1733541"/>
                </a:lnTo>
                <a:cubicBezTo>
                  <a:pt x="3695700" y="1775630"/>
                  <a:pt x="3661580" y="1809750"/>
                  <a:pt x="3619491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 w="12700">
            <a:solidFill>
              <a:srgbClr val="7180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403675" y="31694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83757" y="3264694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75175" y="3264694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03675" y="3740944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Aprovação de categoria nível 2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cobre categorias nível 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3675" y="4355306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403675" y="4474369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 intermediários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07263" y="3012281"/>
            <a:ext cx="3695700" cy="1809750"/>
          </a:xfrm>
          <a:custGeom>
            <a:avLst/>
            <a:gdLst/>
            <a:ahLst/>
            <a:cxnLst/>
            <a:rect l="l" t="t" r="r" b="b"/>
            <a:pathLst>
              <a:path w="3695700" h="1809750">
                <a:moveTo>
                  <a:pt x="76209" y="0"/>
                </a:moveTo>
                <a:lnTo>
                  <a:pt x="3619491" y="0"/>
                </a:lnTo>
                <a:cubicBezTo>
                  <a:pt x="3661552" y="0"/>
                  <a:pt x="3695700" y="34148"/>
                  <a:pt x="3695700" y="76209"/>
                </a:cubicBezTo>
                <a:lnTo>
                  <a:pt x="3695700" y="1733541"/>
                </a:lnTo>
                <a:cubicBezTo>
                  <a:pt x="3695700" y="1775630"/>
                  <a:pt x="3661580" y="1809750"/>
                  <a:pt x="3619491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264426" y="31694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441978" y="3264694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35926" y="3264694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Nível 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64426" y="3740944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Nível básico de risco de alta integridade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64426" y="4355306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264426" y="4474369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Requisitos mínimos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4983956"/>
            <a:ext cx="5629275" cy="1114425"/>
          </a:xfrm>
          <a:custGeom>
            <a:avLst/>
            <a:gdLst/>
            <a:ahLst/>
            <a:cxnLst/>
            <a:rect l="l" t="t" r="r" b="b"/>
            <a:pathLst>
              <a:path w="5629275" h="1114425">
                <a:moveTo>
                  <a:pt x="76204" y="0"/>
                </a:moveTo>
                <a:lnTo>
                  <a:pt x="5553071" y="0"/>
                </a:lnTo>
                <a:cubicBezTo>
                  <a:pt x="5595157" y="0"/>
                  <a:pt x="5629275" y="34118"/>
                  <a:pt x="5629275" y="76204"/>
                </a:cubicBezTo>
                <a:lnTo>
                  <a:pt x="5629275" y="1038221"/>
                </a:lnTo>
                <a:cubicBezTo>
                  <a:pt x="5629275" y="1080307"/>
                  <a:pt x="5595157" y="1114425"/>
                  <a:pt x="555307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545306" y="5188744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205070" y="44436"/>
                </a:moveTo>
                <a:lnTo>
                  <a:pt x="178281" y="87299"/>
                </a:lnTo>
                <a:cubicBezTo>
                  <a:pt x="176875" y="89542"/>
                  <a:pt x="174464" y="90949"/>
                  <a:pt x="171818" y="91083"/>
                </a:cubicBezTo>
                <a:cubicBezTo>
                  <a:pt x="169173" y="91217"/>
                  <a:pt x="166628" y="90011"/>
                  <a:pt x="165054" y="87868"/>
                </a:cubicBezTo>
                <a:lnTo>
                  <a:pt x="148981" y="66437"/>
                </a:lnTo>
                <a:cubicBezTo>
                  <a:pt x="146302" y="62887"/>
                  <a:pt x="147038" y="57864"/>
                  <a:pt x="150588" y="55185"/>
                </a:cubicBezTo>
                <a:cubicBezTo>
                  <a:pt x="154138" y="52507"/>
                  <a:pt x="159161" y="53243"/>
                  <a:pt x="161839" y="56793"/>
                </a:cubicBezTo>
                <a:lnTo>
                  <a:pt x="170881" y="68848"/>
                </a:lnTo>
                <a:lnTo>
                  <a:pt x="191441" y="35931"/>
                </a:lnTo>
                <a:cubicBezTo>
                  <a:pt x="193785" y="32180"/>
                  <a:pt x="198741" y="31008"/>
                  <a:pt x="202525" y="33386"/>
                </a:cubicBezTo>
                <a:cubicBezTo>
                  <a:pt x="206309" y="35763"/>
                  <a:pt x="207448" y="40686"/>
                  <a:pt x="205070" y="4447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2000" y="5141119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Aprovação Prévia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2925" y="5484019"/>
            <a:ext cx="539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Aprovação prévia da Visa será necessária para adquirentes de alto risco de integridade antes de embarcar comerciantes sujeitos ao VIRP.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963" y="4983956"/>
            <a:ext cx="5629275" cy="1114425"/>
          </a:xfrm>
          <a:custGeom>
            <a:avLst/>
            <a:gdLst/>
            <a:ahLst/>
            <a:cxnLst/>
            <a:rect l="l" t="t" r="r" b="b"/>
            <a:pathLst>
              <a:path w="5629275" h="1114425">
                <a:moveTo>
                  <a:pt x="76204" y="0"/>
                </a:moveTo>
                <a:lnTo>
                  <a:pt x="5553071" y="0"/>
                </a:lnTo>
                <a:cubicBezTo>
                  <a:pt x="5595157" y="0"/>
                  <a:pt x="5629275" y="34118"/>
                  <a:pt x="5629275" y="76204"/>
                </a:cubicBezTo>
                <a:lnTo>
                  <a:pt x="5629275" y="1038221"/>
                </a:lnTo>
                <a:cubicBezTo>
                  <a:pt x="5629275" y="1080307"/>
                  <a:pt x="5595157" y="1114425"/>
                  <a:pt x="555307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379369" y="51887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92556" y="87299"/>
                </a:moveTo>
                <a:cubicBezTo>
                  <a:pt x="94900" y="83548"/>
                  <a:pt x="93762" y="78592"/>
                  <a:pt x="90011" y="76215"/>
                </a:cubicBezTo>
                <a:cubicBezTo>
                  <a:pt x="86261" y="73837"/>
                  <a:pt x="81305" y="75009"/>
                  <a:pt x="78927" y="78760"/>
                </a:cubicBezTo>
                <a:lnTo>
                  <a:pt x="58367" y="111677"/>
                </a:lnTo>
                <a:lnTo>
                  <a:pt x="49325" y="99622"/>
                </a:lnTo>
                <a:cubicBezTo>
                  <a:pt x="46646" y="96072"/>
                  <a:pt x="41624" y="95336"/>
                  <a:pt x="38074" y="98014"/>
                </a:cubicBezTo>
                <a:cubicBezTo>
                  <a:pt x="34524" y="100693"/>
                  <a:pt x="33788" y="105716"/>
                  <a:pt x="36467" y="109266"/>
                </a:cubicBezTo>
                <a:lnTo>
                  <a:pt x="52540" y="130697"/>
                </a:lnTo>
                <a:cubicBezTo>
                  <a:pt x="54114" y="132807"/>
                  <a:pt x="56659" y="134012"/>
                  <a:pt x="59304" y="133912"/>
                </a:cubicBezTo>
                <a:cubicBezTo>
                  <a:pt x="61950" y="133811"/>
                  <a:pt x="64361" y="132405"/>
                  <a:pt x="65767" y="130128"/>
                </a:cubicBezTo>
                <a:lnTo>
                  <a:pt x="92556" y="87265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53200" y="5141119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Registro HIRR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34125" y="5484019"/>
            <a:ext cx="539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Estabelecimentos deverão ser cadastrados pelos adquirentes no sistema de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Registro de Risco de Alta Integridade (HIRR)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2292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kern="0" spc="5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69073"/>
            <a:ext cx="11615854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VIRP - Enfoque e Componentes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293" y="1189463"/>
            <a:ext cx="5631366" cy="5668537"/>
          </a:xfrm>
          <a:custGeom>
            <a:avLst/>
            <a:gdLst/>
            <a:ahLst/>
            <a:cxnLst/>
            <a:rect l="l" t="t" r="r" b="b"/>
            <a:pathLst>
              <a:path w="5631366" h="5668537">
                <a:moveTo>
                  <a:pt x="37171" y="0"/>
                </a:moveTo>
                <a:lnTo>
                  <a:pt x="5557032" y="0"/>
                </a:lnTo>
                <a:cubicBezTo>
                  <a:pt x="5598085" y="0"/>
                  <a:pt x="5631366" y="33280"/>
                  <a:pt x="5631366" y="74334"/>
                </a:cubicBezTo>
                <a:lnTo>
                  <a:pt x="5631366" y="5594203"/>
                </a:lnTo>
                <a:cubicBezTo>
                  <a:pt x="5631366" y="5635256"/>
                  <a:pt x="5598085" y="5668537"/>
                  <a:pt x="5557032" y="5668537"/>
                </a:cubicBezTo>
                <a:lnTo>
                  <a:pt x="37171" y="5668537"/>
                </a:lnTo>
                <a:cubicBezTo>
                  <a:pt x="16642" y="5668537"/>
                  <a:pt x="0" y="5651895"/>
                  <a:pt x="0" y="5631366"/>
                </a:cubicBezTo>
                <a:lnTo>
                  <a:pt x="0" y="37171"/>
                </a:lnTo>
                <a:cubicBezTo>
                  <a:pt x="0" y="16656"/>
                  <a:pt x="16656" y="0"/>
                  <a:pt x="3717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0293" y="1189463"/>
            <a:ext cx="37171" cy="5668537"/>
          </a:xfrm>
          <a:custGeom>
            <a:avLst/>
            <a:gdLst/>
            <a:ahLst/>
            <a:cxnLst/>
            <a:rect l="l" t="t" r="r" b="b"/>
            <a:pathLst>
              <a:path w="37171" h="5668537">
                <a:moveTo>
                  <a:pt x="37171" y="0"/>
                </a:moveTo>
                <a:lnTo>
                  <a:pt x="37171" y="0"/>
                </a:lnTo>
                <a:lnTo>
                  <a:pt x="37171" y="5668537"/>
                </a:lnTo>
                <a:lnTo>
                  <a:pt x="37171" y="5668537"/>
                </a:lnTo>
                <a:cubicBezTo>
                  <a:pt x="16642" y="5668537"/>
                  <a:pt x="0" y="5651895"/>
                  <a:pt x="0" y="5631366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22610" y="1412488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95146" y="111512"/>
                </a:moveTo>
                <a:cubicBezTo>
                  <a:pt x="195146" y="65353"/>
                  <a:pt x="157671" y="27878"/>
                  <a:pt x="111512" y="27878"/>
                </a:cubicBezTo>
                <a:cubicBezTo>
                  <a:pt x="65353" y="27878"/>
                  <a:pt x="27878" y="65353"/>
                  <a:pt x="27878" y="111512"/>
                </a:cubicBezTo>
                <a:cubicBezTo>
                  <a:pt x="27878" y="157671"/>
                  <a:pt x="65353" y="195146"/>
                  <a:pt x="111512" y="195146"/>
                </a:cubicBezTo>
                <a:cubicBezTo>
                  <a:pt x="157671" y="195146"/>
                  <a:pt x="195146" y="157671"/>
                  <a:pt x="195146" y="111512"/>
                </a:cubicBezTo>
                <a:close/>
                <a:moveTo>
                  <a:pt x="0" y="111512"/>
                </a:moveTo>
                <a:cubicBezTo>
                  <a:pt x="0" y="49967"/>
                  <a:pt x="49967" y="0"/>
                  <a:pt x="111512" y="0"/>
                </a:cubicBezTo>
                <a:cubicBezTo>
                  <a:pt x="173057" y="0"/>
                  <a:pt x="223024" y="49967"/>
                  <a:pt x="223024" y="111512"/>
                </a:cubicBezTo>
                <a:cubicBezTo>
                  <a:pt x="223024" y="173057"/>
                  <a:pt x="173057" y="223024"/>
                  <a:pt x="111512" y="223024"/>
                </a:cubicBezTo>
                <a:cubicBezTo>
                  <a:pt x="49967" y="223024"/>
                  <a:pt x="0" y="173057"/>
                  <a:pt x="0" y="111512"/>
                </a:cubicBezTo>
                <a:close/>
                <a:moveTo>
                  <a:pt x="111512" y="146360"/>
                </a:moveTo>
                <a:cubicBezTo>
                  <a:pt x="130745" y="146360"/>
                  <a:pt x="146360" y="130745"/>
                  <a:pt x="146360" y="111512"/>
                </a:cubicBezTo>
                <a:cubicBezTo>
                  <a:pt x="146360" y="92279"/>
                  <a:pt x="130745" y="76665"/>
                  <a:pt x="111512" y="76665"/>
                </a:cubicBezTo>
                <a:cubicBezTo>
                  <a:pt x="92279" y="76665"/>
                  <a:pt x="76665" y="92279"/>
                  <a:pt x="76665" y="111512"/>
                </a:cubicBezTo>
                <a:cubicBezTo>
                  <a:pt x="76665" y="130745"/>
                  <a:pt x="92279" y="146360"/>
                  <a:pt x="111512" y="146360"/>
                </a:cubicBezTo>
                <a:close/>
                <a:moveTo>
                  <a:pt x="111512" y="48787"/>
                </a:moveTo>
                <a:cubicBezTo>
                  <a:pt x="146131" y="48787"/>
                  <a:pt x="174238" y="76893"/>
                  <a:pt x="174238" y="111512"/>
                </a:cubicBezTo>
                <a:cubicBezTo>
                  <a:pt x="174238" y="146131"/>
                  <a:pt x="146131" y="174238"/>
                  <a:pt x="111512" y="174238"/>
                </a:cubicBezTo>
                <a:cubicBezTo>
                  <a:pt x="76893" y="174238"/>
                  <a:pt x="48787" y="146131"/>
                  <a:pt x="48787" y="111512"/>
                </a:cubicBezTo>
                <a:cubicBezTo>
                  <a:pt x="48787" y="76893"/>
                  <a:pt x="76893" y="48787"/>
                  <a:pt x="111512" y="48787"/>
                </a:cubicBezTo>
                <a:close/>
                <a:moveTo>
                  <a:pt x="97573" y="111512"/>
                </a:moveTo>
                <a:cubicBezTo>
                  <a:pt x="97573" y="103819"/>
                  <a:pt x="103819" y="97573"/>
                  <a:pt x="111512" y="97573"/>
                </a:cubicBezTo>
                <a:cubicBezTo>
                  <a:pt x="119205" y="97573"/>
                  <a:pt x="125451" y="103819"/>
                  <a:pt x="125451" y="111512"/>
                </a:cubicBezTo>
                <a:cubicBezTo>
                  <a:pt x="125451" y="119205"/>
                  <a:pt x="119205" y="125451"/>
                  <a:pt x="111512" y="125451"/>
                </a:cubicBezTo>
                <a:cubicBezTo>
                  <a:pt x="103819" y="125451"/>
                  <a:pt x="97573" y="119205"/>
                  <a:pt x="97573" y="11151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73512" y="1375317"/>
            <a:ext cx="507380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 4 Pilares do VIRP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732" y="1821366"/>
            <a:ext cx="5241073" cy="966439"/>
          </a:xfrm>
          <a:custGeom>
            <a:avLst/>
            <a:gdLst/>
            <a:ahLst/>
            <a:cxnLst/>
            <a:rect l="l" t="t" r="r" b="b"/>
            <a:pathLst>
              <a:path w="5241073" h="966439">
                <a:moveTo>
                  <a:pt x="74338" y="0"/>
                </a:moveTo>
                <a:lnTo>
                  <a:pt x="5166735" y="0"/>
                </a:lnTo>
                <a:cubicBezTo>
                  <a:pt x="5207763" y="0"/>
                  <a:pt x="5241073" y="33310"/>
                  <a:pt x="5241073" y="74338"/>
                </a:cubicBezTo>
                <a:lnTo>
                  <a:pt x="5241073" y="892101"/>
                </a:lnTo>
                <a:cubicBezTo>
                  <a:pt x="5241073" y="933129"/>
                  <a:pt x="5207763" y="966439"/>
                  <a:pt x="5166735" y="966439"/>
                </a:cubicBezTo>
                <a:lnTo>
                  <a:pt x="74338" y="966439"/>
                </a:lnTo>
                <a:cubicBezTo>
                  <a:pt x="33310" y="966439"/>
                  <a:pt x="0" y="933129"/>
                  <a:pt x="0" y="892101"/>
                </a:cubicBezTo>
                <a:lnTo>
                  <a:pt x="0" y="74338"/>
                </a:lnTo>
                <a:cubicBezTo>
                  <a:pt x="0" y="33310"/>
                  <a:pt x="33310" y="0"/>
                  <a:pt x="7433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06244" y="1932878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17756" y="2044390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120805" y="60402"/>
                </a:moveTo>
                <a:cubicBezTo>
                  <a:pt x="120805" y="73732"/>
                  <a:pt x="116478" y="86044"/>
                  <a:pt x="109189" y="96034"/>
                </a:cubicBezTo>
                <a:lnTo>
                  <a:pt x="145953" y="132827"/>
                </a:lnTo>
                <a:cubicBezTo>
                  <a:pt x="149583" y="136457"/>
                  <a:pt x="149583" y="142352"/>
                  <a:pt x="145953" y="145982"/>
                </a:cubicBezTo>
                <a:cubicBezTo>
                  <a:pt x="142323" y="149612"/>
                  <a:pt x="136428" y="149612"/>
                  <a:pt x="132798" y="145982"/>
                </a:cubicBezTo>
                <a:lnTo>
                  <a:pt x="96034" y="109189"/>
                </a:lnTo>
                <a:cubicBezTo>
                  <a:pt x="86044" y="116478"/>
                  <a:pt x="73732" y="120805"/>
                  <a:pt x="60402" y="120805"/>
                </a:cubicBezTo>
                <a:cubicBezTo>
                  <a:pt x="27036" y="120805"/>
                  <a:pt x="0" y="93769"/>
                  <a:pt x="0" y="60402"/>
                </a:cubicBezTo>
                <a:cubicBezTo>
                  <a:pt x="0" y="27036"/>
                  <a:pt x="27036" y="0"/>
                  <a:pt x="60402" y="0"/>
                </a:cubicBezTo>
                <a:cubicBezTo>
                  <a:pt x="93769" y="0"/>
                  <a:pt x="120805" y="27036"/>
                  <a:pt x="120805" y="60402"/>
                </a:cubicBezTo>
                <a:close/>
                <a:moveTo>
                  <a:pt x="60402" y="102220"/>
                </a:moveTo>
                <a:cubicBezTo>
                  <a:pt x="83482" y="102220"/>
                  <a:pt x="102220" y="83482"/>
                  <a:pt x="102220" y="60402"/>
                </a:cubicBezTo>
                <a:cubicBezTo>
                  <a:pt x="102220" y="37323"/>
                  <a:pt x="83482" y="18585"/>
                  <a:pt x="60402" y="18585"/>
                </a:cubicBezTo>
                <a:cubicBezTo>
                  <a:pt x="37323" y="18585"/>
                  <a:pt x="18585" y="37323"/>
                  <a:pt x="18585" y="60402"/>
                </a:cubicBezTo>
                <a:cubicBezTo>
                  <a:pt x="18585" y="83482"/>
                  <a:pt x="37323" y="102220"/>
                  <a:pt x="60402" y="10222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89463" y="1932878"/>
            <a:ext cx="4618463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9463" y="2230244"/>
            <a:ext cx="4609171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 sistema de pagamentos e internet para detectar atividades ilegais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732" y="2899317"/>
            <a:ext cx="5241073" cy="966439"/>
          </a:xfrm>
          <a:custGeom>
            <a:avLst/>
            <a:gdLst/>
            <a:ahLst/>
            <a:cxnLst/>
            <a:rect l="l" t="t" r="r" b="b"/>
            <a:pathLst>
              <a:path w="5241073" h="966439">
                <a:moveTo>
                  <a:pt x="74338" y="0"/>
                </a:moveTo>
                <a:lnTo>
                  <a:pt x="5166735" y="0"/>
                </a:lnTo>
                <a:cubicBezTo>
                  <a:pt x="5207763" y="0"/>
                  <a:pt x="5241073" y="33310"/>
                  <a:pt x="5241073" y="74338"/>
                </a:cubicBezTo>
                <a:lnTo>
                  <a:pt x="5241073" y="892101"/>
                </a:lnTo>
                <a:cubicBezTo>
                  <a:pt x="5241073" y="933129"/>
                  <a:pt x="5207763" y="966439"/>
                  <a:pt x="5166735" y="966439"/>
                </a:cubicBezTo>
                <a:lnTo>
                  <a:pt x="74338" y="966439"/>
                </a:lnTo>
                <a:cubicBezTo>
                  <a:pt x="33310" y="966439"/>
                  <a:pt x="0" y="933129"/>
                  <a:pt x="0" y="892101"/>
                </a:cubicBezTo>
                <a:lnTo>
                  <a:pt x="0" y="74338"/>
                </a:lnTo>
                <a:cubicBezTo>
                  <a:pt x="0" y="33310"/>
                  <a:pt x="33310" y="0"/>
                  <a:pt x="7433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06244" y="3010829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27049" y="3122341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65049" y="0"/>
                </a:moveTo>
                <a:cubicBezTo>
                  <a:pt x="59909" y="0"/>
                  <a:pt x="55756" y="4153"/>
                  <a:pt x="55756" y="9293"/>
                </a:cubicBezTo>
                <a:lnTo>
                  <a:pt x="55756" y="10222"/>
                </a:lnTo>
                <a:cubicBezTo>
                  <a:pt x="34557" y="14520"/>
                  <a:pt x="18585" y="33279"/>
                  <a:pt x="18585" y="55756"/>
                </a:cubicBezTo>
                <a:lnTo>
                  <a:pt x="18585" y="62058"/>
                </a:lnTo>
                <a:cubicBezTo>
                  <a:pt x="18585" y="76026"/>
                  <a:pt x="13823" y="89587"/>
                  <a:pt x="5111" y="100506"/>
                </a:cubicBezTo>
                <a:lnTo>
                  <a:pt x="2265" y="104049"/>
                </a:lnTo>
                <a:cubicBezTo>
                  <a:pt x="784" y="105879"/>
                  <a:pt x="0" y="108144"/>
                  <a:pt x="0" y="110496"/>
                </a:cubicBezTo>
                <a:cubicBezTo>
                  <a:pt x="0" y="116188"/>
                  <a:pt x="4617" y="120805"/>
                  <a:pt x="10309" y="120805"/>
                </a:cubicBezTo>
                <a:lnTo>
                  <a:pt x="119759" y="120805"/>
                </a:lnTo>
                <a:cubicBezTo>
                  <a:pt x="125451" y="120805"/>
                  <a:pt x="130069" y="116188"/>
                  <a:pt x="130069" y="110496"/>
                </a:cubicBezTo>
                <a:cubicBezTo>
                  <a:pt x="130069" y="108144"/>
                  <a:pt x="129284" y="105879"/>
                  <a:pt x="127803" y="104049"/>
                </a:cubicBezTo>
                <a:lnTo>
                  <a:pt x="124958" y="100506"/>
                </a:lnTo>
                <a:cubicBezTo>
                  <a:pt x="116275" y="89587"/>
                  <a:pt x="111512" y="76026"/>
                  <a:pt x="111512" y="62058"/>
                </a:cubicBezTo>
                <a:lnTo>
                  <a:pt x="111512" y="55756"/>
                </a:lnTo>
                <a:cubicBezTo>
                  <a:pt x="111512" y="33279"/>
                  <a:pt x="95540" y="14520"/>
                  <a:pt x="74341" y="10222"/>
                </a:cubicBezTo>
                <a:lnTo>
                  <a:pt x="74341" y="9293"/>
                </a:lnTo>
                <a:cubicBezTo>
                  <a:pt x="74341" y="4153"/>
                  <a:pt x="70189" y="0"/>
                  <a:pt x="65049" y="0"/>
                </a:cubicBezTo>
                <a:close/>
                <a:moveTo>
                  <a:pt x="47044" y="134744"/>
                </a:moveTo>
                <a:cubicBezTo>
                  <a:pt x="49106" y="142759"/>
                  <a:pt x="56395" y="148683"/>
                  <a:pt x="65049" y="148683"/>
                </a:cubicBezTo>
                <a:cubicBezTo>
                  <a:pt x="73703" y="148683"/>
                  <a:pt x="80992" y="142759"/>
                  <a:pt x="83053" y="134744"/>
                </a:cubicBezTo>
                <a:lnTo>
                  <a:pt x="47044" y="134744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89463" y="3010829"/>
            <a:ext cx="4618463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9463" y="3308195"/>
            <a:ext cx="4609171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Credenciadores recebem notificação quando comerciantes estão envolvidos em transações ilegais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732" y="3977268"/>
            <a:ext cx="5241073" cy="743415"/>
          </a:xfrm>
          <a:custGeom>
            <a:avLst/>
            <a:gdLst/>
            <a:ahLst/>
            <a:cxnLst/>
            <a:rect l="l" t="t" r="r" b="b"/>
            <a:pathLst>
              <a:path w="5241073" h="743415">
                <a:moveTo>
                  <a:pt x="74341" y="0"/>
                </a:moveTo>
                <a:lnTo>
                  <a:pt x="5166732" y="0"/>
                </a:lnTo>
                <a:cubicBezTo>
                  <a:pt x="5207789" y="0"/>
                  <a:pt x="5241073" y="33284"/>
                  <a:pt x="5241073" y="74341"/>
                </a:cubicBezTo>
                <a:lnTo>
                  <a:pt x="5241073" y="669073"/>
                </a:lnTo>
                <a:cubicBezTo>
                  <a:pt x="5241073" y="710131"/>
                  <a:pt x="5207789" y="743415"/>
                  <a:pt x="5166732" y="743415"/>
                </a:cubicBezTo>
                <a:lnTo>
                  <a:pt x="74341" y="743415"/>
                </a:lnTo>
                <a:cubicBezTo>
                  <a:pt x="33311" y="743415"/>
                  <a:pt x="0" y="710103"/>
                  <a:pt x="0" y="669073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06244" y="4088780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08463" y="4200293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>
                <a:moveTo>
                  <a:pt x="147928" y="28633"/>
                </a:moveTo>
                <a:cubicBezTo>
                  <a:pt x="150135" y="26426"/>
                  <a:pt x="153823" y="26978"/>
                  <a:pt x="154926" y="29882"/>
                </a:cubicBezTo>
                <a:cubicBezTo>
                  <a:pt x="156901" y="35022"/>
                  <a:pt x="157976" y="40626"/>
                  <a:pt x="157976" y="46463"/>
                </a:cubicBezTo>
                <a:cubicBezTo>
                  <a:pt x="157976" y="72134"/>
                  <a:pt x="137183" y="92927"/>
                  <a:pt x="111512" y="92927"/>
                </a:cubicBezTo>
                <a:cubicBezTo>
                  <a:pt x="106430" y="92927"/>
                  <a:pt x="101523" y="92114"/>
                  <a:pt x="96934" y="90604"/>
                </a:cubicBezTo>
                <a:lnTo>
                  <a:pt x="42659" y="144879"/>
                </a:lnTo>
                <a:cubicBezTo>
                  <a:pt x="34499" y="153039"/>
                  <a:pt x="21257" y="153039"/>
                  <a:pt x="13097" y="144879"/>
                </a:cubicBezTo>
                <a:cubicBezTo>
                  <a:pt x="4937" y="136719"/>
                  <a:pt x="4937" y="123477"/>
                  <a:pt x="13097" y="115316"/>
                </a:cubicBezTo>
                <a:lnTo>
                  <a:pt x="67372" y="61041"/>
                </a:lnTo>
                <a:cubicBezTo>
                  <a:pt x="65862" y="56453"/>
                  <a:pt x="65049" y="51574"/>
                  <a:pt x="65049" y="46463"/>
                </a:cubicBezTo>
                <a:cubicBezTo>
                  <a:pt x="65049" y="20792"/>
                  <a:pt x="85841" y="0"/>
                  <a:pt x="111512" y="0"/>
                </a:cubicBezTo>
                <a:cubicBezTo>
                  <a:pt x="117349" y="0"/>
                  <a:pt x="122954" y="1074"/>
                  <a:pt x="128094" y="3049"/>
                </a:cubicBezTo>
                <a:cubicBezTo>
                  <a:pt x="130998" y="4153"/>
                  <a:pt x="131521" y="7841"/>
                  <a:pt x="129343" y="10048"/>
                </a:cubicBezTo>
                <a:lnTo>
                  <a:pt x="103584" y="35806"/>
                </a:lnTo>
                <a:cubicBezTo>
                  <a:pt x="102713" y="36677"/>
                  <a:pt x="102220" y="37868"/>
                  <a:pt x="102220" y="39087"/>
                </a:cubicBezTo>
                <a:lnTo>
                  <a:pt x="102220" y="51110"/>
                </a:lnTo>
                <a:cubicBezTo>
                  <a:pt x="102220" y="53665"/>
                  <a:pt x="104310" y="55756"/>
                  <a:pt x="106866" y="55756"/>
                </a:cubicBezTo>
                <a:lnTo>
                  <a:pt x="118888" y="55756"/>
                </a:lnTo>
                <a:cubicBezTo>
                  <a:pt x="120108" y="55756"/>
                  <a:pt x="121299" y="55262"/>
                  <a:pt x="122170" y="54391"/>
                </a:cubicBezTo>
                <a:lnTo>
                  <a:pt x="147928" y="28633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189463" y="4088780"/>
            <a:ext cx="4618463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Remediação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9463" y="4386146"/>
            <a:ext cx="4609171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 deve tomar medidas imediatas para investigar e resolver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732" y="4832195"/>
            <a:ext cx="5241073" cy="743415"/>
          </a:xfrm>
          <a:custGeom>
            <a:avLst/>
            <a:gdLst/>
            <a:ahLst/>
            <a:cxnLst/>
            <a:rect l="l" t="t" r="r" b="b"/>
            <a:pathLst>
              <a:path w="5241073" h="743415">
                <a:moveTo>
                  <a:pt x="74341" y="0"/>
                </a:moveTo>
                <a:lnTo>
                  <a:pt x="5166732" y="0"/>
                </a:lnTo>
                <a:cubicBezTo>
                  <a:pt x="5207789" y="0"/>
                  <a:pt x="5241073" y="33284"/>
                  <a:pt x="5241073" y="74341"/>
                </a:cubicBezTo>
                <a:lnTo>
                  <a:pt x="5241073" y="669073"/>
                </a:lnTo>
                <a:cubicBezTo>
                  <a:pt x="5241073" y="710131"/>
                  <a:pt x="5207789" y="743415"/>
                  <a:pt x="5166732" y="743415"/>
                </a:cubicBezTo>
                <a:lnTo>
                  <a:pt x="74341" y="743415"/>
                </a:lnTo>
                <a:cubicBezTo>
                  <a:pt x="33311" y="743415"/>
                  <a:pt x="0" y="710103"/>
                  <a:pt x="0" y="669073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06244" y="4943707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185854" y="0"/>
                </a:moveTo>
                <a:lnTo>
                  <a:pt x="185854" y="0"/>
                </a:lnTo>
                <a:cubicBezTo>
                  <a:pt x="288498" y="0"/>
                  <a:pt x="371707" y="83210"/>
                  <a:pt x="371707" y="185854"/>
                </a:cubicBezTo>
                <a:lnTo>
                  <a:pt x="371707" y="185854"/>
                </a:lnTo>
                <a:cubicBezTo>
                  <a:pt x="371707" y="288498"/>
                  <a:pt x="288498" y="371707"/>
                  <a:pt x="185854" y="371707"/>
                </a:cubicBezTo>
                <a:lnTo>
                  <a:pt x="185854" y="371707"/>
                </a:lnTo>
                <a:cubicBezTo>
                  <a:pt x="83210" y="371707"/>
                  <a:pt x="0" y="288498"/>
                  <a:pt x="0" y="185854"/>
                </a:cubicBezTo>
                <a:lnTo>
                  <a:pt x="0" y="185854"/>
                </a:lnTo>
                <a:cubicBezTo>
                  <a:pt x="0" y="83210"/>
                  <a:pt x="83210" y="0"/>
                  <a:pt x="18585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08463" y="5055220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>
                <a:moveTo>
                  <a:pt x="49251" y="44547"/>
                </a:moveTo>
                <a:lnTo>
                  <a:pt x="43821" y="39116"/>
                </a:lnTo>
                <a:cubicBezTo>
                  <a:pt x="40191" y="35486"/>
                  <a:pt x="40191" y="29591"/>
                  <a:pt x="43821" y="25961"/>
                </a:cubicBezTo>
                <a:lnTo>
                  <a:pt x="77129" y="-7376"/>
                </a:lnTo>
                <a:cubicBezTo>
                  <a:pt x="80759" y="-11006"/>
                  <a:pt x="86654" y="-11006"/>
                  <a:pt x="90284" y="-7376"/>
                </a:cubicBezTo>
                <a:lnTo>
                  <a:pt x="95715" y="-1917"/>
                </a:lnTo>
                <a:cubicBezTo>
                  <a:pt x="99345" y="1713"/>
                  <a:pt x="99345" y="7608"/>
                  <a:pt x="95715" y="11238"/>
                </a:cubicBezTo>
                <a:lnTo>
                  <a:pt x="62406" y="44547"/>
                </a:lnTo>
                <a:cubicBezTo>
                  <a:pt x="58776" y="48177"/>
                  <a:pt x="52881" y="48177"/>
                  <a:pt x="49251" y="44547"/>
                </a:cubicBezTo>
                <a:close/>
                <a:moveTo>
                  <a:pt x="80149" y="61477"/>
                </a:moveTo>
                <a:lnTo>
                  <a:pt x="71031" y="52358"/>
                </a:lnTo>
                <a:lnTo>
                  <a:pt x="103555" y="19834"/>
                </a:lnTo>
                <a:lnTo>
                  <a:pt x="138229" y="54507"/>
                </a:lnTo>
                <a:lnTo>
                  <a:pt x="105704" y="87032"/>
                </a:lnTo>
                <a:lnTo>
                  <a:pt x="96586" y="77913"/>
                </a:lnTo>
                <a:lnTo>
                  <a:pt x="29214" y="145285"/>
                </a:lnTo>
                <a:cubicBezTo>
                  <a:pt x="24684" y="149815"/>
                  <a:pt x="17337" y="149815"/>
                  <a:pt x="12777" y="145285"/>
                </a:cubicBezTo>
                <a:cubicBezTo>
                  <a:pt x="8218" y="140755"/>
                  <a:pt x="8247" y="133408"/>
                  <a:pt x="12777" y="128849"/>
                </a:cubicBezTo>
                <a:lnTo>
                  <a:pt x="80149" y="61477"/>
                </a:lnTo>
                <a:close/>
                <a:moveTo>
                  <a:pt x="113516" y="108782"/>
                </a:moveTo>
                <a:cubicBezTo>
                  <a:pt x="109886" y="105153"/>
                  <a:pt x="109886" y="99257"/>
                  <a:pt x="113516" y="95628"/>
                </a:cubicBezTo>
                <a:lnTo>
                  <a:pt x="146824" y="62319"/>
                </a:lnTo>
                <a:cubicBezTo>
                  <a:pt x="150454" y="58689"/>
                  <a:pt x="156349" y="58689"/>
                  <a:pt x="159979" y="62319"/>
                </a:cubicBezTo>
                <a:lnTo>
                  <a:pt x="165410" y="67749"/>
                </a:lnTo>
                <a:cubicBezTo>
                  <a:pt x="169040" y="71379"/>
                  <a:pt x="169040" y="77274"/>
                  <a:pt x="165410" y="80904"/>
                </a:cubicBezTo>
                <a:lnTo>
                  <a:pt x="132101" y="114242"/>
                </a:lnTo>
                <a:cubicBezTo>
                  <a:pt x="128471" y="117872"/>
                  <a:pt x="122576" y="117872"/>
                  <a:pt x="118946" y="114242"/>
                </a:cubicBezTo>
                <a:lnTo>
                  <a:pt x="113516" y="108812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189463" y="4943707"/>
            <a:ext cx="4395439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Imposição de Multas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9463" y="5241073"/>
            <a:ext cx="4386146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 que processar transações ilegais está sujeito a multas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4988" y="1194110"/>
            <a:ext cx="5640659" cy="5659244"/>
          </a:xfrm>
          <a:custGeom>
            <a:avLst/>
            <a:gdLst/>
            <a:ahLst/>
            <a:cxnLst/>
            <a:rect l="l" t="t" r="r" b="b"/>
            <a:pathLst>
              <a:path w="5640659" h="5659244">
                <a:moveTo>
                  <a:pt x="74344" y="0"/>
                </a:moveTo>
                <a:lnTo>
                  <a:pt x="5566315" y="0"/>
                </a:lnTo>
                <a:cubicBezTo>
                  <a:pt x="5607374" y="0"/>
                  <a:pt x="5640659" y="33285"/>
                  <a:pt x="5640659" y="74344"/>
                </a:cubicBezTo>
                <a:lnTo>
                  <a:pt x="5640659" y="5584900"/>
                </a:lnTo>
                <a:cubicBezTo>
                  <a:pt x="5640659" y="5625959"/>
                  <a:pt x="5607374" y="5659244"/>
                  <a:pt x="5566315" y="5659244"/>
                </a:cubicBezTo>
                <a:lnTo>
                  <a:pt x="74344" y="5659244"/>
                </a:lnTo>
                <a:cubicBezTo>
                  <a:pt x="33285" y="5659244"/>
                  <a:pt x="0" y="5625959"/>
                  <a:pt x="0" y="5584900"/>
                </a:cubicBezTo>
                <a:lnTo>
                  <a:pt x="0" y="74344"/>
                </a:lnTo>
                <a:cubicBezTo>
                  <a:pt x="0" y="33285"/>
                  <a:pt x="33285" y="0"/>
                  <a:pt x="7434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393366" y="1421780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97573" y="0"/>
                </a:moveTo>
                <a:cubicBezTo>
                  <a:pt x="112950" y="0"/>
                  <a:pt x="125451" y="9365"/>
                  <a:pt x="125451" y="20909"/>
                </a:cubicBezTo>
                <a:cubicBezTo>
                  <a:pt x="125451" y="25439"/>
                  <a:pt x="123535" y="29620"/>
                  <a:pt x="120224" y="33062"/>
                </a:cubicBezTo>
                <a:cubicBezTo>
                  <a:pt x="117349" y="36067"/>
                  <a:pt x="114997" y="39726"/>
                  <a:pt x="114997" y="43908"/>
                </a:cubicBezTo>
                <a:cubicBezTo>
                  <a:pt x="114997" y="50442"/>
                  <a:pt x="120311" y="55756"/>
                  <a:pt x="126845" y="55756"/>
                </a:cubicBezTo>
                <a:lnTo>
                  <a:pt x="146360" y="55756"/>
                </a:lnTo>
                <a:cubicBezTo>
                  <a:pt x="157903" y="55756"/>
                  <a:pt x="167268" y="65121"/>
                  <a:pt x="167268" y="76665"/>
                </a:cubicBezTo>
                <a:lnTo>
                  <a:pt x="167268" y="96179"/>
                </a:lnTo>
                <a:cubicBezTo>
                  <a:pt x="167268" y="102713"/>
                  <a:pt x="172583" y="108027"/>
                  <a:pt x="179116" y="108027"/>
                </a:cubicBezTo>
                <a:cubicBezTo>
                  <a:pt x="183255" y="108027"/>
                  <a:pt x="186957" y="105675"/>
                  <a:pt x="189963" y="102800"/>
                </a:cubicBezTo>
                <a:cubicBezTo>
                  <a:pt x="193404" y="99533"/>
                  <a:pt x="197586" y="97573"/>
                  <a:pt x="202116" y="97573"/>
                </a:cubicBezTo>
                <a:cubicBezTo>
                  <a:pt x="213659" y="97573"/>
                  <a:pt x="223024" y="110075"/>
                  <a:pt x="223024" y="125451"/>
                </a:cubicBezTo>
                <a:cubicBezTo>
                  <a:pt x="223024" y="140828"/>
                  <a:pt x="213659" y="153329"/>
                  <a:pt x="202116" y="153329"/>
                </a:cubicBezTo>
                <a:cubicBezTo>
                  <a:pt x="197586" y="153329"/>
                  <a:pt x="193360" y="151413"/>
                  <a:pt x="189963" y="148102"/>
                </a:cubicBezTo>
                <a:cubicBezTo>
                  <a:pt x="186957" y="145227"/>
                  <a:pt x="183298" y="142875"/>
                  <a:pt x="179116" y="142875"/>
                </a:cubicBezTo>
                <a:cubicBezTo>
                  <a:pt x="172583" y="142875"/>
                  <a:pt x="167268" y="148189"/>
                  <a:pt x="167268" y="154723"/>
                </a:cubicBezTo>
                <a:lnTo>
                  <a:pt x="167268" y="202116"/>
                </a:lnTo>
                <a:cubicBezTo>
                  <a:pt x="167268" y="213659"/>
                  <a:pt x="157903" y="223024"/>
                  <a:pt x="146360" y="223024"/>
                </a:cubicBezTo>
                <a:lnTo>
                  <a:pt x="121618" y="223024"/>
                </a:lnTo>
                <a:cubicBezTo>
                  <a:pt x="116042" y="223024"/>
                  <a:pt x="111512" y="218494"/>
                  <a:pt x="111512" y="212919"/>
                </a:cubicBezTo>
                <a:cubicBezTo>
                  <a:pt x="111512" y="208911"/>
                  <a:pt x="114039" y="205383"/>
                  <a:pt x="117262" y="202987"/>
                </a:cubicBezTo>
                <a:cubicBezTo>
                  <a:pt x="122315" y="199197"/>
                  <a:pt x="125451" y="193970"/>
                  <a:pt x="125451" y="188177"/>
                </a:cubicBezTo>
                <a:cubicBezTo>
                  <a:pt x="125451" y="176634"/>
                  <a:pt x="112950" y="167268"/>
                  <a:pt x="97573" y="167268"/>
                </a:cubicBezTo>
                <a:cubicBezTo>
                  <a:pt x="82197" y="167268"/>
                  <a:pt x="69695" y="176634"/>
                  <a:pt x="69695" y="188177"/>
                </a:cubicBezTo>
                <a:cubicBezTo>
                  <a:pt x="69695" y="193970"/>
                  <a:pt x="72831" y="199197"/>
                  <a:pt x="77884" y="202987"/>
                </a:cubicBezTo>
                <a:cubicBezTo>
                  <a:pt x="81108" y="205383"/>
                  <a:pt x="83634" y="208868"/>
                  <a:pt x="83634" y="212919"/>
                </a:cubicBezTo>
                <a:cubicBezTo>
                  <a:pt x="83634" y="218494"/>
                  <a:pt x="79104" y="223024"/>
                  <a:pt x="73528" y="223024"/>
                </a:cubicBezTo>
                <a:lnTo>
                  <a:pt x="20909" y="223024"/>
                </a:lnTo>
                <a:cubicBezTo>
                  <a:pt x="9365" y="223024"/>
                  <a:pt x="0" y="213659"/>
                  <a:pt x="0" y="202116"/>
                </a:cubicBezTo>
                <a:lnTo>
                  <a:pt x="0" y="149496"/>
                </a:lnTo>
                <a:cubicBezTo>
                  <a:pt x="0" y="143920"/>
                  <a:pt x="4530" y="139390"/>
                  <a:pt x="10106" y="139390"/>
                </a:cubicBezTo>
                <a:cubicBezTo>
                  <a:pt x="14113" y="139390"/>
                  <a:pt x="17642" y="141917"/>
                  <a:pt x="20037" y="145140"/>
                </a:cubicBezTo>
                <a:cubicBezTo>
                  <a:pt x="23827" y="150193"/>
                  <a:pt x="29054" y="153329"/>
                  <a:pt x="34848" y="153329"/>
                </a:cubicBezTo>
                <a:cubicBezTo>
                  <a:pt x="46391" y="153329"/>
                  <a:pt x="55756" y="140828"/>
                  <a:pt x="55756" y="125451"/>
                </a:cubicBezTo>
                <a:cubicBezTo>
                  <a:pt x="55756" y="110075"/>
                  <a:pt x="46391" y="97573"/>
                  <a:pt x="34848" y="97573"/>
                </a:cubicBezTo>
                <a:cubicBezTo>
                  <a:pt x="29054" y="97573"/>
                  <a:pt x="23827" y="100709"/>
                  <a:pt x="20037" y="105762"/>
                </a:cubicBezTo>
                <a:cubicBezTo>
                  <a:pt x="17642" y="108986"/>
                  <a:pt x="14157" y="111512"/>
                  <a:pt x="10106" y="111512"/>
                </a:cubicBezTo>
                <a:cubicBezTo>
                  <a:pt x="4530" y="111512"/>
                  <a:pt x="0" y="106982"/>
                  <a:pt x="0" y="101406"/>
                </a:cubicBezTo>
                <a:lnTo>
                  <a:pt x="0" y="76665"/>
                </a:lnTo>
                <a:cubicBezTo>
                  <a:pt x="0" y="65121"/>
                  <a:pt x="9365" y="55756"/>
                  <a:pt x="20909" y="55756"/>
                </a:cubicBezTo>
                <a:lnTo>
                  <a:pt x="68301" y="55756"/>
                </a:lnTo>
                <a:cubicBezTo>
                  <a:pt x="74835" y="55756"/>
                  <a:pt x="80149" y="50442"/>
                  <a:pt x="80149" y="43908"/>
                </a:cubicBezTo>
                <a:cubicBezTo>
                  <a:pt x="80149" y="39770"/>
                  <a:pt x="77797" y="36067"/>
                  <a:pt x="74922" y="33062"/>
                </a:cubicBezTo>
                <a:cubicBezTo>
                  <a:pt x="71655" y="29620"/>
                  <a:pt x="69695" y="25439"/>
                  <a:pt x="69695" y="20909"/>
                </a:cubicBezTo>
                <a:cubicBezTo>
                  <a:pt x="69695" y="9365"/>
                  <a:pt x="82197" y="0"/>
                  <a:pt x="97573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644268" y="1384610"/>
            <a:ext cx="509239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Componentes Adicionais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5488" y="1830659"/>
            <a:ext cx="5259659" cy="966439"/>
          </a:xfrm>
          <a:custGeom>
            <a:avLst/>
            <a:gdLst/>
            <a:ahLst/>
            <a:cxnLst/>
            <a:rect l="l" t="t" r="r" b="b"/>
            <a:pathLst>
              <a:path w="5259659" h="966439">
                <a:moveTo>
                  <a:pt x="74338" y="0"/>
                </a:moveTo>
                <a:lnTo>
                  <a:pt x="5185320" y="0"/>
                </a:lnTo>
                <a:cubicBezTo>
                  <a:pt x="5226349" y="0"/>
                  <a:pt x="5259659" y="33310"/>
                  <a:pt x="5259659" y="74338"/>
                </a:cubicBezTo>
                <a:lnTo>
                  <a:pt x="5259659" y="892101"/>
                </a:lnTo>
                <a:cubicBezTo>
                  <a:pt x="5259659" y="933129"/>
                  <a:pt x="5226349" y="966439"/>
                  <a:pt x="5185320" y="966439"/>
                </a:cubicBezTo>
                <a:lnTo>
                  <a:pt x="74338" y="966439"/>
                </a:lnTo>
                <a:cubicBezTo>
                  <a:pt x="33310" y="966439"/>
                  <a:pt x="0" y="933129"/>
                  <a:pt x="0" y="892101"/>
                </a:cubicBezTo>
                <a:lnTo>
                  <a:pt x="0" y="74338"/>
                </a:lnTo>
                <a:cubicBezTo>
                  <a:pt x="0" y="33310"/>
                  <a:pt x="33310" y="0"/>
                  <a:pt x="7433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489777" y="1988634"/>
            <a:ext cx="188177" cy="167268"/>
          </a:xfrm>
          <a:custGeom>
            <a:avLst/>
            <a:gdLst/>
            <a:ahLst/>
            <a:cxnLst/>
            <a:rect l="l" t="t" r="r" b="b"/>
            <a:pathLst>
              <a:path w="188177" h="167268">
                <a:moveTo>
                  <a:pt x="0" y="31363"/>
                </a:moveTo>
                <a:cubicBezTo>
                  <a:pt x="0" y="19830"/>
                  <a:pt x="9376" y="10454"/>
                  <a:pt x="20909" y="10454"/>
                </a:cubicBezTo>
                <a:lnTo>
                  <a:pt x="167268" y="10454"/>
                </a:lnTo>
                <a:cubicBezTo>
                  <a:pt x="178801" y="10454"/>
                  <a:pt x="188177" y="19830"/>
                  <a:pt x="188177" y="31363"/>
                </a:cubicBezTo>
                <a:lnTo>
                  <a:pt x="0" y="31363"/>
                </a:lnTo>
                <a:close/>
                <a:moveTo>
                  <a:pt x="0" y="47044"/>
                </a:moveTo>
                <a:lnTo>
                  <a:pt x="188177" y="47044"/>
                </a:lnTo>
                <a:lnTo>
                  <a:pt x="188177" y="135905"/>
                </a:lnTo>
                <a:cubicBezTo>
                  <a:pt x="188177" y="147438"/>
                  <a:pt x="178801" y="156814"/>
                  <a:pt x="167268" y="156814"/>
                </a:cubicBezTo>
                <a:lnTo>
                  <a:pt x="20909" y="156814"/>
                </a:lnTo>
                <a:cubicBezTo>
                  <a:pt x="9376" y="156814"/>
                  <a:pt x="0" y="147438"/>
                  <a:pt x="0" y="135905"/>
                </a:cubicBezTo>
                <a:lnTo>
                  <a:pt x="0" y="47044"/>
                </a:lnTo>
                <a:close/>
                <a:moveTo>
                  <a:pt x="80792" y="135905"/>
                </a:moveTo>
                <a:cubicBezTo>
                  <a:pt x="87391" y="135905"/>
                  <a:pt x="92324" y="129568"/>
                  <a:pt x="88110" y="124471"/>
                </a:cubicBezTo>
                <a:cubicBezTo>
                  <a:pt x="83307" y="118689"/>
                  <a:pt x="76055" y="114997"/>
                  <a:pt x="67953" y="114997"/>
                </a:cubicBezTo>
                <a:lnTo>
                  <a:pt x="47044" y="114997"/>
                </a:lnTo>
                <a:cubicBezTo>
                  <a:pt x="38942" y="114997"/>
                  <a:pt x="31690" y="118689"/>
                  <a:pt x="26887" y="124471"/>
                </a:cubicBezTo>
                <a:cubicBezTo>
                  <a:pt x="22673" y="129568"/>
                  <a:pt x="27606" y="135905"/>
                  <a:pt x="34205" y="135905"/>
                </a:cubicBezTo>
                <a:lnTo>
                  <a:pt x="80759" y="135905"/>
                </a:lnTo>
                <a:close/>
                <a:moveTo>
                  <a:pt x="57498" y="101929"/>
                </a:moveTo>
                <a:cubicBezTo>
                  <a:pt x="67596" y="101929"/>
                  <a:pt x="75793" y="93731"/>
                  <a:pt x="75793" y="83634"/>
                </a:cubicBezTo>
                <a:cubicBezTo>
                  <a:pt x="75793" y="73537"/>
                  <a:pt x="67596" y="65339"/>
                  <a:pt x="57498" y="65339"/>
                </a:cubicBezTo>
                <a:cubicBezTo>
                  <a:pt x="47401" y="65339"/>
                  <a:pt x="39204" y="73537"/>
                  <a:pt x="39204" y="83634"/>
                </a:cubicBezTo>
                <a:cubicBezTo>
                  <a:pt x="39204" y="93731"/>
                  <a:pt x="47401" y="101929"/>
                  <a:pt x="57498" y="101929"/>
                </a:cubicBezTo>
                <a:close/>
                <a:moveTo>
                  <a:pt x="117611" y="67953"/>
                </a:moveTo>
                <a:cubicBezTo>
                  <a:pt x="113265" y="67953"/>
                  <a:pt x="109770" y="71448"/>
                  <a:pt x="109770" y="75793"/>
                </a:cubicBezTo>
                <a:cubicBezTo>
                  <a:pt x="109770" y="80139"/>
                  <a:pt x="113265" y="83634"/>
                  <a:pt x="117611" y="83634"/>
                </a:cubicBezTo>
                <a:lnTo>
                  <a:pt x="154200" y="83634"/>
                </a:lnTo>
                <a:cubicBezTo>
                  <a:pt x="158546" y="83634"/>
                  <a:pt x="162041" y="80139"/>
                  <a:pt x="162041" y="75793"/>
                </a:cubicBezTo>
                <a:cubicBezTo>
                  <a:pt x="162041" y="71448"/>
                  <a:pt x="158546" y="67953"/>
                  <a:pt x="154200" y="67953"/>
                </a:cubicBezTo>
                <a:lnTo>
                  <a:pt x="117611" y="67953"/>
                </a:lnTo>
                <a:close/>
                <a:moveTo>
                  <a:pt x="117611" y="99316"/>
                </a:moveTo>
                <a:cubicBezTo>
                  <a:pt x="113265" y="99316"/>
                  <a:pt x="109770" y="102811"/>
                  <a:pt x="109770" y="107156"/>
                </a:cubicBezTo>
                <a:cubicBezTo>
                  <a:pt x="109770" y="111501"/>
                  <a:pt x="113265" y="114997"/>
                  <a:pt x="117611" y="114997"/>
                </a:cubicBezTo>
                <a:lnTo>
                  <a:pt x="154200" y="114997"/>
                </a:lnTo>
                <a:cubicBezTo>
                  <a:pt x="158546" y="114997"/>
                  <a:pt x="162041" y="111501"/>
                  <a:pt x="162041" y="107156"/>
                </a:cubicBezTo>
                <a:cubicBezTo>
                  <a:pt x="162041" y="102811"/>
                  <a:pt x="158546" y="99316"/>
                  <a:pt x="154200" y="99316"/>
                </a:cubicBezTo>
                <a:lnTo>
                  <a:pt x="117611" y="9931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690732" y="1942171"/>
            <a:ext cx="490653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Registro de Aquisição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7000" y="2239537"/>
            <a:ext cx="5110976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Credenciadores devem se qualificar e ganhar o Registro antes de contratar comerciantes de alto risco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5488" y="2908610"/>
            <a:ext cx="5259659" cy="966439"/>
          </a:xfrm>
          <a:custGeom>
            <a:avLst/>
            <a:gdLst/>
            <a:ahLst/>
            <a:cxnLst/>
            <a:rect l="l" t="t" r="r" b="b"/>
            <a:pathLst>
              <a:path w="5259659" h="966439">
                <a:moveTo>
                  <a:pt x="74338" y="0"/>
                </a:moveTo>
                <a:lnTo>
                  <a:pt x="5185320" y="0"/>
                </a:lnTo>
                <a:cubicBezTo>
                  <a:pt x="5226349" y="0"/>
                  <a:pt x="5259659" y="33310"/>
                  <a:pt x="5259659" y="74338"/>
                </a:cubicBezTo>
                <a:lnTo>
                  <a:pt x="5259659" y="892101"/>
                </a:lnTo>
                <a:cubicBezTo>
                  <a:pt x="5259659" y="933129"/>
                  <a:pt x="5226349" y="966439"/>
                  <a:pt x="5185320" y="966439"/>
                </a:cubicBezTo>
                <a:lnTo>
                  <a:pt x="74338" y="966439"/>
                </a:lnTo>
                <a:cubicBezTo>
                  <a:pt x="33310" y="966439"/>
                  <a:pt x="0" y="933129"/>
                  <a:pt x="0" y="892101"/>
                </a:cubicBezTo>
                <a:lnTo>
                  <a:pt x="0" y="74338"/>
                </a:lnTo>
                <a:cubicBezTo>
                  <a:pt x="0" y="33310"/>
                  <a:pt x="33310" y="0"/>
                  <a:pt x="7433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500232" y="3066585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39204" y="18295"/>
                </a:moveTo>
                <a:cubicBezTo>
                  <a:pt x="39204" y="8200"/>
                  <a:pt x="47404" y="0"/>
                  <a:pt x="57498" y="0"/>
                </a:cubicBezTo>
                <a:lnTo>
                  <a:pt x="65339" y="0"/>
                </a:lnTo>
                <a:cubicBezTo>
                  <a:pt x="71122" y="0"/>
                  <a:pt x="75793" y="4672"/>
                  <a:pt x="75793" y="10454"/>
                </a:cubicBezTo>
                <a:lnTo>
                  <a:pt x="75793" y="156814"/>
                </a:lnTo>
                <a:cubicBezTo>
                  <a:pt x="75793" y="162597"/>
                  <a:pt x="71122" y="167268"/>
                  <a:pt x="65339" y="167268"/>
                </a:cubicBezTo>
                <a:lnTo>
                  <a:pt x="54885" y="167268"/>
                </a:lnTo>
                <a:cubicBezTo>
                  <a:pt x="45149" y="167268"/>
                  <a:pt x="36949" y="160604"/>
                  <a:pt x="34630" y="151587"/>
                </a:cubicBezTo>
                <a:cubicBezTo>
                  <a:pt x="34401" y="151587"/>
                  <a:pt x="34205" y="151587"/>
                  <a:pt x="33976" y="151587"/>
                </a:cubicBezTo>
                <a:cubicBezTo>
                  <a:pt x="19536" y="151587"/>
                  <a:pt x="7841" y="139891"/>
                  <a:pt x="7841" y="125451"/>
                </a:cubicBezTo>
                <a:cubicBezTo>
                  <a:pt x="7841" y="119571"/>
                  <a:pt x="9801" y="114148"/>
                  <a:pt x="13068" y="109770"/>
                </a:cubicBezTo>
                <a:cubicBezTo>
                  <a:pt x="6730" y="105000"/>
                  <a:pt x="2614" y="97421"/>
                  <a:pt x="2614" y="88861"/>
                </a:cubicBezTo>
                <a:cubicBezTo>
                  <a:pt x="2614" y="78766"/>
                  <a:pt x="8363" y="69978"/>
                  <a:pt x="16727" y="65633"/>
                </a:cubicBezTo>
                <a:cubicBezTo>
                  <a:pt x="14407" y="61713"/>
                  <a:pt x="13068" y="57139"/>
                  <a:pt x="13068" y="52271"/>
                </a:cubicBezTo>
                <a:cubicBezTo>
                  <a:pt x="13068" y="37831"/>
                  <a:pt x="24764" y="26136"/>
                  <a:pt x="39204" y="26136"/>
                </a:cubicBezTo>
                <a:lnTo>
                  <a:pt x="39204" y="18295"/>
                </a:lnTo>
                <a:close/>
                <a:moveTo>
                  <a:pt x="128065" y="18295"/>
                </a:moveTo>
                <a:lnTo>
                  <a:pt x="128065" y="26136"/>
                </a:lnTo>
                <a:cubicBezTo>
                  <a:pt x="142505" y="26136"/>
                  <a:pt x="154200" y="37831"/>
                  <a:pt x="154200" y="52271"/>
                </a:cubicBezTo>
                <a:cubicBezTo>
                  <a:pt x="154200" y="57172"/>
                  <a:pt x="152861" y="61746"/>
                  <a:pt x="150541" y="65633"/>
                </a:cubicBezTo>
                <a:cubicBezTo>
                  <a:pt x="158938" y="69978"/>
                  <a:pt x="164655" y="78734"/>
                  <a:pt x="164655" y="88861"/>
                </a:cubicBezTo>
                <a:cubicBezTo>
                  <a:pt x="164655" y="97421"/>
                  <a:pt x="160538" y="105000"/>
                  <a:pt x="154200" y="109770"/>
                </a:cubicBezTo>
                <a:cubicBezTo>
                  <a:pt x="157467" y="114148"/>
                  <a:pt x="159428" y="119571"/>
                  <a:pt x="159428" y="125451"/>
                </a:cubicBezTo>
                <a:cubicBezTo>
                  <a:pt x="159428" y="139891"/>
                  <a:pt x="147732" y="151587"/>
                  <a:pt x="133292" y="151587"/>
                </a:cubicBezTo>
                <a:cubicBezTo>
                  <a:pt x="133063" y="151587"/>
                  <a:pt x="132867" y="151587"/>
                  <a:pt x="132639" y="151587"/>
                </a:cubicBezTo>
                <a:cubicBezTo>
                  <a:pt x="130319" y="160604"/>
                  <a:pt x="122119" y="167268"/>
                  <a:pt x="112383" y="167268"/>
                </a:cubicBezTo>
                <a:lnTo>
                  <a:pt x="101929" y="167268"/>
                </a:lnTo>
                <a:cubicBezTo>
                  <a:pt x="96147" y="167268"/>
                  <a:pt x="91475" y="162597"/>
                  <a:pt x="91475" y="156814"/>
                </a:cubicBezTo>
                <a:lnTo>
                  <a:pt x="91475" y="10454"/>
                </a:lnTo>
                <a:cubicBezTo>
                  <a:pt x="91475" y="4672"/>
                  <a:pt x="96147" y="0"/>
                  <a:pt x="101929" y="0"/>
                </a:cubicBezTo>
                <a:lnTo>
                  <a:pt x="109770" y="0"/>
                </a:lnTo>
                <a:cubicBezTo>
                  <a:pt x="119865" y="0"/>
                  <a:pt x="128065" y="8200"/>
                  <a:pt x="128065" y="1829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690732" y="3020122"/>
            <a:ext cx="490653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Inteligência Proativa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7000" y="3317488"/>
            <a:ext cx="5110976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 transações suspeitas para reduzir riscos de lavagem de dinheiro e migração de portfolios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5488" y="3986561"/>
            <a:ext cx="5259659" cy="743415"/>
          </a:xfrm>
          <a:custGeom>
            <a:avLst/>
            <a:gdLst/>
            <a:ahLst/>
            <a:cxnLst/>
            <a:rect l="l" t="t" r="r" b="b"/>
            <a:pathLst>
              <a:path w="5259659" h="743415">
                <a:moveTo>
                  <a:pt x="74341" y="0"/>
                </a:moveTo>
                <a:lnTo>
                  <a:pt x="5185317" y="0"/>
                </a:lnTo>
                <a:cubicBezTo>
                  <a:pt x="5226375" y="0"/>
                  <a:pt x="5259659" y="33284"/>
                  <a:pt x="5259659" y="74341"/>
                </a:cubicBezTo>
                <a:lnTo>
                  <a:pt x="5259659" y="669073"/>
                </a:lnTo>
                <a:cubicBezTo>
                  <a:pt x="5259659" y="710131"/>
                  <a:pt x="5226375" y="743415"/>
                  <a:pt x="5185317" y="743415"/>
                </a:cubicBezTo>
                <a:lnTo>
                  <a:pt x="74341" y="743415"/>
                </a:lnTo>
                <a:cubicBezTo>
                  <a:pt x="33311" y="743415"/>
                  <a:pt x="0" y="710103"/>
                  <a:pt x="0" y="669073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500232" y="4144537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46195" y="751"/>
                </a:moveTo>
                <a:cubicBezTo>
                  <a:pt x="33650" y="-2614"/>
                  <a:pt x="20745" y="4835"/>
                  <a:pt x="17413" y="17380"/>
                </a:cubicBezTo>
                <a:lnTo>
                  <a:pt x="817" y="79289"/>
                </a:lnTo>
                <a:cubicBezTo>
                  <a:pt x="-2548" y="91834"/>
                  <a:pt x="4900" y="104739"/>
                  <a:pt x="17446" y="108104"/>
                </a:cubicBezTo>
                <a:lnTo>
                  <a:pt x="79354" y="124700"/>
                </a:lnTo>
                <a:cubicBezTo>
                  <a:pt x="91900" y="128065"/>
                  <a:pt x="104804" y="120616"/>
                  <a:pt x="108169" y="108071"/>
                </a:cubicBezTo>
                <a:lnTo>
                  <a:pt x="124765" y="46162"/>
                </a:lnTo>
                <a:cubicBezTo>
                  <a:pt x="128130" y="33617"/>
                  <a:pt x="120681" y="20713"/>
                  <a:pt x="108136" y="17348"/>
                </a:cubicBezTo>
                <a:lnTo>
                  <a:pt x="46195" y="751"/>
                </a:lnTo>
                <a:close/>
                <a:moveTo>
                  <a:pt x="53709" y="67953"/>
                </a:moveTo>
                <a:cubicBezTo>
                  <a:pt x="51722" y="64713"/>
                  <a:pt x="51650" y="60650"/>
                  <a:pt x="53520" y="57342"/>
                </a:cubicBezTo>
                <a:cubicBezTo>
                  <a:pt x="55391" y="54033"/>
                  <a:pt x="58910" y="52001"/>
                  <a:pt x="62710" y="52033"/>
                </a:cubicBezTo>
                <a:cubicBezTo>
                  <a:pt x="66511" y="52066"/>
                  <a:pt x="69994" y="54159"/>
                  <a:pt x="71808" y="57498"/>
                </a:cubicBezTo>
                <a:cubicBezTo>
                  <a:pt x="73795" y="60738"/>
                  <a:pt x="73867" y="64801"/>
                  <a:pt x="71996" y="68110"/>
                </a:cubicBezTo>
                <a:cubicBezTo>
                  <a:pt x="70126" y="71418"/>
                  <a:pt x="66607" y="73450"/>
                  <a:pt x="62806" y="73418"/>
                </a:cubicBezTo>
                <a:cubicBezTo>
                  <a:pt x="59006" y="73385"/>
                  <a:pt x="55522" y="71293"/>
                  <a:pt x="53709" y="67953"/>
                </a:cubicBezTo>
                <a:close/>
                <a:moveTo>
                  <a:pt x="25874" y="71971"/>
                </a:moveTo>
                <a:cubicBezTo>
                  <a:pt x="29114" y="69984"/>
                  <a:pt x="33177" y="69912"/>
                  <a:pt x="36485" y="71783"/>
                </a:cubicBezTo>
                <a:cubicBezTo>
                  <a:pt x="39794" y="73653"/>
                  <a:pt x="41826" y="77172"/>
                  <a:pt x="41794" y="80973"/>
                </a:cubicBezTo>
                <a:cubicBezTo>
                  <a:pt x="41761" y="84773"/>
                  <a:pt x="39669" y="88256"/>
                  <a:pt x="36329" y="90070"/>
                </a:cubicBezTo>
                <a:cubicBezTo>
                  <a:pt x="33089" y="92057"/>
                  <a:pt x="29026" y="92129"/>
                  <a:pt x="25717" y="90258"/>
                </a:cubicBezTo>
                <a:cubicBezTo>
                  <a:pt x="22409" y="88388"/>
                  <a:pt x="20377" y="84869"/>
                  <a:pt x="20409" y="81069"/>
                </a:cubicBezTo>
                <a:cubicBezTo>
                  <a:pt x="20442" y="77268"/>
                  <a:pt x="22534" y="73785"/>
                  <a:pt x="25874" y="71971"/>
                </a:cubicBezTo>
                <a:close/>
                <a:moveTo>
                  <a:pt x="86313" y="103465"/>
                </a:moveTo>
                <a:cubicBezTo>
                  <a:pt x="83073" y="105452"/>
                  <a:pt x="79010" y="105524"/>
                  <a:pt x="75702" y="103653"/>
                </a:cubicBezTo>
                <a:cubicBezTo>
                  <a:pt x="72394" y="101782"/>
                  <a:pt x="70361" y="98264"/>
                  <a:pt x="70394" y="94463"/>
                </a:cubicBezTo>
                <a:cubicBezTo>
                  <a:pt x="70426" y="90663"/>
                  <a:pt x="72519" y="87179"/>
                  <a:pt x="75859" y="85366"/>
                </a:cubicBezTo>
                <a:cubicBezTo>
                  <a:pt x="79099" y="83379"/>
                  <a:pt x="83162" y="83307"/>
                  <a:pt x="86470" y="85177"/>
                </a:cubicBezTo>
                <a:cubicBezTo>
                  <a:pt x="89778" y="87048"/>
                  <a:pt x="91811" y="90567"/>
                  <a:pt x="91778" y="94367"/>
                </a:cubicBezTo>
                <a:cubicBezTo>
                  <a:pt x="91746" y="98168"/>
                  <a:pt x="89653" y="101651"/>
                  <a:pt x="86313" y="103465"/>
                </a:cubicBezTo>
                <a:close/>
                <a:moveTo>
                  <a:pt x="89253" y="35381"/>
                </a:moveTo>
                <a:cubicBezTo>
                  <a:pt x="92493" y="33394"/>
                  <a:pt x="96556" y="33322"/>
                  <a:pt x="99864" y="35193"/>
                </a:cubicBezTo>
                <a:cubicBezTo>
                  <a:pt x="103173" y="37063"/>
                  <a:pt x="105205" y="40582"/>
                  <a:pt x="105173" y="44383"/>
                </a:cubicBezTo>
                <a:cubicBezTo>
                  <a:pt x="105140" y="48183"/>
                  <a:pt x="103048" y="51666"/>
                  <a:pt x="99708" y="53480"/>
                </a:cubicBezTo>
                <a:cubicBezTo>
                  <a:pt x="96468" y="55467"/>
                  <a:pt x="92405" y="55539"/>
                  <a:pt x="89096" y="53669"/>
                </a:cubicBezTo>
                <a:cubicBezTo>
                  <a:pt x="85788" y="51798"/>
                  <a:pt x="83756" y="48279"/>
                  <a:pt x="83788" y="44479"/>
                </a:cubicBezTo>
                <a:cubicBezTo>
                  <a:pt x="83821" y="40678"/>
                  <a:pt x="85913" y="37195"/>
                  <a:pt x="89253" y="35381"/>
                </a:cubicBezTo>
                <a:close/>
                <a:moveTo>
                  <a:pt x="49723" y="40086"/>
                </a:moveTo>
                <a:cubicBezTo>
                  <a:pt x="46483" y="42073"/>
                  <a:pt x="42420" y="42145"/>
                  <a:pt x="39112" y="40274"/>
                </a:cubicBezTo>
                <a:cubicBezTo>
                  <a:pt x="35804" y="38403"/>
                  <a:pt x="33771" y="34885"/>
                  <a:pt x="33804" y="31084"/>
                </a:cubicBezTo>
                <a:cubicBezTo>
                  <a:pt x="33836" y="27284"/>
                  <a:pt x="35929" y="23800"/>
                  <a:pt x="39269" y="21987"/>
                </a:cubicBezTo>
                <a:cubicBezTo>
                  <a:pt x="42509" y="20000"/>
                  <a:pt x="46572" y="19928"/>
                  <a:pt x="49880" y="21798"/>
                </a:cubicBezTo>
                <a:cubicBezTo>
                  <a:pt x="53188" y="23669"/>
                  <a:pt x="55221" y="27188"/>
                  <a:pt x="55188" y="30988"/>
                </a:cubicBezTo>
                <a:cubicBezTo>
                  <a:pt x="55156" y="34789"/>
                  <a:pt x="53063" y="38272"/>
                  <a:pt x="49723" y="40086"/>
                </a:cubicBezTo>
                <a:close/>
                <a:moveTo>
                  <a:pt x="136559" y="62726"/>
                </a:moveTo>
                <a:lnTo>
                  <a:pt x="123295" y="112122"/>
                </a:lnTo>
                <a:cubicBezTo>
                  <a:pt x="117676" y="133031"/>
                  <a:pt x="96179" y="145445"/>
                  <a:pt x="75271" y="139859"/>
                </a:cubicBezTo>
                <a:lnTo>
                  <a:pt x="62758" y="136494"/>
                </a:lnTo>
                <a:lnTo>
                  <a:pt x="62758" y="146360"/>
                </a:lnTo>
                <a:cubicBezTo>
                  <a:pt x="62758" y="157892"/>
                  <a:pt x="72134" y="167268"/>
                  <a:pt x="83667" y="167268"/>
                </a:cubicBezTo>
                <a:lnTo>
                  <a:pt x="146392" y="167268"/>
                </a:lnTo>
                <a:cubicBezTo>
                  <a:pt x="157925" y="167268"/>
                  <a:pt x="167301" y="157892"/>
                  <a:pt x="167301" y="146360"/>
                </a:cubicBezTo>
                <a:lnTo>
                  <a:pt x="167301" y="83634"/>
                </a:lnTo>
                <a:cubicBezTo>
                  <a:pt x="167301" y="72102"/>
                  <a:pt x="157925" y="62726"/>
                  <a:pt x="146392" y="62726"/>
                </a:cubicBezTo>
                <a:lnTo>
                  <a:pt x="136559" y="6272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690732" y="4098073"/>
            <a:ext cx="490653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Cumprimento de Jogos de Azar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77000" y="4395439"/>
            <a:ext cx="5110976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Garante cumprimento dos requisitos regulatórios de jogos de azar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5488" y="4841488"/>
            <a:ext cx="5259659" cy="966439"/>
          </a:xfrm>
          <a:custGeom>
            <a:avLst/>
            <a:gdLst/>
            <a:ahLst/>
            <a:cxnLst/>
            <a:rect l="l" t="t" r="r" b="b"/>
            <a:pathLst>
              <a:path w="5259659" h="966439">
                <a:moveTo>
                  <a:pt x="74338" y="0"/>
                </a:moveTo>
                <a:lnTo>
                  <a:pt x="5185320" y="0"/>
                </a:lnTo>
                <a:cubicBezTo>
                  <a:pt x="5226349" y="0"/>
                  <a:pt x="5259659" y="33310"/>
                  <a:pt x="5259659" y="74338"/>
                </a:cubicBezTo>
                <a:lnTo>
                  <a:pt x="5259659" y="892101"/>
                </a:lnTo>
                <a:cubicBezTo>
                  <a:pt x="5259659" y="933129"/>
                  <a:pt x="5226349" y="966439"/>
                  <a:pt x="5185320" y="966439"/>
                </a:cubicBezTo>
                <a:lnTo>
                  <a:pt x="74338" y="966439"/>
                </a:lnTo>
                <a:cubicBezTo>
                  <a:pt x="33310" y="966439"/>
                  <a:pt x="0" y="933129"/>
                  <a:pt x="0" y="892101"/>
                </a:cubicBezTo>
                <a:lnTo>
                  <a:pt x="0" y="74338"/>
                </a:lnTo>
                <a:cubicBezTo>
                  <a:pt x="0" y="33310"/>
                  <a:pt x="33310" y="0"/>
                  <a:pt x="7433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500232" y="4999463"/>
            <a:ext cx="167268" cy="167268"/>
          </a:xfrm>
          <a:custGeom>
            <a:avLst/>
            <a:gdLst/>
            <a:ahLst/>
            <a:cxnLst/>
            <a:rect l="l" t="t" r="r" b="b"/>
            <a:pathLst>
              <a:path w="167268" h="167268">
                <a:moveTo>
                  <a:pt x="83634" y="0"/>
                </a:moveTo>
                <a:cubicBezTo>
                  <a:pt x="85137" y="0"/>
                  <a:pt x="86640" y="327"/>
                  <a:pt x="88012" y="947"/>
                </a:cubicBezTo>
                <a:lnTo>
                  <a:pt x="149561" y="27050"/>
                </a:lnTo>
                <a:cubicBezTo>
                  <a:pt x="156749" y="30089"/>
                  <a:pt x="162106" y="37178"/>
                  <a:pt x="162074" y="45737"/>
                </a:cubicBezTo>
                <a:cubicBezTo>
                  <a:pt x="161910" y="78146"/>
                  <a:pt x="148581" y="137441"/>
                  <a:pt x="92292" y="164393"/>
                </a:cubicBezTo>
                <a:cubicBezTo>
                  <a:pt x="86836" y="167007"/>
                  <a:pt x="80498" y="167007"/>
                  <a:pt x="75042" y="164393"/>
                </a:cubicBezTo>
                <a:cubicBezTo>
                  <a:pt x="18720" y="137441"/>
                  <a:pt x="5423" y="78146"/>
                  <a:pt x="5260" y="45737"/>
                </a:cubicBezTo>
                <a:cubicBezTo>
                  <a:pt x="5227" y="37178"/>
                  <a:pt x="10585" y="30089"/>
                  <a:pt x="17772" y="27050"/>
                </a:cubicBezTo>
                <a:lnTo>
                  <a:pt x="79289" y="947"/>
                </a:lnTo>
                <a:cubicBezTo>
                  <a:pt x="80661" y="327"/>
                  <a:pt x="82131" y="0"/>
                  <a:pt x="83634" y="0"/>
                </a:cubicBezTo>
                <a:close/>
                <a:moveTo>
                  <a:pt x="83634" y="21823"/>
                </a:moveTo>
                <a:lnTo>
                  <a:pt x="83634" y="145347"/>
                </a:lnTo>
                <a:cubicBezTo>
                  <a:pt x="128718" y="123524"/>
                  <a:pt x="140839" y="75173"/>
                  <a:pt x="141133" y="46227"/>
                </a:cubicBezTo>
                <a:lnTo>
                  <a:pt x="83634" y="21856"/>
                </a:lnTo>
                <a:lnTo>
                  <a:pt x="83634" y="2185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690732" y="4953000"/>
            <a:ext cx="490653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Medidas de Redução de Risco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77000" y="5250366"/>
            <a:ext cx="5110976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Credenciadores com identificações excessivas podem ser solicitados a implementar medidas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5488" y="5919439"/>
            <a:ext cx="5259659" cy="743415"/>
          </a:xfrm>
          <a:custGeom>
            <a:avLst/>
            <a:gdLst/>
            <a:ahLst/>
            <a:cxnLst/>
            <a:rect l="l" t="t" r="r" b="b"/>
            <a:pathLst>
              <a:path w="5259659" h="743415">
                <a:moveTo>
                  <a:pt x="74341" y="0"/>
                </a:moveTo>
                <a:lnTo>
                  <a:pt x="5185317" y="0"/>
                </a:lnTo>
                <a:cubicBezTo>
                  <a:pt x="5226375" y="0"/>
                  <a:pt x="5259659" y="33284"/>
                  <a:pt x="5259659" y="74341"/>
                </a:cubicBezTo>
                <a:lnTo>
                  <a:pt x="5259659" y="669073"/>
                </a:lnTo>
                <a:cubicBezTo>
                  <a:pt x="5259659" y="710131"/>
                  <a:pt x="5226375" y="743415"/>
                  <a:pt x="5185317" y="743415"/>
                </a:cubicBezTo>
                <a:lnTo>
                  <a:pt x="74341" y="743415"/>
                </a:lnTo>
                <a:cubicBezTo>
                  <a:pt x="33311" y="743415"/>
                  <a:pt x="0" y="710103"/>
                  <a:pt x="0" y="669073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6489777" y="6077415"/>
            <a:ext cx="188177" cy="167268"/>
          </a:xfrm>
          <a:custGeom>
            <a:avLst/>
            <a:gdLst/>
            <a:ahLst/>
            <a:cxnLst/>
            <a:rect l="l" t="t" r="r" b="b"/>
            <a:pathLst>
              <a:path w="188177" h="167268">
                <a:moveTo>
                  <a:pt x="15681" y="63967"/>
                </a:moveTo>
                <a:lnTo>
                  <a:pt x="84026" y="92096"/>
                </a:lnTo>
                <a:cubicBezTo>
                  <a:pt x="87228" y="93402"/>
                  <a:pt x="90625" y="94088"/>
                  <a:pt x="94088" y="94088"/>
                </a:cubicBezTo>
                <a:cubicBezTo>
                  <a:pt x="97551" y="94088"/>
                  <a:pt x="100949" y="93402"/>
                  <a:pt x="104151" y="92096"/>
                </a:cubicBezTo>
                <a:lnTo>
                  <a:pt x="183342" y="59491"/>
                </a:lnTo>
                <a:cubicBezTo>
                  <a:pt x="186282" y="58283"/>
                  <a:pt x="188177" y="55440"/>
                  <a:pt x="188177" y="52271"/>
                </a:cubicBezTo>
                <a:cubicBezTo>
                  <a:pt x="188177" y="49102"/>
                  <a:pt x="186282" y="46260"/>
                  <a:pt x="183342" y="45051"/>
                </a:cubicBezTo>
                <a:lnTo>
                  <a:pt x="104151" y="12447"/>
                </a:lnTo>
                <a:cubicBezTo>
                  <a:pt x="100949" y="11140"/>
                  <a:pt x="97551" y="10454"/>
                  <a:pt x="94088" y="10454"/>
                </a:cubicBezTo>
                <a:cubicBezTo>
                  <a:pt x="90625" y="10454"/>
                  <a:pt x="87228" y="11140"/>
                  <a:pt x="84026" y="12447"/>
                </a:cubicBezTo>
                <a:lnTo>
                  <a:pt x="4835" y="45051"/>
                </a:lnTo>
                <a:cubicBezTo>
                  <a:pt x="1895" y="46260"/>
                  <a:pt x="0" y="49102"/>
                  <a:pt x="0" y="52271"/>
                </a:cubicBezTo>
                <a:lnTo>
                  <a:pt x="0" y="148973"/>
                </a:lnTo>
                <a:cubicBezTo>
                  <a:pt x="0" y="153318"/>
                  <a:pt x="3496" y="156814"/>
                  <a:pt x="7841" y="156814"/>
                </a:cubicBezTo>
                <a:cubicBezTo>
                  <a:pt x="12186" y="156814"/>
                  <a:pt x="15681" y="153318"/>
                  <a:pt x="15681" y="148973"/>
                </a:cubicBezTo>
                <a:lnTo>
                  <a:pt x="15681" y="63967"/>
                </a:lnTo>
                <a:close/>
                <a:moveTo>
                  <a:pt x="31363" y="87391"/>
                </a:moveTo>
                <a:lnTo>
                  <a:pt x="31363" y="125451"/>
                </a:lnTo>
                <a:cubicBezTo>
                  <a:pt x="31363" y="142766"/>
                  <a:pt x="59459" y="156814"/>
                  <a:pt x="94088" y="156814"/>
                </a:cubicBezTo>
                <a:cubicBezTo>
                  <a:pt x="128718" y="156814"/>
                  <a:pt x="156814" y="142766"/>
                  <a:pt x="156814" y="125451"/>
                </a:cubicBezTo>
                <a:lnTo>
                  <a:pt x="156814" y="87358"/>
                </a:lnTo>
                <a:lnTo>
                  <a:pt x="110129" y="106601"/>
                </a:lnTo>
                <a:cubicBezTo>
                  <a:pt x="105033" y="108692"/>
                  <a:pt x="99610" y="109770"/>
                  <a:pt x="94088" y="109770"/>
                </a:cubicBezTo>
                <a:cubicBezTo>
                  <a:pt x="88567" y="109770"/>
                  <a:pt x="83144" y="108692"/>
                  <a:pt x="78048" y="106601"/>
                </a:cubicBezTo>
                <a:lnTo>
                  <a:pt x="31363" y="87358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690732" y="6030951"/>
            <a:ext cx="490653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Treinamento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77000" y="6328317"/>
            <a:ext cx="5110976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Treinamento regular sobre políticas e melhores práticas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1151204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kern="0" spc="5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679957"/>
            <a:ext cx="1160648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VIRP - Pré-requisitos e Taxas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6641" y="1208812"/>
            <a:ext cx="5619086" cy="4948573"/>
          </a:xfrm>
          <a:custGeom>
            <a:avLst/>
            <a:gdLst/>
            <a:ahLst/>
            <a:cxnLst/>
            <a:rect l="l" t="t" r="r" b="b"/>
            <a:pathLst>
              <a:path w="5619086" h="4948573">
                <a:moveTo>
                  <a:pt x="37775" y="0"/>
                </a:moveTo>
                <a:lnTo>
                  <a:pt x="5543521" y="0"/>
                </a:lnTo>
                <a:cubicBezTo>
                  <a:pt x="5585255" y="0"/>
                  <a:pt x="5619086" y="33831"/>
                  <a:pt x="5619086" y="75565"/>
                </a:cubicBezTo>
                <a:lnTo>
                  <a:pt x="5619086" y="4873008"/>
                </a:lnTo>
                <a:cubicBezTo>
                  <a:pt x="5619086" y="4914742"/>
                  <a:pt x="5585255" y="4948573"/>
                  <a:pt x="5543521" y="4948573"/>
                </a:cubicBezTo>
                <a:lnTo>
                  <a:pt x="37775" y="4948573"/>
                </a:lnTo>
                <a:cubicBezTo>
                  <a:pt x="16913" y="4948573"/>
                  <a:pt x="0" y="4931661"/>
                  <a:pt x="0" y="4910798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6641" y="1208812"/>
            <a:ext cx="37775" cy="4948573"/>
          </a:xfrm>
          <a:custGeom>
            <a:avLst/>
            <a:gdLst/>
            <a:ahLst/>
            <a:cxnLst/>
            <a:rect l="l" t="t" r="r" b="b"/>
            <a:pathLst>
              <a:path w="37775" h="4948573">
                <a:moveTo>
                  <a:pt x="37775" y="0"/>
                </a:moveTo>
                <a:lnTo>
                  <a:pt x="37775" y="0"/>
                </a:lnTo>
                <a:lnTo>
                  <a:pt x="37775" y="4948573"/>
                </a:lnTo>
                <a:lnTo>
                  <a:pt x="37775" y="4948573"/>
                </a:lnTo>
                <a:cubicBezTo>
                  <a:pt x="16913" y="4948573"/>
                  <a:pt x="0" y="4931661"/>
                  <a:pt x="0" y="4910798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61069" y="1435464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137851" y="14166"/>
                </a:moveTo>
                <a:lnTo>
                  <a:pt x="141658" y="14166"/>
                </a:lnTo>
                <a:cubicBezTo>
                  <a:pt x="157284" y="14166"/>
                  <a:pt x="169989" y="26871"/>
                  <a:pt x="169989" y="42497"/>
                </a:cubicBezTo>
                <a:lnTo>
                  <a:pt x="169989" y="198321"/>
                </a:lnTo>
                <a:cubicBezTo>
                  <a:pt x="169989" y="213947"/>
                  <a:pt x="157284" y="226652"/>
                  <a:pt x="141658" y="226652"/>
                </a:cubicBezTo>
                <a:lnTo>
                  <a:pt x="28332" y="226652"/>
                </a:lnTo>
                <a:cubicBezTo>
                  <a:pt x="12705" y="226652"/>
                  <a:pt x="0" y="213947"/>
                  <a:pt x="0" y="198321"/>
                </a:cubicBezTo>
                <a:lnTo>
                  <a:pt x="0" y="42497"/>
                </a:lnTo>
                <a:cubicBezTo>
                  <a:pt x="0" y="26871"/>
                  <a:pt x="12705" y="14166"/>
                  <a:pt x="28332" y="14166"/>
                </a:cubicBezTo>
                <a:lnTo>
                  <a:pt x="32139" y="14166"/>
                </a:lnTo>
                <a:cubicBezTo>
                  <a:pt x="37008" y="5711"/>
                  <a:pt x="46172" y="0"/>
                  <a:pt x="56663" y="0"/>
                </a:cubicBezTo>
                <a:lnTo>
                  <a:pt x="113326" y="0"/>
                </a:lnTo>
                <a:cubicBezTo>
                  <a:pt x="123818" y="0"/>
                  <a:pt x="132981" y="5711"/>
                  <a:pt x="137851" y="14166"/>
                </a:cubicBezTo>
                <a:close/>
                <a:moveTo>
                  <a:pt x="109785" y="49580"/>
                </a:moveTo>
                <a:cubicBezTo>
                  <a:pt x="115672" y="49580"/>
                  <a:pt x="120409" y="44843"/>
                  <a:pt x="120409" y="38956"/>
                </a:cubicBezTo>
                <a:cubicBezTo>
                  <a:pt x="120409" y="33068"/>
                  <a:pt x="115672" y="28332"/>
                  <a:pt x="109785" y="28332"/>
                </a:cubicBezTo>
                <a:lnTo>
                  <a:pt x="60204" y="28332"/>
                </a:lnTo>
                <a:cubicBezTo>
                  <a:pt x="54317" y="28332"/>
                  <a:pt x="49580" y="33068"/>
                  <a:pt x="49580" y="38956"/>
                </a:cubicBezTo>
                <a:cubicBezTo>
                  <a:pt x="49580" y="44843"/>
                  <a:pt x="54317" y="49580"/>
                  <a:pt x="60204" y="49580"/>
                </a:cubicBezTo>
                <a:lnTo>
                  <a:pt x="109785" y="49580"/>
                </a:lnTo>
                <a:close/>
                <a:moveTo>
                  <a:pt x="56663" y="113326"/>
                </a:moveTo>
                <a:cubicBezTo>
                  <a:pt x="56663" y="105508"/>
                  <a:pt x="50316" y="99160"/>
                  <a:pt x="42497" y="99160"/>
                </a:cubicBezTo>
                <a:cubicBezTo>
                  <a:pt x="34679" y="99160"/>
                  <a:pt x="28332" y="105508"/>
                  <a:pt x="28332" y="113326"/>
                </a:cubicBezTo>
                <a:cubicBezTo>
                  <a:pt x="28332" y="121144"/>
                  <a:pt x="34679" y="127492"/>
                  <a:pt x="42497" y="127492"/>
                </a:cubicBezTo>
                <a:cubicBezTo>
                  <a:pt x="50316" y="127492"/>
                  <a:pt x="56663" y="121144"/>
                  <a:pt x="56663" y="113326"/>
                </a:cubicBezTo>
                <a:close/>
                <a:moveTo>
                  <a:pt x="70829" y="113326"/>
                </a:moveTo>
                <a:cubicBezTo>
                  <a:pt x="70829" y="119214"/>
                  <a:pt x="75565" y="123950"/>
                  <a:pt x="81453" y="123950"/>
                </a:cubicBezTo>
                <a:lnTo>
                  <a:pt x="131033" y="123950"/>
                </a:lnTo>
                <a:cubicBezTo>
                  <a:pt x="136921" y="123950"/>
                  <a:pt x="141658" y="119214"/>
                  <a:pt x="141658" y="113326"/>
                </a:cubicBezTo>
                <a:cubicBezTo>
                  <a:pt x="141658" y="107438"/>
                  <a:pt x="136921" y="102702"/>
                  <a:pt x="131033" y="102702"/>
                </a:cubicBezTo>
                <a:lnTo>
                  <a:pt x="81453" y="102702"/>
                </a:lnTo>
                <a:cubicBezTo>
                  <a:pt x="75565" y="102702"/>
                  <a:pt x="70829" y="107438"/>
                  <a:pt x="70829" y="113326"/>
                </a:cubicBezTo>
                <a:close/>
                <a:moveTo>
                  <a:pt x="70829" y="169989"/>
                </a:moveTo>
                <a:cubicBezTo>
                  <a:pt x="70829" y="175877"/>
                  <a:pt x="75565" y="180613"/>
                  <a:pt x="81453" y="180613"/>
                </a:cubicBezTo>
                <a:lnTo>
                  <a:pt x="131033" y="180613"/>
                </a:lnTo>
                <a:cubicBezTo>
                  <a:pt x="136921" y="180613"/>
                  <a:pt x="141658" y="175877"/>
                  <a:pt x="141658" y="169989"/>
                </a:cubicBezTo>
                <a:cubicBezTo>
                  <a:pt x="141658" y="164102"/>
                  <a:pt x="136921" y="159365"/>
                  <a:pt x="131033" y="159365"/>
                </a:cubicBezTo>
                <a:lnTo>
                  <a:pt x="81453" y="159365"/>
                </a:lnTo>
                <a:cubicBezTo>
                  <a:pt x="75565" y="159365"/>
                  <a:pt x="70829" y="164102"/>
                  <a:pt x="70829" y="169989"/>
                </a:cubicBezTo>
                <a:close/>
                <a:moveTo>
                  <a:pt x="42497" y="184155"/>
                </a:moveTo>
                <a:cubicBezTo>
                  <a:pt x="50316" y="184155"/>
                  <a:pt x="56663" y="177807"/>
                  <a:pt x="56663" y="169989"/>
                </a:cubicBezTo>
                <a:cubicBezTo>
                  <a:pt x="56663" y="162171"/>
                  <a:pt x="50316" y="155823"/>
                  <a:pt x="42497" y="155823"/>
                </a:cubicBezTo>
                <a:cubicBezTo>
                  <a:pt x="34679" y="155823"/>
                  <a:pt x="28332" y="162171"/>
                  <a:pt x="28332" y="169989"/>
                </a:cubicBezTo>
                <a:cubicBezTo>
                  <a:pt x="28332" y="177807"/>
                  <a:pt x="34679" y="184155"/>
                  <a:pt x="42497" y="18415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87721" y="1397689"/>
            <a:ext cx="5052455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Pré-requisitos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4406" y="1850993"/>
            <a:ext cx="5222445" cy="566631"/>
          </a:xfrm>
          <a:custGeom>
            <a:avLst/>
            <a:gdLst/>
            <a:ahLst/>
            <a:cxnLst/>
            <a:rect l="l" t="t" r="r" b="b"/>
            <a:pathLst>
              <a:path w="5222445" h="566631">
                <a:moveTo>
                  <a:pt x="75549" y="0"/>
                </a:moveTo>
                <a:lnTo>
                  <a:pt x="5146896" y="0"/>
                </a:lnTo>
                <a:cubicBezTo>
                  <a:pt x="5188620" y="0"/>
                  <a:pt x="5222445" y="33824"/>
                  <a:pt x="5222445" y="75549"/>
                </a:cubicBezTo>
                <a:lnTo>
                  <a:pt x="5222445" y="491082"/>
                </a:lnTo>
                <a:cubicBezTo>
                  <a:pt x="5222445" y="532806"/>
                  <a:pt x="5188620" y="566631"/>
                  <a:pt x="5146896" y="566631"/>
                </a:cubicBezTo>
                <a:lnTo>
                  <a:pt x="75549" y="566631"/>
                </a:lnTo>
                <a:cubicBezTo>
                  <a:pt x="33824" y="566631"/>
                  <a:pt x="0" y="532806"/>
                  <a:pt x="0" y="491082"/>
                </a:cubicBezTo>
                <a:lnTo>
                  <a:pt x="0" y="75549"/>
                </a:lnTo>
                <a:cubicBezTo>
                  <a:pt x="0" y="33824"/>
                  <a:pt x="33824" y="0"/>
                  <a:pt x="755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17732" y="2002095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553" y="0"/>
                  <a:pt x="302203" y="67650"/>
                  <a:pt x="302203" y="151101"/>
                </a:cubicBezTo>
                <a:lnTo>
                  <a:pt x="302203" y="151101"/>
                </a:lnTo>
                <a:cubicBezTo>
                  <a:pt x="302203" y="234553"/>
                  <a:pt x="234553" y="302203"/>
                  <a:pt x="151101" y="302203"/>
                </a:cubicBezTo>
                <a:lnTo>
                  <a:pt x="151101" y="302203"/>
                </a:lnTo>
                <a:cubicBezTo>
                  <a:pt x="67650" y="302203"/>
                  <a:pt x="0" y="234553"/>
                  <a:pt x="0" y="151101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47732" y="2058758"/>
            <a:ext cx="10388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3261" y="1964319"/>
            <a:ext cx="447638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Preencher e enviar o </a:t>
            </a:r>
            <a:r>
              <a:rPr lang="en-US" sz="119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Formulário de Registro</a:t>
            </a: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documentos exigidos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4406" y="2493174"/>
            <a:ext cx="5222445" cy="679957"/>
          </a:xfrm>
          <a:custGeom>
            <a:avLst/>
            <a:gdLst/>
            <a:ahLst/>
            <a:cxnLst/>
            <a:rect l="l" t="t" r="r" b="b"/>
            <a:pathLst>
              <a:path w="5222445" h="679957">
                <a:moveTo>
                  <a:pt x="75550" y="0"/>
                </a:moveTo>
                <a:lnTo>
                  <a:pt x="5146895" y="0"/>
                </a:lnTo>
                <a:cubicBezTo>
                  <a:pt x="5188620" y="0"/>
                  <a:pt x="5222445" y="33825"/>
                  <a:pt x="5222445" y="75550"/>
                </a:cubicBezTo>
                <a:lnTo>
                  <a:pt x="5222445" y="604407"/>
                </a:lnTo>
                <a:cubicBezTo>
                  <a:pt x="5222445" y="646132"/>
                  <a:pt x="5188620" y="679957"/>
                  <a:pt x="5146895" y="679957"/>
                </a:cubicBezTo>
                <a:lnTo>
                  <a:pt x="75550" y="679957"/>
                </a:lnTo>
                <a:cubicBezTo>
                  <a:pt x="33825" y="679957"/>
                  <a:pt x="0" y="646132"/>
                  <a:pt x="0" y="604407"/>
                </a:cubicBezTo>
                <a:lnTo>
                  <a:pt x="0" y="75550"/>
                </a:lnTo>
                <a:cubicBezTo>
                  <a:pt x="0" y="33825"/>
                  <a:pt x="33825" y="0"/>
                  <a:pt x="755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17732" y="2644276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553" y="0"/>
                  <a:pt x="302203" y="67650"/>
                  <a:pt x="302203" y="151101"/>
                </a:cubicBezTo>
                <a:lnTo>
                  <a:pt x="302203" y="151101"/>
                </a:lnTo>
                <a:cubicBezTo>
                  <a:pt x="302203" y="234553"/>
                  <a:pt x="234553" y="302203"/>
                  <a:pt x="151101" y="302203"/>
                </a:cubicBezTo>
                <a:lnTo>
                  <a:pt x="151101" y="302203"/>
                </a:lnTo>
                <a:cubicBezTo>
                  <a:pt x="67650" y="302203"/>
                  <a:pt x="0" y="234553"/>
                  <a:pt x="0" y="151101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5042" y="2700939"/>
            <a:ext cx="13221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3261" y="2606500"/>
            <a:ext cx="4655814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Fornecer </a:t>
            </a:r>
            <a:r>
              <a:rPr lang="en-US" sz="119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atestado por escrito</a:t>
            </a: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que nenhuma transação foi inserida até aprovação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4406" y="3248682"/>
            <a:ext cx="5222445" cy="566631"/>
          </a:xfrm>
          <a:custGeom>
            <a:avLst/>
            <a:gdLst/>
            <a:ahLst/>
            <a:cxnLst/>
            <a:rect l="l" t="t" r="r" b="b"/>
            <a:pathLst>
              <a:path w="5222445" h="566631">
                <a:moveTo>
                  <a:pt x="75549" y="0"/>
                </a:moveTo>
                <a:lnTo>
                  <a:pt x="5146896" y="0"/>
                </a:lnTo>
                <a:cubicBezTo>
                  <a:pt x="5188620" y="0"/>
                  <a:pt x="5222445" y="33824"/>
                  <a:pt x="5222445" y="75549"/>
                </a:cubicBezTo>
                <a:lnTo>
                  <a:pt x="5222445" y="491082"/>
                </a:lnTo>
                <a:cubicBezTo>
                  <a:pt x="5222445" y="532806"/>
                  <a:pt x="5188620" y="566631"/>
                  <a:pt x="5146896" y="566631"/>
                </a:cubicBezTo>
                <a:lnTo>
                  <a:pt x="75549" y="566631"/>
                </a:lnTo>
                <a:cubicBezTo>
                  <a:pt x="33824" y="566631"/>
                  <a:pt x="0" y="532806"/>
                  <a:pt x="0" y="491082"/>
                </a:cubicBezTo>
                <a:lnTo>
                  <a:pt x="0" y="75549"/>
                </a:lnTo>
                <a:cubicBezTo>
                  <a:pt x="0" y="33824"/>
                  <a:pt x="33824" y="0"/>
                  <a:pt x="755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17732" y="3399783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553" y="0"/>
                  <a:pt x="302203" y="67650"/>
                  <a:pt x="302203" y="151101"/>
                </a:cubicBezTo>
                <a:lnTo>
                  <a:pt x="302203" y="151101"/>
                </a:lnTo>
                <a:cubicBezTo>
                  <a:pt x="302203" y="234553"/>
                  <a:pt x="234553" y="302203"/>
                  <a:pt x="151101" y="302203"/>
                </a:cubicBezTo>
                <a:lnTo>
                  <a:pt x="151101" y="302203"/>
                </a:lnTo>
                <a:cubicBezTo>
                  <a:pt x="67650" y="302203"/>
                  <a:pt x="0" y="234553"/>
                  <a:pt x="0" y="151101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33419" y="3456446"/>
            <a:ext cx="14165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3261" y="3362008"/>
            <a:ext cx="384364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Pagamento da </a:t>
            </a:r>
            <a:r>
              <a:rPr lang="en-US" sz="119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de inscrição única</a:t>
            </a: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não reembolsável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4406" y="3890863"/>
            <a:ext cx="5222445" cy="679957"/>
          </a:xfrm>
          <a:custGeom>
            <a:avLst/>
            <a:gdLst/>
            <a:ahLst/>
            <a:cxnLst/>
            <a:rect l="l" t="t" r="r" b="b"/>
            <a:pathLst>
              <a:path w="5222445" h="679957">
                <a:moveTo>
                  <a:pt x="75550" y="0"/>
                </a:moveTo>
                <a:lnTo>
                  <a:pt x="5146895" y="0"/>
                </a:lnTo>
                <a:cubicBezTo>
                  <a:pt x="5188620" y="0"/>
                  <a:pt x="5222445" y="33825"/>
                  <a:pt x="5222445" y="75550"/>
                </a:cubicBezTo>
                <a:lnTo>
                  <a:pt x="5222445" y="604407"/>
                </a:lnTo>
                <a:cubicBezTo>
                  <a:pt x="5222445" y="646132"/>
                  <a:pt x="5188620" y="679957"/>
                  <a:pt x="5146895" y="679957"/>
                </a:cubicBezTo>
                <a:lnTo>
                  <a:pt x="75550" y="679957"/>
                </a:lnTo>
                <a:cubicBezTo>
                  <a:pt x="33825" y="679957"/>
                  <a:pt x="0" y="646132"/>
                  <a:pt x="0" y="604407"/>
                </a:cubicBezTo>
                <a:lnTo>
                  <a:pt x="0" y="75550"/>
                </a:lnTo>
                <a:cubicBezTo>
                  <a:pt x="0" y="33825"/>
                  <a:pt x="33825" y="0"/>
                  <a:pt x="755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17732" y="4041964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553" y="0"/>
                  <a:pt x="302203" y="67650"/>
                  <a:pt x="302203" y="151101"/>
                </a:cubicBezTo>
                <a:lnTo>
                  <a:pt x="302203" y="151101"/>
                </a:lnTo>
                <a:cubicBezTo>
                  <a:pt x="302203" y="234553"/>
                  <a:pt x="234553" y="302203"/>
                  <a:pt x="151101" y="302203"/>
                </a:cubicBezTo>
                <a:lnTo>
                  <a:pt x="151101" y="302203"/>
                </a:lnTo>
                <a:cubicBezTo>
                  <a:pt x="67650" y="302203"/>
                  <a:pt x="0" y="234553"/>
                  <a:pt x="0" y="151101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35190" y="4098627"/>
            <a:ext cx="13221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3261" y="4004189"/>
            <a:ext cx="4655814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Passar por </a:t>
            </a:r>
            <a:r>
              <a:rPr lang="en-US" sz="119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revisão financeira</a:t>
            </a: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ter capital social exigido, ser grau de investimento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4406" y="4646370"/>
            <a:ext cx="5222445" cy="566631"/>
          </a:xfrm>
          <a:custGeom>
            <a:avLst/>
            <a:gdLst/>
            <a:ahLst/>
            <a:cxnLst/>
            <a:rect l="l" t="t" r="r" b="b"/>
            <a:pathLst>
              <a:path w="5222445" h="566631">
                <a:moveTo>
                  <a:pt x="75549" y="0"/>
                </a:moveTo>
                <a:lnTo>
                  <a:pt x="5146896" y="0"/>
                </a:lnTo>
                <a:cubicBezTo>
                  <a:pt x="5188620" y="0"/>
                  <a:pt x="5222445" y="33824"/>
                  <a:pt x="5222445" y="75549"/>
                </a:cubicBezTo>
                <a:lnTo>
                  <a:pt x="5222445" y="491082"/>
                </a:lnTo>
                <a:cubicBezTo>
                  <a:pt x="5222445" y="532806"/>
                  <a:pt x="5188620" y="566631"/>
                  <a:pt x="5146896" y="566631"/>
                </a:cubicBezTo>
                <a:lnTo>
                  <a:pt x="75549" y="566631"/>
                </a:lnTo>
                <a:cubicBezTo>
                  <a:pt x="33824" y="566631"/>
                  <a:pt x="0" y="532806"/>
                  <a:pt x="0" y="491082"/>
                </a:cubicBezTo>
                <a:lnTo>
                  <a:pt x="0" y="75549"/>
                </a:lnTo>
                <a:cubicBezTo>
                  <a:pt x="0" y="33824"/>
                  <a:pt x="33824" y="0"/>
                  <a:pt x="755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17732" y="4797472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553" y="0"/>
                  <a:pt x="302203" y="67650"/>
                  <a:pt x="302203" y="151101"/>
                </a:cubicBezTo>
                <a:lnTo>
                  <a:pt x="302203" y="151101"/>
                </a:lnTo>
                <a:cubicBezTo>
                  <a:pt x="302203" y="234553"/>
                  <a:pt x="234553" y="302203"/>
                  <a:pt x="151101" y="302203"/>
                </a:cubicBezTo>
                <a:lnTo>
                  <a:pt x="151101" y="302203"/>
                </a:lnTo>
                <a:cubicBezTo>
                  <a:pt x="67650" y="302203"/>
                  <a:pt x="0" y="234553"/>
                  <a:pt x="0" y="151101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33124" y="4854135"/>
            <a:ext cx="14165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33261" y="4759696"/>
            <a:ext cx="354144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Cumprir todas as regras</a:t>
            </a: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requisitos e políticas da Visa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4406" y="5288552"/>
            <a:ext cx="5222445" cy="679957"/>
          </a:xfrm>
          <a:custGeom>
            <a:avLst/>
            <a:gdLst/>
            <a:ahLst/>
            <a:cxnLst/>
            <a:rect l="l" t="t" r="r" b="b"/>
            <a:pathLst>
              <a:path w="5222445" h="679957">
                <a:moveTo>
                  <a:pt x="75550" y="0"/>
                </a:moveTo>
                <a:lnTo>
                  <a:pt x="5146895" y="0"/>
                </a:lnTo>
                <a:cubicBezTo>
                  <a:pt x="5188620" y="0"/>
                  <a:pt x="5222445" y="33825"/>
                  <a:pt x="5222445" y="75550"/>
                </a:cubicBezTo>
                <a:lnTo>
                  <a:pt x="5222445" y="604407"/>
                </a:lnTo>
                <a:cubicBezTo>
                  <a:pt x="5222445" y="646132"/>
                  <a:pt x="5188620" y="679957"/>
                  <a:pt x="5146895" y="679957"/>
                </a:cubicBezTo>
                <a:lnTo>
                  <a:pt x="75550" y="679957"/>
                </a:lnTo>
                <a:cubicBezTo>
                  <a:pt x="33825" y="679957"/>
                  <a:pt x="0" y="646132"/>
                  <a:pt x="0" y="604407"/>
                </a:cubicBezTo>
                <a:lnTo>
                  <a:pt x="0" y="75550"/>
                </a:lnTo>
                <a:cubicBezTo>
                  <a:pt x="0" y="33825"/>
                  <a:pt x="33825" y="0"/>
                  <a:pt x="755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17732" y="5439653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553" y="0"/>
                  <a:pt x="302203" y="67650"/>
                  <a:pt x="302203" y="151101"/>
                </a:cubicBezTo>
                <a:lnTo>
                  <a:pt x="302203" y="151101"/>
                </a:lnTo>
                <a:cubicBezTo>
                  <a:pt x="302203" y="234553"/>
                  <a:pt x="234553" y="302203"/>
                  <a:pt x="151101" y="302203"/>
                </a:cubicBezTo>
                <a:lnTo>
                  <a:pt x="151101" y="302203"/>
                </a:lnTo>
                <a:cubicBezTo>
                  <a:pt x="67650" y="302203"/>
                  <a:pt x="0" y="234553"/>
                  <a:pt x="0" y="151101"/>
                </a:cubicBezTo>
                <a:lnTo>
                  <a:pt x="0" y="151101"/>
                </a:lnTo>
                <a:cubicBezTo>
                  <a:pt x="0" y="67650"/>
                  <a:pt x="67650" y="0"/>
                  <a:pt x="15110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32386" y="5496316"/>
            <a:ext cx="14165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3261" y="5401878"/>
            <a:ext cx="4655814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Estar em </a:t>
            </a:r>
            <a:r>
              <a:rPr lang="en-US" sz="119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situação regular</a:t>
            </a: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todos os programas de gestão de risco da Visa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4649" y="1213534"/>
            <a:ext cx="5628530" cy="4939129"/>
          </a:xfrm>
          <a:custGeom>
            <a:avLst/>
            <a:gdLst/>
            <a:ahLst/>
            <a:cxnLst/>
            <a:rect l="l" t="t" r="r" b="b"/>
            <a:pathLst>
              <a:path w="5628530" h="4939129">
                <a:moveTo>
                  <a:pt x="75569" y="0"/>
                </a:moveTo>
                <a:lnTo>
                  <a:pt x="5552961" y="0"/>
                </a:lnTo>
                <a:cubicBezTo>
                  <a:pt x="5594697" y="0"/>
                  <a:pt x="5628530" y="33833"/>
                  <a:pt x="5628530" y="75569"/>
                </a:cubicBezTo>
                <a:lnTo>
                  <a:pt x="5628530" y="4863561"/>
                </a:lnTo>
                <a:cubicBezTo>
                  <a:pt x="5628530" y="4905296"/>
                  <a:pt x="5594697" y="4939129"/>
                  <a:pt x="5552961" y="4939129"/>
                </a:cubicBezTo>
                <a:lnTo>
                  <a:pt x="75569" y="4939129"/>
                </a:lnTo>
                <a:cubicBezTo>
                  <a:pt x="33833" y="4939129"/>
                  <a:pt x="0" y="4905296"/>
                  <a:pt x="0" y="4863561"/>
                </a:cubicBezTo>
                <a:lnTo>
                  <a:pt x="0" y="75569"/>
                </a:lnTo>
                <a:cubicBezTo>
                  <a:pt x="0" y="33833"/>
                  <a:pt x="33833" y="0"/>
                  <a:pt x="7556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439077" y="1444908"/>
            <a:ext cx="141658" cy="226652"/>
          </a:xfrm>
          <a:custGeom>
            <a:avLst/>
            <a:gdLst/>
            <a:ahLst/>
            <a:cxnLst/>
            <a:rect l="l" t="t" r="r" b="b"/>
            <a:pathLst>
              <a:path w="141658" h="226652">
                <a:moveTo>
                  <a:pt x="60204" y="10624"/>
                </a:moveTo>
                <a:cubicBezTo>
                  <a:pt x="60204" y="4737"/>
                  <a:pt x="64941" y="0"/>
                  <a:pt x="70829" y="0"/>
                </a:cubicBezTo>
                <a:cubicBezTo>
                  <a:pt x="76716" y="0"/>
                  <a:pt x="81453" y="4737"/>
                  <a:pt x="81453" y="10624"/>
                </a:cubicBezTo>
                <a:lnTo>
                  <a:pt x="81453" y="28332"/>
                </a:lnTo>
                <a:lnTo>
                  <a:pt x="106243" y="28332"/>
                </a:lnTo>
                <a:cubicBezTo>
                  <a:pt x="114079" y="28332"/>
                  <a:pt x="120409" y="34662"/>
                  <a:pt x="120409" y="42497"/>
                </a:cubicBezTo>
                <a:cubicBezTo>
                  <a:pt x="120409" y="50333"/>
                  <a:pt x="114079" y="56663"/>
                  <a:pt x="106243" y="56663"/>
                </a:cubicBezTo>
                <a:lnTo>
                  <a:pt x="55379" y="56663"/>
                </a:lnTo>
                <a:cubicBezTo>
                  <a:pt x="44357" y="56663"/>
                  <a:pt x="35414" y="65605"/>
                  <a:pt x="35414" y="76628"/>
                </a:cubicBezTo>
                <a:cubicBezTo>
                  <a:pt x="35414" y="86588"/>
                  <a:pt x="42719" y="94999"/>
                  <a:pt x="52546" y="96416"/>
                </a:cubicBezTo>
                <a:lnTo>
                  <a:pt x="93096" y="102215"/>
                </a:lnTo>
                <a:cubicBezTo>
                  <a:pt x="116912" y="105623"/>
                  <a:pt x="134575" y="125987"/>
                  <a:pt x="134575" y="150024"/>
                </a:cubicBezTo>
                <a:cubicBezTo>
                  <a:pt x="134575" y="176718"/>
                  <a:pt x="112928" y="198321"/>
                  <a:pt x="86278" y="198321"/>
                </a:cubicBezTo>
                <a:lnTo>
                  <a:pt x="81453" y="198321"/>
                </a:lnTo>
                <a:lnTo>
                  <a:pt x="81453" y="216028"/>
                </a:lnTo>
                <a:cubicBezTo>
                  <a:pt x="81453" y="221916"/>
                  <a:pt x="76716" y="226652"/>
                  <a:pt x="70829" y="226652"/>
                </a:cubicBezTo>
                <a:cubicBezTo>
                  <a:pt x="64941" y="226652"/>
                  <a:pt x="60204" y="221916"/>
                  <a:pt x="60204" y="216028"/>
                </a:cubicBezTo>
                <a:lnTo>
                  <a:pt x="60204" y="198321"/>
                </a:lnTo>
                <a:lnTo>
                  <a:pt x="28332" y="198321"/>
                </a:lnTo>
                <a:cubicBezTo>
                  <a:pt x="20496" y="198321"/>
                  <a:pt x="14166" y="191990"/>
                  <a:pt x="14166" y="184155"/>
                </a:cubicBezTo>
                <a:cubicBezTo>
                  <a:pt x="14166" y="176319"/>
                  <a:pt x="20496" y="169989"/>
                  <a:pt x="28332" y="169989"/>
                </a:cubicBezTo>
                <a:lnTo>
                  <a:pt x="86278" y="169989"/>
                </a:lnTo>
                <a:cubicBezTo>
                  <a:pt x="97301" y="169989"/>
                  <a:pt x="106243" y="161047"/>
                  <a:pt x="106243" y="150024"/>
                </a:cubicBezTo>
                <a:cubicBezTo>
                  <a:pt x="106243" y="140064"/>
                  <a:pt x="98939" y="131653"/>
                  <a:pt x="89112" y="130236"/>
                </a:cubicBezTo>
                <a:lnTo>
                  <a:pt x="48562" y="124437"/>
                </a:lnTo>
                <a:cubicBezTo>
                  <a:pt x="24746" y="121073"/>
                  <a:pt x="7083" y="100665"/>
                  <a:pt x="7083" y="76628"/>
                </a:cubicBezTo>
                <a:cubicBezTo>
                  <a:pt x="7083" y="49979"/>
                  <a:pt x="28730" y="28332"/>
                  <a:pt x="55379" y="28332"/>
                </a:cubicBezTo>
                <a:lnTo>
                  <a:pt x="60204" y="28332"/>
                </a:lnTo>
                <a:lnTo>
                  <a:pt x="60204" y="10624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651564" y="1407132"/>
            <a:ext cx="5071343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Taxas de Registro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8248" y="1860437"/>
            <a:ext cx="5241332" cy="1444908"/>
          </a:xfrm>
          <a:custGeom>
            <a:avLst/>
            <a:gdLst/>
            <a:ahLst/>
            <a:cxnLst/>
            <a:rect l="l" t="t" r="r" b="b"/>
            <a:pathLst>
              <a:path w="5241332" h="1444908">
                <a:moveTo>
                  <a:pt x="75554" y="0"/>
                </a:moveTo>
                <a:lnTo>
                  <a:pt x="5165778" y="0"/>
                </a:lnTo>
                <a:cubicBezTo>
                  <a:pt x="5207506" y="0"/>
                  <a:pt x="5241332" y="33827"/>
                  <a:pt x="5241332" y="75554"/>
                </a:cubicBezTo>
                <a:lnTo>
                  <a:pt x="5241332" y="1369354"/>
                </a:lnTo>
                <a:cubicBezTo>
                  <a:pt x="5241332" y="1411081"/>
                  <a:pt x="5207506" y="1444908"/>
                  <a:pt x="5165778" y="1444908"/>
                </a:cubicBezTo>
                <a:lnTo>
                  <a:pt x="75554" y="1444908"/>
                </a:lnTo>
                <a:cubicBezTo>
                  <a:pt x="33827" y="1444908"/>
                  <a:pt x="0" y="1411081"/>
                  <a:pt x="0" y="1369354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19350" y="2011538"/>
            <a:ext cx="5024124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Taxa de Registro no Programa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19350" y="2771768"/>
            <a:ext cx="4939129" cy="9444"/>
          </a:xfrm>
          <a:custGeom>
            <a:avLst/>
            <a:gdLst/>
            <a:ahLst/>
            <a:cxnLst/>
            <a:rect l="l" t="t" r="r" b="b"/>
            <a:pathLst>
              <a:path w="4939129" h="9444">
                <a:moveTo>
                  <a:pt x="0" y="0"/>
                </a:moveTo>
                <a:lnTo>
                  <a:pt x="4939129" y="0"/>
                </a:lnTo>
                <a:lnTo>
                  <a:pt x="4939129" y="9444"/>
                </a:lnTo>
                <a:lnTo>
                  <a:pt x="0" y="9444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519350" y="2445955"/>
            <a:ext cx="141657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anual por seller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428658" y="2427067"/>
            <a:ext cx="1123817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950,00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19350" y="2852040"/>
            <a:ext cx="109548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de adesão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16603" y="2852040"/>
            <a:ext cx="1019935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 por nível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2970" y="3423393"/>
            <a:ext cx="5231888" cy="1341026"/>
          </a:xfrm>
          <a:custGeom>
            <a:avLst/>
            <a:gdLst/>
            <a:ahLst/>
            <a:cxnLst/>
            <a:rect l="l" t="t" r="r" b="b"/>
            <a:pathLst>
              <a:path w="5231888" h="1341026">
                <a:moveTo>
                  <a:pt x="75553" y="0"/>
                </a:moveTo>
                <a:lnTo>
                  <a:pt x="5156335" y="0"/>
                </a:lnTo>
                <a:cubicBezTo>
                  <a:pt x="5198062" y="0"/>
                  <a:pt x="5231888" y="33826"/>
                  <a:pt x="5231888" y="75553"/>
                </a:cubicBezTo>
                <a:lnTo>
                  <a:pt x="5231888" y="1265472"/>
                </a:lnTo>
                <a:cubicBezTo>
                  <a:pt x="5231888" y="1307199"/>
                  <a:pt x="5198062" y="1341026"/>
                  <a:pt x="5156335" y="1341026"/>
                </a:cubicBezTo>
                <a:lnTo>
                  <a:pt x="75553" y="1341026"/>
                </a:lnTo>
                <a:cubicBezTo>
                  <a:pt x="33826" y="1341026"/>
                  <a:pt x="0" y="1307199"/>
                  <a:pt x="0" y="1265472"/>
                </a:cubicBezTo>
                <a:lnTo>
                  <a:pt x="0" y="75553"/>
                </a:lnTo>
                <a:cubicBezTo>
                  <a:pt x="0" y="33854"/>
                  <a:pt x="33854" y="0"/>
                  <a:pt x="75553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552403" y="3626435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84995" y="0"/>
                </a:moveTo>
                <a:cubicBezTo>
                  <a:pt x="89875" y="0"/>
                  <a:pt x="94357" y="2689"/>
                  <a:pt x="96681" y="6972"/>
                </a:cubicBezTo>
                <a:lnTo>
                  <a:pt x="168396" y="139776"/>
                </a:lnTo>
                <a:cubicBezTo>
                  <a:pt x="170620" y="143893"/>
                  <a:pt x="170520" y="148873"/>
                  <a:pt x="168130" y="152891"/>
                </a:cubicBezTo>
                <a:cubicBezTo>
                  <a:pt x="165739" y="156908"/>
                  <a:pt x="161390" y="159365"/>
                  <a:pt x="156709" y="159365"/>
                </a:cubicBezTo>
                <a:lnTo>
                  <a:pt x="13280" y="159365"/>
                </a:lnTo>
                <a:cubicBezTo>
                  <a:pt x="8599" y="159365"/>
                  <a:pt x="4283" y="156908"/>
                  <a:pt x="1859" y="152891"/>
                </a:cubicBezTo>
                <a:cubicBezTo>
                  <a:pt x="-564" y="148873"/>
                  <a:pt x="-631" y="143893"/>
                  <a:pt x="1594" y="139776"/>
                </a:cubicBezTo>
                <a:lnTo>
                  <a:pt x="73308" y="6972"/>
                </a:lnTo>
                <a:cubicBezTo>
                  <a:pt x="75632" y="2689"/>
                  <a:pt x="80114" y="0"/>
                  <a:pt x="84995" y="0"/>
                </a:cubicBezTo>
                <a:close/>
                <a:moveTo>
                  <a:pt x="84995" y="55778"/>
                </a:moveTo>
                <a:cubicBezTo>
                  <a:pt x="80579" y="55778"/>
                  <a:pt x="77026" y="59330"/>
                  <a:pt x="77026" y="63746"/>
                </a:cubicBezTo>
                <a:lnTo>
                  <a:pt x="77026" y="100931"/>
                </a:lnTo>
                <a:cubicBezTo>
                  <a:pt x="77026" y="105347"/>
                  <a:pt x="80579" y="108899"/>
                  <a:pt x="84995" y="108899"/>
                </a:cubicBezTo>
                <a:cubicBezTo>
                  <a:pt x="89410" y="108899"/>
                  <a:pt x="92963" y="105347"/>
                  <a:pt x="92963" y="100931"/>
                </a:cubicBezTo>
                <a:lnTo>
                  <a:pt x="92963" y="63746"/>
                </a:lnTo>
                <a:cubicBezTo>
                  <a:pt x="92963" y="59330"/>
                  <a:pt x="89410" y="55778"/>
                  <a:pt x="84995" y="55778"/>
                </a:cubicBezTo>
                <a:close/>
                <a:moveTo>
                  <a:pt x="93859" y="127492"/>
                </a:moveTo>
                <a:cubicBezTo>
                  <a:pt x="94061" y="124201"/>
                  <a:pt x="92420" y="121071"/>
                  <a:pt x="89599" y="119365"/>
                </a:cubicBezTo>
                <a:cubicBezTo>
                  <a:pt x="86778" y="117658"/>
                  <a:pt x="83244" y="117658"/>
                  <a:pt x="80423" y="119365"/>
                </a:cubicBezTo>
                <a:cubicBezTo>
                  <a:pt x="77602" y="121071"/>
                  <a:pt x="75961" y="124201"/>
                  <a:pt x="76163" y="127492"/>
                </a:cubicBezTo>
                <a:cubicBezTo>
                  <a:pt x="75961" y="130782"/>
                  <a:pt x="77602" y="133913"/>
                  <a:pt x="80423" y="135619"/>
                </a:cubicBezTo>
                <a:cubicBezTo>
                  <a:pt x="83244" y="137325"/>
                  <a:pt x="86778" y="137325"/>
                  <a:pt x="89599" y="135619"/>
                </a:cubicBezTo>
                <a:cubicBezTo>
                  <a:pt x="92420" y="133913"/>
                  <a:pt x="94061" y="130782"/>
                  <a:pt x="93859" y="127492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746002" y="3579216"/>
            <a:ext cx="4788028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Multas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28794" y="4226119"/>
            <a:ext cx="4920242" cy="9444"/>
          </a:xfrm>
          <a:custGeom>
            <a:avLst/>
            <a:gdLst/>
            <a:ahLst/>
            <a:cxnLst/>
            <a:rect l="l" t="t" r="r" b="b"/>
            <a:pathLst>
              <a:path w="4920242" h="9444">
                <a:moveTo>
                  <a:pt x="0" y="0"/>
                </a:moveTo>
                <a:lnTo>
                  <a:pt x="4920242" y="0"/>
                </a:lnTo>
                <a:lnTo>
                  <a:pt x="4920242" y="9444"/>
                </a:lnTo>
                <a:lnTo>
                  <a:pt x="0" y="9444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6528794" y="3956970"/>
            <a:ext cx="168100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Aquisição não registrada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415082" y="3956970"/>
            <a:ext cx="111437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50K-400K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28794" y="4344167"/>
            <a:ext cx="202098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Comerciantes não registrados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615764" y="4344167"/>
            <a:ext cx="91605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2K/mês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2476" y="6313208"/>
            <a:ext cx="11427049" cy="538299"/>
          </a:xfrm>
          <a:custGeom>
            <a:avLst/>
            <a:gdLst/>
            <a:ahLst/>
            <a:cxnLst/>
            <a:rect l="l" t="t" r="r" b="b"/>
            <a:pathLst>
              <a:path w="11427049" h="538299">
                <a:moveTo>
                  <a:pt x="75550" y="0"/>
                </a:moveTo>
                <a:lnTo>
                  <a:pt x="11351499" y="0"/>
                </a:lnTo>
                <a:cubicBezTo>
                  <a:pt x="11393196" y="0"/>
                  <a:pt x="11427049" y="33853"/>
                  <a:pt x="11427049" y="75550"/>
                </a:cubicBezTo>
                <a:lnTo>
                  <a:pt x="11427049" y="462749"/>
                </a:lnTo>
                <a:cubicBezTo>
                  <a:pt x="11427049" y="504474"/>
                  <a:pt x="11393224" y="538299"/>
                  <a:pt x="11351499" y="538299"/>
                </a:cubicBezTo>
                <a:lnTo>
                  <a:pt x="75550" y="538299"/>
                </a:lnTo>
                <a:cubicBezTo>
                  <a:pt x="33853" y="538299"/>
                  <a:pt x="0" y="504446"/>
                  <a:pt x="0" y="462749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557187" y="6506807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66107" y="47219"/>
                </a:moveTo>
                <a:cubicBezTo>
                  <a:pt x="66107" y="42007"/>
                  <a:pt x="70339" y="37775"/>
                  <a:pt x="75551" y="37775"/>
                </a:cubicBezTo>
                <a:cubicBezTo>
                  <a:pt x="80763" y="37775"/>
                  <a:pt x="84995" y="42007"/>
                  <a:pt x="84995" y="47219"/>
                </a:cubicBezTo>
                <a:cubicBezTo>
                  <a:pt x="84995" y="52431"/>
                  <a:pt x="80763" y="56663"/>
                  <a:pt x="75551" y="56663"/>
                </a:cubicBezTo>
                <a:cubicBezTo>
                  <a:pt x="70339" y="56663"/>
                  <a:pt x="66107" y="52431"/>
                  <a:pt x="66107" y="47219"/>
                </a:cubicBezTo>
                <a:close/>
                <a:moveTo>
                  <a:pt x="63746" y="66107"/>
                </a:moveTo>
                <a:lnTo>
                  <a:pt x="77912" y="66107"/>
                </a:lnTo>
                <a:cubicBezTo>
                  <a:pt x="81837" y="66107"/>
                  <a:pt x="84995" y="69265"/>
                  <a:pt x="84995" y="73190"/>
                </a:cubicBezTo>
                <a:lnTo>
                  <a:pt x="84995" y="99160"/>
                </a:lnTo>
                <a:lnTo>
                  <a:pt x="87356" y="99160"/>
                </a:lnTo>
                <a:cubicBezTo>
                  <a:pt x="91281" y="99160"/>
                  <a:pt x="94438" y="102318"/>
                  <a:pt x="94438" y="106243"/>
                </a:cubicBezTo>
                <a:cubicBezTo>
                  <a:pt x="94438" y="110168"/>
                  <a:pt x="91281" y="113326"/>
                  <a:pt x="87356" y="113326"/>
                </a:cubicBezTo>
                <a:lnTo>
                  <a:pt x="63746" y="113326"/>
                </a:lnTo>
                <a:cubicBezTo>
                  <a:pt x="59821" y="113326"/>
                  <a:pt x="56663" y="110168"/>
                  <a:pt x="56663" y="106243"/>
                </a:cubicBezTo>
                <a:cubicBezTo>
                  <a:pt x="56663" y="102318"/>
                  <a:pt x="59821" y="99160"/>
                  <a:pt x="63746" y="99160"/>
                </a:cubicBezTo>
                <a:lnTo>
                  <a:pt x="70829" y="99160"/>
                </a:lnTo>
                <a:lnTo>
                  <a:pt x="70829" y="80273"/>
                </a:lnTo>
                <a:lnTo>
                  <a:pt x="63746" y="80273"/>
                </a:lnTo>
                <a:cubicBezTo>
                  <a:pt x="59821" y="80273"/>
                  <a:pt x="56663" y="77115"/>
                  <a:pt x="56663" y="73190"/>
                </a:cubicBezTo>
                <a:cubicBezTo>
                  <a:pt x="56663" y="69265"/>
                  <a:pt x="59821" y="66107"/>
                  <a:pt x="63746" y="6610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783356" y="6469032"/>
            <a:ext cx="1094589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Importante:</a:t>
            </a: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Os adquirentes de risco de alta integridade estarão sujeitos a </a:t>
            </a:r>
            <a:r>
              <a:rPr lang="en-US" sz="119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avaliações de controle</a:t>
            </a:r>
            <a:r>
              <a:rPr lang="en-US" sz="119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Visa.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646" y="359646"/>
            <a:ext cx="11544637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kern="0" spc="57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646" y="647363"/>
            <a:ext cx="11634549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Risk Assessment and Mitigation (BRAM)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628" y="1150867"/>
            <a:ext cx="11454726" cy="1285735"/>
          </a:xfrm>
          <a:custGeom>
            <a:avLst/>
            <a:gdLst/>
            <a:ahLst/>
            <a:cxnLst/>
            <a:rect l="l" t="t" r="r" b="b"/>
            <a:pathLst>
              <a:path w="11454726" h="1285735">
                <a:moveTo>
                  <a:pt x="35965" y="0"/>
                </a:moveTo>
                <a:lnTo>
                  <a:pt x="11382802" y="0"/>
                </a:lnTo>
                <a:cubicBezTo>
                  <a:pt x="11422524" y="0"/>
                  <a:pt x="11454726" y="32201"/>
                  <a:pt x="11454726" y="71924"/>
                </a:cubicBezTo>
                <a:lnTo>
                  <a:pt x="11454726" y="1213811"/>
                </a:lnTo>
                <a:cubicBezTo>
                  <a:pt x="11454726" y="1253533"/>
                  <a:pt x="11422524" y="1285735"/>
                  <a:pt x="11382802" y="1285735"/>
                </a:cubicBezTo>
                <a:lnTo>
                  <a:pt x="35965" y="1285735"/>
                </a:lnTo>
                <a:cubicBezTo>
                  <a:pt x="16102" y="1285735"/>
                  <a:pt x="0" y="1269633"/>
                  <a:pt x="0" y="1249770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77628" y="1150867"/>
            <a:ext cx="35965" cy="1285735"/>
          </a:xfrm>
          <a:custGeom>
            <a:avLst/>
            <a:gdLst/>
            <a:ahLst/>
            <a:cxnLst/>
            <a:rect l="l" t="t" r="r" b="b"/>
            <a:pathLst>
              <a:path w="35965" h="1285735">
                <a:moveTo>
                  <a:pt x="35965" y="0"/>
                </a:moveTo>
                <a:lnTo>
                  <a:pt x="35965" y="0"/>
                </a:lnTo>
                <a:lnTo>
                  <a:pt x="35965" y="1285735"/>
                </a:lnTo>
                <a:lnTo>
                  <a:pt x="35965" y="1285735"/>
                </a:lnTo>
                <a:cubicBezTo>
                  <a:pt x="16102" y="1285735"/>
                  <a:pt x="0" y="1269633"/>
                  <a:pt x="0" y="1249770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02407" y="1366655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175327" y="87664"/>
                </a:moveTo>
                <a:cubicBezTo>
                  <a:pt x="175327" y="107009"/>
                  <a:pt x="169048" y="124879"/>
                  <a:pt x="158469" y="139377"/>
                </a:cubicBezTo>
                <a:lnTo>
                  <a:pt x="211826" y="192776"/>
                </a:lnTo>
                <a:cubicBezTo>
                  <a:pt x="217094" y="198044"/>
                  <a:pt x="217094" y="206600"/>
                  <a:pt x="211826" y="211868"/>
                </a:cubicBezTo>
                <a:cubicBezTo>
                  <a:pt x="206558" y="217136"/>
                  <a:pt x="198002" y="217136"/>
                  <a:pt x="192734" y="211868"/>
                </a:cubicBezTo>
                <a:lnTo>
                  <a:pt x="139377" y="158469"/>
                </a:lnTo>
                <a:cubicBezTo>
                  <a:pt x="124879" y="169048"/>
                  <a:pt x="107009" y="175327"/>
                  <a:pt x="87664" y="175327"/>
                </a:cubicBezTo>
                <a:cubicBezTo>
                  <a:pt x="39238" y="175327"/>
                  <a:pt x="0" y="136089"/>
                  <a:pt x="0" y="87664"/>
                </a:cubicBezTo>
                <a:cubicBezTo>
                  <a:pt x="0" y="39238"/>
                  <a:pt x="39238" y="0"/>
                  <a:pt x="87664" y="0"/>
                </a:cubicBezTo>
                <a:cubicBezTo>
                  <a:pt x="136089" y="0"/>
                  <a:pt x="175327" y="39238"/>
                  <a:pt x="175327" y="87664"/>
                </a:cubicBezTo>
                <a:close/>
                <a:moveTo>
                  <a:pt x="89350" y="40460"/>
                </a:moveTo>
                <a:cubicBezTo>
                  <a:pt x="84713" y="40460"/>
                  <a:pt x="80920" y="44253"/>
                  <a:pt x="80920" y="48889"/>
                </a:cubicBezTo>
                <a:lnTo>
                  <a:pt x="80920" y="50575"/>
                </a:lnTo>
                <a:cubicBezTo>
                  <a:pt x="68782" y="50702"/>
                  <a:pt x="59004" y="60564"/>
                  <a:pt x="59004" y="72702"/>
                </a:cubicBezTo>
                <a:cubicBezTo>
                  <a:pt x="59004" y="83533"/>
                  <a:pt x="66801" y="92763"/>
                  <a:pt x="77507" y="94534"/>
                </a:cubicBezTo>
                <a:lnTo>
                  <a:pt x="95081" y="97484"/>
                </a:lnTo>
                <a:cubicBezTo>
                  <a:pt x="97610" y="97905"/>
                  <a:pt x="99465" y="100097"/>
                  <a:pt x="99465" y="102668"/>
                </a:cubicBezTo>
                <a:cubicBezTo>
                  <a:pt x="99465" y="105576"/>
                  <a:pt x="97104" y="107936"/>
                  <a:pt x="94196" y="107936"/>
                </a:cubicBezTo>
                <a:lnTo>
                  <a:pt x="70805" y="107894"/>
                </a:lnTo>
                <a:cubicBezTo>
                  <a:pt x="66169" y="107894"/>
                  <a:pt x="62376" y="111687"/>
                  <a:pt x="62376" y="116323"/>
                </a:cubicBezTo>
                <a:cubicBezTo>
                  <a:pt x="62376" y="120959"/>
                  <a:pt x="66169" y="124752"/>
                  <a:pt x="70805" y="124752"/>
                </a:cubicBezTo>
                <a:lnTo>
                  <a:pt x="80920" y="124752"/>
                </a:lnTo>
                <a:lnTo>
                  <a:pt x="80920" y="126438"/>
                </a:lnTo>
                <a:cubicBezTo>
                  <a:pt x="80920" y="131074"/>
                  <a:pt x="84713" y="134867"/>
                  <a:pt x="89350" y="134867"/>
                </a:cubicBezTo>
                <a:cubicBezTo>
                  <a:pt x="93986" y="134867"/>
                  <a:pt x="97779" y="131074"/>
                  <a:pt x="97779" y="126438"/>
                </a:cubicBezTo>
                <a:lnTo>
                  <a:pt x="97779" y="124457"/>
                </a:lnTo>
                <a:cubicBezTo>
                  <a:pt x="108315" y="122729"/>
                  <a:pt x="116323" y="113626"/>
                  <a:pt x="116323" y="102626"/>
                </a:cubicBezTo>
                <a:cubicBezTo>
                  <a:pt x="116323" y="91794"/>
                  <a:pt x="108526" y="82564"/>
                  <a:pt x="97821" y="80794"/>
                </a:cubicBezTo>
                <a:lnTo>
                  <a:pt x="80246" y="77844"/>
                </a:lnTo>
                <a:cubicBezTo>
                  <a:pt x="77717" y="77422"/>
                  <a:pt x="75863" y="75231"/>
                  <a:pt x="75863" y="72660"/>
                </a:cubicBezTo>
                <a:cubicBezTo>
                  <a:pt x="75863" y="69752"/>
                  <a:pt x="78223" y="67391"/>
                  <a:pt x="81131" y="67391"/>
                </a:cubicBezTo>
                <a:lnTo>
                  <a:pt x="101150" y="67391"/>
                </a:lnTo>
                <a:cubicBezTo>
                  <a:pt x="105787" y="67391"/>
                  <a:pt x="109580" y="63598"/>
                  <a:pt x="109580" y="58962"/>
                </a:cubicBezTo>
                <a:cubicBezTo>
                  <a:pt x="109580" y="54326"/>
                  <a:pt x="105787" y="50533"/>
                  <a:pt x="101150" y="50533"/>
                </a:cubicBezTo>
                <a:lnTo>
                  <a:pt x="97779" y="50533"/>
                </a:lnTo>
                <a:lnTo>
                  <a:pt x="97779" y="48847"/>
                </a:lnTo>
                <a:cubicBezTo>
                  <a:pt x="97779" y="44211"/>
                  <a:pt x="93986" y="40418"/>
                  <a:pt x="89350" y="4041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5168" y="1330690"/>
            <a:ext cx="10915257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BRAM?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5434" y="1726301"/>
            <a:ext cx="11158018" cy="53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27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Risk Assessment and Mitigation (BRAM)</a:t>
            </a:r>
            <a:r>
              <a:rPr lang="en-US" sz="127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um programa que </a:t>
            </a:r>
            <a:r>
              <a:rPr lang="en-US" sz="127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 e monitora</a:t>
            </a:r>
            <a:r>
              <a:rPr lang="en-US" sz="127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junto aos Adquirentes, os Estabelecimentos quanto ao </a:t>
            </a:r>
            <a:r>
              <a:rPr lang="en-US" sz="127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risco do uso e integridade da marca</a:t>
            </a:r>
            <a:r>
              <a:rPr lang="en-US" sz="127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Mastercard.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4142" y="2580460"/>
            <a:ext cx="5655434" cy="3389664"/>
          </a:xfrm>
          <a:custGeom>
            <a:avLst/>
            <a:gdLst/>
            <a:ahLst/>
            <a:cxnLst/>
            <a:rect l="l" t="t" r="r" b="b"/>
            <a:pathLst>
              <a:path w="5655434" h="3389664">
                <a:moveTo>
                  <a:pt x="71929" y="0"/>
                </a:moveTo>
                <a:lnTo>
                  <a:pt x="5583505" y="0"/>
                </a:lnTo>
                <a:cubicBezTo>
                  <a:pt x="5623230" y="0"/>
                  <a:pt x="5655434" y="32204"/>
                  <a:pt x="5655434" y="71929"/>
                </a:cubicBezTo>
                <a:lnTo>
                  <a:pt x="5655434" y="3317735"/>
                </a:lnTo>
                <a:cubicBezTo>
                  <a:pt x="5655434" y="3357460"/>
                  <a:pt x="5623230" y="3389664"/>
                  <a:pt x="5583505" y="3389664"/>
                </a:cubicBezTo>
                <a:lnTo>
                  <a:pt x="71929" y="3389664"/>
                </a:lnTo>
                <a:cubicBezTo>
                  <a:pt x="32204" y="3389664"/>
                  <a:pt x="0" y="3357460"/>
                  <a:pt x="0" y="3317735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70938" y="2800743"/>
            <a:ext cx="179823" cy="179823"/>
          </a:xfrm>
          <a:custGeom>
            <a:avLst/>
            <a:gdLst/>
            <a:ahLst/>
            <a:cxnLst/>
            <a:rect l="l" t="t" r="r" b="b"/>
            <a:pathLst>
              <a:path w="179823" h="179823">
                <a:moveTo>
                  <a:pt x="0" y="89912"/>
                </a:moveTo>
                <a:cubicBezTo>
                  <a:pt x="0" y="40288"/>
                  <a:pt x="40288" y="0"/>
                  <a:pt x="89912" y="0"/>
                </a:cubicBezTo>
                <a:cubicBezTo>
                  <a:pt x="139535" y="0"/>
                  <a:pt x="179823" y="40288"/>
                  <a:pt x="179823" y="89912"/>
                </a:cubicBezTo>
                <a:cubicBezTo>
                  <a:pt x="179823" y="139535"/>
                  <a:pt x="139535" y="179823"/>
                  <a:pt x="89912" y="179823"/>
                </a:cubicBezTo>
                <a:cubicBezTo>
                  <a:pt x="40288" y="179823"/>
                  <a:pt x="0" y="139535"/>
                  <a:pt x="0" y="89912"/>
                </a:cubicBezTo>
                <a:close/>
                <a:moveTo>
                  <a:pt x="66134" y="51664"/>
                </a:moveTo>
                <a:cubicBezTo>
                  <a:pt x="63465" y="53139"/>
                  <a:pt x="61814" y="55984"/>
                  <a:pt x="61814" y="59004"/>
                </a:cubicBezTo>
                <a:lnTo>
                  <a:pt x="61814" y="120819"/>
                </a:lnTo>
                <a:cubicBezTo>
                  <a:pt x="61814" y="123874"/>
                  <a:pt x="63465" y="126684"/>
                  <a:pt x="66134" y="128159"/>
                </a:cubicBezTo>
                <a:cubicBezTo>
                  <a:pt x="68803" y="129634"/>
                  <a:pt x="72035" y="129599"/>
                  <a:pt x="74669" y="127983"/>
                </a:cubicBezTo>
                <a:lnTo>
                  <a:pt x="125244" y="97076"/>
                </a:lnTo>
                <a:cubicBezTo>
                  <a:pt x="127738" y="95531"/>
                  <a:pt x="129283" y="92827"/>
                  <a:pt x="129283" y="89876"/>
                </a:cubicBezTo>
                <a:cubicBezTo>
                  <a:pt x="129283" y="86926"/>
                  <a:pt x="127738" y="84222"/>
                  <a:pt x="125244" y="82676"/>
                </a:cubicBezTo>
                <a:lnTo>
                  <a:pt x="74669" y="51769"/>
                </a:lnTo>
                <a:cubicBezTo>
                  <a:pt x="72070" y="50189"/>
                  <a:pt x="68803" y="50119"/>
                  <a:pt x="66134" y="5159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3239" y="2764779"/>
            <a:ext cx="515192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Como o BRAM é Iniciado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460" y="3124425"/>
            <a:ext cx="5358726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programa pode ser iniciado com base em: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460" y="3448106"/>
            <a:ext cx="5286796" cy="431575"/>
          </a:xfrm>
          <a:custGeom>
            <a:avLst/>
            <a:gdLst/>
            <a:ahLst/>
            <a:cxnLst/>
            <a:rect l="l" t="t" r="r" b="b"/>
            <a:pathLst>
              <a:path w="5286796" h="431575">
                <a:moveTo>
                  <a:pt x="71931" y="0"/>
                </a:moveTo>
                <a:lnTo>
                  <a:pt x="5214866" y="0"/>
                </a:lnTo>
                <a:cubicBezTo>
                  <a:pt x="5254592" y="0"/>
                  <a:pt x="5286796" y="32204"/>
                  <a:pt x="5286796" y="71931"/>
                </a:cubicBezTo>
                <a:lnTo>
                  <a:pt x="5286796" y="359645"/>
                </a:lnTo>
                <a:cubicBezTo>
                  <a:pt x="5286796" y="399371"/>
                  <a:pt x="5254592" y="431575"/>
                  <a:pt x="5214866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336" y="3591965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116885" y="58442"/>
                </a:moveTo>
                <a:cubicBezTo>
                  <a:pt x="116885" y="71339"/>
                  <a:pt x="112698" y="83252"/>
                  <a:pt x="105646" y="92918"/>
                </a:cubicBezTo>
                <a:lnTo>
                  <a:pt x="141217" y="128517"/>
                </a:lnTo>
                <a:cubicBezTo>
                  <a:pt x="144729" y="132029"/>
                  <a:pt x="144729" y="137733"/>
                  <a:pt x="141217" y="141245"/>
                </a:cubicBezTo>
                <a:cubicBezTo>
                  <a:pt x="137705" y="144758"/>
                  <a:pt x="132001" y="144758"/>
                  <a:pt x="128489" y="141245"/>
                </a:cubicBezTo>
                <a:lnTo>
                  <a:pt x="92918" y="105646"/>
                </a:lnTo>
                <a:cubicBezTo>
                  <a:pt x="83252" y="112698"/>
                  <a:pt x="71339" y="116885"/>
                  <a:pt x="58442" y="116885"/>
                </a:cubicBezTo>
                <a:cubicBezTo>
                  <a:pt x="26159" y="116885"/>
                  <a:pt x="0" y="90726"/>
                  <a:pt x="0" y="58442"/>
                </a:cubicBezTo>
                <a:cubicBezTo>
                  <a:pt x="0" y="26159"/>
                  <a:pt x="26159" y="0"/>
                  <a:pt x="58442" y="0"/>
                </a:cubicBezTo>
                <a:cubicBezTo>
                  <a:pt x="90726" y="0"/>
                  <a:pt x="116885" y="26159"/>
                  <a:pt x="116885" y="58442"/>
                </a:cubicBezTo>
                <a:close/>
                <a:moveTo>
                  <a:pt x="58442" y="98903"/>
                </a:moveTo>
                <a:cubicBezTo>
                  <a:pt x="80773" y="98903"/>
                  <a:pt x="98903" y="80773"/>
                  <a:pt x="98903" y="58442"/>
                </a:cubicBezTo>
                <a:cubicBezTo>
                  <a:pt x="98903" y="36112"/>
                  <a:pt x="80773" y="17982"/>
                  <a:pt x="58442" y="17982"/>
                </a:cubicBezTo>
                <a:cubicBezTo>
                  <a:pt x="36112" y="17982"/>
                  <a:pt x="17982" y="36112"/>
                  <a:pt x="17982" y="58442"/>
                </a:cubicBezTo>
                <a:cubicBezTo>
                  <a:pt x="17982" y="80773"/>
                  <a:pt x="36112" y="98903"/>
                  <a:pt x="58442" y="9890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44071" y="3556000"/>
            <a:ext cx="2373664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Investigações internas</a:t>
            </a:r>
            <a:r>
              <a:rPr lang="en-US" sz="113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Mastercard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460" y="3951611"/>
            <a:ext cx="5286796" cy="431575"/>
          </a:xfrm>
          <a:custGeom>
            <a:avLst/>
            <a:gdLst/>
            <a:ahLst/>
            <a:cxnLst/>
            <a:rect l="l" t="t" r="r" b="b"/>
            <a:pathLst>
              <a:path w="5286796" h="431575">
                <a:moveTo>
                  <a:pt x="71931" y="0"/>
                </a:moveTo>
                <a:lnTo>
                  <a:pt x="5214866" y="0"/>
                </a:lnTo>
                <a:cubicBezTo>
                  <a:pt x="5254592" y="0"/>
                  <a:pt x="5286796" y="32204"/>
                  <a:pt x="5286796" y="71931"/>
                </a:cubicBezTo>
                <a:lnTo>
                  <a:pt x="5286796" y="359645"/>
                </a:lnTo>
                <a:cubicBezTo>
                  <a:pt x="5286796" y="399371"/>
                  <a:pt x="5254592" y="431575"/>
                  <a:pt x="5214866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74336" y="4095469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81595" y="5563"/>
                </a:moveTo>
                <a:cubicBezTo>
                  <a:pt x="83000" y="2192"/>
                  <a:pt x="86287" y="0"/>
                  <a:pt x="89912" y="0"/>
                </a:cubicBezTo>
                <a:lnTo>
                  <a:pt x="134867" y="0"/>
                </a:lnTo>
                <a:cubicBezTo>
                  <a:pt x="139840" y="0"/>
                  <a:pt x="143858" y="4018"/>
                  <a:pt x="143858" y="8991"/>
                </a:cubicBezTo>
                <a:lnTo>
                  <a:pt x="143858" y="53947"/>
                </a:lnTo>
                <a:cubicBezTo>
                  <a:pt x="143858" y="57571"/>
                  <a:pt x="141667" y="60859"/>
                  <a:pt x="138295" y="62264"/>
                </a:cubicBezTo>
                <a:cubicBezTo>
                  <a:pt x="134923" y="63669"/>
                  <a:pt x="131074" y="62882"/>
                  <a:pt x="128489" y="60325"/>
                </a:cubicBezTo>
                <a:lnTo>
                  <a:pt x="112389" y="44197"/>
                </a:lnTo>
                <a:lnTo>
                  <a:pt x="69288" y="87270"/>
                </a:lnTo>
                <a:cubicBezTo>
                  <a:pt x="65776" y="90783"/>
                  <a:pt x="60072" y="90783"/>
                  <a:pt x="56560" y="87270"/>
                </a:cubicBezTo>
                <a:cubicBezTo>
                  <a:pt x="53048" y="83758"/>
                  <a:pt x="53048" y="78054"/>
                  <a:pt x="56560" y="74542"/>
                </a:cubicBezTo>
                <a:lnTo>
                  <a:pt x="99661" y="31469"/>
                </a:lnTo>
                <a:lnTo>
                  <a:pt x="83562" y="15341"/>
                </a:lnTo>
                <a:cubicBezTo>
                  <a:pt x="80977" y="12756"/>
                  <a:pt x="80218" y="8907"/>
                  <a:pt x="81623" y="5535"/>
                </a:cubicBezTo>
                <a:close/>
                <a:moveTo>
                  <a:pt x="0" y="49451"/>
                </a:moveTo>
                <a:cubicBezTo>
                  <a:pt x="0" y="37032"/>
                  <a:pt x="10059" y="26973"/>
                  <a:pt x="22478" y="26973"/>
                </a:cubicBezTo>
                <a:lnTo>
                  <a:pt x="44956" y="26973"/>
                </a:lnTo>
                <a:cubicBezTo>
                  <a:pt x="49929" y="26973"/>
                  <a:pt x="53947" y="30991"/>
                  <a:pt x="53947" y="35965"/>
                </a:cubicBezTo>
                <a:cubicBezTo>
                  <a:pt x="53947" y="40938"/>
                  <a:pt x="49929" y="44956"/>
                  <a:pt x="44956" y="44956"/>
                </a:cubicBezTo>
                <a:lnTo>
                  <a:pt x="22478" y="44956"/>
                </a:lnTo>
                <a:cubicBezTo>
                  <a:pt x="20005" y="44956"/>
                  <a:pt x="17982" y="46979"/>
                  <a:pt x="17982" y="49451"/>
                </a:cubicBezTo>
                <a:lnTo>
                  <a:pt x="17982" y="121381"/>
                </a:lnTo>
                <a:cubicBezTo>
                  <a:pt x="17982" y="123853"/>
                  <a:pt x="20005" y="125876"/>
                  <a:pt x="22478" y="125876"/>
                </a:cubicBezTo>
                <a:lnTo>
                  <a:pt x="94407" y="125876"/>
                </a:lnTo>
                <a:cubicBezTo>
                  <a:pt x="96880" y="125876"/>
                  <a:pt x="98903" y="123853"/>
                  <a:pt x="98903" y="121381"/>
                </a:cubicBezTo>
                <a:lnTo>
                  <a:pt x="98903" y="98903"/>
                </a:lnTo>
                <a:cubicBezTo>
                  <a:pt x="98903" y="93929"/>
                  <a:pt x="102921" y="89912"/>
                  <a:pt x="107894" y="89912"/>
                </a:cubicBezTo>
                <a:cubicBezTo>
                  <a:pt x="112867" y="89912"/>
                  <a:pt x="116885" y="93929"/>
                  <a:pt x="116885" y="98903"/>
                </a:cubicBezTo>
                <a:lnTo>
                  <a:pt x="116885" y="121381"/>
                </a:lnTo>
                <a:cubicBezTo>
                  <a:pt x="116885" y="133800"/>
                  <a:pt x="106826" y="143858"/>
                  <a:pt x="94407" y="143858"/>
                </a:cubicBezTo>
                <a:lnTo>
                  <a:pt x="22478" y="143858"/>
                </a:lnTo>
                <a:cubicBezTo>
                  <a:pt x="10059" y="143858"/>
                  <a:pt x="0" y="133800"/>
                  <a:pt x="0" y="121381"/>
                </a:cubicBezTo>
                <a:lnTo>
                  <a:pt x="0" y="4945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44071" y="4059504"/>
            <a:ext cx="1951080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Indicações de fontes externas</a:t>
            </a:r>
            <a:r>
              <a:rPr lang="en-US" sz="113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9894" y="4491080"/>
            <a:ext cx="67434" cy="107894"/>
          </a:xfrm>
          <a:custGeom>
            <a:avLst/>
            <a:gdLst/>
            <a:ahLst/>
            <a:cxnLst/>
            <a:rect l="l" t="t" r="r" b="b"/>
            <a:pathLst>
              <a:path w="67434" h="107894">
                <a:moveTo>
                  <a:pt x="65558" y="49184"/>
                </a:moveTo>
                <a:cubicBezTo>
                  <a:pt x="68192" y="51819"/>
                  <a:pt x="68192" y="56096"/>
                  <a:pt x="65558" y="58730"/>
                </a:cubicBezTo>
                <a:lnTo>
                  <a:pt x="25098" y="99191"/>
                </a:lnTo>
                <a:cubicBezTo>
                  <a:pt x="22464" y="101825"/>
                  <a:pt x="18186" y="101825"/>
                  <a:pt x="15552" y="99191"/>
                </a:cubicBezTo>
                <a:cubicBezTo>
                  <a:pt x="12918" y="96557"/>
                  <a:pt x="12918" y="92279"/>
                  <a:pt x="15552" y="89645"/>
                </a:cubicBezTo>
                <a:lnTo>
                  <a:pt x="51250" y="53947"/>
                </a:lnTo>
                <a:lnTo>
                  <a:pt x="15573" y="18249"/>
                </a:lnTo>
                <a:cubicBezTo>
                  <a:pt x="12939" y="15615"/>
                  <a:pt x="12939" y="11337"/>
                  <a:pt x="15573" y="8703"/>
                </a:cubicBezTo>
                <a:cubicBezTo>
                  <a:pt x="18207" y="6069"/>
                  <a:pt x="22485" y="6069"/>
                  <a:pt x="25119" y="8703"/>
                </a:cubicBezTo>
                <a:lnTo>
                  <a:pt x="65579" y="4916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42973" y="4455115"/>
            <a:ext cx="3074973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Autoridades policiais e agências governamentais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9894" y="4742832"/>
            <a:ext cx="67434" cy="107894"/>
          </a:xfrm>
          <a:custGeom>
            <a:avLst/>
            <a:gdLst/>
            <a:ahLst/>
            <a:cxnLst/>
            <a:rect l="l" t="t" r="r" b="b"/>
            <a:pathLst>
              <a:path w="67434" h="107894">
                <a:moveTo>
                  <a:pt x="65558" y="49184"/>
                </a:moveTo>
                <a:cubicBezTo>
                  <a:pt x="68192" y="51819"/>
                  <a:pt x="68192" y="56096"/>
                  <a:pt x="65558" y="58730"/>
                </a:cubicBezTo>
                <a:lnTo>
                  <a:pt x="25098" y="99191"/>
                </a:lnTo>
                <a:cubicBezTo>
                  <a:pt x="22464" y="101825"/>
                  <a:pt x="18186" y="101825"/>
                  <a:pt x="15552" y="99191"/>
                </a:cubicBezTo>
                <a:cubicBezTo>
                  <a:pt x="12918" y="96557"/>
                  <a:pt x="12918" y="92279"/>
                  <a:pt x="15552" y="89645"/>
                </a:cubicBezTo>
                <a:lnTo>
                  <a:pt x="51250" y="53947"/>
                </a:lnTo>
                <a:lnTo>
                  <a:pt x="15573" y="18249"/>
                </a:lnTo>
                <a:cubicBezTo>
                  <a:pt x="12939" y="15615"/>
                  <a:pt x="12939" y="11337"/>
                  <a:pt x="15573" y="8703"/>
                </a:cubicBezTo>
                <a:cubicBezTo>
                  <a:pt x="18207" y="6069"/>
                  <a:pt x="22485" y="6069"/>
                  <a:pt x="25119" y="8703"/>
                </a:cubicBezTo>
                <a:lnTo>
                  <a:pt x="65579" y="4916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42973" y="4706867"/>
            <a:ext cx="3119929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Detentores de direitos de propriedade intelectual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9894" y="4994584"/>
            <a:ext cx="67434" cy="107894"/>
          </a:xfrm>
          <a:custGeom>
            <a:avLst/>
            <a:gdLst/>
            <a:ahLst/>
            <a:cxnLst/>
            <a:rect l="l" t="t" r="r" b="b"/>
            <a:pathLst>
              <a:path w="67434" h="107894">
                <a:moveTo>
                  <a:pt x="65558" y="49184"/>
                </a:moveTo>
                <a:cubicBezTo>
                  <a:pt x="68192" y="51819"/>
                  <a:pt x="68192" y="56096"/>
                  <a:pt x="65558" y="58730"/>
                </a:cubicBezTo>
                <a:lnTo>
                  <a:pt x="25098" y="99191"/>
                </a:lnTo>
                <a:cubicBezTo>
                  <a:pt x="22464" y="101825"/>
                  <a:pt x="18186" y="101825"/>
                  <a:pt x="15552" y="99191"/>
                </a:cubicBezTo>
                <a:cubicBezTo>
                  <a:pt x="12918" y="96557"/>
                  <a:pt x="12918" y="92279"/>
                  <a:pt x="15552" y="89645"/>
                </a:cubicBezTo>
                <a:lnTo>
                  <a:pt x="51250" y="53947"/>
                </a:lnTo>
                <a:lnTo>
                  <a:pt x="15573" y="18249"/>
                </a:lnTo>
                <a:cubicBezTo>
                  <a:pt x="12939" y="15615"/>
                  <a:pt x="12939" y="11337"/>
                  <a:pt x="15573" y="8703"/>
                </a:cubicBezTo>
                <a:cubicBezTo>
                  <a:pt x="18207" y="6069"/>
                  <a:pt x="22485" y="6069"/>
                  <a:pt x="25119" y="8703"/>
                </a:cubicBezTo>
                <a:lnTo>
                  <a:pt x="65579" y="4916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42973" y="4958619"/>
            <a:ext cx="1897133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Grupos terceirizados do setor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9894" y="5246336"/>
            <a:ext cx="67434" cy="107894"/>
          </a:xfrm>
          <a:custGeom>
            <a:avLst/>
            <a:gdLst/>
            <a:ahLst/>
            <a:cxnLst/>
            <a:rect l="l" t="t" r="r" b="b"/>
            <a:pathLst>
              <a:path w="67434" h="107894">
                <a:moveTo>
                  <a:pt x="65558" y="49184"/>
                </a:moveTo>
                <a:cubicBezTo>
                  <a:pt x="68192" y="51819"/>
                  <a:pt x="68192" y="56096"/>
                  <a:pt x="65558" y="58730"/>
                </a:cubicBezTo>
                <a:lnTo>
                  <a:pt x="25098" y="99191"/>
                </a:lnTo>
                <a:cubicBezTo>
                  <a:pt x="22464" y="101825"/>
                  <a:pt x="18186" y="101825"/>
                  <a:pt x="15552" y="99191"/>
                </a:cubicBezTo>
                <a:cubicBezTo>
                  <a:pt x="12918" y="96557"/>
                  <a:pt x="12918" y="92279"/>
                  <a:pt x="15552" y="89645"/>
                </a:cubicBezTo>
                <a:lnTo>
                  <a:pt x="51250" y="53947"/>
                </a:lnTo>
                <a:lnTo>
                  <a:pt x="15573" y="18249"/>
                </a:lnTo>
                <a:cubicBezTo>
                  <a:pt x="12939" y="15615"/>
                  <a:pt x="12939" y="11337"/>
                  <a:pt x="15573" y="8703"/>
                </a:cubicBezTo>
                <a:cubicBezTo>
                  <a:pt x="18207" y="6069"/>
                  <a:pt x="22485" y="6069"/>
                  <a:pt x="25119" y="8703"/>
                </a:cubicBezTo>
                <a:lnTo>
                  <a:pt x="65579" y="4916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42973" y="5210372"/>
            <a:ext cx="2940106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Reclamações de clientes ou titulares de cartão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9894" y="5498088"/>
            <a:ext cx="67434" cy="107894"/>
          </a:xfrm>
          <a:custGeom>
            <a:avLst/>
            <a:gdLst/>
            <a:ahLst/>
            <a:cxnLst/>
            <a:rect l="l" t="t" r="r" b="b"/>
            <a:pathLst>
              <a:path w="67434" h="107894">
                <a:moveTo>
                  <a:pt x="65558" y="49184"/>
                </a:moveTo>
                <a:cubicBezTo>
                  <a:pt x="68192" y="51819"/>
                  <a:pt x="68192" y="56096"/>
                  <a:pt x="65558" y="58730"/>
                </a:cubicBezTo>
                <a:lnTo>
                  <a:pt x="25098" y="99191"/>
                </a:lnTo>
                <a:cubicBezTo>
                  <a:pt x="22464" y="101825"/>
                  <a:pt x="18186" y="101825"/>
                  <a:pt x="15552" y="99191"/>
                </a:cubicBezTo>
                <a:cubicBezTo>
                  <a:pt x="12918" y="96557"/>
                  <a:pt x="12918" y="92279"/>
                  <a:pt x="15552" y="89645"/>
                </a:cubicBezTo>
                <a:lnTo>
                  <a:pt x="51250" y="53947"/>
                </a:lnTo>
                <a:lnTo>
                  <a:pt x="15573" y="18249"/>
                </a:lnTo>
                <a:cubicBezTo>
                  <a:pt x="12939" y="15615"/>
                  <a:pt x="12939" y="11337"/>
                  <a:pt x="15573" y="8703"/>
                </a:cubicBezTo>
                <a:cubicBezTo>
                  <a:pt x="18207" y="6069"/>
                  <a:pt x="22485" y="6069"/>
                  <a:pt x="25119" y="8703"/>
                </a:cubicBezTo>
                <a:lnTo>
                  <a:pt x="65579" y="4916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042973" y="5462124"/>
            <a:ext cx="2355681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Identificações da própria Mastercard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4392" y="2580460"/>
            <a:ext cx="5655434" cy="3389664"/>
          </a:xfrm>
          <a:custGeom>
            <a:avLst/>
            <a:gdLst/>
            <a:ahLst/>
            <a:cxnLst/>
            <a:rect l="l" t="t" r="r" b="b"/>
            <a:pathLst>
              <a:path w="5655434" h="3389664">
                <a:moveTo>
                  <a:pt x="71929" y="0"/>
                </a:moveTo>
                <a:lnTo>
                  <a:pt x="5583505" y="0"/>
                </a:lnTo>
                <a:cubicBezTo>
                  <a:pt x="5623230" y="0"/>
                  <a:pt x="5655434" y="32204"/>
                  <a:pt x="5655434" y="71929"/>
                </a:cubicBezTo>
                <a:lnTo>
                  <a:pt x="5655434" y="3317735"/>
                </a:lnTo>
                <a:cubicBezTo>
                  <a:pt x="5655434" y="3357460"/>
                  <a:pt x="5623230" y="3389664"/>
                  <a:pt x="5583505" y="3389664"/>
                </a:cubicBezTo>
                <a:lnTo>
                  <a:pt x="71929" y="3389664"/>
                </a:lnTo>
                <a:cubicBezTo>
                  <a:pt x="32204" y="3389664"/>
                  <a:pt x="0" y="3357460"/>
                  <a:pt x="0" y="3317735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381188" y="2800743"/>
            <a:ext cx="179823" cy="179823"/>
          </a:xfrm>
          <a:custGeom>
            <a:avLst/>
            <a:gdLst/>
            <a:ahLst/>
            <a:cxnLst/>
            <a:rect l="l" t="t" r="r" b="b"/>
            <a:pathLst>
              <a:path w="179823" h="179823">
                <a:moveTo>
                  <a:pt x="89912" y="0"/>
                </a:moveTo>
                <a:cubicBezTo>
                  <a:pt x="139535" y="0"/>
                  <a:pt x="179823" y="40288"/>
                  <a:pt x="179823" y="89912"/>
                </a:cubicBezTo>
                <a:cubicBezTo>
                  <a:pt x="179823" y="139535"/>
                  <a:pt x="139535" y="179823"/>
                  <a:pt x="89912" y="179823"/>
                </a:cubicBezTo>
                <a:cubicBezTo>
                  <a:pt x="40288" y="179823"/>
                  <a:pt x="0" y="139535"/>
                  <a:pt x="0" y="89912"/>
                </a:cubicBezTo>
                <a:cubicBezTo>
                  <a:pt x="0" y="40288"/>
                  <a:pt x="40288" y="0"/>
                  <a:pt x="89912" y="0"/>
                </a:cubicBezTo>
                <a:close/>
                <a:moveTo>
                  <a:pt x="81482" y="42146"/>
                </a:moveTo>
                <a:lnTo>
                  <a:pt x="81482" y="89912"/>
                </a:lnTo>
                <a:cubicBezTo>
                  <a:pt x="81482" y="92721"/>
                  <a:pt x="82887" y="95355"/>
                  <a:pt x="85240" y="96936"/>
                </a:cubicBezTo>
                <a:lnTo>
                  <a:pt x="118957" y="119414"/>
                </a:lnTo>
                <a:cubicBezTo>
                  <a:pt x="122821" y="122013"/>
                  <a:pt x="128054" y="120959"/>
                  <a:pt x="130653" y="117061"/>
                </a:cubicBezTo>
                <a:cubicBezTo>
                  <a:pt x="133252" y="113162"/>
                  <a:pt x="132198" y="107964"/>
                  <a:pt x="128300" y="105365"/>
                </a:cubicBezTo>
                <a:lnTo>
                  <a:pt x="98341" y="85416"/>
                </a:lnTo>
                <a:lnTo>
                  <a:pt x="98341" y="42146"/>
                </a:lnTo>
                <a:cubicBezTo>
                  <a:pt x="98341" y="37475"/>
                  <a:pt x="94583" y="33717"/>
                  <a:pt x="89912" y="33717"/>
                </a:cubicBezTo>
                <a:cubicBezTo>
                  <a:pt x="85240" y="33717"/>
                  <a:pt x="81482" y="37475"/>
                  <a:pt x="81482" y="4214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489" y="2764779"/>
            <a:ext cx="5151929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Prazos de Resposta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8710" y="3124425"/>
            <a:ext cx="5358726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Adquirente deve providenciar informações com plano de correção: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6692" y="3448106"/>
            <a:ext cx="5268814" cy="1114903"/>
          </a:xfrm>
          <a:custGeom>
            <a:avLst/>
            <a:gdLst/>
            <a:ahLst/>
            <a:cxnLst/>
            <a:rect l="l" t="t" r="r" b="b"/>
            <a:pathLst>
              <a:path w="5268814" h="1114903">
                <a:moveTo>
                  <a:pt x="35965" y="0"/>
                </a:moveTo>
                <a:lnTo>
                  <a:pt x="5196881" y="0"/>
                </a:lnTo>
                <a:cubicBezTo>
                  <a:pt x="5236608" y="0"/>
                  <a:pt x="5268814" y="32206"/>
                  <a:pt x="5268814" y="71934"/>
                </a:cubicBezTo>
                <a:lnTo>
                  <a:pt x="5268814" y="1042969"/>
                </a:lnTo>
                <a:cubicBezTo>
                  <a:pt x="5268814" y="1082697"/>
                  <a:pt x="5236608" y="1114903"/>
                  <a:pt x="5196881" y="1114903"/>
                </a:cubicBezTo>
                <a:lnTo>
                  <a:pt x="35965" y="1114903"/>
                </a:lnTo>
                <a:cubicBezTo>
                  <a:pt x="16102" y="1114903"/>
                  <a:pt x="0" y="1098801"/>
                  <a:pt x="0" y="1078938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376692" y="3448106"/>
            <a:ext cx="35965" cy="1114903"/>
          </a:xfrm>
          <a:custGeom>
            <a:avLst/>
            <a:gdLst/>
            <a:ahLst/>
            <a:cxnLst/>
            <a:rect l="l" t="t" r="r" b="b"/>
            <a:pathLst>
              <a:path w="35965" h="1114903">
                <a:moveTo>
                  <a:pt x="35965" y="0"/>
                </a:moveTo>
                <a:lnTo>
                  <a:pt x="35965" y="0"/>
                </a:lnTo>
                <a:lnTo>
                  <a:pt x="35965" y="1114903"/>
                </a:lnTo>
                <a:lnTo>
                  <a:pt x="35965" y="1114903"/>
                </a:lnTo>
                <a:cubicBezTo>
                  <a:pt x="16102" y="1114903"/>
                  <a:pt x="0" y="1098801"/>
                  <a:pt x="0" y="1078938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583489" y="3627929"/>
            <a:ext cx="134867" cy="179823"/>
          </a:xfrm>
          <a:custGeom>
            <a:avLst/>
            <a:gdLst/>
            <a:ahLst/>
            <a:cxnLst/>
            <a:rect l="l" t="t" r="r" b="b"/>
            <a:pathLst>
              <a:path w="134867" h="179823">
                <a:moveTo>
                  <a:pt x="22478" y="0"/>
                </a:moveTo>
                <a:cubicBezTo>
                  <a:pt x="10080" y="0"/>
                  <a:pt x="0" y="10080"/>
                  <a:pt x="0" y="22478"/>
                </a:cubicBezTo>
                <a:lnTo>
                  <a:pt x="0" y="157345"/>
                </a:lnTo>
                <a:cubicBezTo>
                  <a:pt x="0" y="169743"/>
                  <a:pt x="10080" y="179823"/>
                  <a:pt x="22478" y="179823"/>
                </a:cubicBezTo>
                <a:lnTo>
                  <a:pt x="112389" y="179823"/>
                </a:lnTo>
                <a:cubicBezTo>
                  <a:pt x="124787" y="179823"/>
                  <a:pt x="134867" y="169743"/>
                  <a:pt x="134867" y="157345"/>
                </a:cubicBezTo>
                <a:lnTo>
                  <a:pt x="134867" y="22478"/>
                </a:lnTo>
                <a:cubicBezTo>
                  <a:pt x="134867" y="10080"/>
                  <a:pt x="124787" y="0"/>
                  <a:pt x="112389" y="0"/>
                </a:cubicBezTo>
                <a:lnTo>
                  <a:pt x="22478" y="0"/>
                </a:lnTo>
                <a:close/>
                <a:moveTo>
                  <a:pt x="61814" y="123628"/>
                </a:moveTo>
                <a:lnTo>
                  <a:pt x="73053" y="123628"/>
                </a:lnTo>
                <a:cubicBezTo>
                  <a:pt x="79270" y="123628"/>
                  <a:pt x="84292" y="128651"/>
                  <a:pt x="84292" y="134867"/>
                </a:cubicBezTo>
                <a:lnTo>
                  <a:pt x="84292" y="162965"/>
                </a:lnTo>
                <a:lnTo>
                  <a:pt x="50575" y="162965"/>
                </a:lnTo>
                <a:lnTo>
                  <a:pt x="50575" y="134867"/>
                </a:lnTo>
                <a:cubicBezTo>
                  <a:pt x="50575" y="128651"/>
                  <a:pt x="55598" y="123628"/>
                  <a:pt x="61814" y="123628"/>
                </a:cubicBezTo>
                <a:close/>
                <a:moveTo>
                  <a:pt x="33717" y="39336"/>
                </a:moveTo>
                <a:cubicBezTo>
                  <a:pt x="33717" y="36246"/>
                  <a:pt x="36246" y="33717"/>
                  <a:pt x="39336" y="33717"/>
                </a:cubicBezTo>
                <a:lnTo>
                  <a:pt x="50575" y="33717"/>
                </a:lnTo>
                <a:cubicBezTo>
                  <a:pt x="53666" y="33717"/>
                  <a:pt x="56195" y="36246"/>
                  <a:pt x="56195" y="39336"/>
                </a:cubicBezTo>
                <a:lnTo>
                  <a:pt x="56195" y="50575"/>
                </a:lnTo>
                <a:cubicBezTo>
                  <a:pt x="56195" y="53666"/>
                  <a:pt x="53666" y="56195"/>
                  <a:pt x="50575" y="56195"/>
                </a:cubicBezTo>
                <a:lnTo>
                  <a:pt x="39336" y="56195"/>
                </a:lnTo>
                <a:cubicBezTo>
                  <a:pt x="36246" y="56195"/>
                  <a:pt x="33717" y="53666"/>
                  <a:pt x="33717" y="50575"/>
                </a:cubicBezTo>
                <a:lnTo>
                  <a:pt x="33717" y="39336"/>
                </a:lnTo>
                <a:close/>
                <a:moveTo>
                  <a:pt x="84292" y="33717"/>
                </a:moveTo>
                <a:lnTo>
                  <a:pt x="95531" y="33717"/>
                </a:lnTo>
                <a:cubicBezTo>
                  <a:pt x="98622" y="33717"/>
                  <a:pt x="101150" y="36246"/>
                  <a:pt x="101150" y="39336"/>
                </a:cubicBezTo>
                <a:lnTo>
                  <a:pt x="101150" y="50575"/>
                </a:lnTo>
                <a:cubicBezTo>
                  <a:pt x="101150" y="53666"/>
                  <a:pt x="98622" y="56195"/>
                  <a:pt x="95531" y="56195"/>
                </a:cubicBezTo>
                <a:lnTo>
                  <a:pt x="84292" y="56195"/>
                </a:lnTo>
                <a:cubicBezTo>
                  <a:pt x="81201" y="56195"/>
                  <a:pt x="78673" y="53666"/>
                  <a:pt x="78673" y="50575"/>
                </a:cubicBezTo>
                <a:lnTo>
                  <a:pt x="78673" y="39336"/>
                </a:lnTo>
                <a:cubicBezTo>
                  <a:pt x="78673" y="36246"/>
                  <a:pt x="81201" y="33717"/>
                  <a:pt x="84292" y="33717"/>
                </a:cubicBezTo>
                <a:close/>
                <a:moveTo>
                  <a:pt x="33717" y="84292"/>
                </a:moveTo>
                <a:cubicBezTo>
                  <a:pt x="33717" y="81201"/>
                  <a:pt x="36246" y="78673"/>
                  <a:pt x="39336" y="78673"/>
                </a:cubicBezTo>
                <a:lnTo>
                  <a:pt x="50575" y="78673"/>
                </a:lnTo>
                <a:cubicBezTo>
                  <a:pt x="53666" y="78673"/>
                  <a:pt x="56195" y="81201"/>
                  <a:pt x="56195" y="84292"/>
                </a:cubicBezTo>
                <a:lnTo>
                  <a:pt x="56195" y="95531"/>
                </a:lnTo>
                <a:cubicBezTo>
                  <a:pt x="56195" y="98622"/>
                  <a:pt x="53666" y="101150"/>
                  <a:pt x="50575" y="101150"/>
                </a:cubicBezTo>
                <a:lnTo>
                  <a:pt x="39336" y="101150"/>
                </a:lnTo>
                <a:cubicBezTo>
                  <a:pt x="36246" y="101150"/>
                  <a:pt x="33717" y="98622"/>
                  <a:pt x="33717" y="95531"/>
                </a:cubicBezTo>
                <a:lnTo>
                  <a:pt x="33717" y="84292"/>
                </a:lnTo>
                <a:close/>
                <a:moveTo>
                  <a:pt x="84292" y="78673"/>
                </a:moveTo>
                <a:lnTo>
                  <a:pt x="95531" y="78673"/>
                </a:lnTo>
                <a:cubicBezTo>
                  <a:pt x="98622" y="78673"/>
                  <a:pt x="101150" y="81201"/>
                  <a:pt x="101150" y="84292"/>
                </a:cubicBezTo>
                <a:lnTo>
                  <a:pt x="101150" y="95531"/>
                </a:lnTo>
                <a:cubicBezTo>
                  <a:pt x="101150" y="98622"/>
                  <a:pt x="98622" y="101150"/>
                  <a:pt x="95531" y="101150"/>
                </a:cubicBezTo>
                <a:lnTo>
                  <a:pt x="84292" y="101150"/>
                </a:lnTo>
                <a:cubicBezTo>
                  <a:pt x="81201" y="101150"/>
                  <a:pt x="78673" y="98622"/>
                  <a:pt x="78673" y="95531"/>
                </a:cubicBezTo>
                <a:lnTo>
                  <a:pt x="78673" y="84292"/>
                </a:lnTo>
                <a:cubicBezTo>
                  <a:pt x="78673" y="81201"/>
                  <a:pt x="81201" y="78673"/>
                  <a:pt x="84292" y="7867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871206" y="3591965"/>
            <a:ext cx="1726301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Governamentais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8533" y="3915646"/>
            <a:ext cx="5071009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dias úteis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8533" y="4203363"/>
            <a:ext cx="5035044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após a notificação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6692" y="4670903"/>
            <a:ext cx="5268814" cy="1114903"/>
          </a:xfrm>
          <a:custGeom>
            <a:avLst/>
            <a:gdLst/>
            <a:ahLst/>
            <a:cxnLst/>
            <a:rect l="l" t="t" r="r" b="b"/>
            <a:pathLst>
              <a:path w="5268814" h="1114903">
                <a:moveTo>
                  <a:pt x="35965" y="0"/>
                </a:moveTo>
                <a:lnTo>
                  <a:pt x="5196881" y="0"/>
                </a:lnTo>
                <a:cubicBezTo>
                  <a:pt x="5236608" y="0"/>
                  <a:pt x="5268814" y="32206"/>
                  <a:pt x="5268814" y="71934"/>
                </a:cubicBezTo>
                <a:lnTo>
                  <a:pt x="5268814" y="1042969"/>
                </a:lnTo>
                <a:cubicBezTo>
                  <a:pt x="5268814" y="1082697"/>
                  <a:pt x="5236608" y="1114903"/>
                  <a:pt x="5196881" y="1114903"/>
                </a:cubicBezTo>
                <a:lnTo>
                  <a:pt x="35965" y="1114903"/>
                </a:lnTo>
                <a:cubicBezTo>
                  <a:pt x="16102" y="1114903"/>
                  <a:pt x="0" y="1098801"/>
                  <a:pt x="0" y="1078938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376692" y="4670903"/>
            <a:ext cx="35965" cy="1114903"/>
          </a:xfrm>
          <a:custGeom>
            <a:avLst/>
            <a:gdLst/>
            <a:ahLst/>
            <a:cxnLst/>
            <a:rect l="l" t="t" r="r" b="b"/>
            <a:pathLst>
              <a:path w="35965" h="1114903">
                <a:moveTo>
                  <a:pt x="35965" y="0"/>
                </a:moveTo>
                <a:lnTo>
                  <a:pt x="35965" y="0"/>
                </a:lnTo>
                <a:lnTo>
                  <a:pt x="35965" y="1114903"/>
                </a:lnTo>
                <a:lnTo>
                  <a:pt x="35965" y="1114903"/>
                </a:lnTo>
                <a:cubicBezTo>
                  <a:pt x="16102" y="1114903"/>
                  <a:pt x="0" y="1098801"/>
                  <a:pt x="0" y="1078938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538533" y="4850726"/>
            <a:ext cx="224779" cy="179823"/>
          </a:xfrm>
          <a:custGeom>
            <a:avLst/>
            <a:gdLst/>
            <a:ahLst/>
            <a:cxnLst/>
            <a:rect l="l" t="t" r="r" b="b"/>
            <a:pathLst>
              <a:path w="224779" h="179823">
                <a:moveTo>
                  <a:pt x="92721" y="16858"/>
                </a:moveTo>
                <a:lnTo>
                  <a:pt x="132058" y="16858"/>
                </a:lnTo>
                <a:cubicBezTo>
                  <a:pt x="133603" y="16858"/>
                  <a:pt x="134867" y="18123"/>
                  <a:pt x="134867" y="19668"/>
                </a:cubicBezTo>
                <a:lnTo>
                  <a:pt x="134867" y="33717"/>
                </a:lnTo>
                <a:lnTo>
                  <a:pt x="89912" y="33717"/>
                </a:lnTo>
                <a:lnTo>
                  <a:pt x="89912" y="19668"/>
                </a:lnTo>
                <a:cubicBezTo>
                  <a:pt x="89912" y="18123"/>
                  <a:pt x="91176" y="16858"/>
                  <a:pt x="92721" y="16858"/>
                </a:cubicBezTo>
                <a:close/>
                <a:moveTo>
                  <a:pt x="73053" y="19668"/>
                </a:moveTo>
                <a:lnTo>
                  <a:pt x="73053" y="33717"/>
                </a:lnTo>
                <a:lnTo>
                  <a:pt x="44956" y="33717"/>
                </a:lnTo>
                <a:cubicBezTo>
                  <a:pt x="32558" y="33717"/>
                  <a:pt x="22478" y="43797"/>
                  <a:pt x="22478" y="56195"/>
                </a:cubicBezTo>
                <a:lnTo>
                  <a:pt x="22478" y="89912"/>
                </a:lnTo>
                <a:lnTo>
                  <a:pt x="129599" y="89912"/>
                </a:lnTo>
                <a:cubicBezTo>
                  <a:pt x="141470" y="79410"/>
                  <a:pt x="157099" y="73053"/>
                  <a:pt x="174204" y="73053"/>
                </a:cubicBezTo>
                <a:cubicBezTo>
                  <a:pt x="184248" y="73053"/>
                  <a:pt x="193731" y="75231"/>
                  <a:pt x="202301" y="79164"/>
                </a:cubicBezTo>
                <a:lnTo>
                  <a:pt x="202301" y="56195"/>
                </a:lnTo>
                <a:cubicBezTo>
                  <a:pt x="202301" y="43797"/>
                  <a:pt x="192221" y="33717"/>
                  <a:pt x="179823" y="33717"/>
                </a:cubicBezTo>
                <a:lnTo>
                  <a:pt x="151726" y="33717"/>
                </a:lnTo>
                <a:lnTo>
                  <a:pt x="151726" y="19668"/>
                </a:lnTo>
                <a:cubicBezTo>
                  <a:pt x="151726" y="8816"/>
                  <a:pt x="142910" y="0"/>
                  <a:pt x="132058" y="0"/>
                </a:cubicBezTo>
                <a:lnTo>
                  <a:pt x="92721" y="0"/>
                </a:lnTo>
                <a:cubicBezTo>
                  <a:pt x="81869" y="0"/>
                  <a:pt x="73053" y="8816"/>
                  <a:pt x="73053" y="19668"/>
                </a:cubicBezTo>
                <a:close/>
                <a:moveTo>
                  <a:pt x="101150" y="123628"/>
                </a:moveTo>
                <a:cubicBezTo>
                  <a:pt x="94934" y="123628"/>
                  <a:pt x="89912" y="118606"/>
                  <a:pt x="89912" y="112389"/>
                </a:cubicBezTo>
                <a:lnTo>
                  <a:pt x="89912" y="106770"/>
                </a:lnTo>
                <a:lnTo>
                  <a:pt x="22478" y="106770"/>
                </a:lnTo>
                <a:lnTo>
                  <a:pt x="22478" y="146106"/>
                </a:lnTo>
                <a:cubicBezTo>
                  <a:pt x="22478" y="158504"/>
                  <a:pt x="32558" y="168584"/>
                  <a:pt x="44956" y="168584"/>
                </a:cubicBezTo>
                <a:lnTo>
                  <a:pt x="112881" y="168584"/>
                </a:lnTo>
                <a:cubicBezTo>
                  <a:pt x="108947" y="160014"/>
                  <a:pt x="106770" y="150532"/>
                  <a:pt x="106770" y="140487"/>
                </a:cubicBezTo>
                <a:cubicBezTo>
                  <a:pt x="106770" y="134657"/>
                  <a:pt x="107507" y="129002"/>
                  <a:pt x="108877" y="123628"/>
                </a:cubicBezTo>
                <a:lnTo>
                  <a:pt x="101150" y="123628"/>
                </a:lnTo>
                <a:close/>
                <a:moveTo>
                  <a:pt x="224779" y="140487"/>
                </a:moveTo>
                <a:cubicBezTo>
                  <a:pt x="224779" y="112574"/>
                  <a:pt x="202117" y="89912"/>
                  <a:pt x="174204" y="89912"/>
                </a:cubicBezTo>
                <a:cubicBezTo>
                  <a:pt x="146290" y="89912"/>
                  <a:pt x="123628" y="112574"/>
                  <a:pt x="123628" y="140487"/>
                </a:cubicBezTo>
                <a:cubicBezTo>
                  <a:pt x="123628" y="168400"/>
                  <a:pt x="146290" y="191062"/>
                  <a:pt x="174204" y="191062"/>
                </a:cubicBezTo>
                <a:cubicBezTo>
                  <a:pt x="202117" y="191062"/>
                  <a:pt x="224779" y="168400"/>
                  <a:pt x="224779" y="140487"/>
                </a:cubicBezTo>
                <a:close/>
                <a:moveTo>
                  <a:pt x="174204" y="112389"/>
                </a:moveTo>
                <a:cubicBezTo>
                  <a:pt x="177294" y="112389"/>
                  <a:pt x="179823" y="114918"/>
                  <a:pt x="179823" y="118009"/>
                </a:cubicBezTo>
                <a:lnTo>
                  <a:pt x="179823" y="134867"/>
                </a:lnTo>
                <a:lnTo>
                  <a:pt x="191062" y="134867"/>
                </a:lnTo>
                <a:cubicBezTo>
                  <a:pt x="194153" y="134867"/>
                  <a:pt x="196681" y="137396"/>
                  <a:pt x="196681" y="140487"/>
                </a:cubicBezTo>
                <a:cubicBezTo>
                  <a:pt x="196681" y="143577"/>
                  <a:pt x="194153" y="146106"/>
                  <a:pt x="191062" y="146106"/>
                </a:cubicBezTo>
                <a:lnTo>
                  <a:pt x="174204" y="146106"/>
                </a:lnTo>
                <a:cubicBezTo>
                  <a:pt x="171113" y="146106"/>
                  <a:pt x="168584" y="143577"/>
                  <a:pt x="168584" y="140487"/>
                </a:cubicBezTo>
                <a:lnTo>
                  <a:pt x="168584" y="118009"/>
                </a:lnTo>
                <a:cubicBezTo>
                  <a:pt x="168584" y="114918"/>
                  <a:pt x="171113" y="112389"/>
                  <a:pt x="174204" y="112389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871206" y="4814761"/>
            <a:ext cx="109692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Demais Casos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38533" y="5138442"/>
            <a:ext cx="5071009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dias úteis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38533" y="5426159"/>
            <a:ext cx="5035044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após a notificação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4142" y="6122973"/>
            <a:ext cx="11463717" cy="512496"/>
          </a:xfrm>
          <a:custGeom>
            <a:avLst/>
            <a:gdLst/>
            <a:ahLst/>
            <a:cxnLst/>
            <a:rect l="l" t="t" r="r" b="b"/>
            <a:pathLst>
              <a:path w="11463717" h="512496">
                <a:moveTo>
                  <a:pt x="71929" y="0"/>
                </a:moveTo>
                <a:lnTo>
                  <a:pt x="11391788" y="0"/>
                </a:lnTo>
                <a:cubicBezTo>
                  <a:pt x="11431487" y="0"/>
                  <a:pt x="11463717" y="32230"/>
                  <a:pt x="11463717" y="71929"/>
                </a:cubicBezTo>
                <a:lnTo>
                  <a:pt x="11463717" y="440567"/>
                </a:lnTo>
                <a:cubicBezTo>
                  <a:pt x="11463717" y="480265"/>
                  <a:pt x="11431487" y="512496"/>
                  <a:pt x="11391788" y="512496"/>
                </a:cubicBezTo>
                <a:lnTo>
                  <a:pt x="71929" y="512496"/>
                </a:lnTo>
                <a:cubicBezTo>
                  <a:pt x="32230" y="512496"/>
                  <a:pt x="0" y="480265"/>
                  <a:pt x="0" y="440567"/>
                </a:cubicBezTo>
                <a:lnTo>
                  <a:pt x="0" y="71929"/>
                </a:lnTo>
                <a:cubicBezTo>
                  <a:pt x="0" y="32230"/>
                  <a:pt x="32230" y="0"/>
                  <a:pt x="71929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530478" y="6307292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71929" y="143858"/>
                </a:moveTo>
                <a:cubicBezTo>
                  <a:pt x="111628" y="143858"/>
                  <a:pt x="143858" y="111628"/>
                  <a:pt x="143858" y="71929"/>
                </a:cubicBezTo>
                <a:cubicBezTo>
                  <a:pt x="143858" y="32230"/>
                  <a:pt x="111628" y="0"/>
                  <a:pt x="71929" y="0"/>
                </a:cubicBezTo>
                <a:cubicBezTo>
                  <a:pt x="32230" y="0"/>
                  <a:pt x="0" y="32230"/>
                  <a:pt x="0" y="71929"/>
                </a:cubicBezTo>
                <a:cubicBezTo>
                  <a:pt x="0" y="111628"/>
                  <a:pt x="32230" y="143858"/>
                  <a:pt x="71929" y="143858"/>
                </a:cubicBezTo>
                <a:close/>
                <a:moveTo>
                  <a:pt x="62938" y="44956"/>
                </a:moveTo>
                <a:cubicBezTo>
                  <a:pt x="62938" y="39993"/>
                  <a:pt x="66967" y="35965"/>
                  <a:pt x="71929" y="35965"/>
                </a:cubicBezTo>
                <a:cubicBezTo>
                  <a:pt x="76892" y="35965"/>
                  <a:pt x="80920" y="39993"/>
                  <a:pt x="80920" y="44956"/>
                </a:cubicBezTo>
                <a:cubicBezTo>
                  <a:pt x="80920" y="49918"/>
                  <a:pt x="76892" y="53947"/>
                  <a:pt x="71929" y="53947"/>
                </a:cubicBezTo>
                <a:cubicBezTo>
                  <a:pt x="66967" y="53947"/>
                  <a:pt x="62938" y="49918"/>
                  <a:pt x="62938" y="44956"/>
                </a:cubicBezTo>
                <a:close/>
                <a:moveTo>
                  <a:pt x="60690" y="62938"/>
                </a:moveTo>
                <a:lnTo>
                  <a:pt x="74177" y="62938"/>
                </a:lnTo>
                <a:cubicBezTo>
                  <a:pt x="77914" y="62938"/>
                  <a:pt x="80920" y="65944"/>
                  <a:pt x="80920" y="69681"/>
                </a:cubicBezTo>
                <a:lnTo>
                  <a:pt x="80920" y="94407"/>
                </a:lnTo>
                <a:lnTo>
                  <a:pt x="83168" y="94407"/>
                </a:lnTo>
                <a:cubicBezTo>
                  <a:pt x="86905" y="94407"/>
                  <a:pt x="89912" y="97413"/>
                  <a:pt x="89912" y="101150"/>
                </a:cubicBezTo>
                <a:cubicBezTo>
                  <a:pt x="89912" y="104887"/>
                  <a:pt x="86905" y="107894"/>
                  <a:pt x="83168" y="107894"/>
                </a:cubicBezTo>
                <a:lnTo>
                  <a:pt x="60690" y="107894"/>
                </a:lnTo>
                <a:cubicBezTo>
                  <a:pt x="56953" y="107894"/>
                  <a:pt x="53947" y="104887"/>
                  <a:pt x="53947" y="101150"/>
                </a:cubicBezTo>
                <a:cubicBezTo>
                  <a:pt x="53947" y="97413"/>
                  <a:pt x="56953" y="94407"/>
                  <a:pt x="60690" y="94407"/>
                </a:cubicBezTo>
                <a:lnTo>
                  <a:pt x="67434" y="94407"/>
                </a:lnTo>
                <a:lnTo>
                  <a:pt x="67434" y="76425"/>
                </a:lnTo>
                <a:lnTo>
                  <a:pt x="60690" y="76425"/>
                </a:lnTo>
                <a:cubicBezTo>
                  <a:pt x="56953" y="76425"/>
                  <a:pt x="53947" y="73418"/>
                  <a:pt x="53947" y="69681"/>
                </a:cubicBezTo>
                <a:cubicBezTo>
                  <a:pt x="53947" y="65944"/>
                  <a:pt x="56953" y="62938"/>
                  <a:pt x="60690" y="629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743242" y="6271327"/>
            <a:ext cx="1100819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Processo:</a:t>
            </a:r>
            <a:r>
              <a:rPr lang="en-US" sz="113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 a Mastercard identifica uma irregularidade, inicia-se o processo de investigação e o adquirente é notificado para providenciar as informações necessárias.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512" y="361512"/>
            <a:ext cx="1154127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kern="0" spc="57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512" y="650722"/>
            <a:ext cx="11631656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BRAM - Documentação e Penalidades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88" y="1156839"/>
            <a:ext cx="11450900" cy="3832030"/>
          </a:xfrm>
          <a:custGeom>
            <a:avLst/>
            <a:gdLst/>
            <a:ahLst/>
            <a:cxnLst/>
            <a:rect l="l" t="t" r="r" b="b"/>
            <a:pathLst>
              <a:path w="11450900" h="3832030">
                <a:moveTo>
                  <a:pt x="36151" y="0"/>
                </a:moveTo>
                <a:lnTo>
                  <a:pt x="11378590" y="0"/>
                </a:lnTo>
                <a:cubicBezTo>
                  <a:pt x="11418525" y="0"/>
                  <a:pt x="11450900" y="32374"/>
                  <a:pt x="11450900" y="72310"/>
                </a:cubicBezTo>
                <a:lnTo>
                  <a:pt x="11450900" y="3759719"/>
                </a:lnTo>
                <a:cubicBezTo>
                  <a:pt x="11450900" y="3799655"/>
                  <a:pt x="11418525" y="3832030"/>
                  <a:pt x="11378590" y="3832030"/>
                </a:cubicBezTo>
                <a:lnTo>
                  <a:pt x="36151" y="3832030"/>
                </a:lnTo>
                <a:cubicBezTo>
                  <a:pt x="16185" y="3832030"/>
                  <a:pt x="0" y="3815844"/>
                  <a:pt x="0" y="3795878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79588" y="1156839"/>
            <a:ext cx="36151" cy="3832030"/>
          </a:xfrm>
          <a:custGeom>
            <a:avLst/>
            <a:gdLst/>
            <a:ahLst/>
            <a:cxnLst/>
            <a:rect l="l" t="t" r="r" b="b"/>
            <a:pathLst>
              <a:path w="36151" h="3832030">
                <a:moveTo>
                  <a:pt x="36151" y="0"/>
                </a:moveTo>
                <a:lnTo>
                  <a:pt x="36151" y="0"/>
                </a:lnTo>
                <a:lnTo>
                  <a:pt x="36151" y="3832030"/>
                </a:lnTo>
                <a:lnTo>
                  <a:pt x="36151" y="3832030"/>
                </a:lnTo>
                <a:cubicBezTo>
                  <a:pt x="16185" y="3832030"/>
                  <a:pt x="0" y="3815844"/>
                  <a:pt x="0" y="3795878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2646" y="1373746"/>
            <a:ext cx="162681" cy="216907"/>
          </a:xfrm>
          <a:custGeom>
            <a:avLst/>
            <a:gdLst/>
            <a:ahLst/>
            <a:cxnLst/>
            <a:rect l="l" t="t" r="r" b="b"/>
            <a:pathLst>
              <a:path w="162681" h="216907">
                <a:moveTo>
                  <a:pt x="0" y="27113"/>
                </a:moveTo>
                <a:cubicBezTo>
                  <a:pt x="0" y="12159"/>
                  <a:pt x="12159" y="0"/>
                  <a:pt x="27113" y="0"/>
                </a:cubicBezTo>
                <a:lnTo>
                  <a:pt x="90449" y="0"/>
                </a:lnTo>
                <a:cubicBezTo>
                  <a:pt x="97651" y="0"/>
                  <a:pt x="104556" y="2838"/>
                  <a:pt x="109640" y="7922"/>
                </a:cubicBezTo>
                <a:lnTo>
                  <a:pt x="154758" y="53083"/>
                </a:lnTo>
                <a:cubicBezTo>
                  <a:pt x="159842" y="58167"/>
                  <a:pt x="162681" y="65072"/>
                  <a:pt x="162681" y="72274"/>
                </a:cubicBezTo>
                <a:lnTo>
                  <a:pt x="162681" y="189794"/>
                </a:lnTo>
                <a:cubicBezTo>
                  <a:pt x="162681" y="204749"/>
                  <a:pt x="150522" y="216907"/>
                  <a:pt x="135567" y="216907"/>
                </a:cubicBezTo>
                <a:lnTo>
                  <a:pt x="27113" y="216907"/>
                </a:lnTo>
                <a:cubicBezTo>
                  <a:pt x="12159" y="216907"/>
                  <a:pt x="0" y="204749"/>
                  <a:pt x="0" y="189794"/>
                </a:cubicBezTo>
                <a:lnTo>
                  <a:pt x="0" y="27113"/>
                </a:lnTo>
                <a:close/>
                <a:moveTo>
                  <a:pt x="88119" y="24783"/>
                </a:moveTo>
                <a:lnTo>
                  <a:pt x="88119" y="64394"/>
                </a:lnTo>
                <a:cubicBezTo>
                  <a:pt x="88119" y="70029"/>
                  <a:pt x="92652" y="74562"/>
                  <a:pt x="98286" y="74562"/>
                </a:cubicBezTo>
                <a:lnTo>
                  <a:pt x="137897" y="74562"/>
                </a:lnTo>
                <a:lnTo>
                  <a:pt x="88119" y="24783"/>
                </a:lnTo>
                <a:close/>
                <a:moveTo>
                  <a:pt x="50838" y="108454"/>
                </a:moveTo>
                <a:cubicBezTo>
                  <a:pt x="45203" y="108454"/>
                  <a:pt x="40670" y="112987"/>
                  <a:pt x="40670" y="118621"/>
                </a:cubicBezTo>
                <a:cubicBezTo>
                  <a:pt x="40670" y="124256"/>
                  <a:pt x="45203" y="128789"/>
                  <a:pt x="50838" y="128789"/>
                </a:cubicBezTo>
                <a:lnTo>
                  <a:pt x="111843" y="128789"/>
                </a:lnTo>
                <a:cubicBezTo>
                  <a:pt x="117477" y="128789"/>
                  <a:pt x="122010" y="124256"/>
                  <a:pt x="122010" y="118621"/>
                </a:cubicBezTo>
                <a:cubicBezTo>
                  <a:pt x="122010" y="112987"/>
                  <a:pt x="117477" y="108454"/>
                  <a:pt x="111843" y="108454"/>
                </a:cubicBezTo>
                <a:lnTo>
                  <a:pt x="50838" y="108454"/>
                </a:lnTo>
                <a:close/>
                <a:moveTo>
                  <a:pt x="50838" y="149124"/>
                </a:moveTo>
                <a:cubicBezTo>
                  <a:pt x="45203" y="149124"/>
                  <a:pt x="40670" y="153657"/>
                  <a:pt x="40670" y="159291"/>
                </a:cubicBezTo>
                <a:cubicBezTo>
                  <a:pt x="40670" y="164926"/>
                  <a:pt x="45203" y="169459"/>
                  <a:pt x="50838" y="169459"/>
                </a:cubicBezTo>
                <a:lnTo>
                  <a:pt x="111843" y="169459"/>
                </a:lnTo>
                <a:cubicBezTo>
                  <a:pt x="117477" y="169459"/>
                  <a:pt x="122010" y="164926"/>
                  <a:pt x="122010" y="159291"/>
                </a:cubicBezTo>
                <a:cubicBezTo>
                  <a:pt x="122010" y="153657"/>
                  <a:pt x="117477" y="149124"/>
                  <a:pt x="111843" y="149124"/>
                </a:cubicBezTo>
                <a:lnTo>
                  <a:pt x="50838" y="149124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9554" y="1337595"/>
            <a:ext cx="1090863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Documentação Exigida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8420" y="1771410"/>
            <a:ext cx="3615122" cy="795327"/>
          </a:xfrm>
          <a:custGeom>
            <a:avLst/>
            <a:gdLst/>
            <a:ahLst/>
            <a:cxnLst/>
            <a:rect l="l" t="t" r="r" b="b"/>
            <a:pathLst>
              <a:path w="3615122" h="795327">
                <a:moveTo>
                  <a:pt x="72303" y="0"/>
                </a:moveTo>
                <a:lnTo>
                  <a:pt x="3542819" y="0"/>
                </a:lnTo>
                <a:cubicBezTo>
                  <a:pt x="3582751" y="0"/>
                  <a:pt x="3615122" y="32371"/>
                  <a:pt x="3615122" y="72303"/>
                </a:cubicBezTo>
                <a:lnTo>
                  <a:pt x="3615122" y="723024"/>
                </a:lnTo>
                <a:cubicBezTo>
                  <a:pt x="3615122" y="762956"/>
                  <a:pt x="3582751" y="795327"/>
                  <a:pt x="3542819" y="795327"/>
                </a:cubicBezTo>
                <a:lnTo>
                  <a:pt x="72303" y="795327"/>
                </a:lnTo>
                <a:cubicBezTo>
                  <a:pt x="32371" y="795327"/>
                  <a:pt x="0" y="762956"/>
                  <a:pt x="0" y="723024"/>
                </a:cubicBezTo>
                <a:lnTo>
                  <a:pt x="0" y="72303"/>
                </a:lnTo>
                <a:cubicBezTo>
                  <a:pt x="0" y="32398"/>
                  <a:pt x="32398" y="0"/>
                  <a:pt x="723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86873" y="1879864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11284" y="1934090"/>
            <a:ext cx="99416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8385" y="1916015"/>
            <a:ext cx="143701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Plano de Remediação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6873" y="2241376"/>
            <a:ext cx="347051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Planos de ação para correção da violação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5950" y="1771410"/>
            <a:ext cx="3615122" cy="795327"/>
          </a:xfrm>
          <a:custGeom>
            <a:avLst/>
            <a:gdLst/>
            <a:ahLst/>
            <a:cxnLst/>
            <a:rect l="l" t="t" r="r" b="b"/>
            <a:pathLst>
              <a:path w="3615122" h="795327">
                <a:moveTo>
                  <a:pt x="72303" y="0"/>
                </a:moveTo>
                <a:lnTo>
                  <a:pt x="3542819" y="0"/>
                </a:lnTo>
                <a:cubicBezTo>
                  <a:pt x="3582751" y="0"/>
                  <a:pt x="3615122" y="32371"/>
                  <a:pt x="3615122" y="72303"/>
                </a:cubicBezTo>
                <a:lnTo>
                  <a:pt x="3615122" y="723024"/>
                </a:lnTo>
                <a:cubicBezTo>
                  <a:pt x="3615122" y="762956"/>
                  <a:pt x="3582751" y="795327"/>
                  <a:pt x="3542819" y="795327"/>
                </a:cubicBezTo>
                <a:lnTo>
                  <a:pt x="72303" y="795327"/>
                </a:lnTo>
                <a:cubicBezTo>
                  <a:pt x="32371" y="795327"/>
                  <a:pt x="0" y="762956"/>
                  <a:pt x="0" y="723024"/>
                </a:cubicBezTo>
                <a:lnTo>
                  <a:pt x="0" y="72303"/>
                </a:lnTo>
                <a:cubicBezTo>
                  <a:pt x="0" y="32398"/>
                  <a:pt x="32398" y="0"/>
                  <a:pt x="723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414403" y="1879864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26670" y="1934090"/>
            <a:ext cx="126529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75915" y="1916015"/>
            <a:ext cx="103934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Contrato do EC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14403" y="2241376"/>
            <a:ext cx="347051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Cópia do contrato do Estabelecimento Comercial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3480" y="1771410"/>
            <a:ext cx="3615122" cy="795327"/>
          </a:xfrm>
          <a:custGeom>
            <a:avLst/>
            <a:gdLst/>
            <a:ahLst/>
            <a:cxnLst/>
            <a:rect l="l" t="t" r="r" b="b"/>
            <a:pathLst>
              <a:path w="3615122" h="795327">
                <a:moveTo>
                  <a:pt x="72303" y="0"/>
                </a:moveTo>
                <a:lnTo>
                  <a:pt x="3542819" y="0"/>
                </a:lnTo>
                <a:cubicBezTo>
                  <a:pt x="3582751" y="0"/>
                  <a:pt x="3615122" y="32371"/>
                  <a:pt x="3615122" y="72303"/>
                </a:cubicBezTo>
                <a:lnTo>
                  <a:pt x="3615122" y="723024"/>
                </a:lnTo>
                <a:cubicBezTo>
                  <a:pt x="3615122" y="762956"/>
                  <a:pt x="3582751" y="795327"/>
                  <a:pt x="3542819" y="795327"/>
                </a:cubicBezTo>
                <a:lnTo>
                  <a:pt x="72303" y="795327"/>
                </a:lnTo>
                <a:cubicBezTo>
                  <a:pt x="32371" y="795327"/>
                  <a:pt x="0" y="762956"/>
                  <a:pt x="0" y="723024"/>
                </a:cubicBezTo>
                <a:lnTo>
                  <a:pt x="0" y="72303"/>
                </a:lnTo>
                <a:cubicBezTo>
                  <a:pt x="0" y="32398"/>
                  <a:pt x="32398" y="0"/>
                  <a:pt x="723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141933" y="1879864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52646" y="1934090"/>
            <a:ext cx="135567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446" y="1916015"/>
            <a:ext cx="157257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Resumo das Operações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41933" y="2241376"/>
            <a:ext cx="347051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Resumo das operações comerciais do EC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8420" y="2675191"/>
            <a:ext cx="3615122" cy="1012234"/>
          </a:xfrm>
          <a:custGeom>
            <a:avLst/>
            <a:gdLst/>
            <a:ahLst/>
            <a:cxnLst/>
            <a:rect l="l" t="t" r="r" b="b"/>
            <a:pathLst>
              <a:path w="3615122" h="1012234">
                <a:moveTo>
                  <a:pt x="72304" y="0"/>
                </a:moveTo>
                <a:lnTo>
                  <a:pt x="3542818" y="0"/>
                </a:lnTo>
                <a:cubicBezTo>
                  <a:pt x="3582751" y="0"/>
                  <a:pt x="3615122" y="32372"/>
                  <a:pt x="3615122" y="72304"/>
                </a:cubicBezTo>
                <a:lnTo>
                  <a:pt x="3615122" y="939930"/>
                </a:lnTo>
                <a:cubicBezTo>
                  <a:pt x="3615122" y="979863"/>
                  <a:pt x="3582751" y="1012234"/>
                  <a:pt x="3542818" y="1012234"/>
                </a:cubicBezTo>
                <a:lnTo>
                  <a:pt x="72304" y="1012234"/>
                </a:lnTo>
                <a:cubicBezTo>
                  <a:pt x="32372" y="1012234"/>
                  <a:pt x="0" y="979863"/>
                  <a:pt x="0" y="939930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86873" y="2783644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99281" y="2837871"/>
            <a:ext cx="126529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8385" y="2819795"/>
            <a:ext cx="140086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Relacionamento URL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6873" y="3145156"/>
            <a:ext cx="347051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Documentação comprovando relacionamento entre URL violador e comerciante aprovado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05950" y="2675191"/>
            <a:ext cx="3615122" cy="1012234"/>
          </a:xfrm>
          <a:custGeom>
            <a:avLst/>
            <a:gdLst/>
            <a:ahLst/>
            <a:cxnLst/>
            <a:rect l="l" t="t" r="r" b="b"/>
            <a:pathLst>
              <a:path w="3615122" h="1012234">
                <a:moveTo>
                  <a:pt x="72304" y="0"/>
                </a:moveTo>
                <a:lnTo>
                  <a:pt x="3542818" y="0"/>
                </a:lnTo>
                <a:cubicBezTo>
                  <a:pt x="3582751" y="0"/>
                  <a:pt x="3615122" y="32372"/>
                  <a:pt x="3615122" y="72304"/>
                </a:cubicBezTo>
                <a:lnTo>
                  <a:pt x="3615122" y="939930"/>
                </a:lnTo>
                <a:cubicBezTo>
                  <a:pt x="3615122" y="979863"/>
                  <a:pt x="3582751" y="1012234"/>
                  <a:pt x="3542818" y="1012234"/>
                </a:cubicBezTo>
                <a:lnTo>
                  <a:pt x="72304" y="1012234"/>
                </a:lnTo>
                <a:cubicBezTo>
                  <a:pt x="32372" y="1012234"/>
                  <a:pt x="0" y="979863"/>
                  <a:pt x="0" y="939930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414403" y="2783644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524834" y="2837871"/>
            <a:ext cx="135567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75915" y="2819795"/>
            <a:ext cx="180756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da Primeira Transação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14403" y="3145156"/>
            <a:ext cx="347051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Documentação com datas de submissão da primeira transação aprovada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33480" y="2675191"/>
            <a:ext cx="3615122" cy="1012234"/>
          </a:xfrm>
          <a:custGeom>
            <a:avLst/>
            <a:gdLst/>
            <a:ahLst/>
            <a:cxnLst/>
            <a:rect l="l" t="t" r="r" b="b"/>
            <a:pathLst>
              <a:path w="3615122" h="1012234">
                <a:moveTo>
                  <a:pt x="72304" y="0"/>
                </a:moveTo>
                <a:lnTo>
                  <a:pt x="3542818" y="0"/>
                </a:lnTo>
                <a:cubicBezTo>
                  <a:pt x="3582751" y="0"/>
                  <a:pt x="3615122" y="32372"/>
                  <a:pt x="3615122" y="72304"/>
                </a:cubicBezTo>
                <a:lnTo>
                  <a:pt x="3615122" y="939930"/>
                </a:lnTo>
                <a:cubicBezTo>
                  <a:pt x="3615122" y="979863"/>
                  <a:pt x="3582751" y="1012234"/>
                  <a:pt x="3542818" y="1012234"/>
                </a:cubicBezTo>
                <a:lnTo>
                  <a:pt x="72304" y="1012234"/>
                </a:lnTo>
                <a:cubicBezTo>
                  <a:pt x="32372" y="1012234"/>
                  <a:pt x="0" y="979863"/>
                  <a:pt x="0" y="939930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8141933" y="2783644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251658" y="2837871"/>
            <a:ext cx="135567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03446" y="2819795"/>
            <a:ext cx="151835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 de Transações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41933" y="3145156"/>
            <a:ext cx="347051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e valor total de transações por URL (até 12 meses)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8420" y="3795878"/>
            <a:ext cx="3615122" cy="1012234"/>
          </a:xfrm>
          <a:custGeom>
            <a:avLst/>
            <a:gdLst/>
            <a:ahLst/>
            <a:cxnLst/>
            <a:rect l="l" t="t" r="r" b="b"/>
            <a:pathLst>
              <a:path w="3615122" h="1012234">
                <a:moveTo>
                  <a:pt x="72304" y="0"/>
                </a:moveTo>
                <a:lnTo>
                  <a:pt x="3542818" y="0"/>
                </a:lnTo>
                <a:cubicBezTo>
                  <a:pt x="3582751" y="0"/>
                  <a:pt x="3615122" y="32372"/>
                  <a:pt x="3615122" y="72304"/>
                </a:cubicBezTo>
                <a:lnTo>
                  <a:pt x="3615122" y="939930"/>
                </a:lnTo>
                <a:cubicBezTo>
                  <a:pt x="3615122" y="979863"/>
                  <a:pt x="3582751" y="1012234"/>
                  <a:pt x="3542818" y="1012234"/>
                </a:cubicBezTo>
                <a:lnTo>
                  <a:pt x="72304" y="1012234"/>
                </a:lnTo>
                <a:cubicBezTo>
                  <a:pt x="32372" y="1012234"/>
                  <a:pt x="0" y="979863"/>
                  <a:pt x="0" y="939930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86873" y="3904332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802529" y="3958559"/>
            <a:ext cx="117491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48385" y="3940483"/>
            <a:ext cx="157257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Provedores de Serviços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6873" y="4265844"/>
            <a:ext cx="347051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Identidade de qualquer Provedor de Serviços envolvido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05950" y="3795878"/>
            <a:ext cx="3615122" cy="1012234"/>
          </a:xfrm>
          <a:custGeom>
            <a:avLst/>
            <a:gdLst/>
            <a:ahLst/>
            <a:cxnLst/>
            <a:rect l="l" t="t" r="r" b="b"/>
            <a:pathLst>
              <a:path w="3615122" h="1012234">
                <a:moveTo>
                  <a:pt x="72304" y="0"/>
                </a:moveTo>
                <a:lnTo>
                  <a:pt x="3542818" y="0"/>
                </a:lnTo>
                <a:cubicBezTo>
                  <a:pt x="3582751" y="0"/>
                  <a:pt x="3615122" y="32372"/>
                  <a:pt x="3615122" y="72304"/>
                </a:cubicBezTo>
                <a:lnTo>
                  <a:pt x="3615122" y="939930"/>
                </a:lnTo>
                <a:cubicBezTo>
                  <a:pt x="3615122" y="979863"/>
                  <a:pt x="3582751" y="1012234"/>
                  <a:pt x="3542818" y="1012234"/>
                </a:cubicBezTo>
                <a:lnTo>
                  <a:pt x="72304" y="1012234"/>
                </a:lnTo>
                <a:cubicBezTo>
                  <a:pt x="32372" y="1012234"/>
                  <a:pt x="0" y="979863"/>
                  <a:pt x="0" y="939930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4414403" y="3904332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523704" y="3958559"/>
            <a:ext cx="135567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775915" y="3940483"/>
            <a:ext cx="106646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do MATCH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14403" y="4265844"/>
            <a:ext cx="347051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o sistema MATCH foi utilizado (se aplicável)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33480" y="3795878"/>
            <a:ext cx="3615122" cy="1012234"/>
          </a:xfrm>
          <a:custGeom>
            <a:avLst/>
            <a:gdLst/>
            <a:ahLst/>
            <a:cxnLst/>
            <a:rect l="l" t="t" r="r" b="b"/>
            <a:pathLst>
              <a:path w="3615122" h="1012234">
                <a:moveTo>
                  <a:pt x="72304" y="0"/>
                </a:moveTo>
                <a:lnTo>
                  <a:pt x="3542818" y="0"/>
                </a:lnTo>
                <a:cubicBezTo>
                  <a:pt x="3582751" y="0"/>
                  <a:pt x="3615122" y="32372"/>
                  <a:pt x="3615122" y="72304"/>
                </a:cubicBezTo>
                <a:lnTo>
                  <a:pt x="3615122" y="939930"/>
                </a:lnTo>
                <a:cubicBezTo>
                  <a:pt x="3615122" y="979863"/>
                  <a:pt x="3582751" y="1012234"/>
                  <a:pt x="3542818" y="1012234"/>
                </a:cubicBezTo>
                <a:lnTo>
                  <a:pt x="72304" y="1012234"/>
                </a:lnTo>
                <a:cubicBezTo>
                  <a:pt x="32372" y="1012234"/>
                  <a:pt x="0" y="979863"/>
                  <a:pt x="0" y="939930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8141933" y="3904332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0"/>
                </a:moveTo>
                <a:lnTo>
                  <a:pt x="144605" y="0"/>
                </a:lnTo>
                <a:cubicBezTo>
                  <a:pt x="224468" y="0"/>
                  <a:pt x="289210" y="64742"/>
                  <a:pt x="289210" y="144605"/>
                </a:cubicBezTo>
                <a:lnTo>
                  <a:pt x="289210" y="144605"/>
                </a:lnTo>
                <a:cubicBezTo>
                  <a:pt x="289210" y="224468"/>
                  <a:pt x="224468" y="289210"/>
                  <a:pt x="144605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8251517" y="3958559"/>
            <a:ext cx="135567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03446" y="3940483"/>
            <a:ext cx="149123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de Encerramento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41933" y="4265844"/>
            <a:ext cx="347051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 data foi encerrada a relação com o EC (se aplicável)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66031" y="5137993"/>
            <a:ext cx="5657666" cy="1717183"/>
          </a:xfrm>
          <a:custGeom>
            <a:avLst/>
            <a:gdLst/>
            <a:ahLst/>
            <a:cxnLst/>
            <a:rect l="l" t="t" r="r" b="b"/>
            <a:pathLst>
              <a:path w="5657666" h="1717183">
                <a:moveTo>
                  <a:pt x="72311" y="0"/>
                </a:moveTo>
                <a:lnTo>
                  <a:pt x="5585356" y="0"/>
                </a:lnTo>
                <a:cubicBezTo>
                  <a:pt x="5625292" y="0"/>
                  <a:pt x="5657666" y="32375"/>
                  <a:pt x="5657666" y="72311"/>
                </a:cubicBezTo>
                <a:lnTo>
                  <a:pt x="5657666" y="1644873"/>
                </a:lnTo>
                <a:cubicBezTo>
                  <a:pt x="5657666" y="1684809"/>
                  <a:pt x="5625292" y="1717183"/>
                  <a:pt x="5585356" y="1717183"/>
                </a:cubicBezTo>
                <a:lnTo>
                  <a:pt x="72311" y="1717183"/>
                </a:lnTo>
                <a:cubicBezTo>
                  <a:pt x="32401" y="1717183"/>
                  <a:pt x="0" y="1684782"/>
                  <a:pt x="0" y="1644873"/>
                </a:cubicBezTo>
                <a:lnTo>
                  <a:pt x="0" y="72311"/>
                </a:lnTo>
                <a:cubicBezTo>
                  <a:pt x="0" y="32375"/>
                  <a:pt x="32375" y="0"/>
                  <a:pt x="7231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558085" y="5332305"/>
            <a:ext cx="122010" cy="162681"/>
          </a:xfrm>
          <a:custGeom>
            <a:avLst/>
            <a:gdLst/>
            <a:ahLst/>
            <a:cxnLst/>
            <a:rect l="l" t="t" r="r" b="b"/>
            <a:pathLst>
              <a:path w="122010" h="162681">
                <a:moveTo>
                  <a:pt x="20335" y="0"/>
                </a:moveTo>
                <a:cubicBezTo>
                  <a:pt x="9119" y="0"/>
                  <a:pt x="0" y="9119"/>
                  <a:pt x="0" y="20335"/>
                </a:cubicBezTo>
                <a:lnTo>
                  <a:pt x="0" y="142345"/>
                </a:lnTo>
                <a:cubicBezTo>
                  <a:pt x="0" y="153561"/>
                  <a:pt x="9119" y="162681"/>
                  <a:pt x="20335" y="162681"/>
                </a:cubicBezTo>
                <a:lnTo>
                  <a:pt x="101675" y="162681"/>
                </a:lnTo>
                <a:cubicBezTo>
                  <a:pt x="112891" y="162681"/>
                  <a:pt x="122010" y="153561"/>
                  <a:pt x="122010" y="142345"/>
                </a:cubicBezTo>
                <a:lnTo>
                  <a:pt x="122010" y="54174"/>
                </a:lnTo>
                <a:cubicBezTo>
                  <a:pt x="122010" y="48772"/>
                  <a:pt x="119882" y="43593"/>
                  <a:pt x="116069" y="39780"/>
                </a:cubicBezTo>
                <a:lnTo>
                  <a:pt x="82198" y="5942"/>
                </a:lnTo>
                <a:cubicBezTo>
                  <a:pt x="78385" y="2129"/>
                  <a:pt x="73238" y="0"/>
                  <a:pt x="67836" y="0"/>
                </a:cubicBezTo>
                <a:lnTo>
                  <a:pt x="20335" y="0"/>
                </a:lnTo>
                <a:close/>
                <a:moveTo>
                  <a:pt x="103423" y="55921"/>
                </a:moveTo>
                <a:lnTo>
                  <a:pt x="73715" y="55921"/>
                </a:lnTo>
                <a:cubicBezTo>
                  <a:pt x="69489" y="55921"/>
                  <a:pt x="66089" y="52522"/>
                  <a:pt x="66089" y="48296"/>
                </a:cubicBezTo>
                <a:lnTo>
                  <a:pt x="66089" y="18588"/>
                </a:lnTo>
                <a:lnTo>
                  <a:pt x="103423" y="55921"/>
                </a:lnTo>
                <a:close/>
                <a:moveTo>
                  <a:pt x="20335" y="122010"/>
                </a:moveTo>
                <a:lnTo>
                  <a:pt x="20335" y="101675"/>
                </a:lnTo>
                <a:cubicBezTo>
                  <a:pt x="20335" y="96051"/>
                  <a:pt x="24879" y="91508"/>
                  <a:pt x="30503" y="91508"/>
                </a:cubicBezTo>
                <a:lnTo>
                  <a:pt x="91508" y="91508"/>
                </a:lnTo>
                <a:cubicBezTo>
                  <a:pt x="97132" y="91508"/>
                  <a:pt x="101675" y="96051"/>
                  <a:pt x="101675" y="101675"/>
                </a:cubicBezTo>
                <a:lnTo>
                  <a:pt x="101675" y="122010"/>
                </a:lnTo>
                <a:cubicBezTo>
                  <a:pt x="101675" y="127634"/>
                  <a:pt x="97132" y="132178"/>
                  <a:pt x="91508" y="132178"/>
                </a:cubicBezTo>
                <a:lnTo>
                  <a:pt x="30503" y="132178"/>
                </a:lnTo>
                <a:cubicBezTo>
                  <a:pt x="24879" y="132178"/>
                  <a:pt x="20335" y="127634"/>
                  <a:pt x="20335" y="122010"/>
                </a:cubicBezTo>
                <a:close/>
                <a:moveTo>
                  <a:pt x="27961" y="20335"/>
                </a:moveTo>
                <a:lnTo>
                  <a:pt x="43212" y="20335"/>
                </a:lnTo>
                <a:cubicBezTo>
                  <a:pt x="47438" y="20335"/>
                  <a:pt x="50838" y="23735"/>
                  <a:pt x="50838" y="27961"/>
                </a:cubicBezTo>
                <a:cubicBezTo>
                  <a:pt x="50838" y="32187"/>
                  <a:pt x="47438" y="35586"/>
                  <a:pt x="43212" y="35586"/>
                </a:cubicBezTo>
                <a:lnTo>
                  <a:pt x="27961" y="35586"/>
                </a:lnTo>
                <a:cubicBezTo>
                  <a:pt x="23735" y="35586"/>
                  <a:pt x="20335" y="32187"/>
                  <a:pt x="20335" y="27961"/>
                </a:cubicBezTo>
                <a:cubicBezTo>
                  <a:pt x="20335" y="23735"/>
                  <a:pt x="23735" y="20335"/>
                  <a:pt x="27961" y="20335"/>
                </a:cubicBezTo>
                <a:close/>
                <a:moveTo>
                  <a:pt x="27961" y="50838"/>
                </a:moveTo>
                <a:lnTo>
                  <a:pt x="43212" y="50838"/>
                </a:lnTo>
                <a:cubicBezTo>
                  <a:pt x="47438" y="50838"/>
                  <a:pt x="50838" y="54237"/>
                  <a:pt x="50838" y="58463"/>
                </a:cubicBezTo>
                <a:cubicBezTo>
                  <a:pt x="50838" y="62689"/>
                  <a:pt x="47438" y="66089"/>
                  <a:pt x="43212" y="66089"/>
                </a:cubicBezTo>
                <a:lnTo>
                  <a:pt x="27961" y="66089"/>
                </a:lnTo>
                <a:cubicBezTo>
                  <a:pt x="23735" y="66089"/>
                  <a:pt x="20335" y="62689"/>
                  <a:pt x="20335" y="58463"/>
                </a:cubicBezTo>
                <a:cubicBezTo>
                  <a:pt x="20335" y="54237"/>
                  <a:pt x="23735" y="50838"/>
                  <a:pt x="27961" y="508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723024" y="5287116"/>
            <a:ext cx="523289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Documentação Adicional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42268" y="5648629"/>
            <a:ext cx="126529" cy="144605"/>
          </a:xfrm>
          <a:custGeom>
            <a:avLst/>
            <a:gdLst/>
            <a:ahLst/>
            <a:cxnLst/>
            <a:rect l="l" t="t" r="r" b="b"/>
            <a:pathLst>
              <a:path w="126529" h="144605">
                <a:moveTo>
                  <a:pt x="122801" y="19798"/>
                </a:moveTo>
                <a:cubicBezTo>
                  <a:pt x="126840" y="22736"/>
                  <a:pt x="127744" y="28384"/>
                  <a:pt x="124806" y="32423"/>
                </a:cubicBezTo>
                <a:lnTo>
                  <a:pt x="52504" y="131839"/>
                </a:lnTo>
                <a:cubicBezTo>
                  <a:pt x="50951" y="133985"/>
                  <a:pt x="48550" y="135313"/>
                  <a:pt x="45895" y="135539"/>
                </a:cubicBezTo>
                <a:cubicBezTo>
                  <a:pt x="43240" y="135765"/>
                  <a:pt x="40670" y="134776"/>
                  <a:pt x="38806" y="132912"/>
                </a:cubicBezTo>
                <a:lnTo>
                  <a:pt x="2655" y="96761"/>
                </a:lnTo>
                <a:cubicBezTo>
                  <a:pt x="-876" y="93231"/>
                  <a:pt x="-876" y="87497"/>
                  <a:pt x="2655" y="83967"/>
                </a:cubicBezTo>
                <a:cubicBezTo>
                  <a:pt x="6185" y="80436"/>
                  <a:pt x="11919" y="80436"/>
                  <a:pt x="15449" y="83967"/>
                </a:cubicBezTo>
                <a:lnTo>
                  <a:pt x="44116" y="112634"/>
                </a:lnTo>
                <a:lnTo>
                  <a:pt x="110205" y="21775"/>
                </a:lnTo>
                <a:cubicBezTo>
                  <a:pt x="113142" y="17737"/>
                  <a:pt x="118791" y="16833"/>
                  <a:pt x="122829" y="1977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768213" y="5612477"/>
            <a:ext cx="375068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Cópia de relatórios que demonstrem resolução da violação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42268" y="5901687"/>
            <a:ext cx="126529" cy="144605"/>
          </a:xfrm>
          <a:custGeom>
            <a:avLst/>
            <a:gdLst/>
            <a:ahLst/>
            <a:cxnLst/>
            <a:rect l="l" t="t" r="r" b="b"/>
            <a:pathLst>
              <a:path w="126529" h="144605">
                <a:moveTo>
                  <a:pt x="122801" y="19798"/>
                </a:moveTo>
                <a:cubicBezTo>
                  <a:pt x="126840" y="22736"/>
                  <a:pt x="127744" y="28384"/>
                  <a:pt x="124806" y="32423"/>
                </a:cubicBezTo>
                <a:lnTo>
                  <a:pt x="52504" y="131839"/>
                </a:lnTo>
                <a:cubicBezTo>
                  <a:pt x="50951" y="133985"/>
                  <a:pt x="48550" y="135313"/>
                  <a:pt x="45895" y="135539"/>
                </a:cubicBezTo>
                <a:cubicBezTo>
                  <a:pt x="43240" y="135765"/>
                  <a:pt x="40670" y="134776"/>
                  <a:pt x="38806" y="132912"/>
                </a:cubicBezTo>
                <a:lnTo>
                  <a:pt x="2655" y="96761"/>
                </a:lnTo>
                <a:cubicBezTo>
                  <a:pt x="-876" y="93231"/>
                  <a:pt x="-876" y="87497"/>
                  <a:pt x="2655" y="83967"/>
                </a:cubicBezTo>
                <a:cubicBezTo>
                  <a:pt x="6185" y="80436"/>
                  <a:pt x="11919" y="80436"/>
                  <a:pt x="15449" y="83967"/>
                </a:cubicBezTo>
                <a:lnTo>
                  <a:pt x="44116" y="112634"/>
                </a:lnTo>
                <a:lnTo>
                  <a:pt x="110205" y="21775"/>
                </a:lnTo>
                <a:cubicBezTo>
                  <a:pt x="113142" y="17737"/>
                  <a:pt x="118791" y="16833"/>
                  <a:pt x="122829" y="1977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768213" y="5865536"/>
            <a:ext cx="366934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participa do MMSP e não reportou, relatório do motivo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42268" y="6154746"/>
            <a:ext cx="126529" cy="144605"/>
          </a:xfrm>
          <a:custGeom>
            <a:avLst/>
            <a:gdLst/>
            <a:ahLst/>
            <a:cxnLst/>
            <a:rect l="l" t="t" r="r" b="b"/>
            <a:pathLst>
              <a:path w="126529" h="144605">
                <a:moveTo>
                  <a:pt x="122801" y="19798"/>
                </a:moveTo>
                <a:cubicBezTo>
                  <a:pt x="126840" y="22736"/>
                  <a:pt x="127744" y="28384"/>
                  <a:pt x="124806" y="32423"/>
                </a:cubicBezTo>
                <a:lnTo>
                  <a:pt x="52504" y="131839"/>
                </a:lnTo>
                <a:cubicBezTo>
                  <a:pt x="50951" y="133985"/>
                  <a:pt x="48550" y="135313"/>
                  <a:pt x="45895" y="135539"/>
                </a:cubicBezTo>
                <a:cubicBezTo>
                  <a:pt x="43240" y="135765"/>
                  <a:pt x="40670" y="134776"/>
                  <a:pt x="38806" y="132912"/>
                </a:cubicBezTo>
                <a:lnTo>
                  <a:pt x="2655" y="96761"/>
                </a:lnTo>
                <a:cubicBezTo>
                  <a:pt x="-876" y="93231"/>
                  <a:pt x="-876" y="87497"/>
                  <a:pt x="2655" y="83967"/>
                </a:cubicBezTo>
                <a:cubicBezTo>
                  <a:pt x="6185" y="80436"/>
                  <a:pt x="11919" y="80436"/>
                  <a:pt x="15449" y="83967"/>
                </a:cubicBezTo>
                <a:lnTo>
                  <a:pt x="44116" y="112634"/>
                </a:lnTo>
                <a:lnTo>
                  <a:pt x="110205" y="21775"/>
                </a:lnTo>
                <a:cubicBezTo>
                  <a:pt x="113142" y="17737"/>
                  <a:pt x="118791" y="16833"/>
                  <a:pt x="122829" y="1977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768213" y="6118595"/>
            <a:ext cx="281979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Qualquer informação considerada relevante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74234" y="5137993"/>
            <a:ext cx="5657666" cy="1717183"/>
          </a:xfrm>
          <a:custGeom>
            <a:avLst/>
            <a:gdLst/>
            <a:ahLst/>
            <a:cxnLst/>
            <a:rect l="l" t="t" r="r" b="b"/>
            <a:pathLst>
              <a:path w="5657666" h="1717183">
                <a:moveTo>
                  <a:pt x="72311" y="0"/>
                </a:moveTo>
                <a:lnTo>
                  <a:pt x="5585356" y="0"/>
                </a:lnTo>
                <a:cubicBezTo>
                  <a:pt x="5625292" y="0"/>
                  <a:pt x="5657666" y="32375"/>
                  <a:pt x="5657666" y="72311"/>
                </a:cubicBezTo>
                <a:lnTo>
                  <a:pt x="5657666" y="1644873"/>
                </a:lnTo>
                <a:cubicBezTo>
                  <a:pt x="5657666" y="1684809"/>
                  <a:pt x="5625292" y="1717183"/>
                  <a:pt x="5585356" y="1717183"/>
                </a:cubicBezTo>
                <a:lnTo>
                  <a:pt x="72311" y="1717183"/>
                </a:lnTo>
                <a:cubicBezTo>
                  <a:pt x="32401" y="1717183"/>
                  <a:pt x="0" y="1684782"/>
                  <a:pt x="0" y="1644873"/>
                </a:cubicBezTo>
                <a:lnTo>
                  <a:pt x="0" y="72311"/>
                </a:lnTo>
                <a:cubicBezTo>
                  <a:pt x="0" y="32375"/>
                  <a:pt x="32375" y="0"/>
                  <a:pt x="72311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6335784" y="5332305"/>
            <a:ext cx="183016" cy="162681"/>
          </a:xfrm>
          <a:custGeom>
            <a:avLst/>
            <a:gdLst/>
            <a:ahLst/>
            <a:cxnLst/>
            <a:rect l="l" t="t" r="r" b="b"/>
            <a:pathLst>
              <a:path w="183016" h="162681">
                <a:moveTo>
                  <a:pt x="53888" y="48741"/>
                </a:moveTo>
                <a:lnTo>
                  <a:pt x="47946" y="42799"/>
                </a:lnTo>
                <a:cubicBezTo>
                  <a:pt x="43975" y="38827"/>
                  <a:pt x="43975" y="32377"/>
                  <a:pt x="47946" y="28406"/>
                </a:cubicBezTo>
                <a:lnTo>
                  <a:pt x="84391" y="-8070"/>
                </a:lnTo>
                <a:cubicBezTo>
                  <a:pt x="88362" y="-12042"/>
                  <a:pt x="94812" y="-12042"/>
                  <a:pt x="98784" y="-8070"/>
                </a:cubicBezTo>
                <a:lnTo>
                  <a:pt x="104726" y="-2097"/>
                </a:lnTo>
                <a:cubicBezTo>
                  <a:pt x="108697" y="1875"/>
                  <a:pt x="108697" y="8325"/>
                  <a:pt x="104726" y="12296"/>
                </a:cubicBezTo>
                <a:lnTo>
                  <a:pt x="68281" y="48741"/>
                </a:lnTo>
                <a:cubicBezTo>
                  <a:pt x="64310" y="52712"/>
                  <a:pt x="57860" y="52712"/>
                  <a:pt x="53888" y="48741"/>
                </a:cubicBezTo>
                <a:close/>
                <a:moveTo>
                  <a:pt x="87695" y="67265"/>
                </a:moveTo>
                <a:lnTo>
                  <a:pt x="77718" y="57288"/>
                </a:lnTo>
                <a:lnTo>
                  <a:pt x="113304" y="21701"/>
                </a:lnTo>
                <a:lnTo>
                  <a:pt x="151242" y="59639"/>
                </a:lnTo>
                <a:lnTo>
                  <a:pt x="115656" y="95225"/>
                </a:lnTo>
                <a:lnTo>
                  <a:pt x="105679" y="85248"/>
                </a:lnTo>
                <a:lnTo>
                  <a:pt x="31964" y="158963"/>
                </a:lnTo>
                <a:cubicBezTo>
                  <a:pt x="27008" y="163920"/>
                  <a:pt x="18969" y="163920"/>
                  <a:pt x="13980" y="158963"/>
                </a:cubicBezTo>
                <a:cubicBezTo>
                  <a:pt x="8992" y="154006"/>
                  <a:pt x="9024" y="145968"/>
                  <a:pt x="13980" y="140979"/>
                </a:cubicBezTo>
                <a:lnTo>
                  <a:pt x="87695" y="67265"/>
                </a:lnTo>
                <a:close/>
                <a:moveTo>
                  <a:pt x="124203" y="119024"/>
                </a:moveTo>
                <a:cubicBezTo>
                  <a:pt x="120231" y="115052"/>
                  <a:pt x="120231" y="108602"/>
                  <a:pt x="124203" y="104630"/>
                </a:cubicBezTo>
                <a:lnTo>
                  <a:pt x="160647" y="68186"/>
                </a:lnTo>
                <a:cubicBezTo>
                  <a:pt x="164619" y="64214"/>
                  <a:pt x="171069" y="64214"/>
                  <a:pt x="175040" y="68186"/>
                </a:cubicBezTo>
                <a:lnTo>
                  <a:pt x="180982" y="74128"/>
                </a:lnTo>
                <a:cubicBezTo>
                  <a:pt x="184954" y="78099"/>
                  <a:pt x="184954" y="84549"/>
                  <a:pt x="180982" y="88521"/>
                </a:cubicBezTo>
                <a:lnTo>
                  <a:pt x="144538" y="124997"/>
                </a:lnTo>
                <a:cubicBezTo>
                  <a:pt x="140566" y="128969"/>
                  <a:pt x="134116" y="128969"/>
                  <a:pt x="130144" y="124997"/>
                </a:cubicBezTo>
                <a:lnTo>
                  <a:pt x="124203" y="119055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6531227" y="5287116"/>
            <a:ext cx="523289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Penalidades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3357" y="5906206"/>
            <a:ext cx="5359419" cy="9038"/>
          </a:xfrm>
          <a:custGeom>
            <a:avLst/>
            <a:gdLst/>
            <a:ahLst/>
            <a:cxnLst/>
            <a:rect l="l" t="t" r="r" b="b"/>
            <a:pathLst>
              <a:path w="5359419" h="9038">
                <a:moveTo>
                  <a:pt x="0" y="0"/>
                </a:moveTo>
                <a:lnTo>
                  <a:pt x="5359419" y="0"/>
                </a:lnTo>
                <a:lnTo>
                  <a:pt x="5359419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6323357" y="5648629"/>
            <a:ext cx="66879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786480" y="5648629"/>
            <a:ext cx="96704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200.000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323357" y="6019179"/>
            <a:ext cx="164488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 valor diário retroativo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741150" y="6019179"/>
            <a:ext cx="101223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2.500/dia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23357" y="6344540"/>
            <a:ext cx="5422683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Desde que o adquirente apresente evidências de que a prática começou menos de 80 dias antes da notificação.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38" y="368338"/>
            <a:ext cx="11528991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kern="0" spc="5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338" y="663009"/>
            <a:ext cx="11621076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BRAM - Atenuação de Penalidades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6755" y="1178683"/>
            <a:ext cx="11436906" cy="1040556"/>
          </a:xfrm>
          <a:custGeom>
            <a:avLst/>
            <a:gdLst/>
            <a:ahLst/>
            <a:cxnLst/>
            <a:rect l="l" t="t" r="r" b="b"/>
            <a:pathLst>
              <a:path w="11436906" h="1040556">
                <a:moveTo>
                  <a:pt x="36834" y="0"/>
                </a:moveTo>
                <a:lnTo>
                  <a:pt x="11363235" y="0"/>
                </a:lnTo>
                <a:cubicBezTo>
                  <a:pt x="11403923" y="0"/>
                  <a:pt x="11436906" y="32984"/>
                  <a:pt x="11436906" y="73671"/>
                </a:cubicBezTo>
                <a:lnTo>
                  <a:pt x="11436906" y="966885"/>
                </a:lnTo>
                <a:cubicBezTo>
                  <a:pt x="11436906" y="1007572"/>
                  <a:pt x="11403923" y="1040556"/>
                  <a:pt x="11363235" y="1040556"/>
                </a:cubicBezTo>
                <a:lnTo>
                  <a:pt x="36834" y="1040556"/>
                </a:lnTo>
                <a:cubicBezTo>
                  <a:pt x="16491" y="1040556"/>
                  <a:pt x="0" y="1024065"/>
                  <a:pt x="0" y="1003722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86755" y="1178683"/>
            <a:ext cx="36834" cy="1040556"/>
          </a:xfrm>
          <a:custGeom>
            <a:avLst/>
            <a:gdLst/>
            <a:ahLst/>
            <a:cxnLst/>
            <a:rect l="l" t="t" r="r" b="b"/>
            <a:pathLst>
              <a:path w="36834" h="1040556">
                <a:moveTo>
                  <a:pt x="36834" y="0"/>
                </a:moveTo>
                <a:lnTo>
                  <a:pt x="36834" y="0"/>
                </a:lnTo>
                <a:lnTo>
                  <a:pt x="36834" y="1040556"/>
                </a:lnTo>
                <a:lnTo>
                  <a:pt x="36834" y="1040556"/>
                </a:lnTo>
                <a:cubicBezTo>
                  <a:pt x="16491" y="1040556"/>
                  <a:pt x="0" y="1024065"/>
                  <a:pt x="0" y="1003722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03154" y="1399686"/>
            <a:ext cx="248628" cy="221003"/>
          </a:xfrm>
          <a:custGeom>
            <a:avLst/>
            <a:gdLst/>
            <a:ahLst/>
            <a:cxnLst/>
            <a:rect l="l" t="t" r="r" b="b"/>
            <a:pathLst>
              <a:path w="248628" h="221003">
                <a:moveTo>
                  <a:pt x="120688" y="13381"/>
                </a:moveTo>
                <a:cubicBezTo>
                  <a:pt x="114602" y="4964"/>
                  <a:pt x="104847" y="0"/>
                  <a:pt x="94487" y="0"/>
                </a:cubicBezTo>
                <a:cubicBezTo>
                  <a:pt x="76617" y="0"/>
                  <a:pt x="62157" y="14460"/>
                  <a:pt x="62157" y="32330"/>
                </a:cubicBezTo>
                <a:lnTo>
                  <a:pt x="62157" y="33366"/>
                </a:lnTo>
                <a:cubicBezTo>
                  <a:pt x="62157" y="61164"/>
                  <a:pt x="97552" y="90948"/>
                  <a:pt x="114904" y="103854"/>
                </a:cubicBezTo>
                <a:cubicBezTo>
                  <a:pt x="120516" y="108041"/>
                  <a:pt x="128070" y="108041"/>
                  <a:pt x="133681" y="103854"/>
                </a:cubicBezTo>
                <a:cubicBezTo>
                  <a:pt x="151033" y="90905"/>
                  <a:pt x="186428" y="61164"/>
                  <a:pt x="186428" y="33366"/>
                </a:cubicBezTo>
                <a:lnTo>
                  <a:pt x="186428" y="32330"/>
                </a:lnTo>
                <a:cubicBezTo>
                  <a:pt x="186428" y="14460"/>
                  <a:pt x="171968" y="0"/>
                  <a:pt x="154098" y="0"/>
                </a:cubicBezTo>
                <a:cubicBezTo>
                  <a:pt x="143738" y="0"/>
                  <a:pt x="133983" y="4964"/>
                  <a:pt x="127897" y="13381"/>
                </a:cubicBezTo>
                <a:lnTo>
                  <a:pt x="124314" y="18431"/>
                </a:lnTo>
                <a:lnTo>
                  <a:pt x="120688" y="13381"/>
                </a:lnTo>
                <a:close/>
                <a:moveTo>
                  <a:pt x="47179" y="147407"/>
                </a:moveTo>
                <a:lnTo>
                  <a:pt x="28791" y="165752"/>
                </a:lnTo>
                <a:lnTo>
                  <a:pt x="13813" y="165752"/>
                </a:lnTo>
                <a:cubicBezTo>
                  <a:pt x="6173" y="165752"/>
                  <a:pt x="0" y="171925"/>
                  <a:pt x="0" y="179565"/>
                </a:cubicBezTo>
                <a:lnTo>
                  <a:pt x="0" y="207190"/>
                </a:lnTo>
                <a:cubicBezTo>
                  <a:pt x="0" y="214830"/>
                  <a:pt x="6173" y="221003"/>
                  <a:pt x="13813" y="221003"/>
                </a:cubicBezTo>
                <a:lnTo>
                  <a:pt x="152155" y="221003"/>
                </a:lnTo>
                <a:cubicBezTo>
                  <a:pt x="164673" y="221003"/>
                  <a:pt x="176889" y="216989"/>
                  <a:pt x="186989" y="209564"/>
                </a:cubicBezTo>
                <a:lnTo>
                  <a:pt x="241636" y="169292"/>
                </a:lnTo>
                <a:cubicBezTo>
                  <a:pt x="249319" y="163637"/>
                  <a:pt x="250959" y="152846"/>
                  <a:pt x="245305" y="145163"/>
                </a:cubicBezTo>
                <a:cubicBezTo>
                  <a:pt x="239650" y="137479"/>
                  <a:pt x="228859" y="135839"/>
                  <a:pt x="221176" y="141494"/>
                </a:cubicBezTo>
                <a:lnTo>
                  <a:pt x="169464" y="179565"/>
                </a:lnTo>
                <a:lnTo>
                  <a:pt x="120861" y="179565"/>
                </a:lnTo>
                <a:cubicBezTo>
                  <a:pt x="115120" y="179565"/>
                  <a:pt x="110502" y="174946"/>
                  <a:pt x="110502" y="169205"/>
                </a:cubicBezTo>
                <a:cubicBezTo>
                  <a:pt x="110502" y="163465"/>
                  <a:pt x="115120" y="158846"/>
                  <a:pt x="120861" y="158846"/>
                </a:cubicBezTo>
                <a:lnTo>
                  <a:pt x="151940" y="158846"/>
                </a:lnTo>
                <a:cubicBezTo>
                  <a:pt x="159580" y="158846"/>
                  <a:pt x="165752" y="152673"/>
                  <a:pt x="165752" y="145033"/>
                </a:cubicBezTo>
                <a:cubicBezTo>
                  <a:pt x="165752" y="137393"/>
                  <a:pt x="159580" y="131221"/>
                  <a:pt x="151940" y="131221"/>
                </a:cubicBezTo>
                <a:lnTo>
                  <a:pt x="86243" y="131221"/>
                </a:lnTo>
                <a:cubicBezTo>
                  <a:pt x="71610" y="131221"/>
                  <a:pt x="57538" y="137048"/>
                  <a:pt x="47179" y="14740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5595" y="1362852"/>
            <a:ext cx="10884399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Fatores de Atenuação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9341" y="1768024"/>
            <a:ext cx="11133027" cy="26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Mastercard pode fornecer uma </a:t>
            </a:r>
            <a:r>
              <a:rPr lang="en-US" sz="13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atenuação do valor calculado</a:t>
            </a:r>
            <a:r>
              <a:rPr lang="en-US" sz="130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avaliação com base em um ou mais fatores: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2943" y="2373480"/>
            <a:ext cx="5644785" cy="1648314"/>
          </a:xfrm>
          <a:custGeom>
            <a:avLst/>
            <a:gdLst/>
            <a:ahLst/>
            <a:cxnLst/>
            <a:rect l="l" t="t" r="r" b="b"/>
            <a:pathLst>
              <a:path w="5644785" h="1648314">
                <a:moveTo>
                  <a:pt x="73663" y="0"/>
                </a:moveTo>
                <a:lnTo>
                  <a:pt x="5571122" y="0"/>
                </a:lnTo>
                <a:cubicBezTo>
                  <a:pt x="5611805" y="0"/>
                  <a:pt x="5644785" y="32980"/>
                  <a:pt x="5644785" y="73663"/>
                </a:cubicBezTo>
                <a:lnTo>
                  <a:pt x="5644785" y="1574651"/>
                </a:lnTo>
                <a:cubicBezTo>
                  <a:pt x="5644785" y="1615334"/>
                  <a:pt x="5611805" y="1648314"/>
                  <a:pt x="5571122" y="1648314"/>
                </a:cubicBezTo>
                <a:lnTo>
                  <a:pt x="73663" y="1648314"/>
                </a:lnTo>
                <a:cubicBezTo>
                  <a:pt x="32980" y="1648314"/>
                  <a:pt x="0" y="1615334"/>
                  <a:pt x="0" y="1574651"/>
                </a:cubicBezTo>
                <a:lnTo>
                  <a:pt x="0" y="73663"/>
                </a:lnTo>
                <a:cubicBezTo>
                  <a:pt x="0" y="33007"/>
                  <a:pt x="33007" y="0"/>
                  <a:pt x="7366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61716" y="2562254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02145" y="2691172"/>
            <a:ext cx="161148" cy="184169"/>
          </a:xfrm>
          <a:custGeom>
            <a:avLst/>
            <a:gdLst/>
            <a:ahLst/>
            <a:cxnLst/>
            <a:rect l="l" t="t" r="r" b="b"/>
            <a:pathLst>
              <a:path w="161148" h="184169">
                <a:moveTo>
                  <a:pt x="121868" y="-3561"/>
                </a:moveTo>
                <a:cubicBezTo>
                  <a:pt x="126149" y="-468"/>
                  <a:pt x="127731" y="5144"/>
                  <a:pt x="125789" y="10036"/>
                </a:cubicBezTo>
                <a:lnTo>
                  <a:pt x="97588" y="80574"/>
                </a:lnTo>
                <a:lnTo>
                  <a:pt x="149637" y="80574"/>
                </a:lnTo>
                <a:cubicBezTo>
                  <a:pt x="154493" y="80574"/>
                  <a:pt x="158810" y="83596"/>
                  <a:pt x="160465" y="88164"/>
                </a:cubicBezTo>
                <a:cubicBezTo>
                  <a:pt x="162119" y="92732"/>
                  <a:pt x="160716" y="97840"/>
                  <a:pt x="157011" y="100933"/>
                </a:cubicBezTo>
                <a:lnTo>
                  <a:pt x="53416" y="187263"/>
                </a:lnTo>
                <a:cubicBezTo>
                  <a:pt x="49352" y="190644"/>
                  <a:pt x="43560" y="190824"/>
                  <a:pt x="39280" y="187730"/>
                </a:cubicBezTo>
                <a:cubicBezTo>
                  <a:pt x="34999" y="184637"/>
                  <a:pt x="33417" y="179025"/>
                  <a:pt x="35359" y="174133"/>
                </a:cubicBezTo>
                <a:lnTo>
                  <a:pt x="63560" y="103595"/>
                </a:lnTo>
                <a:lnTo>
                  <a:pt x="11511" y="103595"/>
                </a:lnTo>
                <a:cubicBezTo>
                  <a:pt x="6655" y="103595"/>
                  <a:pt x="2338" y="100574"/>
                  <a:pt x="683" y="96005"/>
                </a:cubicBezTo>
                <a:cubicBezTo>
                  <a:pt x="-971" y="91437"/>
                  <a:pt x="432" y="86329"/>
                  <a:pt x="4137" y="83236"/>
                </a:cubicBezTo>
                <a:lnTo>
                  <a:pt x="107732" y="-3093"/>
                </a:lnTo>
                <a:cubicBezTo>
                  <a:pt x="111796" y="-6475"/>
                  <a:pt x="117588" y="-6655"/>
                  <a:pt x="121868" y="-356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14224" y="2654338"/>
            <a:ext cx="1436520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Ações Imediatas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1716" y="3114761"/>
            <a:ext cx="5340906" cy="7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Ações imediatas tomadas pelo Credenciador para </a:t>
            </a:r>
            <a:r>
              <a:rPr lang="en-US" sz="116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cessar a atividade violadora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 que geralmente deve ter ocorrido dentro de </a:t>
            </a:r>
            <a:r>
              <a:rPr lang="en-US" sz="116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dias úteis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após o credenciador ser notificado pela Mastercard sobre possíveis violações.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6286" y="2373480"/>
            <a:ext cx="5644785" cy="1648314"/>
          </a:xfrm>
          <a:custGeom>
            <a:avLst/>
            <a:gdLst/>
            <a:ahLst/>
            <a:cxnLst/>
            <a:rect l="l" t="t" r="r" b="b"/>
            <a:pathLst>
              <a:path w="5644785" h="1648314">
                <a:moveTo>
                  <a:pt x="73663" y="0"/>
                </a:moveTo>
                <a:lnTo>
                  <a:pt x="5571122" y="0"/>
                </a:lnTo>
                <a:cubicBezTo>
                  <a:pt x="5611805" y="0"/>
                  <a:pt x="5644785" y="32980"/>
                  <a:pt x="5644785" y="73663"/>
                </a:cubicBezTo>
                <a:lnTo>
                  <a:pt x="5644785" y="1574651"/>
                </a:lnTo>
                <a:cubicBezTo>
                  <a:pt x="5644785" y="1615334"/>
                  <a:pt x="5611805" y="1648314"/>
                  <a:pt x="5571122" y="1648314"/>
                </a:cubicBezTo>
                <a:lnTo>
                  <a:pt x="73663" y="1648314"/>
                </a:lnTo>
                <a:cubicBezTo>
                  <a:pt x="32980" y="1648314"/>
                  <a:pt x="0" y="1615334"/>
                  <a:pt x="0" y="1574651"/>
                </a:cubicBezTo>
                <a:lnTo>
                  <a:pt x="0" y="73663"/>
                </a:lnTo>
                <a:cubicBezTo>
                  <a:pt x="0" y="33007"/>
                  <a:pt x="33007" y="0"/>
                  <a:pt x="7366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365060" y="2562254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482468" y="2691172"/>
            <a:ext cx="207190" cy="184169"/>
          </a:xfrm>
          <a:custGeom>
            <a:avLst/>
            <a:gdLst/>
            <a:ahLst/>
            <a:cxnLst/>
            <a:rect l="l" t="t" r="r" b="b"/>
            <a:pathLst>
              <a:path w="207190" h="184169">
                <a:moveTo>
                  <a:pt x="184313" y="86329"/>
                </a:moveTo>
                <a:lnTo>
                  <a:pt x="121005" y="86329"/>
                </a:lnTo>
                <a:cubicBezTo>
                  <a:pt x="114638" y="86329"/>
                  <a:pt x="109494" y="81186"/>
                  <a:pt x="109494" y="74819"/>
                </a:cubicBezTo>
                <a:lnTo>
                  <a:pt x="109494" y="11511"/>
                </a:lnTo>
                <a:cubicBezTo>
                  <a:pt x="109494" y="5144"/>
                  <a:pt x="114674" y="-72"/>
                  <a:pt x="120969" y="755"/>
                </a:cubicBezTo>
                <a:cubicBezTo>
                  <a:pt x="159457" y="5863"/>
                  <a:pt x="189960" y="36366"/>
                  <a:pt x="195068" y="74855"/>
                </a:cubicBezTo>
                <a:cubicBezTo>
                  <a:pt x="195896" y="81150"/>
                  <a:pt x="190680" y="86329"/>
                  <a:pt x="184313" y="86329"/>
                </a:cubicBezTo>
                <a:close/>
                <a:moveTo>
                  <a:pt x="80070" y="13381"/>
                </a:moveTo>
                <a:cubicBezTo>
                  <a:pt x="86581" y="12014"/>
                  <a:pt x="92228" y="17338"/>
                  <a:pt x="92228" y="23992"/>
                </a:cubicBezTo>
                <a:lnTo>
                  <a:pt x="92228" y="94962"/>
                </a:lnTo>
                <a:cubicBezTo>
                  <a:pt x="92228" y="96977"/>
                  <a:pt x="92948" y="98919"/>
                  <a:pt x="94207" y="100466"/>
                </a:cubicBezTo>
                <a:lnTo>
                  <a:pt x="141724" y="157803"/>
                </a:lnTo>
                <a:cubicBezTo>
                  <a:pt x="145932" y="162875"/>
                  <a:pt x="145033" y="170536"/>
                  <a:pt x="139242" y="173666"/>
                </a:cubicBezTo>
                <a:cubicBezTo>
                  <a:pt x="126976" y="180356"/>
                  <a:pt x="112912" y="184169"/>
                  <a:pt x="97984" y="184169"/>
                </a:cubicBezTo>
                <a:cubicBezTo>
                  <a:pt x="50323" y="184169"/>
                  <a:pt x="11654" y="145501"/>
                  <a:pt x="11654" y="97840"/>
                </a:cubicBezTo>
                <a:cubicBezTo>
                  <a:pt x="11654" y="56294"/>
                  <a:pt x="40970" y="21618"/>
                  <a:pt x="80070" y="13381"/>
                </a:cubicBezTo>
                <a:close/>
                <a:moveTo>
                  <a:pt x="171867" y="103595"/>
                </a:moveTo>
                <a:lnTo>
                  <a:pt x="194888" y="103595"/>
                </a:lnTo>
                <a:cubicBezTo>
                  <a:pt x="201543" y="103595"/>
                  <a:pt x="206867" y="109243"/>
                  <a:pt x="205500" y="115753"/>
                </a:cubicBezTo>
                <a:cubicBezTo>
                  <a:pt x="201831" y="133163"/>
                  <a:pt x="192910" y="148630"/>
                  <a:pt x="180464" y="160429"/>
                </a:cubicBezTo>
                <a:cubicBezTo>
                  <a:pt x="176040" y="164637"/>
                  <a:pt x="169098" y="163738"/>
                  <a:pt x="165213" y="159026"/>
                </a:cubicBezTo>
                <a:lnTo>
                  <a:pt x="134854" y="122444"/>
                </a:lnTo>
                <a:cubicBezTo>
                  <a:pt x="128631" y="114926"/>
                  <a:pt x="133990" y="103595"/>
                  <a:pt x="143702" y="103595"/>
                </a:cubicBezTo>
                <a:lnTo>
                  <a:pt x="171831" y="10359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917567" y="2654338"/>
            <a:ext cx="1169474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 Total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5060" y="3114761"/>
            <a:ext cx="5340906" cy="7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total de transações Mastercard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estabelecimento comercial processadas nos últimos </a:t>
            </a:r>
            <a:r>
              <a:rPr lang="en-US" sz="116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meses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2943" y="4178338"/>
            <a:ext cx="5644785" cy="1648314"/>
          </a:xfrm>
          <a:custGeom>
            <a:avLst/>
            <a:gdLst/>
            <a:ahLst/>
            <a:cxnLst/>
            <a:rect l="l" t="t" r="r" b="b"/>
            <a:pathLst>
              <a:path w="5644785" h="1648314">
                <a:moveTo>
                  <a:pt x="73663" y="0"/>
                </a:moveTo>
                <a:lnTo>
                  <a:pt x="5571122" y="0"/>
                </a:lnTo>
                <a:cubicBezTo>
                  <a:pt x="5611805" y="0"/>
                  <a:pt x="5644785" y="32980"/>
                  <a:pt x="5644785" y="73663"/>
                </a:cubicBezTo>
                <a:lnTo>
                  <a:pt x="5644785" y="1574651"/>
                </a:lnTo>
                <a:cubicBezTo>
                  <a:pt x="5644785" y="1615334"/>
                  <a:pt x="5611805" y="1648314"/>
                  <a:pt x="5571122" y="1648314"/>
                </a:cubicBezTo>
                <a:lnTo>
                  <a:pt x="73663" y="1648314"/>
                </a:lnTo>
                <a:cubicBezTo>
                  <a:pt x="32980" y="1648314"/>
                  <a:pt x="0" y="1615334"/>
                  <a:pt x="0" y="1574651"/>
                </a:cubicBezTo>
                <a:lnTo>
                  <a:pt x="0" y="73663"/>
                </a:lnTo>
                <a:cubicBezTo>
                  <a:pt x="0" y="33007"/>
                  <a:pt x="33007" y="0"/>
                  <a:pt x="7366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61716" y="4367112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02145" y="4496030"/>
            <a:ext cx="161148" cy="184169"/>
          </a:xfrm>
          <a:custGeom>
            <a:avLst/>
            <a:gdLst/>
            <a:ahLst/>
            <a:cxnLst/>
            <a:rect l="l" t="t" r="r" b="b"/>
            <a:pathLst>
              <a:path w="161148" h="184169">
                <a:moveTo>
                  <a:pt x="46042" y="0"/>
                </a:moveTo>
                <a:cubicBezTo>
                  <a:pt x="52409" y="0"/>
                  <a:pt x="57553" y="5144"/>
                  <a:pt x="57553" y="11511"/>
                </a:cubicBezTo>
                <a:lnTo>
                  <a:pt x="57553" y="23021"/>
                </a:lnTo>
                <a:lnTo>
                  <a:pt x="103595" y="23021"/>
                </a:lnTo>
                <a:lnTo>
                  <a:pt x="103595" y="11511"/>
                </a:lnTo>
                <a:cubicBezTo>
                  <a:pt x="103595" y="5144"/>
                  <a:pt x="108739" y="0"/>
                  <a:pt x="115106" y="0"/>
                </a:cubicBezTo>
                <a:cubicBezTo>
                  <a:pt x="121473" y="0"/>
                  <a:pt x="126616" y="5144"/>
                  <a:pt x="126616" y="11511"/>
                </a:cubicBezTo>
                <a:lnTo>
                  <a:pt x="126616" y="23021"/>
                </a:lnTo>
                <a:lnTo>
                  <a:pt x="138127" y="23021"/>
                </a:lnTo>
                <a:cubicBezTo>
                  <a:pt x="150824" y="23021"/>
                  <a:pt x="161148" y="33345"/>
                  <a:pt x="161148" y="46042"/>
                </a:cubicBezTo>
                <a:lnTo>
                  <a:pt x="161148" y="149637"/>
                </a:lnTo>
                <a:cubicBezTo>
                  <a:pt x="161148" y="162335"/>
                  <a:pt x="150824" y="172659"/>
                  <a:pt x="138127" y="172659"/>
                </a:cubicBezTo>
                <a:lnTo>
                  <a:pt x="23021" y="172659"/>
                </a:lnTo>
                <a:cubicBezTo>
                  <a:pt x="10324" y="172659"/>
                  <a:pt x="0" y="162335"/>
                  <a:pt x="0" y="149637"/>
                </a:cubicBezTo>
                <a:lnTo>
                  <a:pt x="0" y="46042"/>
                </a:lnTo>
                <a:cubicBezTo>
                  <a:pt x="0" y="33345"/>
                  <a:pt x="10324" y="23021"/>
                  <a:pt x="23021" y="23021"/>
                </a:cubicBezTo>
                <a:lnTo>
                  <a:pt x="34532" y="23021"/>
                </a:lnTo>
                <a:lnTo>
                  <a:pt x="34532" y="11511"/>
                </a:lnTo>
                <a:cubicBezTo>
                  <a:pt x="34532" y="5144"/>
                  <a:pt x="39676" y="0"/>
                  <a:pt x="46042" y="0"/>
                </a:cubicBezTo>
                <a:close/>
                <a:moveTo>
                  <a:pt x="23021" y="86329"/>
                </a:moveTo>
                <a:lnTo>
                  <a:pt x="23021" y="97840"/>
                </a:lnTo>
                <a:cubicBezTo>
                  <a:pt x="23021" y="101005"/>
                  <a:pt x="25611" y="103595"/>
                  <a:pt x="28776" y="103595"/>
                </a:cubicBezTo>
                <a:lnTo>
                  <a:pt x="40287" y="103595"/>
                </a:lnTo>
                <a:cubicBezTo>
                  <a:pt x="43452" y="103595"/>
                  <a:pt x="46042" y="101005"/>
                  <a:pt x="46042" y="97840"/>
                </a:cubicBezTo>
                <a:lnTo>
                  <a:pt x="46042" y="86329"/>
                </a:lnTo>
                <a:cubicBezTo>
                  <a:pt x="46042" y="83164"/>
                  <a:pt x="43452" y="80574"/>
                  <a:pt x="40287" y="80574"/>
                </a:cubicBezTo>
                <a:lnTo>
                  <a:pt x="28776" y="80574"/>
                </a:lnTo>
                <a:cubicBezTo>
                  <a:pt x="25611" y="80574"/>
                  <a:pt x="23021" y="83164"/>
                  <a:pt x="23021" y="86329"/>
                </a:cubicBezTo>
                <a:close/>
                <a:moveTo>
                  <a:pt x="69063" y="86329"/>
                </a:moveTo>
                <a:lnTo>
                  <a:pt x="69063" y="97840"/>
                </a:lnTo>
                <a:cubicBezTo>
                  <a:pt x="69063" y="101005"/>
                  <a:pt x="71653" y="103595"/>
                  <a:pt x="74819" y="103595"/>
                </a:cubicBezTo>
                <a:lnTo>
                  <a:pt x="86329" y="103595"/>
                </a:lnTo>
                <a:cubicBezTo>
                  <a:pt x="89495" y="103595"/>
                  <a:pt x="92085" y="101005"/>
                  <a:pt x="92085" y="97840"/>
                </a:cubicBezTo>
                <a:lnTo>
                  <a:pt x="92085" y="86329"/>
                </a:lnTo>
                <a:cubicBezTo>
                  <a:pt x="92085" y="83164"/>
                  <a:pt x="89495" y="80574"/>
                  <a:pt x="86329" y="80574"/>
                </a:cubicBezTo>
                <a:lnTo>
                  <a:pt x="74819" y="80574"/>
                </a:lnTo>
                <a:cubicBezTo>
                  <a:pt x="71653" y="80574"/>
                  <a:pt x="69063" y="83164"/>
                  <a:pt x="69063" y="86329"/>
                </a:cubicBezTo>
                <a:close/>
                <a:moveTo>
                  <a:pt x="120861" y="80574"/>
                </a:moveTo>
                <a:cubicBezTo>
                  <a:pt x="117696" y="80574"/>
                  <a:pt x="115106" y="83164"/>
                  <a:pt x="115106" y="86329"/>
                </a:cubicBezTo>
                <a:lnTo>
                  <a:pt x="115106" y="97840"/>
                </a:lnTo>
                <a:cubicBezTo>
                  <a:pt x="115106" y="101005"/>
                  <a:pt x="117696" y="103595"/>
                  <a:pt x="120861" y="103595"/>
                </a:cubicBezTo>
                <a:lnTo>
                  <a:pt x="132372" y="103595"/>
                </a:lnTo>
                <a:cubicBezTo>
                  <a:pt x="135537" y="103595"/>
                  <a:pt x="138127" y="101005"/>
                  <a:pt x="138127" y="97840"/>
                </a:cubicBezTo>
                <a:lnTo>
                  <a:pt x="138127" y="86329"/>
                </a:lnTo>
                <a:cubicBezTo>
                  <a:pt x="138127" y="83164"/>
                  <a:pt x="135537" y="80574"/>
                  <a:pt x="132372" y="80574"/>
                </a:cubicBezTo>
                <a:lnTo>
                  <a:pt x="120861" y="80574"/>
                </a:lnTo>
                <a:close/>
                <a:moveTo>
                  <a:pt x="23021" y="132372"/>
                </a:moveTo>
                <a:lnTo>
                  <a:pt x="23021" y="143882"/>
                </a:lnTo>
                <a:cubicBezTo>
                  <a:pt x="23021" y="147048"/>
                  <a:pt x="25611" y="149637"/>
                  <a:pt x="28776" y="149637"/>
                </a:cubicBezTo>
                <a:lnTo>
                  <a:pt x="40287" y="149637"/>
                </a:lnTo>
                <a:cubicBezTo>
                  <a:pt x="43452" y="149637"/>
                  <a:pt x="46042" y="147048"/>
                  <a:pt x="46042" y="143882"/>
                </a:cubicBezTo>
                <a:lnTo>
                  <a:pt x="46042" y="132372"/>
                </a:lnTo>
                <a:cubicBezTo>
                  <a:pt x="46042" y="129206"/>
                  <a:pt x="43452" y="126616"/>
                  <a:pt x="40287" y="126616"/>
                </a:cubicBezTo>
                <a:lnTo>
                  <a:pt x="28776" y="126616"/>
                </a:lnTo>
                <a:cubicBezTo>
                  <a:pt x="25611" y="126616"/>
                  <a:pt x="23021" y="129206"/>
                  <a:pt x="23021" y="132372"/>
                </a:cubicBezTo>
                <a:close/>
                <a:moveTo>
                  <a:pt x="74819" y="126616"/>
                </a:moveTo>
                <a:cubicBezTo>
                  <a:pt x="71653" y="126616"/>
                  <a:pt x="69063" y="129206"/>
                  <a:pt x="69063" y="132372"/>
                </a:cubicBezTo>
                <a:lnTo>
                  <a:pt x="69063" y="143882"/>
                </a:lnTo>
                <a:cubicBezTo>
                  <a:pt x="69063" y="147048"/>
                  <a:pt x="71653" y="149637"/>
                  <a:pt x="74819" y="149637"/>
                </a:cubicBezTo>
                <a:lnTo>
                  <a:pt x="86329" y="149637"/>
                </a:lnTo>
                <a:cubicBezTo>
                  <a:pt x="89495" y="149637"/>
                  <a:pt x="92085" y="147048"/>
                  <a:pt x="92085" y="143882"/>
                </a:cubicBezTo>
                <a:lnTo>
                  <a:pt x="92085" y="132372"/>
                </a:lnTo>
                <a:cubicBezTo>
                  <a:pt x="92085" y="129206"/>
                  <a:pt x="89495" y="126616"/>
                  <a:pt x="86329" y="126616"/>
                </a:cubicBezTo>
                <a:lnTo>
                  <a:pt x="74819" y="126616"/>
                </a:lnTo>
                <a:close/>
                <a:moveTo>
                  <a:pt x="115106" y="132372"/>
                </a:moveTo>
                <a:lnTo>
                  <a:pt x="115106" y="143882"/>
                </a:lnTo>
                <a:cubicBezTo>
                  <a:pt x="115106" y="147048"/>
                  <a:pt x="117696" y="149637"/>
                  <a:pt x="120861" y="149637"/>
                </a:cubicBezTo>
                <a:lnTo>
                  <a:pt x="132372" y="149637"/>
                </a:lnTo>
                <a:cubicBezTo>
                  <a:pt x="135537" y="149637"/>
                  <a:pt x="138127" y="147048"/>
                  <a:pt x="138127" y="143882"/>
                </a:cubicBezTo>
                <a:lnTo>
                  <a:pt x="138127" y="132372"/>
                </a:lnTo>
                <a:cubicBezTo>
                  <a:pt x="138127" y="129206"/>
                  <a:pt x="135537" y="126616"/>
                  <a:pt x="132372" y="126616"/>
                </a:cubicBezTo>
                <a:lnTo>
                  <a:pt x="120861" y="126616"/>
                </a:lnTo>
                <a:cubicBezTo>
                  <a:pt x="117696" y="126616"/>
                  <a:pt x="115106" y="129206"/>
                  <a:pt x="115106" y="132372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114224" y="4459196"/>
            <a:ext cx="1270767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 e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1716" y="4919619"/>
            <a:ext cx="5340906" cy="7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Sujeito a confirmação com documentação, o </a:t>
            </a:r>
            <a:r>
              <a:rPr lang="en-US" sz="116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de Transações Mastercard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 atividade violadora e/ou a </a:t>
            </a:r>
            <a:r>
              <a:rPr lang="en-US" sz="116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 partir da qual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Transações para a atividade violadora foram submetidas pela primeira vez.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286" y="4178338"/>
            <a:ext cx="5644785" cy="1648314"/>
          </a:xfrm>
          <a:custGeom>
            <a:avLst/>
            <a:gdLst/>
            <a:ahLst/>
            <a:cxnLst/>
            <a:rect l="l" t="t" r="r" b="b"/>
            <a:pathLst>
              <a:path w="5644785" h="1648314">
                <a:moveTo>
                  <a:pt x="73663" y="0"/>
                </a:moveTo>
                <a:lnTo>
                  <a:pt x="5571122" y="0"/>
                </a:lnTo>
                <a:cubicBezTo>
                  <a:pt x="5611805" y="0"/>
                  <a:pt x="5644785" y="32980"/>
                  <a:pt x="5644785" y="73663"/>
                </a:cubicBezTo>
                <a:lnTo>
                  <a:pt x="5644785" y="1574651"/>
                </a:lnTo>
                <a:cubicBezTo>
                  <a:pt x="5644785" y="1615334"/>
                  <a:pt x="5611805" y="1648314"/>
                  <a:pt x="5571122" y="1648314"/>
                </a:cubicBezTo>
                <a:lnTo>
                  <a:pt x="73663" y="1648314"/>
                </a:lnTo>
                <a:cubicBezTo>
                  <a:pt x="32980" y="1648314"/>
                  <a:pt x="0" y="1615334"/>
                  <a:pt x="0" y="1574651"/>
                </a:cubicBezTo>
                <a:lnTo>
                  <a:pt x="0" y="73663"/>
                </a:lnTo>
                <a:cubicBezTo>
                  <a:pt x="0" y="33007"/>
                  <a:pt x="33007" y="0"/>
                  <a:pt x="7366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365060" y="4367112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516999" y="4496030"/>
            <a:ext cx="138127" cy="184169"/>
          </a:xfrm>
          <a:custGeom>
            <a:avLst/>
            <a:gdLst/>
            <a:ahLst/>
            <a:cxnLst/>
            <a:rect l="l" t="t" r="r" b="b"/>
            <a:pathLst>
              <a:path w="138127" h="184169">
                <a:moveTo>
                  <a:pt x="112012" y="11511"/>
                </a:moveTo>
                <a:lnTo>
                  <a:pt x="115106" y="11511"/>
                </a:lnTo>
                <a:cubicBezTo>
                  <a:pt x="127803" y="11511"/>
                  <a:pt x="138127" y="21834"/>
                  <a:pt x="138127" y="34532"/>
                </a:cubicBezTo>
                <a:lnTo>
                  <a:pt x="138127" y="161148"/>
                </a:lnTo>
                <a:cubicBezTo>
                  <a:pt x="138127" y="173846"/>
                  <a:pt x="127803" y="184169"/>
                  <a:pt x="115106" y="184169"/>
                </a:cubicBezTo>
                <a:lnTo>
                  <a:pt x="23021" y="184169"/>
                </a:lnTo>
                <a:cubicBezTo>
                  <a:pt x="10324" y="184169"/>
                  <a:pt x="0" y="173846"/>
                  <a:pt x="0" y="161148"/>
                </a:cubicBezTo>
                <a:lnTo>
                  <a:pt x="0" y="34532"/>
                </a:lnTo>
                <a:cubicBezTo>
                  <a:pt x="0" y="21834"/>
                  <a:pt x="10324" y="11511"/>
                  <a:pt x="23021" y="11511"/>
                </a:cubicBezTo>
                <a:lnTo>
                  <a:pt x="26115" y="11511"/>
                </a:lnTo>
                <a:cubicBezTo>
                  <a:pt x="30071" y="4640"/>
                  <a:pt x="37517" y="0"/>
                  <a:pt x="46042" y="0"/>
                </a:cubicBezTo>
                <a:lnTo>
                  <a:pt x="92085" y="0"/>
                </a:lnTo>
                <a:cubicBezTo>
                  <a:pt x="100610" y="0"/>
                  <a:pt x="108056" y="4640"/>
                  <a:pt x="112012" y="11511"/>
                </a:cubicBezTo>
                <a:close/>
                <a:moveTo>
                  <a:pt x="89207" y="40287"/>
                </a:moveTo>
                <a:cubicBezTo>
                  <a:pt x="93991" y="40287"/>
                  <a:pt x="97840" y="36438"/>
                  <a:pt x="97840" y="31654"/>
                </a:cubicBezTo>
                <a:cubicBezTo>
                  <a:pt x="97840" y="26870"/>
                  <a:pt x="93991" y="23021"/>
                  <a:pt x="89207" y="23021"/>
                </a:cubicBezTo>
                <a:lnTo>
                  <a:pt x="48920" y="23021"/>
                </a:lnTo>
                <a:cubicBezTo>
                  <a:pt x="44136" y="23021"/>
                  <a:pt x="40287" y="26870"/>
                  <a:pt x="40287" y="31654"/>
                </a:cubicBezTo>
                <a:cubicBezTo>
                  <a:pt x="40287" y="36438"/>
                  <a:pt x="44136" y="40287"/>
                  <a:pt x="48920" y="40287"/>
                </a:cubicBezTo>
                <a:lnTo>
                  <a:pt x="89207" y="40287"/>
                </a:lnTo>
                <a:close/>
                <a:moveTo>
                  <a:pt x="99423" y="93775"/>
                </a:moveTo>
                <a:cubicBezTo>
                  <a:pt x="101941" y="89747"/>
                  <a:pt x="100718" y="84423"/>
                  <a:pt x="96689" y="81869"/>
                </a:cubicBezTo>
                <a:cubicBezTo>
                  <a:pt x="92660" y="79315"/>
                  <a:pt x="87336" y="80574"/>
                  <a:pt x="84783" y="84603"/>
                </a:cubicBezTo>
                <a:lnTo>
                  <a:pt x="62697" y="119962"/>
                </a:lnTo>
                <a:lnTo>
                  <a:pt x="52985" y="107012"/>
                </a:lnTo>
                <a:cubicBezTo>
                  <a:pt x="50107" y="103199"/>
                  <a:pt x="44711" y="102408"/>
                  <a:pt x="40899" y="105286"/>
                </a:cubicBezTo>
                <a:cubicBezTo>
                  <a:pt x="37086" y="108163"/>
                  <a:pt x="36294" y="113559"/>
                  <a:pt x="39172" y="117372"/>
                </a:cubicBezTo>
                <a:lnTo>
                  <a:pt x="56438" y="140393"/>
                </a:lnTo>
                <a:cubicBezTo>
                  <a:pt x="58128" y="142659"/>
                  <a:pt x="60862" y="143954"/>
                  <a:pt x="63704" y="143846"/>
                </a:cubicBezTo>
                <a:cubicBezTo>
                  <a:pt x="66546" y="143738"/>
                  <a:pt x="69135" y="142228"/>
                  <a:pt x="70646" y="139782"/>
                </a:cubicBezTo>
                <a:lnTo>
                  <a:pt x="99423" y="93739"/>
                </a:ln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917567" y="4459196"/>
            <a:ext cx="1823275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Participação no MMP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5060" y="4919619"/>
            <a:ext cx="5340906" cy="7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Participação e adesão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ao Programa de Monitoramento de Comerciantes (MMP) a </a:t>
            </a:r>
            <a:r>
              <a:rPr lang="en-US" sz="116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os requisitos do programa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2943" y="5983196"/>
            <a:ext cx="11446115" cy="874804"/>
          </a:xfrm>
          <a:custGeom>
            <a:avLst/>
            <a:gdLst/>
            <a:ahLst/>
            <a:cxnLst/>
            <a:rect l="l" t="t" r="r" b="b"/>
            <a:pathLst>
              <a:path w="11446115" h="874804">
                <a:moveTo>
                  <a:pt x="73667" y="0"/>
                </a:moveTo>
                <a:lnTo>
                  <a:pt x="11372448" y="0"/>
                </a:lnTo>
                <a:cubicBezTo>
                  <a:pt x="11413133" y="0"/>
                  <a:pt x="11446115" y="32982"/>
                  <a:pt x="11446115" y="73667"/>
                </a:cubicBezTo>
                <a:lnTo>
                  <a:pt x="11446115" y="801136"/>
                </a:lnTo>
                <a:cubicBezTo>
                  <a:pt x="11446115" y="841822"/>
                  <a:pt x="11413133" y="874804"/>
                  <a:pt x="11372448" y="874804"/>
                </a:cubicBezTo>
                <a:lnTo>
                  <a:pt x="73667" y="874804"/>
                </a:lnTo>
                <a:cubicBezTo>
                  <a:pt x="33009" y="874804"/>
                  <a:pt x="0" y="841794"/>
                  <a:pt x="0" y="801136"/>
                </a:cubicBezTo>
                <a:lnTo>
                  <a:pt x="0" y="73667"/>
                </a:lnTo>
                <a:cubicBezTo>
                  <a:pt x="0" y="33009"/>
                  <a:pt x="33009" y="0"/>
                  <a:pt x="736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24882" y="6135136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221003" y="0"/>
                </a:moveTo>
                <a:lnTo>
                  <a:pt x="221003" y="0"/>
                </a:lnTo>
                <a:cubicBezTo>
                  <a:pt x="343060" y="0"/>
                  <a:pt x="442006" y="98946"/>
                  <a:pt x="442006" y="221003"/>
                </a:cubicBezTo>
                <a:lnTo>
                  <a:pt x="442006" y="221003"/>
                </a:lnTo>
                <a:cubicBezTo>
                  <a:pt x="442006" y="343060"/>
                  <a:pt x="343060" y="442006"/>
                  <a:pt x="221003" y="442006"/>
                </a:cubicBezTo>
                <a:lnTo>
                  <a:pt x="221003" y="442006"/>
                </a:lnTo>
                <a:cubicBezTo>
                  <a:pt x="98946" y="442006"/>
                  <a:pt x="0" y="343060"/>
                  <a:pt x="0" y="221003"/>
                </a:cubicBezTo>
                <a:lnTo>
                  <a:pt x="0" y="221003"/>
                </a:lnTo>
                <a:cubicBezTo>
                  <a:pt x="0" y="98946"/>
                  <a:pt x="98946" y="0"/>
                  <a:pt x="221003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53801" y="6264054"/>
            <a:ext cx="184169" cy="184169"/>
          </a:xfrm>
          <a:custGeom>
            <a:avLst/>
            <a:gdLst/>
            <a:ahLst/>
            <a:cxnLst/>
            <a:rect l="l" t="t" r="r" b="b"/>
            <a:pathLst>
              <a:path w="184169" h="184169">
                <a:moveTo>
                  <a:pt x="103595" y="11511"/>
                </a:moveTo>
                <a:cubicBezTo>
                  <a:pt x="103595" y="5144"/>
                  <a:pt x="98451" y="0"/>
                  <a:pt x="92085" y="0"/>
                </a:cubicBezTo>
                <a:cubicBezTo>
                  <a:pt x="85718" y="0"/>
                  <a:pt x="80574" y="5144"/>
                  <a:pt x="80574" y="11511"/>
                </a:cubicBezTo>
                <a:lnTo>
                  <a:pt x="80574" y="86329"/>
                </a:lnTo>
                <a:cubicBezTo>
                  <a:pt x="80574" y="89495"/>
                  <a:pt x="77984" y="92085"/>
                  <a:pt x="74819" y="92085"/>
                </a:cubicBezTo>
                <a:cubicBezTo>
                  <a:pt x="71653" y="92085"/>
                  <a:pt x="69063" y="89495"/>
                  <a:pt x="69063" y="86329"/>
                </a:cubicBezTo>
                <a:lnTo>
                  <a:pt x="69063" y="23021"/>
                </a:lnTo>
                <a:cubicBezTo>
                  <a:pt x="69063" y="16654"/>
                  <a:pt x="63920" y="11511"/>
                  <a:pt x="57553" y="11511"/>
                </a:cubicBezTo>
                <a:cubicBezTo>
                  <a:pt x="51186" y="11511"/>
                  <a:pt x="46042" y="16654"/>
                  <a:pt x="46042" y="23021"/>
                </a:cubicBezTo>
                <a:lnTo>
                  <a:pt x="46042" y="120861"/>
                </a:lnTo>
                <a:cubicBezTo>
                  <a:pt x="46042" y="121401"/>
                  <a:pt x="46042" y="121976"/>
                  <a:pt x="46078" y="122516"/>
                </a:cubicBezTo>
                <a:lnTo>
                  <a:pt x="24316" y="101797"/>
                </a:lnTo>
                <a:cubicBezTo>
                  <a:pt x="18561" y="96329"/>
                  <a:pt x="9460" y="96545"/>
                  <a:pt x="3957" y="102300"/>
                </a:cubicBezTo>
                <a:cubicBezTo>
                  <a:pt x="-1547" y="108056"/>
                  <a:pt x="-1295" y="117156"/>
                  <a:pt x="4460" y="122660"/>
                </a:cubicBezTo>
                <a:lnTo>
                  <a:pt x="44891" y="161148"/>
                </a:lnTo>
                <a:cubicBezTo>
                  <a:pt x="60395" y="175932"/>
                  <a:pt x="81006" y="184169"/>
                  <a:pt x="102444" y="184169"/>
                </a:cubicBezTo>
                <a:lnTo>
                  <a:pt x="109350" y="184169"/>
                </a:lnTo>
                <a:cubicBezTo>
                  <a:pt x="144314" y="184169"/>
                  <a:pt x="172659" y="155824"/>
                  <a:pt x="172659" y="120861"/>
                </a:cubicBezTo>
                <a:lnTo>
                  <a:pt x="172659" y="46042"/>
                </a:lnTo>
                <a:cubicBezTo>
                  <a:pt x="172659" y="39676"/>
                  <a:pt x="167515" y="34532"/>
                  <a:pt x="161148" y="34532"/>
                </a:cubicBezTo>
                <a:cubicBezTo>
                  <a:pt x="154781" y="34532"/>
                  <a:pt x="149637" y="39676"/>
                  <a:pt x="149637" y="46042"/>
                </a:cubicBezTo>
                <a:lnTo>
                  <a:pt x="149637" y="86329"/>
                </a:lnTo>
                <a:cubicBezTo>
                  <a:pt x="149637" y="89495"/>
                  <a:pt x="147048" y="92085"/>
                  <a:pt x="143882" y="92085"/>
                </a:cubicBezTo>
                <a:cubicBezTo>
                  <a:pt x="140717" y="92085"/>
                  <a:pt x="138127" y="89495"/>
                  <a:pt x="138127" y="86329"/>
                </a:cubicBezTo>
                <a:lnTo>
                  <a:pt x="138127" y="23021"/>
                </a:lnTo>
                <a:cubicBezTo>
                  <a:pt x="138127" y="16654"/>
                  <a:pt x="132983" y="11511"/>
                  <a:pt x="126616" y="11511"/>
                </a:cubicBezTo>
                <a:cubicBezTo>
                  <a:pt x="120250" y="11511"/>
                  <a:pt x="115106" y="16654"/>
                  <a:pt x="115106" y="23021"/>
                </a:cubicBezTo>
                <a:lnTo>
                  <a:pt x="115106" y="86329"/>
                </a:lnTo>
                <a:cubicBezTo>
                  <a:pt x="115106" y="89495"/>
                  <a:pt x="112516" y="92085"/>
                  <a:pt x="109350" y="92085"/>
                </a:cubicBezTo>
                <a:cubicBezTo>
                  <a:pt x="106185" y="92085"/>
                  <a:pt x="103595" y="89495"/>
                  <a:pt x="103595" y="86329"/>
                </a:cubicBezTo>
                <a:lnTo>
                  <a:pt x="103595" y="11511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077390" y="6135136"/>
            <a:ext cx="8609909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Cessação Prévia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7390" y="6466640"/>
            <a:ext cx="8600701" cy="23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Demonstração de que o Adquirente fez com que o Comerciante </a:t>
            </a:r>
            <a:r>
              <a:rPr lang="en-US" sz="116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cessasse a atividade violadora</a:t>
            </a:r>
            <a:r>
              <a:rPr lang="en-US" sz="116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da identificação pela Mastercard.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354934"/>
            <a:ext cx="1155311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kern="0" spc="56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ELO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934" y="638882"/>
            <a:ext cx="11641852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Controle de Mitigação de Risco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681" y="1135790"/>
            <a:ext cx="11464384" cy="1002690"/>
          </a:xfrm>
          <a:custGeom>
            <a:avLst/>
            <a:gdLst/>
            <a:ahLst/>
            <a:cxnLst/>
            <a:rect l="l" t="t" r="r" b="b"/>
            <a:pathLst>
              <a:path w="11464384" h="1002690">
                <a:moveTo>
                  <a:pt x="35493" y="0"/>
                </a:moveTo>
                <a:lnTo>
                  <a:pt x="11393394" y="0"/>
                </a:lnTo>
                <a:cubicBezTo>
                  <a:pt x="11432601" y="0"/>
                  <a:pt x="11464384" y="31784"/>
                  <a:pt x="11464384" y="70990"/>
                </a:cubicBezTo>
                <a:lnTo>
                  <a:pt x="11464384" y="931700"/>
                </a:lnTo>
                <a:cubicBezTo>
                  <a:pt x="11464384" y="970906"/>
                  <a:pt x="11432601" y="1002690"/>
                  <a:pt x="11393394" y="1002690"/>
                </a:cubicBezTo>
                <a:lnTo>
                  <a:pt x="35493" y="1002690"/>
                </a:lnTo>
                <a:cubicBezTo>
                  <a:pt x="15891" y="1002690"/>
                  <a:pt x="0" y="986799"/>
                  <a:pt x="0" y="967197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72681" y="1135790"/>
            <a:ext cx="35493" cy="1002690"/>
          </a:xfrm>
          <a:custGeom>
            <a:avLst/>
            <a:gdLst/>
            <a:ahLst/>
            <a:cxnLst/>
            <a:rect l="l" t="t" r="r" b="b"/>
            <a:pathLst>
              <a:path w="35493" h="1002690">
                <a:moveTo>
                  <a:pt x="35493" y="0"/>
                </a:moveTo>
                <a:lnTo>
                  <a:pt x="35493" y="0"/>
                </a:lnTo>
                <a:lnTo>
                  <a:pt x="35493" y="1002690"/>
                </a:lnTo>
                <a:lnTo>
                  <a:pt x="35493" y="1002690"/>
                </a:lnTo>
                <a:cubicBezTo>
                  <a:pt x="15891" y="1002690"/>
                  <a:pt x="0" y="986799"/>
                  <a:pt x="0" y="967197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94515" y="1348751"/>
            <a:ext cx="212961" cy="212961"/>
          </a:xfrm>
          <a:custGeom>
            <a:avLst/>
            <a:gdLst/>
            <a:ahLst/>
            <a:cxnLst/>
            <a:rect l="l" t="t" r="r" b="b"/>
            <a:pathLst>
              <a:path w="212961" h="212961">
                <a:moveTo>
                  <a:pt x="106480" y="0"/>
                </a:moveTo>
                <a:cubicBezTo>
                  <a:pt x="108394" y="0"/>
                  <a:pt x="110307" y="416"/>
                  <a:pt x="112054" y="1206"/>
                </a:cubicBezTo>
                <a:lnTo>
                  <a:pt x="190417" y="34440"/>
                </a:lnTo>
                <a:cubicBezTo>
                  <a:pt x="199567" y="38308"/>
                  <a:pt x="206389" y="47334"/>
                  <a:pt x="206347" y="58231"/>
                </a:cubicBezTo>
                <a:cubicBezTo>
                  <a:pt x="206139" y="99493"/>
                  <a:pt x="189169" y="174985"/>
                  <a:pt x="117503" y="209300"/>
                </a:cubicBezTo>
                <a:cubicBezTo>
                  <a:pt x="110557" y="212628"/>
                  <a:pt x="102487" y="212628"/>
                  <a:pt x="95541" y="209300"/>
                </a:cubicBezTo>
                <a:cubicBezTo>
                  <a:pt x="23833" y="174985"/>
                  <a:pt x="6905" y="99493"/>
                  <a:pt x="6697" y="58231"/>
                </a:cubicBezTo>
                <a:cubicBezTo>
                  <a:pt x="6655" y="47334"/>
                  <a:pt x="13476" y="38308"/>
                  <a:pt x="22627" y="34440"/>
                </a:cubicBezTo>
                <a:lnTo>
                  <a:pt x="100948" y="1206"/>
                </a:lnTo>
                <a:cubicBezTo>
                  <a:pt x="102695" y="416"/>
                  <a:pt x="104567" y="0"/>
                  <a:pt x="106480" y="0"/>
                </a:cubicBezTo>
                <a:close/>
                <a:moveTo>
                  <a:pt x="106480" y="27785"/>
                </a:moveTo>
                <a:lnTo>
                  <a:pt x="106480" y="185051"/>
                </a:lnTo>
                <a:cubicBezTo>
                  <a:pt x="163880" y="157266"/>
                  <a:pt x="179311" y="95708"/>
                  <a:pt x="179686" y="58855"/>
                </a:cubicBezTo>
                <a:lnTo>
                  <a:pt x="106480" y="27826"/>
                </a:lnTo>
                <a:lnTo>
                  <a:pt x="106480" y="2782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34096" y="1313258"/>
            <a:ext cx="10931983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Solicitações Mensais da Elo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7895" y="1703686"/>
            <a:ext cx="11171563" cy="25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Elo solicita mensalmente informações dos </a:t>
            </a:r>
            <a:r>
              <a:rPr lang="en-US" sz="125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credenciadores</a:t>
            </a:r>
            <a:r>
              <a:rPr lang="en-US" sz="125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monitoramento e controle de risco: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9371" y="2287109"/>
            <a:ext cx="5661205" cy="3913153"/>
          </a:xfrm>
          <a:custGeom>
            <a:avLst/>
            <a:gdLst/>
            <a:ahLst/>
            <a:cxnLst/>
            <a:rect l="l" t="t" r="r" b="b"/>
            <a:pathLst>
              <a:path w="5661205" h="3913153">
                <a:moveTo>
                  <a:pt x="70985" y="0"/>
                </a:moveTo>
                <a:lnTo>
                  <a:pt x="5590221" y="0"/>
                </a:lnTo>
                <a:cubicBezTo>
                  <a:pt x="5629424" y="0"/>
                  <a:pt x="5661205" y="31781"/>
                  <a:pt x="5661205" y="70985"/>
                </a:cubicBezTo>
                <a:lnTo>
                  <a:pt x="5661205" y="3842168"/>
                </a:lnTo>
                <a:cubicBezTo>
                  <a:pt x="5661205" y="3881372"/>
                  <a:pt x="5629424" y="3913153"/>
                  <a:pt x="5590221" y="3913153"/>
                </a:cubicBezTo>
                <a:lnTo>
                  <a:pt x="70985" y="3913153"/>
                </a:lnTo>
                <a:cubicBezTo>
                  <a:pt x="31781" y="3913153"/>
                  <a:pt x="0" y="3881372"/>
                  <a:pt x="0" y="3842168"/>
                </a:cubicBezTo>
                <a:lnTo>
                  <a:pt x="0" y="70985"/>
                </a:lnTo>
                <a:cubicBezTo>
                  <a:pt x="0" y="31781"/>
                  <a:pt x="31781" y="0"/>
                  <a:pt x="7098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63459" y="2504507"/>
            <a:ext cx="177467" cy="177467"/>
          </a:xfrm>
          <a:custGeom>
            <a:avLst/>
            <a:gdLst/>
            <a:ahLst/>
            <a:cxnLst/>
            <a:rect l="l" t="t" r="r" b="b"/>
            <a:pathLst>
              <a:path w="177467" h="177467">
                <a:moveTo>
                  <a:pt x="11092" y="11092"/>
                </a:moveTo>
                <a:cubicBezTo>
                  <a:pt x="17227" y="11092"/>
                  <a:pt x="22183" y="16048"/>
                  <a:pt x="22183" y="22183"/>
                </a:cubicBezTo>
                <a:lnTo>
                  <a:pt x="22183" y="138646"/>
                </a:lnTo>
                <a:cubicBezTo>
                  <a:pt x="22183" y="141697"/>
                  <a:pt x="24679" y="144192"/>
                  <a:pt x="27729" y="144192"/>
                </a:cubicBezTo>
                <a:lnTo>
                  <a:pt x="166376" y="144192"/>
                </a:lnTo>
                <a:cubicBezTo>
                  <a:pt x="172511" y="144192"/>
                  <a:pt x="177467" y="149149"/>
                  <a:pt x="177467" y="155284"/>
                </a:cubicBezTo>
                <a:cubicBezTo>
                  <a:pt x="177467" y="161419"/>
                  <a:pt x="172511" y="166376"/>
                  <a:pt x="166376" y="166376"/>
                </a:cubicBezTo>
                <a:lnTo>
                  <a:pt x="27729" y="166376"/>
                </a:lnTo>
                <a:cubicBezTo>
                  <a:pt x="12409" y="166376"/>
                  <a:pt x="0" y="153967"/>
                  <a:pt x="0" y="138646"/>
                </a:cubicBezTo>
                <a:lnTo>
                  <a:pt x="0" y="22183"/>
                </a:lnTo>
                <a:cubicBezTo>
                  <a:pt x="0" y="16048"/>
                  <a:pt x="4957" y="11092"/>
                  <a:pt x="11092" y="11092"/>
                </a:cubicBezTo>
                <a:close/>
                <a:moveTo>
                  <a:pt x="44367" y="33275"/>
                </a:moveTo>
                <a:cubicBezTo>
                  <a:pt x="44367" y="27140"/>
                  <a:pt x="49323" y="22183"/>
                  <a:pt x="55459" y="22183"/>
                </a:cubicBezTo>
                <a:lnTo>
                  <a:pt x="122009" y="22183"/>
                </a:lnTo>
                <a:cubicBezTo>
                  <a:pt x="128144" y="22183"/>
                  <a:pt x="133100" y="27140"/>
                  <a:pt x="133100" y="33275"/>
                </a:cubicBezTo>
                <a:cubicBezTo>
                  <a:pt x="133100" y="39410"/>
                  <a:pt x="128144" y="44367"/>
                  <a:pt x="122009" y="44367"/>
                </a:cubicBezTo>
                <a:lnTo>
                  <a:pt x="55459" y="44367"/>
                </a:lnTo>
                <a:cubicBezTo>
                  <a:pt x="49323" y="44367"/>
                  <a:pt x="44367" y="39410"/>
                  <a:pt x="44367" y="33275"/>
                </a:cubicBezTo>
                <a:close/>
                <a:moveTo>
                  <a:pt x="55459" y="61004"/>
                </a:moveTo>
                <a:lnTo>
                  <a:pt x="99825" y="61004"/>
                </a:lnTo>
                <a:cubicBezTo>
                  <a:pt x="105960" y="61004"/>
                  <a:pt x="110917" y="65961"/>
                  <a:pt x="110917" y="72096"/>
                </a:cubicBezTo>
                <a:cubicBezTo>
                  <a:pt x="110917" y="78231"/>
                  <a:pt x="105960" y="83188"/>
                  <a:pt x="99825" y="83188"/>
                </a:cubicBezTo>
                <a:lnTo>
                  <a:pt x="55459" y="83188"/>
                </a:lnTo>
                <a:cubicBezTo>
                  <a:pt x="49323" y="83188"/>
                  <a:pt x="44367" y="78231"/>
                  <a:pt x="44367" y="72096"/>
                </a:cubicBezTo>
                <a:cubicBezTo>
                  <a:pt x="44367" y="65961"/>
                  <a:pt x="49323" y="61004"/>
                  <a:pt x="55459" y="61004"/>
                </a:cubicBezTo>
                <a:close/>
                <a:moveTo>
                  <a:pt x="55459" y="99825"/>
                </a:moveTo>
                <a:lnTo>
                  <a:pt x="144192" y="99825"/>
                </a:lnTo>
                <a:cubicBezTo>
                  <a:pt x="150327" y="99825"/>
                  <a:pt x="155284" y="104782"/>
                  <a:pt x="155284" y="110917"/>
                </a:cubicBezTo>
                <a:cubicBezTo>
                  <a:pt x="155284" y="117052"/>
                  <a:pt x="150327" y="122009"/>
                  <a:pt x="144192" y="122009"/>
                </a:cubicBezTo>
                <a:lnTo>
                  <a:pt x="55459" y="122009"/>
                </a:lnTo>
                <a:cubicBezTo>
                  <a:pt x="49323" y="122009"/>
                  <a:pt x="44367" y="117052"/>
                  <a:pt x="44367" y="110917"/>
                </a:cubicBezTo>
                <a:cubicBezTo>
                  <a:pt x="44367" y="104782"/>
                  <a:pt x="49323" y="99825"/>
                  <a:pt x="55459" y="9982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63109" y="2469013"/>
            <a:ext cx="5164297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Informações Gerais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275" y="2859441"/>
            <a:ext cx="5297397" cy="709869"/>
          </a:xfrm>
          <a:custGeom>
            <a:avLst/>
            <a:gdLst/>
            <a:ahLst/>
            <a:cxnLst/>
            <a:rect l="l" t="t" r="r" b="b"/>
            <a:pathLst>
              <a:path w="5297397" h="709869">
                <a:moveTo>
                  <a:pt x="70987" y="0"/>
                </a:moveTo>
                <a:lnTo>
                  <a:pt x="5226410" y="0"/>
                </a:lnTo>
                <a:cubicBezTo>
                  <a:pt x="5265615" y="0"/>
                  <a:pt x="5297397" y="31782"/>
                  <a:pt x="5297397" y="70987"/>
                </a:cubicBezTo>
                <a:lnTo>
                  <a:pt x="5297397" y="638882"/>
                </a:lnTo>
                <a:cubicBezTo>
                  <a:pt x="5297397" y="678087"/>
                  <a:pt x="5265615" y="709869"/>
                  <a:pt x="5226410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92122" y="3001415"/>
            <a:ext cx="88734" cy="141974"/>
          </a:xfrm>
          <a:custGeom>
            <a:avLst/>
            <a:gdLst/>
            <a:ahLst/>
            <a:cxnLst/>
            <a:rect l="l" t="t" r="r" b="b"/>
            <a:pathLst>
              <a:path w="88734" h="141974">
                <a:moveTo>
                  <a:pt x="37712" y="6655"/>
                </a:moveTo>
                <a:cubicBezTo>
                  <a:pt x="37712" y="2967"/>
                  <a:pt x="40679" y="0"/>
                  <a:pt x="44367" y="0"/>
                </a:cubicBezTo>
                <a:cubicBezTo>
                  <a:pt x="48055" y="0"/>
                  <a:pt x="51022" y="2967"/>
                  <a:pt x="51022" y="6655"/>
                </a:cubicBezTo>
                <a:lnTo>
                  <a:pt x="51022" y="17747"/>
                </a:lnTo>
                <a:lnTo>
                  <a:pt x="66550" y="17747"/>
                </a:lnTo>
                <a:cubicBezTo>
                  <a:pt x="71458" y="17747"/>
                  <a:pt x="75424" y="21712"/>
                  <a:pt x="75424" y="26620"/>
                </a:cubicBezTo>
                <a:cubicBezTo>
                  <a:pt x="75424" y="31528"/>
                  <a:pt x="71458" y="35493"/>
                  <a:pt x="66550" y="35493"/>
                </a:cubicBezTo>
                <a:lnTo>
                  <a:pt x="34689" y="35493"/>
                </a:lnTo>
                <a:cubicBezTo>
                  <a:pt x="27785" y="35493"/>
                  <a:pt x="22183" y="41095"/>
                  <a:pt x="22183" y="47999"/>
                </a:cubicBezTo>
                <a:cubicBezTo>
                  <a:pt x="22183" y="54238"/>
                  <a:pt x="26759" y="59507"/>
                  <a:pt x="32915" y="60394"/>
                </a:cubicBezTo>
                <a:lnTo>
                  <a:pt x="58315" y="64027"/>
                </a:lnTo>
                <a:cubicBezTo>
                  <a:pt x="73233" y="66162"/>
                  <a:pt x="84297" y="78917"/>
                  <a:pt x="84297" y="93974"/>
                </a:cubicBezTo>
                <a:cubicBezTo>
                  <a:pt x="84297" y="110695"/>
                  <a:pt x="70737" y="124227"/>
                  <a:pt x="54044" y="124227"/>
                </a:cubicBezTo>
                <a:lnTo>
                  <a:pt x="51022" y="124227"/>
                </a:lnTo>
                <a:lnTo>
                  <a:pt x="51022" y="135319"/>
                </a:lnTo>
                <a:cubicBezTo>
                  <a:pt x="51022" y="139007"/>
                  <a:pt x="48055" y="141974"/>
                  <a:pt x="44367" y="141974"/>
                </a:cubicBezTo>
                <a:cubicBezTo>
                  <a:pt x="40679" y="141974"/>
                  <a:pt x="37712" y="139007"/>
                  <a:pt x="37712" y="135319"/>
                </a:cubicBezTo>
                <a:lnTo>
                  <a:pt x="37712" y="124227"/>
                </a:lnTo>
                <a:lnTo>
                  <a:pt x="17747" y="124227"/>
                </a:lnTo>
                <a:cubicBezTo>
                  <a:pt x="12839" y="124227"/>
                  <a:pt x="8873" y="120262"/>
                  <a:pt x="8873" y="115354"/>
                </a:cubicBezTo>
                <a:cubicBezTo>
                  <a:pt x="8873" y="110446"/>
                  <a:pt x="12839" y="106480"/>
                  <a:pt x="17747" y="106480"/>
                </a:cubicBezTo>
                <a:lnTo>
                  <a:pt x="54044" y="106480"/>
                </a:lnTo>
                <a:cubicBezTo>
                  <a:pt x="60949" y="106480"/>
                  <a:pt x="66550" y="100879"/>
                  <a:pt x="66550" y="93974"/>
                </a:cubicBezTo>
                <a:cubicBezTo>
                  <a:pt x="66550" y="87735"/>
                  <a:pt x="61975" y="82467"/>
                  <a:pt x="55819" y="81579"/>
                </a:cubicBezTo>
                <a:lnTo>
                  <a:pt x="30419" y="77947"/>
                </a:lnTo>
                <a:cubicBezTo>
                  <a:pt x="15501" y="75840"/>
                  <a:pt x="4437" y="63056"/>
                  <a:pt x="4437" y="47999"/>
                </a:cubicBezTo>
                <a:cubicBezTo>
                  <a:pt x="4437" y="31306"/>
                  <a:pt x="17996" y="17747"/>
                  <a:pt x="34689" y="17747"/>
                </a:cubicBezTo>
                <a:lnTo>
                  <a:pt x="37712" y="17747"/>
                </a:lnTo>
                <a:lnTo>
                  <a:pt x="37712" y="6655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31703" y="2965921"/>
            <a:ext cx="2919336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1703" y="3249869"/>
            <a:ext cx="2910463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em reais, separado por crédito/débito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275" y="3675790"/>
            <a:ext cx="5297397" cy="709869"/>
          </a:xfrm>
          <a:custGeom>
            <a:avLst/>
            <a:gdLst/>
            <a:ahLst/>
            <a:cxnLst/>
            <a:rect l="l" t="t" r="r" b="b"/>
            <a:pathLst>
              <a:path w="5297397" h="709869">
                <a:moveTo>
                  <a:pt x="70987" y="0"/>
                </a:moveTo>
                <a:lnTo>
                  <a:pt x="5226410" y="0"/>
                </a:lnTo>
                <a:cubicBezTo>
                  <a:pt x="5265615" y="0"/>
                  <a:pt x="5297397" y="31782"/>
                  <a:pt x="5297397" y="70987"/>
                </a:cubicBezTo>
                <a:lnTo>
                  <a:pt x="5297397" y="638882"/>
                </a:lnTo>
                <a:cubicBezTo>
                  <a:pt x="5297397" y="678087"/>
                  <a:pt x="5265615" y="709869"/>
                  <a:pt x="5226410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65502" y="3817764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139367" y="41760"/>
                </a:moveTo>
                <a:lnTo>
                  <a:pt x="112747" y="68380"/>
                </a:lnTo>
                <a:cubicBezTo>
                  <a:pt x="110196" y="70931"/>
                  <a:pt x="106397" y="71680"/>
                  <a:pt x="103070" y="70294"/>
                </a:cubicBezTo>
                <a:cubicBezTo>
                  <a:pt x="99742" y="68907"/>
                  <a:pt x="97607" y="65691"/>
                  <a:pt x="97607" y="62114"/>
                </a:cubicBezTo>
                <a:lnTo>
                  <a:pt x="97607" y="44367"/>
                </a:lnTo>
                <a:lnTo>
                  <a:pt x="8873" y="44367"/>
                </a:lnTo>
                <a:cubicBezTo>
                  <a:pt x="3965" y="44367"/>
                  <a:pt x="0" y="40402"/>
                  <a:pt x="0" y="35493"/>
                </a:cubicBezTo>
                <a:cubicBezTo>
                  <a:pt x="0" y="30585"/>
                  <a:pt x="3965" y="26620"/>
                  <a:pt x="8873" y="26620"/>
                </a:cubicBezTo>
                <a:lnTo>
                  <a:pt x="97607" y="26620"/>
                </a:lnTo>
                <a:lnTo>
                  <a:pt x="97607" y="8873"/>
                </a:lnTo>
                <a:cubicBezTo>
                  <a:pt x="97607" y="5296"/>
                  <a:pt x="99770" y="2052"/>
                  <a:pt x="103097" y="666"/>
                </a:cubicBezTo>
                <a:cubicBezTo>
                  <a:pt x="106425" y="-721"/>
                  <a:pt x="110224" y="55"/>
                  <a:pt x="112775" y="2579"/>
                </a:cubicBezTo>
                <a:lnTo>
                  <a:pt x="139395" y="29199"/>
                </a:lnTo>
                <a:cubicBezTo>
                  <a:pt x="142861" y="32665"/>
                  <a:pt x="142861" y="38294"/>
                  <a:pt x="139395" y="41760"/>
                </a:cubicBezTo>
                <a:close/>
                <a:moveTo>
                  <a:pt x="29199" y="139367"/>
                </a:moveTo>
                <a:lnTo>
                  <a:pt x="2579" y="112747"/>
                </a:lnTo>
                <a:cubicBezTo>
                  <a:pt x="-887" y="109281"/>
                  <a:pt x="-887" y="103652"/>
                  <a:pt x="2579" y="100186"/>
                </a:cubicBezTo>
                <a:lnTo>
                  <a:pt x="29199" y="73566"/>
                </a:lnTo>
                <a:cubicBezTo>
                  <a:pt x="31750" y="71015"/>
                  <a:pt x="35549" y="70266"/>
                  <a:pt x="38876" y="71652"/>
                </a:cubicBezTo>
                <a:cubicBezTo>
                  <a:pt x="42204" y="73039"/>
                  <a:pt x="44367" y="76283"/>
                  <a:pt x="44367" y="79860"/>
                </a:cubicBezTo>
                <a:lnTo>
                  <a:pt x="44367" y="97607"/>
                </a:lnTo>
                <a:lnTo>
                  <a:pt x="133100" y="97607"/>
                </a:lnTo>
                <a:cubicBezTo>
                  <a:pt x="138009" y="97607"/>
                  <a:pt x="141974" y="101572"/>
                  <a:pt x="141974" y="106480"/>
                </a:cubicBezTo>
                <a:cubicBezTo>
                  <a:pt x="141974" y="111388"/>
                  <a:pt x="138009" y="115354"/>
                  <a:pt x="133100" y="115354"/>
                </a:cubicBezTo>
                <a:lnTo>
                  <a:pt x="44367" y="115354"/>
                </a:lnTo>
                <a:lnTo>
                  <a:pt x="44367" y="133100"/>
                </a:lnTo>
                <a:cubicBezTo>
                  <a:pt x="44367" y="136678"/>
                  <a:pt x="42204" y="139922"/>
                  <a:pt x="38876" y="141308"/>
                </a:cubicBezTo>
                <a:cubicBezTo>
                  <a:pt x="35549" y="142695"/>
                  <a:pt x="31750" y="141918"/>
                  <a:pt x="29199" y="13939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31703" y="3782271"/>
            <a:ext cx="332751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Quantidade de Transações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1703" y="4066218"/>
            <a:ext cx="331863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Transações de Pagamento de Compra crédito/débito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1275" y="4492140"/>
            <a:ext cx="5297397" cy="709869"/>
          </a:xfrm>
          <a:custGeom>
            <a:avLst/>
            <a:gdLst/>
            <a:ahLst/>
            <a:cxnLst/>
            <a:rect l="l" t="t" r="r" b="b"/>
            <a:pathLst>
              <a:path w="5297397" h="709869">
                <a:moveTo>
                  <a:pt x="70987" y="0"/>
                </a:moveTo>
                <a:lnTo>
                  <a:pt x="5226410" y="0"/>
                </a:lnTo>
                <a:cubicBezTo>
                  <a:pt x="5265615" y="0"/>
                  <a:pt x="5297397" y="31782"/>
                  <a:pt x="5297397" y="70987"/>
                </a:cubicBezTo>
                <a:lnTo>
                  <a:pt x="5297397" y="638882"/>
                </a:lnTo>
                <a:cubicBezTo>
                  <a:pt x="5297397" y="678087"/>
                  <a:pt x="5265615" y="709869"/>
                  <a:pt x="5226410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65502" y="4634114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0"/>
                </a:moveTo>
                <a:cubicBezTo>
                  <a:pt x="110166" y="0"/>
                  <a:pt x="141974" y="31808"/>
                  <a:pt x="141974" y="70987"/>
                </a:cubicBezTo>
                <a:cubicBezTo>
                  <a:pt x="141974" y="110166"/>
                  <a:pt x="110166" y="141974"/>
                  <a:pt x="70987" y="141974"/>
                </a:cubicBezTo>
                <a:cubicBezTo>
                  <a:pt x="31808" y="141974"/>
                  <a:pt x="0" y="110166"/>
                  <a:pt x="0" y="70987"/>
                </a:cubicBezTo>
                <a:cubicBezTo>
                  <a:pt x="0" y="31808"/>
                  <a:pt x="31808" y="0"/>
                  <a:pt x="70987" y="0"/>
                </a:cubicBezTo>
                <a:close/>
                <a:moveTo>
                  <a:pt x="64332" y="33275"/>
                </a:moveTo>
                <a:lnTo>
                  <a:pt x="64332" y="70987"/>
                </a:lnTo>
                <a:cubicBezTo>
                  <a:pt x="64332" y="73205"/>
                  <a:pt x="65441" y="75285"/>
                  <a:pt x="67299" y="76533"/>
                </a:cubicBezTo>
                <a:lnTo>
                  <a:pt x="93919" y="94279"/>
                </a:lnTo>
                <a:cubicBezTo>
                  <a:pt x="96969" y="96331"/>
                  <a:pt x="101101" y="95500"/>
                  <a:pt x="103153" y="92422"/>
                </a:cubicBezTo>
                <a:cubicBezTo>
                  <a:pt x="105205" y="89344"/>
                  <a:pt x="104373" y="85240"/>
                  <a:pt x="101295" y="83188"/>
                </a:cubicBezTo>
                <a:lnTo>
                  <a:pt x="77642" y="67438"/>
                </a:lnTo>
                <a:lnTo>
                  <a:pt x="77642" y="33275"/>
                </a:lnTo>
                <a:cubicBezTo>
                  <a:pt x="77642" y="29587"/>
                  <a:pt x="74675" y="26620"/>
                  <a:pt x="70987" y="26620"/>
                </a:cubicBezTo>
                <a:cubicBezTo>
                  <a:pt x="67299" y="26620"/>
                  <a:pt x="64332" y="29587"/>
                  <a:pt x="64332" y="332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31703" y="4598620"/>
            <a:ext cx="2750742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Prazo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1703" y="4882568"/>
            <a:ext cx="2741869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Prazo em dias e prazo médio de pagamento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1275" y="5308489"/>
            <a:ext cx="5297397" cy="709869"/>
          </a:xfrm>
          <a:custGeom>
            <a:avLst/>
            <a:gdLst/>
            <a:ahLst/>
            <a:cxnLst/>
            <a:rect l="l" t="t" r="r" b="b"/>
            <a:pathLst>
              <a:path w="5297397" h="709869">
                <a:moveTo>
                  <a:pt x="70987" y="0"/>
                </a:moveTo>
                <a:lnTo>
                  <a:pt x="5226410" y="0"/>
                </a:lnTo>
                <a:cubicBezTo>
                  <a:pt x="5265615" y="0"/>
                  <a:pt x="5297397" y="31782"/>
                  <a:pt x="5297397" y="70987"/>
                </a:cubicBezTo>
                <a:lnTo>
                  <a:pt x="5297397" y="638882"/>
                </a:lnTo>
                <a:cubicBezTo>
                  <a:pt x="5297397" y="678087"/>
                  <a:pt x="5265615" y="709869"/>
                  <a:pt x="5226410" y="709869"/>
                </a:cubicBezTo>
                <a:lnTo>
                  <a:pt x="70987" y="709869"/>
                </a:lnTo>
                <a:cubicBezTo>
                  <a:pt x="31808" y="709869"/>
                  <a:pt x="0" y="678061"/>
                  <a:pt x="0" y="638882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56629" y="5450463"/>
            <a:ext cx="159721" cy="141974"/>
          </a:xfrm>
          <a:custGeom>
            <a:avLst/>
            <a:gdLst/>
            <a:ahLst/>
            <a:cxnLst/>
            <a:rect l="l" t="t" r="r" b="b"/>
            <a:pathLst>
              <a:path w="159721" h="141974">
                <a:moveTo>
                  <a:pt x="0" y="35493"/>
                </a:moveTo>
                <a:cubicBezTo>
                  <a:pt x="0" y="25705"/>
                  <a:pt x="7958" y="17747"/>
                  <a:pt x="17747" y="17747"/>
                </a:cubicBezTo>
                <a:lnTo>
                  <a:pt x="141974" y="17747"/>
                </a:lnTo>
                <a:cubicBezTo>
                  <a:pt x="151762" y="17747"/>
                  <a:pt x="159721" y="25705"/>
                  <a:pt x="159721" y="35493"/>
                </a:cubicBezTo>
                <a:lnTo>
                  <a:pt x="159721" y="53240"/>
                </a:lnTo>
                <a:cubicBezTo>
                  <a:pt x="159721" y="55680"/>
                  <a:pt x="157669" y="57594"/>
                  <a:pt x="155367" y="58398"/>
                </a:cubicBezTo>
                <a:cubicBezTo>
                  <a:pt x="150154" y="60200"/>
                  <a:pt x="146410" y="65164"/>
                  <a:pt x="146410" y="70987"/>
                </a:cubicBezTo>
                <a:cubicBezTo>
                  <a:pt x="146410" y="76810"/>
                  <a:pt x="150154" y="81774"/>
                  <a:pt x="155367" y="83576"/>
                </a:cubicBezTo>
                <a:cubicBezTo>
                  <a:pt x="157669" y="84380"/>
                  <a:pt x="159721" y="86293"/>
                  <a:pt x="159721" y="88734"/>
                </a:cubicBezTo>
                <a:lnTo>
                  <a:pt x="159721" y="106480"/>
                </a:lnTo>
                <a:cubicBezTo>
                  <a:pt x="159721" y="116269"/>
                  <a:pt x="151762" y="124227"/>
                  <a:pt x="141974" y="124227"/>
                </a:cubicBezTo>
                <a:lnTo>
                  <a:pt x="17747" y="124227"/>
                </a:lnTo>
                <a:cubicBezTo>
                  <a:pt x="7958" y="124227"/>
                  <a:pt x="0" y="116269"/>
                  <a:pt x="0" y="106480"/>
                </a:cubicBezTo>
                <a:lnTo>
                  <a:pt x="0" y="88734"/>
                </a:lnTo>
                <a:cubicBezTo>
                  <a:pt x="0" y="86293"/>
                  <a:pt x="2052" y="84380"/>
                  <a:pt x="4353" y="83576"/>
                </a:cubicBezTo>
                <a:cubicBezTo>
                  <a:pt x="9567" y="81774"/>
                  <a:pt x="13310" y="76810"/>
                  <a:pt x="13310" y="70987"/>
                </a:cubicBezTo>
                <a:cubicBezTo>
                  <a:pt x="13310" y="65164"/>
                  <a:pt x="9567" y="60200"/>
                  <a:pt x="4353" y="58398"/>
                </a:cubicBezTo>
                <a:cubicBezTo>
                  <a:pt x="2052" y="57594"/>
                  <a:pt x="0" y="55680"/>
                  <a:pt x="0" y="53240"/>
                </a:cubicBezTo>
                <a:lnTo>
                  <a:pt x="0" y="3549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31703" y="5414969"/>
            <a:ext cx="1774672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Ticket Médio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703" y="5698917"/>
            <a:ext cx="1765799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médio das transações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2394" y="2287109"/>
            <a:ext cx="5661205" cy="1881153"/>
          </a:xfrm>
          <a:custGeom>
            <a:avLst/>
            <a:gdLst/>
            <a:ahLst/>
            <a:cxnLst/>
            <a:rect l="l" t="t" r="r" b="b"/>
            <a:pathLst>
              <a:path w="5661205" h="1881153">
                <a:moveTo>
                  <a:pt x="70995" y="0"/>
                </a:moveTo>
                <a:lnTo>
                  <a:pt x="5590211" y="0"/>
                </a:lnTo>
                <a:cubicBezTo>
                  <a:pt x="5629420" y="0"/>
                  <a:pt x="5661205" y="31785"/>
                  <a:pt x="5661205" y="70995"/>
                </a:cubicBezTo>
                <a:lnTo>
                  <a:pt x="5661205" y="1810158"/>
                </a:lnTo>
                <a:cubicBezTo>
                  <a:pt x="5661205" y="1849367"/>
                  <a:pt x="5629420" y="1881153"/>
                  <a:pt x="5590211" y="1881153"/>
                </a:cubicBezTo>
                <a:lnTo>
                  <a:pt x="70995" y="1881153"/>
                </a:lnTo>
                <a:cubicBezTo>
                  <a:pt x="31812" y="1881153"/>
                  <a:pt x="0" y="1849341"/>
                  <a:pt x="0" y="1810158"/>
                </a:cubicBezTo>
                <a:lnTo>
                  <a:pt x="0" y="70995"/>
                </a:lnTo>
                <a:cubicBezTo>
                  <a:pt x="0" y="31785"/>
                  <a:pt x="31785" y="0"/>
                  <a:pt x="7099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354298" y="2504507"/>
            <a:ext cx="221834" cy="177467"/>
          </a:xfrm>
          <a:custGeom>
            <a:avLst/>
            <a:gdLst/>
            <a:ahLst/>
            <a:cxnLst/>
            <a:rect l="l" t="t" r="r" b="b"/>
            <a:pathLst>
              <a:path w="221834" h="177467">
                <a:moveTo>
                  <a:pt x="110917" y="5546"/>
                </a:moveTo>
                <a:cubicBezTo>
                  <a:pt x="130812" y="5546"/>
                  <a:pt x="146965" y="21698"/>
                  <a:pt x="146965" y="41594"/>
                </a:cubicBezTo>
                <a:cubicBezTo>
                  <a:pt x="146965" y="61489"/>
                  <a:pt x="130812" y="77642"/>
                  <a:pt x="110917" y="77642"/>
                </a:cubicBezTo>
                <a:cubicBezTo>
                  <a:pt x="91022" y="77642"/>
                  <a:pt x="74869" y="61489"/>
                  <a:pt x="74869" y="41594"/>
                </a:cubicBezTo>
                <a:cubicBezTo>
                  <a:pt x="74869" y="21698"/>
                  <a:pt x="91022" y="5546"/>
                  <a:pt x="110917" y="5546"/>
                </a:cubicBezTo>
                <a:close/>
                <a:moveTo>
                  <a:pt x="33275" y="30502"/>
                </a:moveTo>
                <a:cubicBezTo>
                  <a:pt x="47049" y="30502"/>
                  <a:pt x="58231" y="41685"/>
                  <a:pt x="58231" y="55459"/>
                </a:cubicBezTo>
                <a:cubicBezTo>
                  <a:pt x="58231" y="69232"/>
                  <a:pt x="47049" y="80415"/>
                  <a:pt x="33275" y="80415"/>
                </a:cubicBezTo>
                <a:cubicBezTo>
                  <a:pt x="19501" y="80415"/>
                  <a:pt x="8319" y="69232"/>
                  <a:pt x="8319" y="55459"/>
                </a:cubicBezTo>
                <a:cubicBezTo>
                  <a:pt x="8319" y="41685"/>
                  <a:pt x="19501" y="30502"/>
                  <a:pt x="33275" y="30502"/>
                </a:cubicBezTo>
                <a:close/>
                <a:moveTo>
                  <a:pt x="0" y="144192"/>
                </a:moveTo>
                <a:cubicBezTo>
                  <a:pt x="0" y="119686"/>
                  <a:pt x="19861" y="99825"/>
                  <a:pt x="44367" y="99825"/>
                </a:cubicBezTo>
                <a:cubicBezTo>
                  <a:pt x="48803" y="99825"/>
                  <a:pt x="53102" y="100484"/>
                  <a:pt x="57157" y="101697"/>
                </a:cubicBezTo>
                <a:cubicBezTo>
                  <a:pt x="45753" y="114453"/>
                  <a:pt x="38821" y="131298"/>
                  <a:pt x="38821" y="149738"/>
                </a:cubicBezTo>
                <a:lnTo>
                  <a:pt x="38821" y="155284"/>
                </a:lnTo>
                <a:cubicBezTo>
                  <a:pt x="38821" y="159235"/>
                  <a:pt x="39653" y="162979"/>
                  <a:pt x="41143" y="166376"/>
                </a:cubicBezTo>
                <a:lnTo>
                  <a:pt x="11092" y="166376"/>
                </a:lnTo>
                <a:cubicBezTo>
                  <a:pt x="4957" y="166376"/>
                  <a:pt x="0" y="161419"/>
                  <a:pt x="0" y="155284"/>
                </a:cubicBezTo>
                <a:lnTo>
                  <a:pt x="0" y="144192"/>
                </a:lnTo>
                <a:close/>
                <a:moveTo>
                  <a:pt x="180691" y="166376"/>
                </a:moveTo>
                <a:cubicBezTo>
                  <a:pt x="182181" y="162979"/>
                  <a:pt x="183013" y="159235"/>
                  <a:pt x="183013" y="155284"/>
                </a:cubicBezTo>
                <a:lnTo>
                  <a:pt x="183013" y="149738"/>
                </a:lnTo>
                <a:cubicBezTo>
                  <a:pt x="183013" y="131298"/>
                  <a:pt x="176081" y="114453"/>
                  <a:pt x="164677" y="101697"/>
                </a:cubicBezTo>
                <a:cubicBezTo>
                  <a:pt x="168733" y="100484"/>
                  <a:pt x="173031" y="99825"/>
                  <a:pt x="177467" y="99825"/>
                </a:cubicBezTo>
                <a:cubicBezTo>
                  <a:pt x="201973" y="99825"/>
                  <a:pt x="221834" y="119686"/>
                  <a:pt x="221834" y="144192"/>
                </a:cubicBezTo>
                <a:lnTo>
                  <a:pt x="221834" y="155284"/>
                </a:lnTo>
                <a:cubicBezTo>
                  <a:pt x="221834" y="161419"/>
                  <a:pt x="216877" y="166376"/>
                  <a:pt x="210742" y="166376"/>
                </a:cubicBezTo>
                <a:lnTo>
                  <a:pt x="180691" y="166376"/>
                </a:lnTo>
                <a:close/>
                <a:moveTo>
                  <a:pt x="163603" y="55459"/>
                </a:moveTo>
                <a:cubicBezTo>
                  <a:pt x="163603" y="41685"/>
                  <a:pt x="174785" y="30502"/>
                  <a:pt x="188559" y="30502"/>
                </a:cubicBezTo>
                <a:cubicBezTo>
                  <a:pt x="202333" y="30502"/>
                  <a:pt x="213515" y="41685"/>
                  <a:pt x="213515" y="55459"/>
                </a:cubicBezTo>
                <a:cubicBezTo>
                  <a:pt x="213515" y="69232"/>
                  <a:pt x="202333" y="80415"/>
                  <a:pt x="188559" y="80415"/>
                </a:cubicBezTo>
                <a:cubicBezTo>
                  <a:pt x="174785" y="80415"/>
                  <a:pt x="163603" y="69232"/>
                  <a:pt x="163603" y="55459"/>
                </a:cubicBezTo>
                <a:close/>
                <a:moveTo>
                  <a:pt x="55459" y="149738"/>
                </a:moveTo>
                <a:cubicBezTo>
                  <a:pt x="55459" y="119097"/>
                  <a:pt x="80276" y="94279"/>
                  <a:pt x="110917" y="94279"/>
                </a:cubicBezTo>
                <a:cubicBezTo>
                  <a:pt x="141558" y="94279"/>
                  <a:pt x="166376" y="119097"/>
                  <a:pt x="166376" y="149738"/>
                </a:cubicBezTo>
                <a:lnTo>
                  <a:pt x="166376" y="155284"/>
                </a:lnTo>
                <a:cubicBezTo>
                  <a:pt x="166376" y="161419"/>
                  <a:pt x="161419" y="166376"/>
                  <a:pt x="155284" y="166376"/>
                </a:cubicBezTo>
                <a:lnTo>
                  <a:pt x="66550" y="166376"/>
                </a:lnTo>
                <a:cubicBezTo>
                  <a:pt x="60415" y="166376"/>
                  <a:pt x="55459" y="161419"/>
                  <a:pt x="55459" y="155284"/>
                </a:cubicBezTo>
                <a:lnTo>
                  <a:pt x="55459" y="149738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576132" y="2469013"/>
            <a:ext cx="5164297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Subcredenciadores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4298" y="2823948"/>
            <a:ext cx="536838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Lista contendo: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0918" y="3143389"/>
            <a:ext cx="124227" cy="141974"/>
          </a:xfrm>
          <a:custGeom>
            <a:avLst/>
            <a:gdLst/>
            <a:ahLst/>
            <a:cxnLst/>
            <a:rect l="l" t="t" r="r" b="b"/>
            <a:pathLst>
              <a:path w="124227" h="141974">
                <a:moveTo>
                  <a:pt x="120567" y="19438"/>
                </a:moveTo>
                <a:cubicBezTo>
                  <a:pt x="124532" y="22322"/>
                  <a:pt x="125419" y="27868"/>
                  <a:pt x="122536" y="31833"/>
                </a:cubicBezTo>
                <a:lnTo>
                  <a:pt x="51549" y="129440"/>
                </a:lnTo>
                <a:cubicBezTo>
                  <a:pt x="50024" y="131548"/>
                  <a:pt x="47667" y="132851"/>
                  <a:pt x="45060" y="133073"/>
                </a:cubicBezTo>
                <a:cubicBezTo>
                  <a:pt x="42453" y="133295"/>
                  <a:pt x="39930" y="132324"/>
                  <a:pt x="38100" y="130494"/>
                </a:cubicBezTo>
                <a:lnTo>
                  <a:pt x="2607" y="95000"/>
                </a:lnTo>
                <a:cubicBezTo>
                  <a:pt x="-860" y="91534"/>
                  <a:pt x="-860" y="85905"/>
                  <a:pt x="2607" y="82439"/>
                </a:cubicBezTo>
                <a:cubicBezTo>
                  <a:pt x="6073" y="78973"/>
                  <a:pt x="11702" y="78973"/>
                  <a:pt x="15168" y="82439"/>
                </a:cubicBezTo>
                <a:lnTo>
                  <a:pt x="43313" y="110584"/>
                </a:lnTo>
                <a:lnTo>
                  <a:pt x="108200" y="21379"/>
                </a:lnTo>
                <a:cubicBezTo>
                  <a:pt x="111083" y="17414"/>
                  <a:pt x="116629" y="16527"/>
                  <a:pt x="120595" y="194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602752" y="3107895"/>
            <a:ext cx="1100297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em reais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0918" y="3391843"/>
            <a:ext cx="124227" cy="141974"/>
          </a:xfrm>
          <a:custGeom>
            <a:avLst/>
            <a:gdLst/>
            <a:ahLst/>
            <a:cxnLst/>
            <a:rect l="l" t="t" r="r" b="b"/>
            <a:pathLst>
              <a:path w="124227" h="141974">
                <a:moveTo>
                  <a:pt x="120567" y="19438"/>
                </a:moveTo>
                <a:cubicBezTo>
                  <a:pt x="124532" y="22322"/>
                  <a:pt x="125419" y="27868"/>
                  <a:pt x="122536" y="31833"/>
                </a:cubicBezTo>
                <a:lnTo>
                  <a:pt x="51549" y="129440"/>
                </a:lnTo>
                <a:cubicBezTo>
                  <a:pt x="50024" y="131548"/>
                  <a:pt x="47667" y="132851"/>
                  <a:pt x="45060" y="133073"/>
                </a:cubicBezTo>
                <a:cubicBezTo>
                  <a:pt x="42453" y="133295"/>
                  <a:pt x="39930" y="132324"/>
                  <a:pt x="38100" y="130494"/>
                </a:cubicBezTo>
                <a:lnTo>
                  <a:pt x="2607" y="95000"/>
                </a:lnTo>
                <a:cubicBezTo>
                  <a:pt x="-860" y="91534"/>
                  <a:pt x="-860" y="85905"/>
                  <a:pt x="2607" y="82439"/>
                </a:cubicBezTo>
                <a:cubicBezTo>
                  <a:pt x="6073" y="78973"/>
                  <a:pt x="11702" y="78973"/>
                  <a:pt x="15168" y="82439"/>
                </a:cubicBezTo>
                <a:lnTo>
                  <a:pt x="43313" y="110584"/>
                </a:lnTo>
                <a:lnTo>
                  <a:pt x="108200" y="21379"/>
                </a:lnTo>
                <a:cubicBezTo>
                  <a:pt x="111083" y="17414"/>
                  <a:pt x="116629" y="16527"/>
                  <a:pt x="120595" y="194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602752" y="3356349"/>
            <a:ext cx="315004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Quantidade de Transações de Pagamento Compra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0918" y="3640297"/>
            <a:ext cx="124227" cy="141974"/>
          </a:xfrm>
          <a:custGeom>
            <a:avLst/>
            <a:gdLst/>
            <a:ahLst/>
            <a:cxnLst/>
            <a:rect l="l" t="t" r="r" b="b"/>
            <a:pathLst>
              <a:path w="124227" h="141974">
                <a:moveTo>
                  <a:pt x="120567" y="19438"/>
                </a:moveTo>
                <a:cubicBezTo>
                  <a:pt x="124532" y="22322"/>
                  <a:pt x="125419" y="27868"/>
                  <a:pt x="122536" y="31833"/>
                </a:cubicBezTo>
                <a:lnTo>
                  <a:pt x="51549" y="129440"/>
                </a:lnTo>
                <a:cubicBezTo>
                  <a:pt x="50024" y="131548"/>
                  <a:pt x="47667" y="132851"/>
                  <a:pt x="45060" y="133073"/>
                </a:cubicBezTo>
                <a:cubicBezTo>
                  <a:pt x="42453" y="133295"/>
                  <a:pt x="39930" y="132324"/>
                  <a:pt x="38100" y="130494"/>
                </a:cubicBezTo>
                <a:lnTo>
                  <a:pt x="2607" y="95000"/>
                </a:lnTo>
                <a:cubicBezTo>
                  <a:pt x="-860" y="91534"/>
                  <a:pt x="-860" y="85905"/>
                  <a:pt x="2607" y="82439"/>
                </a:cubicBezTo>
                <a:cubicBezTo>
                  <a:pt x="6073" y="78973"/>
                  <a:pt x="11702" y="78973"/>
                  <a:pt x="15168" y="82439"/>
                </a:cubicBezTo>
                <a:lnTo>
                  <a:pt x="43313" y="110584"/>
                </a:lnTo>
                <a:lnTo>
                  <a:pt x="108200" y="21379"/>
                </a:lnTo>
                <a:cubicBezTo>
                  <a:pt x="111083" y="17414"/>
                  <a:pt x="116629" y="16527"/>
                  <a:pt x="120595" y="194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602752" y="3604803"/>
            <a:ext cx="340737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Identificação dos que atuam como Subcredenciadores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2394" y="4319109"/>
            <a:ext cx="5661205" cy="1881153"/>
          </a:xfrm>
          <a:custGeom>
            <a:avLst/>
            <a:gdLst/>
            <a:ahLst/>
            <a:cxnLst/>
            <a:rect l="l" t="t" r="r" b="b"/>
            <a:pathLst>
              <a:path w="5661205" h="1881153">
                <a:moveTo>
                  <a:pt x="70995" y="0"/>
                </a:moveTo>
                <a:lnTo>
                  <a:pt x="5590211" y="0"/>
                </a:lnTo>
                <a:cubicBezTo>
                  <a:pt x="5629420" y="0"/>
                  <a:pt x="5661205" y="31785"/>
                  <a:pt x="5661205" y="70995"/>
                </a:cubicBezTo>
                <a:lnTo>
                  <a:pt x="5661205" y="1810158"/>
                </a:lnTo>
                <a:cubicBezTo>
                  <a:pt x="5661205" y="1849367"/>
                  <a:pt x="5629420" y="1881153"/>
                  <a:pt x="5590211" y="1881153"/>
                </a:cubicBezTo>
                <a:lnTo>
                  <a:pt x="70995" y="1881153"/>
                </a:lnTo>
                <a:cubicBezTo>
                  <a:pt x="31812" y="1881153"/>
                  <a:pt x="0" y="1849341"/>
                  <a:pt x="0" y="1810158"/>
                </a:cubicBezTo>
                <a:lnTo>
                  <a:pt x="0" y="70995"/>
                </a:lnTo>
                <a:cubicBezTo>
                  <a:pt x="0" y="31785"/>
                  <a:pt x="31785" y="0"/>
                  <a:pt x="7099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365390" y="4536507"/>
            <a:ext cx="199651" cy="177467"/>
          </a:xfrm>
          <a:custGeom>
            <a:avLst/>
            <a:gdLst/>
            <a:ahLst/>
            <a:cxnLst/>
            <a:rect l="l" t="t" r="r" b="b"/>
            <a:pathLst>
              <a:path w="199651" h="177467">
                <a:moveTo>
                  <a:pt x="180240" y="69323"/>
                </a:moveTo>
                <a:cubicBezTo>
                  <a:pt x="190951" y="69323"/>
                  <a:pt x="199651" y="78023"/>
                  <a:pt x="199651" y="88734"/>
                </a:cubicBezTo>
                <a:cubicBezTo>
                  <a:pt x="199651" y="99444"/>
                  <a:pt x="190951" y="108144"/>
                  <a:pt x="180240" y="108144"/>
                </a:cubicBezTo>
                <a:lnTo>
                  <a:pt x="136116" y="108144"/>
                </a:lnTo>
                <a:lnTo>
                  <a:pt x="80935" y="168317"/>
                </a:lnTo>
                <a:cubicBezTo>
                  <a:pt x="78820" y="170604"/>
                  <a:pt x="75874" y="171921"/>
                  <a:pt x="72755" y="171921"/>
                </a:cubicBezTo>
                <a:lnTo>
                  <a:pt x="57608" y="171921"/>
                </a:lnTo>
                <a:cubicBezTo>
                  <a:pt x="53829" y="171921"/>
                  <a:pt x="51160" y="168213"/>
                  <a:pt x="52339" y="164608"/>
                </a:cubicBezTo>
                <a:lnTo>
                  <a:pt x="71160" y="108144"/>
                </a:lnTo>
                <a:lnTo>
                  <a:pt x="36603" y="108144"/>
                </a:lnTo>
                <a:lnTo>
                  <a:pt x="18301" y="131021"/>
                </a:lnTo>
                <a:cubicBezTo>
                  <a:pt x="17261" y="132338"/>
                  <a:pt x="15667" y="133100"/>
                  <a:pt x="13969" y="133100"/>
                </a:cubicBezTo>
                <a:lnTo>
                  <a:pt x="7106" y="133100"/>
                </a:lnTo>
                <a:cubicBezTo>
                  <a:pt x="3501" y="133100"/>
                  <a:pt x="867" y="129704"/>
                  <a:pt x="1733" y="126203"/>
                </a:cubicBezTo>
                <a:lnTo>
                  <a:pt x="11092" y="88734"/>
                </a:lnTo>
                <a:lnTo>
                  <a:pt x="1733" y="51264"/>
                </a:lnTo>
                <a:cubicBezTo>
                  <a:pt x="832" y="47764"/>
                  <a:pt x="3501" y="44367"/>
                  <a:pt x="7106" y="44367"/>
                </a:cubicBezTo>
                <a:lnTo>
                  <a:pt x="13969" y="44367"/>
                </a:lnTo>
                <a:cubicBezTo>
                  <a:pt x="15667" y="44367"/>
                  <a:pt x="17261" y="45129"/>
                  <a:pt x="18301" y="46447"/>
                </a:cubicBezTo>
                <a:lnTo>
                  <a:pt x="36603" y="69323"/>
                </a:lnTo>
                <a:lnTo>
                  <a:pt x="71160" y="69323"/>
                </a:lnTo>
                <a:lnTo>
                  <a:pt x="52339" y="12859"/>
                </a:lnTo>
                <a:cubicBezTo>
                  <a:pt x="51160" y="9255"/>
                  <a:pt x="53829" y="5546"/>
                  <a:pt x="57608" y="5546"/>
                </a:cubicBezTo>
                <a:lnTo>
                  <a:pt x="72755" y="5546"/>
                </a:lnTo>
                <a:cubicBezTo>
                  <a:pt x="75874" y="5546"/>
                  <a:pt x="78820" y="6863"/>
                  <a:pt x="80935" y="9151"/>
                </a:cubicBezTo>
                <a:lnTo>
                  <a:pt x="136116" y="69323"/>
                </a:lnTo>
                <a:lnTo>
                  <a:pt x="180240" y="6932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576132" y="4501013"/>
            <a:ext cx="5164297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Agências de Viagem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54298" y="4855948"/>
            <a:ext cx="536838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Lista de ECs que atuam como: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0918" y="5175389"/>
            <a:ext cx="124227" cy="141974"/>
          </a:xfrm>
          <a:custGeom>
            <a:avLst/>
            <a:gdLst/>
            <a:ahLst/>
            <a:cxnLst/>
            <a:rect l="l" t="t" r="r" b="b"/>
            <a:pathLst>
              <a:path w="124227" h="141974">
                <a:moveTo>
                  <a:pt x="120567" y="19438"/>
                </a:moveTo>
                <a:cubicBezTo>
                  <a:pt x="124532" y="22322"/>
                  <a:pt x="125419" y="27868"/>
                  <a:pt x="122536" y="31833"/>
                </a:cubicBezTo>
                <a:lnTo>
                  <a:pt x="51549" y="129440"/>
                </a:lnTo>
                <a:cubicBezTo>
                  <a:pt x="50024" y="131548"/>
                  <a:pt x="47667" y="132851"/>
                  <a:pt x="45060" y="133073"/>
                </a:cubicBezTo>
                <a:cubicBezTo>
                  <a:pt x="42453" y="133295"/>
                  <a:pt x="39930" y="132324"/>
                  <a:pt x="38100" y="130494"/>
                </a:cubicBezTo>
                <a:lnTo>
                  <a:pt x="2607" y="95000"/>
                </a:lnTo>
                <a:cubicBezTo>
                  <a:pt x="-860" y="91534"/>
                  <a:pt x="-860" y="85905"/>
                  <a:pt x="2607" y="82439"/>
                </a:cubicBezTo>
                <a:cubicBezTo>
                  <a:pt x="6073" y="78973"/>
                  <a:pt x="11702" y="78973"/>
                  <a:pt x="15168" y="82439"/>
                </a:cubicBezTo>
                <a:lnTo>
                  <a:pt x="43313" y="110584"/>
                </a:lnTo>
                <a:lnTo>
                  <a:pt x="108200" y="21379"/>
                </a:lnTo>
                <a:cubicBezTo>
                  <a:pt x="111083" y="17414"/>
                  <a:pt x="116629" y="16527"/>
                  <a:pt x="120595" y="194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602752" y="5139895"/>
            <a:ext cx="362033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Agências de viagem ou companhias aéreas (por CNPJ raiz)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0918" y="5423843"/>
            <a:ext cx="124227" cy="141974"/>
          </a:xfrm>
          <a:custGeom>
            <a:avLst/>
            <a:gdLst/>
            <a:ahLst/>
            <a:cxnLst/>
            <a:rect l="l" t="t" r="r" b="b"/>
            <a:pathLst>
              <a:path w="124227" h="141974">
                <a:moveTo>
                  <a:pt x="120567" y="19438"/>
                </a:moveTo>
                <a:cubicBezTo>
                  <a:pt x="124532" y="22322"/>
                  <a:pt x="125419" y="27868"/>
                  <a:pt x="122536" y="31833"/>
                </a:cubicBezTo>
                <a:lnTo>
                  <a:pt x="51549" y="129440"/>
                </a:lnTo>
                <a:cubicBezTo>
                  <a:pt x="50024" y="131548"/>
                  <a:pt x="47667" y="132851"/>
                  <a:pt x="45060" y="133073"/>
                </a:cubicBezTo>
                <a:cubicBezTo>
                  <a:pt x="42453" y="133295"/>
                  <a:pt x="39930" y="132324"/>
                  <a:pt x="38100" y="130494"/>
                </a:cubicBezTo>
                <a:lnTo>
                  <a:pt x="2607" y="95000"/>
                </a:lnTo>
                <a:cubicBezTo>
                  <a:pt x="-860" y="91534"/>
                  <a:pt x="-860" y="85905"/>
                  <a:pt x="2607" y="82439"/>
                </a:cubicBezTo>
                <a:cubicBezTo>
                  <a:pt x="6073" y="78973"/>
                  <a:pt x="11702" y="78973"/>
                  <a:pt x="15168" y="82439"/>
                </a:cubicBezTo>
                <a:lnTo>
                  <a:pt x="43313" y="110584"/>
                </a:lnTo>
                <a:lnTo>
                  <a:pt x="108200" y="21379"/>
                </a:lnTo>
                <a:cubicBezTo>
                  <a:pt x="111083" y="17414"/>
                  <a:pt x="116629" y="16527"/>
                  <a:pt x="120595" y="194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602752" y="5388349"/>
            <a:ext cx="227158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e quantidade de transações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0918" y="5672297"/>
            <a:ext cx="124227" cy="141974"/>
          </a:xfrm>
          <a:custGeom>
            <a:avLst/>
            <a:gdLst/>
            <a:ahLst/>
            <a:cxnLst/>
            <a:rect l="l" t="t" r="r" b="b"/>
            <a:pathLst>
              <a:path w="124227" h="141974">
                <a:moveTo>
                  <a:pt x="120567" y="19438"/>
                </a:moveTo>
                <a:cubicBezTo>
                  <a:pt x="124532" y="22322"/>
                  <a:pt x="125419" y="27868"/>
                  <a:pt x="122536" y="31833"/>
                </a:cubicBezTo>
                <a:lnTo>
                  <a:pt x="51549" y="129440"/>
                </a:lnTo>
                <a:cubicBezTo>
                  <a:pt x="50024" y="131548"/>
                  <a:pt x="47667" y="132851"/>
                  <a:pt x="45060" y="133073"/>
                </a:cubicBezTo>
                <a:cubicBezTo>
                  <a:pt x="42453" y="133295"/>
                  <a:pt x="39930" y="132324"/>
                  <a:pt x="38100" y="130494"/>
                </a:cubicBezTo>
                <a:lnTo>
                  <a:pt x="2607" y="95000"/>
                </a:lnTo>
                <a:cubicBezTo>
                  <a:pt x="-860" y="91534"/>
                  <a:pt x="-860" y="85905"/>
                  <a:pt x="2607" y="82439"/>
                </a:cubicBezTo>
                <a:cubicBezTo>
                  <a:pt x="6073" y="78973"/>
                  <a:pt x="11702" y="78973"/>
                  <a:pt x="15168" y="82439"/>
                </a:cubicBezTo>
                <a:lnTo>
                  <a:pt x="43313" y="110584"/>
                </a:lnTo>
                <a:lnTo>
                  <a:pt x="108200" y="21379"/>
                </a:lnTo>
                <a:cubicBezTo>
                  <a:pt x="111083" y="17414"/>
                  <a:pt x="116629" y="16527"/>
                  <a:pt x="120595" y="194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602752" y="5636803"/>
            <a:ext cx="2999197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Percentual do volume e transações desse grupo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59371" y="6351109"/>
            <a:ext cx="11473258" cy="505782"/>
          </a:xfrm>
          <a:custGeom>
            <a:avLst/>
            <a:gdLst/>
            <a:ahLst/>
            <a:cxnLst/>
            <a:rect l="l" t="t" r="r" b="b"/>
            <a:pathLst>
              <a:path w="11473258" h="505782">
                <a:moveTo>
                  <a:pt x="70986" y="0"/>
                </a:moveTo>
                <a:lnTo>
                  <a:pt x="11402271" y="0"/>
                </a:lnTo>
                <a:cubicBezTo>
                  <a:pt x="11441476" y="0"/>
                  <a:pt x="11473258" y="31782"/>
                  <a:pt x="11473258" y="70986"/>
                </a:cubicBezTo>
                <a:lnTo>
                  <a:pt x="11473258" y="434795"/>
                </a:lnTo>
                <a:cubicBezTo>
                  <a:pt x="11473258" y="474000"/>
                  <a:pt x="11441476" y="505782"/>
                  <a:pt x="11402271" y="505782"/>
                </a:cubicBezTo>
                <a:lnTo>
                  <a:pt x="70986" y="505782"/>
                </a:lnTo>
                <a:cubicBezTo>
                  <a:pt x="31782" y="505782"/>
                  <a:pt x="0" y="474000"/>
                  <a:pt x="0" y="434795"/>
                </a:cubicBezTo>
                <a:lnTo>
                  <a:pt x="0" y="70986"/>
                </a:lnTo>
                <a:cubicBezTo>
                  <a:pt x="0" y="31782"/>
                  <a:pt x="31782" y="0"/>
                  <a:pt x="7098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523528" y="6533013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62114" y="44367"/>
                </a:moveTo>
                <a:cubicBezTo>
                  <a:pt x="62114" y="39469"/>
                  <a:pt x="66090" y="35493"/>
                  <a:pt x="70987" y="35493"/>
                </a:cubicBezTo>
                <a:cubicBezTo>
                  <a:pt x="75884" y="35493"/>
                  <a:pt x="79860" y="39469"/>
                  <a:pt x="79860" y="44367"/>
                </a:cubicBezTo>
                <a:cubicBezTo>
                  <a:pt x="79860" y="49264"/>
                  <a:pt x="75884" y="53240"/>
                  <a:pt x="70987" y="53240"/>
                </a:cubicBezTo>
                <a:cubicBezTo>
                  <a:pt x="66090" y="53240"/>
                  <a:pt x="62114" y="49264"/>
                  <a:pt x="62114" y="44367"/>
                </a:cubicBezTo>
                <a:close/>
                <a:moveTo>
                  <a:pt x="59895" y="62114"/>
                </a:moveTo>
                <a:lnTo>
                  <a:pt x="73205" y="62114"/>
                </a:lnTo>
                <a:cubicBezTo>
                  <a:pt x="76893" y="62114"/>
                  <a:pt x="79860" y="65081"/>
                  <a:pt x="79860" y="68769"/>
                </a:cubicBezTo>
                <a:lnTo>
                  <a:pt x="79860" y="93170"/>
                </a:lnTo>
                <a:lnTo>
                  <a:pt x="82079" y="93170"/>
                </a:lnTo>
                <a:cubicBezTo>
                  <a:pt x="85767" y="93170"/>
                  <a:pt x="88734" y="96137"/>
                  <a:pt x="88734" y="99825"/>
                </a:cubicBezTo>
                <a:cubicBezTo>
                  <a:pt x="88734" y="103513"/>
                  <a:pt x="85767" y="106480"/>
                  <a:pt x="82079" y="106480"/>
                </a:cubicBezTo>
                <a:lnTo>
                  <a:pt x="59895" y="106480"/>
                </a:lnTo>
                <a:cubicBezTo>
                  <a:pt x="56207" y="106480"/>
                  <a:pt x="53240" y="103513"/>
                  <a:pt x="53240" y="99825"/>
                </a:cubicBezTo>
                <a:cubicBezTo>
                  <a:pt x="53240" y="96137"/>
                  <a:pt x="56207" y="93170"/>
                  <a:pt x="59895" y="93170"/>
                </a:cubicBezTo>
                <a:lnTo>
                  <a:pt x="66550" y="93170"/>
                </a:lnTo>
                <a:lnTo>
                  <a:pt x="66550" y="75424"/>
                </a:lnTo>
                <a:lnTo>
                  <a:pt x="59895" y="75424"/>
                </a:lnTo>
                <a:cubicBezTo>
                  <a:pt x="56207" y="75424"/>
                  <a:pt x="53240" y="72457"/>
                  <a:pt x="53240" y="68769"/>
                </a:cubicBezTo>
                <a:cubicBezTo>
                  <a:pt x="53240" y="65081"/>
                  <a:pt x="56207" y="62114"/>
                  <a:pt x="59895" y="6211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732847" y="6497520"/>
            <a:ext cx="1102435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Nota:</a:t>
            </a:r>
            <a:r>
              <a:rPr lang="en-US" sz="111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programa Elo de Controle de Mitigação de Risco </a:t>
            </a:r>
            <a:r>
              <a:rPr lang="en-US" sz="111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possui multas</a:t>
            </a:r>
            <a:r>
              <a:rPr lang="en-US" sz="111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apenas monitoramento e solicitação de informações.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etricstream.com/1aaa4cb7280578bfe1277ddb4ad6e1aebe392a55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2420" b="242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381000" y="709613"/>
            <a:ext cx="2020342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8B2AC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300288"/>
            <a:ext cx="76581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Programas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Monitoria de Credenciador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5176838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MATCH, MMP, QMAP e VAMP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6005513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kern="0" spc="55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116" y="633808"/>
            <a:ext cx="11646221" cy="35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Mastercard Alert To Control High-risk Merchants (MATCH)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721" y="1126770"/>
            <a:ext cx="11470163" cy="1258813"/>
          </a:xfrm>
          <a:custGeom>
            <a:avLst/>
            <a:gdLst/>
            <a:ahLst/>
            <a:cxnLst/>
            <a:rect l="l" t="t" r="r" b="b"/>
            <a:pathLst>
              <a:path w="11470163" h="1258813">
                <a:moveTo>
                  <a:pt x="35212" y="0"/>
                </a:moveTo>
                <a:lnTo>
                  <a:pt x="11399745" y="0"/>
                </a:lnTo>
                <a:cubicBezTo>
                  <a:pt x="11438636" y="0"/>
                  <a:pt x="11470163" y="31527"/>
                  <a:pt x="11470163" y="70418"/>
                </a:cubicBezTo>
                <a:lnTo>
                  <a:pt x="11470163" y="1188395"/>
                </a:lnTo>
                <a:cubicBezTo>
                  <a:pt x="11470163" y="1227286"/>
                  <a:pt x="11438636" y="1258813"/>
                  <a:pt x="11399745" y="1258813"/>
                </a:cubicBezTo>
                <a:lnTo>
                  <a:pt x="35212" y="1258813"/>
                </a:lnTo>
                <a:cubicBezTo>
                  <a:pt x="15765" y="1258813"/>
                  <a:pt x="0" y="1243048"/>
                  <a:pt x="0" y="122360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9721" y="1126770"/>
            <a:ext cx="35212" cy="1258813"/>
          </a:xfrm>
          <a:custGeom>
            <a:avLst/>
            <a:gdLst/>
            <a:ahLst/>
            <a:cxnLst/>
            <a:rect l="l" t="t" r="r" b="b"/>
            <a:pathLst>
              <a:path w="35212" h="1258813">
                <a:moveTo>
                  <a:pt x="35212" y="0"/>
                </a:moveTo>
                <a:lnTo>
                  <a:pt x="35212" y="0"/>
                </a:lnTo>
                <a:lnTo>
                  <a:pt x="35212" y="1258813"/>
                </a:lnTo>
                <a:lnTo>
                  <a:pt x="35212" y="1258813"/>
                </a:lnTo>
                <a:cubicBezTo>
                  <a:pt x="15765" y="1258813"/>
                  <a:pt x="0" y="1243048"/>
                  <a:pt x="0" y="122360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02998" y="1338039"/>
            <a:ext cx="184861" cy="211269"/>
          </a:xfrm>
          <a:custGeom>
            <a:avLst/>
            <a:gdLst/>
            <a:ahLst/>
            <a:cxnLst/>
            <a:rect l="l" t="t" r="r" b="b"/>
            <a:pathLst>
              <a:path w="184861" h="211269">
                <a:moveTo>
                  <a:pt x="184861" y="84920"/>
                </a:moveTo>
                <a:cubicBezTo>
                  <a:pt x="178754" y="88964"/>
                  <a:pt x="171739" y="92224"/>
                  <a:pt x="164435" y="94824"/>
                </a:cubicBezTo>
                <a:cubicBezTo>
                  <a:pt x="145041" y="101756"/>
                  <a:pt x="119582" y="105635"/>
                  <a:pt x="92430" y="105635"/>
                </a:cubicBezTo>
                <a:cubicBezTo>
                  <a:pt x="65279" y="105635"/>
                  <a:pt x="39778" y="101715"/>
                  <a:pt x="20425" y="94824"/>
                </a:cubicBezTo>
                <a:cubicBezTo>
                  <a:pt x="13163" y="92224"/>
                  <a:pt x="6107" y="88964"/>
                  <a:pt x="0" y="84920"/>
                </a:cubicBezTo>
                <a:lnTo>
                  <a:pt x="0" y="118839"/>
                </a:lnTo>
                <a:cubicBezTo>
                  <a:pt x="0" y="137077"/>
                  <a:pt x="41387" y="151850"/>
                  <a:pt x="92430" y="151850"/>
                </a:cubicBezTo>
                <a:cubicBezTo>
                  <a:pt x="143473" y="151850"/>
                  <a:pt x="184861" y="137077"/>
                  <a:pt x="184861" y="118839"/>
                </a:cubicBezTo>
                <a:lnTo>
                  <a:pt x="184861" y="84920"/>
                </a:lnTo>
                <a:close/>
                <a:moveTo>
                  <a:pt x="184861" y="52817"/>
                </a:moveTo>
                <a:lnTo>
                  <a:pt x="184861" y="33011"/>
                </a:lnTo>
                <a:cubicBezTo>
                  <a:pt x="184861" y="14772"/>
                  <a:pt x="143473" y="0"/>
                  <a:pt x="92430" y="0"/>
                </a:cubicBezTo>
                <a:cubicBezTo>
                  <a:pt x="41387" y="0"/>
                  <a:pt x="0" y="14772"/>
                  <a:pt x="0" y="33011"/>
                </a:cubicBezTo>
                <a:lnTo>
                  <a:pt x="0" y="52817"/>
                </a:lnTo>
                <a:cubicBezTo>
                  <a:pt x="0" y="71056"/>
                  <a:pt x="41387" y="85828"/>
                  <a:pt x="92430" y="85828"/>
                </a:cubicBezTo>
                <a:cubicBezTo>
                  <a:pt x="143473" y="85828"/>
                  <a:pt x="184861" y="71056"/>
                  <a:pt x="184861" y="52817"/>
                </a:cubicBezTo>
                <a:close/>
                <a:moveTo>
                  <a:pt x="164435" y="160845"/>
                </a:moveTo>
                <a:cubicBezTo>
                  <a:pt x="145083" y="167736"/>
                  <a:pt x="119623" y="171656"/>
                  <a:pt x="92430" y="171656"/>
                </a:cubicBezTo>
                <a:cubicBezTo>
                  <a:pt x="65238" y="171656"/>
                  <a:pt x="39778" y="167736"/>
                  <a:pt x="20425" y="160845"/>
                </a:cubicBezTo>
                <a:cubicBezTo>
                  <a:pt x="13163" y="158246"/>
                  <a:pt x="6107" y="154986"/>
                  <a:pt x="0" y="150942"/>
                </a:cubicBezTo>
                <a:lnTo>
                  <a:pt x="0" y="178258"/>
                </a:lnTo>
                <a:cubicBezTo>
                  <a:pt x="0" y="196497"/>
                  <a:pt x="41387" y="211269"/>
                  <a:pt x="92430" y="211269"/>
                </a:cubicBezTo>
                <a:cubicBezTo>
                  <a:pt x="143473" y="211269"/>
                  <a:pt x="184861" y="196497"/>
                  <a:pt x="184861" y="178258"/>
                </a:cubicBezTo>
                <a:lnTo>
                  <a:pt x="184861" y="150942"/>
                </a:lnTo>
                <a:cubicBezTo>
                  <a:pt x="178754" y="154986"/>
                  <a:pt x="171739" y="158246"/>
                  <a:pt x="164435" y="16084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7471" y="1302827"/>
            <a:ext cx="10941990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MATCH?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3385" y="1690155"/>
            <a:ext cx="11179668" cy="519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24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Mastercard Alert To Control High-risk Merchants (MATCH)</a:t>
            </a:r>
            <a:r>
              <a:rPr lang="en-US" sz="12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um sistema que </a:t>
            </a:r>
            <a:r>
              <a:rPr lang="en-US" sz="124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armazena informações de comerciantes de alto risco</a:t>
            </a:r>
            <a:r>
              <a:rPr lang="en-US" sz="12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(chargebacks, fraudes, violações, QMAP) e serve de base para adquirentes </a:t>
            </a:r>
            <a:r>
              <a:rPr lang="en-US" sz="124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analisarem os Estabelecimentos antes do credenciamento</a:t>
            </a:r>
            <a:r>
              <a:rPr lang="en-US" sz="12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517" y="2526429"/>
            <a:ext cx="5660257" cy="3459535"/>
          </a:xfrm>
          <a:custGeom>
            <a:avLst/>
            <a:gdLst/>
            <a:ahLst/>
            <a:cxnLst/>
            <a:rect l="l" t="t" r="r" b="b"/>
            <a:pathLst>
              <a:path w="5660257" h="3459535">
                <a:moveTo>
                  <a:pt x="70436" y="0"/>
                </a:moveTo>
                <a:lnTo>
                  <a:pt x="5589821" y="0"/>
                </a:lnTo>
                <a:cubicBezTo>
                  <a:pt x="5628722" y="0"/>
                  <a:pt x="5660257" y="31535"/>
                  <a:pt x="5660257" y="70436"/>
                </a:cubicBezTo>
                <a:lnTo>
                  <a:pt x="5660257" y="3389099"/>
                </a:lnTo>
                <a:cubicBezTo>
                  <a:pt x="5660257" y="3428000"/>
                  <a:pt x="5628722" y="3459535"/>
                  <a:pt x="5589821" y="3459535"/>
                </a:cubicBezTo>
                <a:lnTo>
                  <a:pt x="70436" y="3459535"/>
                </a:lnTo>
                <a:cubicBezTo>
                  <a:pt x="31535" y="3459535"/>
                  <a:pt x="0" y="3428000"/>
                  <a:pt x="0" y="3389099"/>
                </a:cubicBezTo>
                <a:lnTo>
                  <a:pt x="0" y="70436"/>
                </a:lnTo>
                <a:cubicBezTo>
                  <a:pt x="0" y="31535"/>
                  <a:pt x="31535" y="0"/>
                  <a:pt x="7043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58983" y="2742100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154051" y="88029"/>
                </a:moveTo>
                <a:cubicBezTo>
                  <a:pt x="154051" y="51591"/>
                  <a:pt x="124467" y="22007"/>
                  <a:pt x="88029" y="22007"/>
                </a:cubicBezTo>
                <a:cubicBezTo>
                  <a:pt x="51591" y="22007"/>
                  <a:pt x="22007" y="51591"/>
                  <a:pt x="22007" y="88029"/>
                </a:cubicBezTo>
                <a:cubicBezTo>
                  <a:pt x="22007" y="124467"/>
                  <a:pt x="51591" y="154051"/>
                  <a:pt x="88029" y="154051"/>
                </a:cubicBezTo>
                <a:cubicBezTo>
                  <a:pt x="124467" y="154051"/>
                  <a:pt x="154051" y="124467"/>
                  <a:pt x="154051" y="88029"/>
                </a:cubicBezTo>
                <a:close/>
                <a:moveTo>
                  <a:pt x="0" y="88029"/>
                </a:moveTo>
                <a:cubicBezTo>
                  <a:pt x="0" y="39444"/>
                  <a:pt x="39444" y="0"/>
                  <a:pt x="88029" y="0"/>
                </a:cubicBezTo>
                <a:cubicBezTo>
                  <a:pt x="136613" y="0"/>
                  <a:pt x="176058" y="39444"/>
                  <a:pt x="176058" y="88029"/>
                </a:cubicBezTo>
                <a:cubicBezTo>
                  <a:pt x="176058" y="136613"/>
                  <a:pt x="136613" y="176058"/>
                  <a:pt x="88029" y="176058"/>
                </a:cubicBezTo>
                <a:cubicBezTo>
                  <a:pt x="39444" y="176058"/>
                  <a:pt x="0" y="136613"/>
                  <a:pt x="0" y="88029"/>
                </a:cubicBezTo>
                <a:close/>
                <a:moveTo>
                  <a:pt x="88029" y="115538"/>
                </a:moveTo>
                <a:cubicBezTo>
                  <a:pt x="103212" y="115538"/>
                  <a:pt x="115538" y="103212"/>
                  <a:pt x="115538" y="88029"/>
                </a:cubicBezTo>
                <a:cubicBezTo>
                  <a:pt x="115538" y="72846"/>
                  <a:pt x="103212" y="60520"/>
                  <a:pt x="88029" y="60520"/>
                </a:cubicBezTo>
                <a:cubicBezTo>
                  <a:pt x="72846" y="60520"/>
                  <a:pt x="60520" y="72846"/>
                  <a:pt x="60520" y="88029"/>
                </a:cubicBezTo>
                <a:cubicBezTo>
                  <a:pt x="60520" y="103212"/>
                  <a:pt x="72846" y="115538"/>
                  <a:pt x="88029" y="115538"/>
                </a:cubicBezTo>
                <a:close/>
                <a:moveTo>
                  <a:pt x="88029" y="38513"/>
                </a:moveTo>
                <a:cubicBezTo>
                  <a:pt x="115358" y="38513"/>
                  <a:pt x="137545" y="60700"/>
                  <a:pt x="137545" y="88029"/>
                </a:cubicBezTo>
                <a:cubicBezTo>
                  <a:pt x="137545" y="115358"/>
                  <a:pt x="115358" y="137545"/>
                  <a:pt x="88029" y="137545"/>
                </a:cubicBezTo>
                <a:cubicBezTo>
                  <a:pt x="60700" y="137545"/>
                  <a:pt x="38513" y="115358"/>
                  <a:pt x="38513" y="88029"/>
                </a:cubicBezTo>
                <a:cubicBezTo>
                  <a:pt x="38513" y="60700"/>
                  <a:pt x="60700" y="38513"/>
                  <a:pt x="88029" y="38513"/>
                </a:cubicBezTo>
                <a:close/>
                <a:moveTo>
                  <a:pt x="77025" y="88029"/>
                </a:moveTo>
                <a:cubicBezTo>
                  <a:pt x="77025" y="81956"/>
                  <a:pt x="81956" y="77025"/>
                  <a:pt x="88029" y="77025"/>
                </a:cubicBezTo>
                <a:cubicBezTo>
                  <a:pt x="94102" y="77025"/>
                  <a:pt x="99032" y="81956"/>
                  <a:pt x="99032" y="88029"/>
                </a:cubicBezTo>
                <a:cubicBezTo>
                  <a:pt x="99032" y="94102"/>
                  <a:pt x="94102" y="99032"/>
                  <a:pt x="88029" y="99032"/>
                </a:cubicBezTo>
                <a:cubicBezTo>
                  <a:pt x="81956" y="99032"/>
                  <a:pt x="77025" y="94102"/>
                  <a:pt x="77025" y="8802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57048" y="2706888"/>
            <a:ext cx="516729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 do Sistema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6976" y="3059004"/>
            <a:ext cx="5369762" cy="220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sistema fornece a um </a:t>
            </a:r>
            <a:r>
              <a:rPr lang="en-US" sz="110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Usuário Autorizado (adquirente)</a:t>
            </a:r>
            <a:r>
              <a:rPr lang="en-US" sz="11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oportunidade de desenvolver, avaliar e revisar </a:t>
            </a:r>
            <a:r>
              <a:rPr lang="en-US" sz="110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informações de risco aprimoradas ou incrementais</a:t>
            </a:r>
            <a:r>
              <a:rPr lang="en-US" sz="11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de celebrar um Contrato Comercial com um potencial Comerciante MATCH.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1378" y="5369762"/>
            <a:ext cx="5290536" cy="431342"/>
          </a:xfrm>
          <a:custGeom>
            <a:avLst/>
            <a:gdLst/>
            <a:ahLst/>
            <a:cxnLst/>
            <a:rect l="l" t="t" r="r" b="b"/>
            <a:pathLst>
              <a:path w="5290536" h="431342">
                <a:moveTo>
                  <a:pt x="70425" y="0"/>
                </a:moveTo>
                <a:lnTo>
                  <a:pt x="5220111" y="0"/>
                </a:lnTo>
                <a:cubicBezTo>
                  <a:pt x="5259005" y="0"/>
                  <a:pt x="5290536" y="31530"/>
                  <a:pt x="5290536" y="70425"/>
                </a:cubicBezTo>
                <a:lnTo>
                  <a:pt x="5290536" y="360916"/>
                </a:lnTo>
                <a:cubicBezTo>
                  <a:pt x="5290536" y="399811"/>
                  <a:pt x="5259005" y="431342"/>
                  <a:pt x="5220111" y="431342"/>
                </a:cubicBezTo>
                <a:lnTo>
                  <a:pt x="70425" y="431342"/>
                </a:lnTo>
                <a:cubicBezTo>
                  <a:pt x="31556" y="431342"/>
                  <a:pt x="0" y="399785"/>
                  <a:pt x="0" y="360916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12700">
            <a:solidFill>
              <a:srgbClr val="38B2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69019" y="5515009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70423" y="37412"/>
                </a:moveTo>
                <a:cubicBezTo>
                  <a:pt x="74082" y="37412"/>
                  <a:pt x="77025" y="40356"/>
                  <a:pt x="77025" y="44014"/>
                </a:cubicBezTo>
                <a:lnTo>
                  <a:pt x="77025" y="74825"/>
                </a:lnTo>
                <a:cubicBezTo>
                  <a:pt x="77025" y="78483"/>
                  <a:pt x="74082" y="81427"/>
                  <a:pt x="70423" y="81427"/>
                </a:cubicBezTo>
                <a:cubicBezTo>
                  <a:pt x="66764" y="81427"/>
                  <a:pt x="63821" y="78483"/>
                  <a:pt x="63821" y="74825"/>
                </a:cubicBezTo>
                <a:lnTo>
                  <a:pt x="63821" y="44014"/>
                </a:lnTo>
                <a:cubicBezTo>
                  <a:pt x="63821" y="40356"/>
                  <a:pt x="66764" y="37412"/>
                  <a:pt x="70423" y="37412"/>
                </a:cubicBezTo>
                <a:close/>
                <a:moveTo>
                  <a:pt x="63078" y="96832"/>
                </a:moveTo>
                <a:cubicBezTo>
                  <a:pt x="62911" y="94105"/>
                  <a:pt x="64271" y="91512"/>
                  <a:pt x="66608" y="90098"/>
                </a:cubicBezTo>
                <a:cubicBezTo>
                  <a:pt x="68945" y="88684"/>
                  <a:pt x="71874" y="88684"/>
                  <a:pt x="74211" y="90098"/>
                </a:cubicBezTo>
                <a:cubicBezTo>
                  <a:pt x="76548" y="91512"/>
                  <a:pt x="77908" y="94105"/>
                  <a:pt x="77741" y="96832"/>
                </a:cubicBezTo>
                <a:cubicBezTo>
                  <a:pt x="77908" y="99558"/>
                  <a:pt x="76548" y="102152"/>
                  <a:pt x="74211" y="103566"/>
                </a:cubicBezTo>
                <a:cubicBezTo>
                  <a:pt x="71874" y="104979"/>
                  <a:pt x="68945" y="104979"/>
                  <a:pt x="66608" y="103566"/>
                </a:cubicBezTo>
                <a:cubicBezTo>
                  <a:pt x="64271" y="102152"/>
                  <a:pt x="62911" y="99558"/>
                  <a:pt x="63078" y="9683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76285" y="5479798"/>
            <a:ext cx="4916016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MATCH PRO é mandatório</a:t>
            </a:r>
            <a:r>
              <a:rPr lang="en-US" sz="11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adquirentes Mastercard.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0274" y="2526429"/>
            <a:ext cx="5660257" cy="3459535"/>
          </a:xfrm>
          <a:custGeom>
            <a:avLst/>
            <a:gdLst/>
            <a:ahLst/>
            <a:cxnLst/>
            <a:rect l="l" t="t" r="r" b="b"/>
            <a:pathLst>
              <a:path w="5660257" h="3459535">
                <a:moveTo>
                  <a:pt x="70436" y="0"/>
                </a:moveTo>
                <a:lnTo>
                  <a:pt x="5589821" y="0"/>
                </a:lnTo>
                <a:cubicBezTo>
                  <a:pt x="5628722" y="0"/>
                  <a:pt x="5660257" y="31535"/>
                  <a:pt x="5660257" y="70436"/>
                </a:cubicBezTo>
                <a:lnTo>
                  <a:pt x="5660257" y="3389099"/>
                </a:lnTo>
                <a:cubicBezTo>
                  <a:pt x="5660257" y="3428000"/>
                  <a:pt x="5628722" y="3459535"/>
                  <a:pt x="5589821" y="3459535"/>
                </a:cubicBezTo>
                <a:lnTo>
                  <a:pt x="70436" y="3459535"/>
                </a:lnTo>
                <a:cubicBezTo>
                  <a:pt x="31535" y="3459535"/>
                  <a:pt x="0" y="3428000"/>
                  <a:pt x="0" y="3389099"/>
                </a:cubicBezTo>
                <a:lnTo>
                  <a:pt x="0" y="70436"/>
                </a:lnTo>
                <a:cubicBezTo>
                  <a:pt x="0" y="31535"/>
                  <a:pt x="31535" y="0"/>
                  <a:pt x="7043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350734" y="2742100"/>
            <a:ext cx="220072" cy="176058"/>
          </a:xfrm>
          <a:custGeom>
            <a:avLst/>
            <a:gdLst/>
            <a:ahLst/>
            <a:cxnLst/>
            <a:rect l="l" t="t" r="r" b="b"/>
            <a:pathLst>
              <a:path w="220072" h="176058">
                <a:moveTo>
                  <a:pt x="44014" y="11004"/>
                </a:moveTo>
                <a:cubicBezTo>
                  <a:pt x="31876" y="11004"/>
                  <a:pt x="22007" y="20872"/>
                  <a:pt x="22007" y="33011"/>
                </a:cubicBezTo>
                <a:lnTo>
                  <a:pt x="22007" y="115538"/>
                </a:lnTo>
                <a:lnTo>
                  <a:pt x="44014" y="115538"/>
                </a:lnTo>
                <a:lnTo>
                  <a:pt x="44014" y="33011"/>
                </a:lnTo>
                <a:lnTo>
                  <a:pt x="176058" y="33011"/>
                </a:lnTo>
                <a:lnTo>
                  <a:pt x="176058" y="115538"/>
                </a:lnTo>
                <a:lnTo>
                  <a:pt x="198065" y="115538"/>
                </a:lnTo>
                <a:lnTo>
                  <a:pt x="198065" y="33011"/>
                </a:lnTo>
                <a:cubicBezTo>
                  <a:pt x="198065" y="20872"/>
                  <a:pt x="188196" y="11004"/>
                  <a:pt x="176058" y="11004"/>
                </a:cubicBezTo>
                <a:lnTo>
                  <a:pt x="44014" y="11004"/>
                </a:lnTo>
                <a:close/>
                <a:moveTo>
                  <a:pt x="6602" y="132043"/>
                </a:moveTo>
                <a:cubicBezTo>
                  <a:pt x="2957" y="132043"/>
                  <a:pt x="0" y="135001"/>
                  <a:pt x="0" y="138645"/>
                </a:cubicBezTo>
                <a:cubicBezTo>
                  <a:pt x="0" y="153225"/>
                  <a:pt x="11829" y="165054"/>
                  <a:pt x="26409" y="165054"/>
                </a:cubicBezTo>
                <a:lnTo>
                  <a:pt x="193664" y="165054"/>
                </a:lnTo>
                <a:cubicBezTo>
                  <a:pt x="208243" y="165054"/>
                  <a:pt x="220072" y="153225"/>
                  <a:pt x="220072" y="138645"/>
                </a:cubicBezTo>
                <a:cubicBezTo>
                  <a:pt x="220072" y="135001"/>
                  <a:pt x="217115" y="132043"/>
                  <a:pt x="213470" y="132043"/>
                </a:cubicBezTo>
                <a:lnTo>
                  <a:pt x="6602" y="13204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70806" y="2706888"/>
            <a:ext cx="516729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Canais de Acesso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0734" y="3059004"/>
            <a:ext cx="5299339" cy="915500"/>
          </a:xfrm>
          <a:custGeom>
            <a:avLst/>
            <a:gdLst/>
            <a:ahLst/>
            <a:cxnLst/>
            <a:rect l="l" t="t" r="r" b="b"/>
            <a:pathLst>
              <a:path w="5299339" h="915500">
                <a:moveTo>
                  <a:pt x="70420" y="0"/>
                </a:moveTo>
                <a:lnTo>
                  <a:pt x="5228918" y="0"/>
                </a:lnTo>
                <a:cubicBezTo>
                  <a:pt x="5267810" y="0"/>
                  <a:pt x="5299339" y="31528"/>
                  <a:pt x="5299339" y="70420"/>
                </a:cubicBezTo>
                <a:lnTo>
                  <a:pt x="5299339" y="845080"/>
                </a:lnTo>
                <a:cubicBezTo>
                  <a:pt x="5299339" y="883972"/>
                  <a:pt x="5267810" y="915500"/>
                  <a:pt x="5228918" y="915500"/>
                </a:cubicBezTo>
                <a:lnTo>
                  <a:pt x="70420" y="915500"/>
                </a:lnTo>
                <a:cubicBezTo>
                  <a:pt x="31528" y="915500"/>
                  <a:pt x="0" y="883972"/>
                  <a:pt x="0" y="845080"/>
                </a:cubicBezTo>
                <a:lnTo>
                  <a:pt x="0" y="70420"/>
                </a:lnTo>
                <a:cubicBezTo>
                  <a:pt x="0" y="31554"/>
                  <a:pt x="31554" y="0"/>
                  <a:pt x="7042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56368" y="3164638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562003" y="3270273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17606" y="8803"/>
                </a:moveTo>
                <a:cubicBezTo>
                  <a:pt x="7895" y="8803"/>
                  <a:pt x="0" y="16698"/>
                  <a:pt x="0" y="26409"/>
                </a:cubicBezTo>
                <a:lnTo>
                  <a:pt x="0" y="96832"/>
                </a:lnTo>
                <a:cubicBezTo>
                  <a:pt x="0" y="106542"/>
                  <a:pt x="7895" y="114438"/>
                  <a:pt x="17606" y="114438"/>
                </a:cubicBezTo>
                <a:lnTo>
                  <a:pt x="57219" y="114438"/>
                </a:lnTo>
                <a:lnTo>
                  <a:pt x="52817" y="127642"/>
                </a:lnTo>
                <a:lnTo>
                  <a:pt x="33011" y="127642"/>
                </a:lnTo>
                <a:cubicBezTo>
                  <a:pt x="29352" y="127642"/>
                  <a:pt x="26409" y="130585"/>
                  <a:pt x="26409" y="134244"/>
                </a:cubicBezTo>
                <a:cubicBezTo>
                  <a:pt x="26409" y="137903"/>
                  <a:pt x="29352" y="140846"/>
                  <a:pt x="33011" y="140846"/>
                </a:cubicBezTo>
                <a:lnTo>
                  <a:pt x="107835" y="140846"/>
                </a:lnTo>
                <a:cubicBezTo>
                  <a:pt x="111494" y="140846"/>
                  <a:pt x="114438" y="137903"/>
                  <a:pt x="114438" y="134244"/>
                </a:cubicBezTo>
                <a:cubicBezTo>
                  <a:pt x="114438" y="130585"/>
                  <a:pt x="111494" y="127642"/>
                  <a:pt x="107835" y="127642"/>
                </a:cubicBezTo>
                <a:lnTo>
                  <a:pt x="88029" y="127642"/>
                </a:lnTo>
                <a:lnTo>
                  <a:pt x="83627" y="114438"/>
                </a:lnTo>
                <a:lnTo>
                  <a:pt x="123240" y="114438"/>
                </a:lnTo>
                <a:cubicBezTo>
                  <a:pt x="132951" y="114438"/>
                  <a:pt x="140846" y="106542"/>
                  <a:pt x="140846" y="96832"/>
                </a:cubicBezTo>
                <a:lnTo>
                  <a:pt x="140846" y="26409"/>
                </a:lnTo>
                <a:cubicBezTo>
                  <a:pt x="140846" y="16698"/>
                  <a:pt x="132951" y="8803"/>
                  <a:pt x="123240" y="8803"/>
                </a:cubicBezTo>
                <a:lnTo>
                  <a:pt x="17606" y="8803"/>
                </a:lnTo>
                <a:close/>
                <a:moveTo>
                  <a:pt x="26409" y="26409"/>
                </a:moveTo>
                <a:lnTo>
                  <a:pt x="114438" y="26409"/>
                </a:lnTo>
                <a:cubicBezTo>
                  <a:pt x="119307" y="26409"/>
                  <a:pt x="123240" y="30342"/>
                  <a:pt x="123240" y="35212"/>
                </a:cubicBezTo>
                <a:lnTo>
                  <a:pt x="123240" y="79226"/>
                </a:lnTo>
                <a:cubicBezTo>
                  <a:pt x="123240" y="84095"/>
                  <a:pt x="119307" y="88029"/>
                  <a:pt x="114438" y="88029"/>
                </a:cubicBezTo>
                <a:lnTo>
                  <a:pt x="26409" y="88029"/>
                </a:lnTo>
                <a:cubicBezTo>
                  <a:pt x="21540" y="88029"/>
                  <a:pt x="17606" y="84095"/>
                  <a:pt x="17606" y="79226"/>
                </a:cubicBezTo>
                <a:lnTo>
                  <a:pt x="17606" y="35212"/>
                </a:lnTo>
                <a:cubicBezTo>
                  <a:pt x="17606" y="30342"/>
                  <a:pt x="21540" y="26409"/>
                  <a:pt x="26409" y="26409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914118" y="3164638"/>
            <a:ext cx="470954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do Usuário (IU)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14118" y="3446331"/>
            <a:ext cx="4700742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Disponível no </a:t>
            </a:r>
            <a:r>
              <a:rPr lang="en-US" sz="1109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 Company Performance</a:t>
            </a:r>
            <a:r>
              <a:rPr lang="en-US" sz="110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Mastercard Connect. Oferece entrada manual e upload de arquivo bulk.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0734" y="4080139"/>
            <a:ext cx="5299339" cy="704231"/>
          </a:xfrm>
          <a:custGeom>
            <a:avLst/>
            <a:gdLst/>
            <a:ahLst/>
            <a:cxnLst/>
            <a:rect l="l" t="t" r="r" b="b"/>
            <a:pathLst>
              <a:path w="5299339" h="704231">
                <a:moveTo>
                  <a:pt x="70423" y="0"/>
                </a:moveTo>
                <a:lnTo>
                  <a:pt x="5228916" y="0"/>
                </a:lnTo>
                <a:cubicBezTo>
                  <a:pt x="5267809" y="0"/>
                  <a:pt x="5299339" y="31529"/>
                  <a:pt x="5299339" y="70423"/>
                </a:cubicBezTo>
                <a:lnTo>
                  <a:pt x="5299339" y="633808"/>
                </a:lnTo>
                <a:cubicBezTo>
                  <a:pt x="5299339" y="672702"/>
                  <a:pt x="5267809" y="704231"/>
                  <a:pt x="5228916" y="704231"/>
                </a:cubicBezTo>
                <a:lnTo>
                  <a:pt x="70423" y="704231"/>
                </a:lnTo>
                <a:cubicBezTo>
                  <a:pt x="31529" y="704231"/>
                  <a:pt x="0" y="672702"/>
                  <a:pt x="0" y="633808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456368" y="4185773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553200" y="4291408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99253" y="330"/>
                </a:moveTo>
                <a:cubicBezTo>
                  <a:pt x="94576" y="-1018"/>
                  <a:pt x="89707" y="1706"/>
                  <a:pt x="88359" y="6382"/>
                </a:cubicBezTo>
                <a:lnTo>
                  <a:pt x="53147" y="129623"/>
                </a:lnTo>
                <a:cubicBezTo>
                  <a:pt x="51799" y="134299"/>
                  <a:pt x="54523" y="139168"/>
                  <a:pt x="59199" y="140516"/>
                </a:cubicBezTo>
                <a:cubicBezTo>
                  <a:pt x="63876" y="141864"/>
                  <a:pt x="68745" y="139141"/>
                  <a:pt x="70093" y="134464"/>
                </a:cubicBezTo>
                <a:lnTo>
                  <a:pt x="105305" y="11224"/>
                </a:lnTo>
                <a:cubicBezTo>
                  <a:pt x="106652" y="6547"/>
                  <a:pt x="103929" y="1678"/>
                  <a:pt x="99253" y="330"/>
                </a:cubicBezTo>
                <a:close/>
                <a:moveTo>
                  <a:pt x="117023" y="37770"/>
                </a:moveTo>
                <a:cubicBezTo>
                  <a:pt x="113585" y="41209"/>
                  <a:pt x="113585" y="46793"/>
                  <a:pt x="117023" y="50231"/>
                </a:cubicBezTo>
                <a:lnTo>
                  <a:pt x="137215" y="70423"/>
                </a:lnTo>
                <a:lnTo>
                  <a:pt x="117023" y="90615"/>
                </a:lnTo>
                <a:cubicBezTo>
                  <a:pt x="113585" y="94053"/>
                  <a:pt x="113585" y="99638"/>
                  <a:pt x="117023" y="103076"/>
                </a:cubicBezTo>
                <a:cubicBezTo>
                  <a:pt x="120462" y="106515"/>
                  <a:pt x="126046" y="106515"/>
                  <a:pt x="129485" y="103076"/>
                </a:cubicBezTo>
                <a:lnTo>
                  <a:pt x="155894" y="76668"/>
                </a:lnTo>
                <a:cubicBezTo>
                  <a:pt x="159332" y="73229"/>
                  <a:pt x="159332" y="67645"/>
                  <a:pt x="155894" y="64206"/>
                </a:cubicBezTo>
                <a:lnTo>
                  <a:pt x="129485" y="37797"/>
                </a:lnTo>
                <a:cubicBezTo>
                  <a:pt x="126046" y="34359"/>
                  <a:pt x="120462" y="34359"/>
                  <a:pt x="117023" y="37797"/>
                </a:cubicBezTo>
                <a:close/>
                <a:moveTo>
                  <a:pt x="41456" y="37770"/>
                </a:moveTo>
                <a:cubicBezTo>
                  <a:pt x="38017" y="34331"/>
                  <a:pt x="32433" y="34331"/>
                  <a:pt x="28995" y="37770"/>
                </a:cubicBezTo>
                <a:lnTo>
                  <a:pt x="2586" y="64179"/>
                </a:lnTo>
                <a:cubicBezTo>
                  <a:pt x="-853" y="67617"/>
                  <a:pt x="-853" y="73202"/>
                  <a:pt x="2586" y="76640"/>
                </a:cubicBezTo>
                <a:lnTo>
                  <a:pt x="28995" y="103049"/>
                </a:lnTo>
                <a:cubicBezTo>
                  <a:pt x="32433" y="106487"/>
                  <a:pt x="38017" y="106487"/>
                  <a:pt x="41456" y="103049"/>
                </a:cubicBezTo>
                <a:cubicBezTo>
                  <a:pt x="44895" y="99610"/>
                  <a:pt x="44895" y="94026"/>
                  <a:pt x="41456" y="90587"/>
                </a:cubicBezTo>
                <a:lnTo>
                  <a:pt x="21264" y="70423"/>
                </a:lnTo>
                <a:lnTo>
                  <a:pt x="41429" y="50231"/>
                </a:lnTo>
                <a:cubicBezTo>
                  <a:pt x="44867" y="46793"/>
                  <a:pt x="44867" y="41209"/>
                  <a:pt x="41429" y="3777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914118" y="4185773"/>
            <a:ext cx="3934891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Gateway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14118" y="4467466"/>
            <a:ext cx="3926088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de Programação de Aplicativos para integração direta.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0734" y="4890004"/>
            <a:ext cx="5299339" cy="915500"/>
          </a:xfrm>
          <a:custGeom>
            <a:avLst/>
            <a:gdLst/>
            <a:ahLst/>
            <a:cxnLst/>
            <a:rect l="l" t="t" r="r" b="b"/>
            <a:pathLst>
              <a:path w="5299339" h="915500">
                <a:moveTo>
                  <a:pt x="70420" y="0"/>
                </a:moveTo>
                <a:lnTo>
                  <a:pt x="5228918" y="0"/>
                </a:lnTo>
                <a:cubicBezTo>
                  <a:pt x="5267810" y="0"/>
                  <a:pt x="5299339" y="31528"/>
                  <a:pt x="5299339" y="70420"/>
                </a:cubicBezTo>
                <a:lnTo>
                  <a:pt x="5299339" y="845080"/>
                </a:lnTo>
                <a:cubicBezTo>
                  <a:pt x="5299339" y="883972"/>
                  <a:pt x="5267810" y="915500"/>
                  <a:pt x="5228918" y="915500"/>
                </a:cubicBezTo>
                <a:lnTo>
                  <a:pt x="70420" y="915500"/>
                </a:lnTo>
                <a:cubicBezTo>
                  <a:pt x="31528" y="915500"/>
                  <a:pt x="0" y="883972"/>
                  <a:pt x="0" y="845080"/>
                </a:cubicBezTo>
                <a:lnTo>
                  <a:pt x="0" y="70420"/>
                </a:lnTo>
                <a:cubicBezTo>
                  <a:pt x="0" y="31554"/>
                  <a:pt x="31554" y="0"/>
                  <a:pt x="7042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456368" y="4995639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579609" y="5101274"/>
            <a:ext cx="105635" cy="140846"/>
          </a:xfrm>
          <a:custGeom>
            <a:avLst/>
            <a:gdLst/>
            <a:ahLst/>
            <a:cxnLst/>
            <a:rect l="l" t="t" r="r" b="b"/>
            <a:pathLst>
              <a:path w="105635" h="140846">
                <a:moveTo>
                  <a:pt x="0" y="17606"/>
                </a:moveTo>
                <a:cubicBezTo>
                  <a:pt x="0" y="7895"/>
                  <a:pt x="7895" y="0"/>
                  <a:pt x="17606" y="0"/>
                </a:cubicBezTo>
                <a:lnTo>
                  <a:pt x="58732" y="0"/>
                </a:lnTo>
                <a:cubicBezTo>
                  <a:pt x="63408" y="0"/>
                  <a:pt x="67892" y="1843"/>
                  <a:pt x="71193" y="5144"/>
                </a:cubicBezTo>
                <a:lnTo>
                  <a:pt x="100490" y="34469"/>
                </a:lnTo>
                <a:cubicBezTo>
                  <a:pt x="103792" y="37770"/>
                  <a:pt x="105635" y="42254"/>
                  <a:pt x="105635" y="46930"/>
                </a:cubicBezTo>
                <a:lnTo>
                  <a:pt x="105635" y="123240"/>
                </a:lnTo>
                <a:cubicBezTo>
                  <a:pt x="105635" y="132951"/>
                  <a:pt x="97740" y="140846"/>
                  <a:pt x="88029" y="140846"/>
                </a:cubicBezTo>
                <a:lnTo>
                  <a:pt x="17606" y="140846"/>
                </a:lnTo>
                <a:cubicBezTo>
                  <a:pt x="7895" y="140846"/>
                  <a:pt x="0" y="132951"/>
                  <a:pt x="0" y="123240"/>
                </a:cubicBezTo>
                <a:lnTo>
                  <a:pt x="0" y="17606"/>
                </a:lnTo>
                <a:close/>
                <a:moveTo>
                  <a:pt x="57219" y="16093"/>
                </a:moveTo>
                <a:lnTo>
                  <a:pt x="57219" y="41814"/>
                </a:lnTo>
                <a:cubicBezTo>
                  <a:pt x="57219" y="45472"/>
                  <a:pt x="60162" y="48416"/>
                  <a:pt x="63821" y="48416"/>
                </a:cubicBezTo>
                <a:lnTo>
                  <a:pt x="89542" y="48416"/>
                </a:lnTo>
                <a:lnTo>
                  <a:pt x="57219" y="16093"/>
                </a:lnTo>
                <a:close/>
                <a:moveTo>
                  <a:pt x="57494" y="72349"/>
                </a:moveTo>
                <a:cubicBezTo>
                  <a:pt x="54908" y="69763"/>
                  <a:pt x="50727" y="69763"/>
                  <a:pt x="48168" y="72349"/>
                </a:cubicBezTo>
                <a:lnTo>
                  <a:pt x="30563" y="89955"/>
                </a:lnTo>
                <a:cubicBezTo>
                  <a:pt x="27977" y="92540"/>
                  <a:pt x="27977" y="96722"/>
                  <a:pt x="30563" y="99280"/>
                </a:cubicBezTo>
                <a:cubicBezTo>
                  <a:pt x="33148" y="101838"/>
                  <a:pt x="37330" y="101866"/>
                  <a:pt x="39888" y="99280"/>
                </a:cubicBezTo>
                <a:lnTo>
                  <a:pt x="46215" y="92953"/>
                </a:lnTo>
                <a:lnTo>
                  <a:pt x="46215" y="116638"/>
                </a:lnTo>
                <a:cubicBezTo>
                  <a:pt x="46215" y="120297"/>
                  <a:pt x="49159" y="123240"/>
                  <a:pt x="52817" y="123240"/>
                </a:cubicBezTo>
                <a:cubicBezTo>
                  <a:pt x="56476" y="123240"/>
                  <a:pt x="59419" y="120297"/>
                  <a:pt x="59419" y="116638"/>
                </a:cubicBezTo>
                <a:lnTo>
                  <a:pt x="59419" y="92953"/>
                </a:lnTo>
                <a:lnTo>
                  <a:pt x="65747" y="99280"/>
                </a:lnTo>
                <a:cubicBezTo>
                  <a:pt x="68332" y="101866"/>
                  <a:pt x="72514" y="101866"/>
                  <a:pt x="75072" y="99280"/>
                </a:cubicBezTo>
                <a:cubicBezTo>
                  <a:pt x="77630" y="96694"/>
                  <a:pt x="77658" y="92513"/>
                  <a:pt x="75072" y="89955"/>
                </a:cubicBezTo>
                <a:lnTo>
                  <a:pt x="57466" y="72349"/>
                </a:ln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914118" y="4995639"/>
            <a:ext cx="470954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NGFT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14118" y="5277331"/>
            <a:ext cx="4700742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Transferência de Arquivos da Próxima Geração</a:t>
            </a:r>
            <a:r>
              <a:rPr lang="en-US" sz="110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disponível para upload de arquivos bulk.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6517" y="6135613"/>
            <a:ext cx="11478966" cy="713034"/>
          </a:xfrm>
          <a:custGeom>
            <a:avLst/>
            <a:gdLst/>
            <a:ahLst/>
            <a:cxnLst/>
            <a:rect l="l" t="t" r="r" b="b"/>
            <a:pathLst>
              <a:path w="11478966" h="713034">
                <a:moveTo>
                  <a:pt x="70426" y="0"/>
                </a:moveTo>
                <a:lnTo>
                  <a:pt x="11408540" y="0"/>
                </a:lnTo>
                <a:cubicBezTo>
                  <a:pt x="11447435" y="0"/>
                  <a:pt x="11478966" y="31531"/>
                  <a:pt x="11478966" y="70426"/>
                </a:cubicBezTo>
                <a:lnTo>
                  <a:pt x="11478966" y="642608"/>
                </a:lnTo>
                <a:cubicBezTo>
                  <a:pt x="11478966" y="681503"/>
                  <a:pt x="11447435" y="713034"/>
                  <a:pt x="11408540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519370" y="6316072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61620" y="44014"/>
                </a:moveTo>
                <a:cubicBezTo>
                  <a:pt x="61620" y="39156"/>
                  <a:pt x="65565" y="35212"/>
                  <a:pt x="70423" y="35212"/>
                </a:cubicBezTo>
                <a:cubicBezTo>
                  <a:pt x="75282" y="35212"/>
                  <a:pt x="79226" y="39156"/>
                  <a:pt x="79226" y="44014"/>
                </a:cubicBezTo>
                <a:cubicBezTo>
                  <a:pt x="79226" y="48873"/>
                  <a:pt x="75282" y="52817"/>
                  <a:pt x="70423" y="52817"/>
                </a:cubicBezTo>
                <a:cubicBezTo>
                  <a:pt x="65565" y="52817"/>
                  <a:pt x="61620" y="48873"/>
                  <a:pt x="61620" y="44014"/>
                </a:cubicBezTo>
                <a:close/>
                <a:moveTo>
                  <a:pt x="59419" y="61620"/>
                </a:moveTo>
                <a:lnTo>
                  <a:pt x="72624" y="61620"/>
                </a:lnTo>
                <a:cubicBezTo>
                  <a:pt x="76283" y="61620"/>
                  <a:pt x="79226" y="64564"/>
                  <a:pt x="79226" y="68222"/>
                </a:cubicBezTo>
                <a:lnTo>
                  <a:pt x="79226" y="92430"/>
                </a:lnTo>
                <a:lnTo>
                  <a:pt x="81427" y="92430"/>
                </a:lnTo>
                <a:cubicBezTo>
                  <a:pt x="85085" y="92430"/>
                  <a:pt x="88029" y="95374"/>
                  <a:pt x="88029" y="99032"/>
                </a:cubicBezTo>
                <a:cubicBezTo>
                  <a:pt x="88029" y="102691"/>
                  <a:pt x="85085" y="105635"/>
                  <a:pt x="81427" y="105635"/>
                </a:cubicBezTo>
                <a:lnTo>
                  <a:pt x="59419" y="105635"/>
                </a:lnTo>
                <a:cubicBezTo>
                  <a:pt x="55761" y="105635"/>
                  <a:pt x="52817" y="102691"/>
                  <a:pt x="52817" y="99032"/>
                </a:cubicBezTo>
                <a:cubicBezTo>
                  <a:pt x="52817" y="95374"/>
                  <a:pt x="55761" y="92430"/>
                  <a:pt x="59419" y="92430"/>
                </a:cubicBezTo>
                <a:lnTo>
                  <a:pt x="66022" y="92430"/>
                </a:lnTo>
                <a:lnTo>
                  <a:pt x="66022" y="74825"/>
                </a:lnTo>
                <a:lnTo>
                  <a:pt x="59419" y="74825"/>
                </a:lnTo>
                <a:cubicBezTo>
                  <a:pt x="55761" y="74825"/>
                  <a:pt x="52817" y="71881"/>
                  <a:pt x="52817" y="68222"/>
                </a:cubicBezTo>
                <a:cubicBezTo>
                  <a:pt x="52817" y="64564"/>
                  <a:pt x="55761" y="61620"/>
                  <a:pt x="59419" y="6162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26636" y="6280861"/>
            <a:ext cx="11034023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Motivos de Inclusão:</a:t>
            </a:r>
            <a:r>
              <a:rPr lang="en-US" sz="11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Os Estabelecimentos podem ser listados no MATCH por diversos motivos relacionados a chargebacks excessivos, fraudes, violações de regras e participação no QMAP.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5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60018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 Pro - Requisitos para Adquirente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011" y="1173365"/>
            <a:ext cx="5637654" cy="696686"/>
          </a:xfrm>
          <a:custGeom>
            <a:avLst/>
            <a:gdLst/>
            <a:ahLst/>
            <a:cxnLst/>
            <a:rect l="l" t="t" r="r" b="b"/>
            <a:pathLst>
              <a:path w="5637654" h="696686">
                <a:moveTo>
                  <a:pt x="36668" y="0"/>
                </a:moveTo>
                <a:lnTo>
                  <a:pt x="5564321" y="0"/>
                </a:lnTo>
                <a:cubicBezTo>
                  <a:pt x="5604822" y="0"/>
                  <a:pt x="5637654" y="32832"/>
                  <a:pt x="5637654" y="73333"/>
                </a:cubicBezTo>
                <a:lnTo>
                  <a:pt x="5637654" y="623353"/>
                </a:lnTo>
                <a:cubicBezTo>
                  <a:pt x="5637654" y="663853"/>
                  <a:pt x="5604822" y="696686"/>
                  <a:pt x="5564321" y="696686"/>
                </a:cubicBezTo>
                <a:lnTo>
                  <a:pt x="36668" y="696686"/>
                </a:lnTo>
                <a:cubicBezTo>
                  <a:pt x="16430" y="696686"/>
                  <a:pt x="0" y="680255"/>
                  <a:pt x="0" y="66001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85011" y="1173365"/>
            <a:ext cx="36668" cy="696686"/>
          </a:xfrm>
          <a:custGeom>
            <a:avLst/>
            <a:gdLst/>
            <a:ahLst/>
            <a:cxnLst/>
            <a:rect l="l" t="t" r="r" b="b"/>
            <a:pathLst>
              <a:path w="36668" h="696686">
                <a:moveTo>
                  <a:pt x="36668" y="0"/>
                </a:moveTo>
                <a:lnTo>
                  <a:pt x="36668" y="0"/>
                </a:lnTo>
                <a:lnTo>
                  <a:pt x="36668" y="696686"/>
                </a:lnTo>
                <a:lnTo>
                  <a:pt x="36668" y="696686"/>
                </a:lnTo>
                <a:cubicBezTo>
                  <a:pt x="16430" y="696686"/>
                  <a:pt x="0" y="680255"/>
                  <a:pt x="0" y="66001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50015" y="1356704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76203" y="1411705"/>
            <a:ext cx="10083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3359" y="1320036"/>
            <a:ext cx="410677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Responder solicitação de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remoção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prazo de </a:t>
            </a:r>
            <a:r>
              <a:rPr lang="en-US" sz="115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dias corridos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011" y="1980054"/>
            <a:ext cx="5637654" cy="696686"/>
          </a:xfrm>
          <a:custGeom>
            <a:avLst/>
            <a:gdLst/>
            <a:ahLst/>
            <a:cxnLst/>
            <a:rect l="l" t="t" r="r" b="b"/>
            <a:pathLst>
              <a:path w="5637654" h="696686">
                <a:moveTo>
                  <a:pt x="36668" y="0"/>
                </a:moveTo>
                <a:lnTo>
                  <a:pt x="5564321" y="0"/>
                </a:lnTo>
                <a:cubicBezTo>
                  <a:pt x="5604822" y="0"/>
                  <a:pt x="5637654" y="32832"/>
                  <a:pt x="5637654" y="73333"/>
                </a:cubicBezTo>
                <a:lnTo>
                  <a:pt x="5637654" y="623353"/>
                </a:lnTo>
                <a:cubicBezTo>
                  <a:pt x="5637654" y="663853"/>
                  <a:pt x="5604822" y="696686"/>
                  <a:pt x="5564321" y="696686"/>
                </a:cubicBezTo>
                <a:lnTo>
                  <a:pt x="36668" y="696686"/>
                </a:lnTo>
                <a:cubicBezTo>
                  <a:pt x="16430" y="696686"/>
                  <a:pt x="0" y="680255"/>
                  <a:pt x="0" y="66001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85011" y="1980054"/>
            <a:ext cx="36668" cy="696686"/>
          </a:xfrm>
          <a:custGeom>
            <a:avLst/>
            <a:gdLst/>
            <a:ahLst/>
            <a:cxnLst/>
            <a:rect l="l" t="t" r="r" b="b"/>
            <a:pathLst>
              <a:path w="36668" h="696686">
                <a:moveTo>
                  <a:pt x="36668" y="0"/>
                </a:moveTo>
                <a:lnTo>
                  <a:pt x="36668" y="0"/>
                </a:lnTo>
                <a:lnTo>
                  <a:pt x="36668" y="696686"/>
                </a:lnTo>
                <a:lnTo>
                  <a:pt x="36668" y="696686"/>
                </a:lnTo>
                <a:cubicBezTo>
                  <a:pt x="16430" y="696686"/>
                  <a:pt x="0" y="680255"/>
                  <a:pt x="0" y="66001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50015" y="2163392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3885" y="2218394"/>
            <a:ext cx="1283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3359" y="2126725"/>
            <a:ext cx="360259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Responder perguntas sobre cadastro em </a:t>
            </a:r>
            <a:r>
              <a:rPr lang="en-US" sz="115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dias corridos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011" y="2786743"/>
            <a:ext cx="5637654" cy="696686"/>
          </a:xfrm>
          <a:custGeom>
            <a:avLst/>
            <a:gdLst/>
            <a:ahLst/>
            <a:cxnLst/>
            <a:rect l="l" t="t" r="r" b="b"/>
            <a:pathLst>
              <a:path w="5637654" h="696686">
                <a:moveTo>
                  <a:pt x="36668" y="0"/>
                </a:moveTo>
                <a:lnTo>
                  <a:pt x="5564321" y="0"/>
                </a:lnTo>
                <a:cubicBezTo>
                  <a:pt x="5604822" y="0"/>
                  <a:pt x="5637654" y="32832"/>
                  <a:pt x="5637654" y="73333"/>
                </a:cubicBezTo>
                <a:lnTo>
                  <a:pt x="5637654" y="623353"/>
                </a:lnTo>
                <a:cubicBezTo>
                  <a:pt x="5637654" y="663853"/>
                  <a:pt x="5604822" y="696686"/>
                  <a:pt x="5564321" y="696686"/>
                </a:cubicBezTo>
                <a:lnTo>
                  <a:pt x="36668" y="696686"/>
                </a:lnTo>
                <a:cubicBezTo>
                  <a:pt x="16430" y="696686"/>
                  <a:pt x="0" y="680255"/>
                  <a:pt x="0" y="66001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85011" y="2786743"/>
            <a:ext cx="36668" cy="696686"/>
          </a:xfrm>
          <a:custGeom>
            <a:avLst/>
            <a:gdLst/>
            <a:ahLst/>
            <a:cxnLst/>
            <a:rect l="l" t="t" r="r" b="b"/>
            <a:pathLst>
              <a:path w="36668" h="696686">
                <a:moveTo>
                  <a:pt x="36668" y="0"/>
                </a:moveTo>
                <a:lnTo>
                  <a:pt x="36668" y="0"/>
                </a:lnTo>
                <a:lnTo>
                  <a:pt x="36668" y="696686"/>
                </a:lnTo>
                <a:lnTo>
                  <a:pt x="36668" y="696686"/>
                </a:lnTo>
                <a:cubicBezTo>
                  <a:pt x="16430" y="696686"/>
                  <a:pt x="0" y="680255"/>
                  <a:pt x="0" y="66001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50015" y="2970081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2310" y="3025083"/>
            <a:ext cx="13750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3359" y="2933414"/>
            <a:ext cx="478513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Incluir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número da suíte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endereço para empresas com agente registrado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011" y="3593432"/>
            <a:ext cx="5637654" cy="733353"/>
          </a:xfrm>
          <a:custGeom>
            <a:avLst/>
            <a:gdLst/>
            <a:ahLst/>
            <a:cxnLst/>
            <a:rect l="l" t="t" r="r" b="b"/>
            <a:pathLst>
              <a:path w="5637654" h="733353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660018"/>
                </a:lnTo>
                <a:cubicBezTo>
                  <a:pt x="5637654" y="700520"/>
                  <a:pt x="5604821" y="733353"/>
                  <a:pt x="5564319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85011" y="3593432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50015" y="3776770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4029" y="3831771"/>
            <a:ext cx="1283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3359" y="3740102"/>
            <a:ext cx="4995970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Manter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responsabilidade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cada cadastro, independente de provedores de serviços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011" y="4436788"/>
            <a:ext cx="5637654" cy="733353"/>
          </a:xfrm>
          <a:custGeom>
            <a:avLst/>
            <a:gdLst/>
            <a:ahLst/>
            <a:cxnLst/>
            <a:rect l="l" t="t" r="r" b="b"/>
            <a:pathLst>
              <a:path w="5637654" h="733353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660018"/>
                </a:lnTo>
                <a:cubicBezTo>
                  <a:pt x="5637654" y="700520"/>
                  <a:pt x="5604821" y="733353"/>
                  <a:pt x="5564319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85011" y="4436788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50015" y="4620126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62023" y="4675128"/>
            <a:ext cx="13750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3359" y="4583459"/>
            <a:ext cx="4995970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Concluir consultas sobre comerciantes MATCH migrados em </a:t>
            </a:r>
            <a:r>
              <a:rPr lang="en-US" sz="115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dias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após mudança de controle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011" y="5280144"/>
            <a:ext cx="5637654" cy="733353"/>
          </a:xfrm>
          <a:custGeom>
            <a:avLst/>
            <a:gdLst/>
            <a:ahLst/>
            <a:cxnLst/>
            <a:rect l="l" t="t" r="r" b="b"/>
            <a:pathLst>
              <a:path w="5637654" h="733353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660018"/>
                </a:lnTo>
                <a:cubicBezTo>
                  <a:pt x="5637654" y="700520"/>
                  <a:pt x="5604821" y="733353"/>
                  <a:pt x="5564319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85011" y="5280144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550015" y="5463483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61307" y="5518484"/>
            <a:ext cx="13750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3359" y="5426815"/>
            <a:ext cx="4995970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Manter o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Número de Referência do Comerciante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todos os MATCH adicionados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6523" y="1173365"/>
            <a:ext cx="5637654" cy="733353"/>
          </a:xfrm>
          <a:custGeom>
            <a:avLst/>
            <a:gdLst/>
            <a:ahLst/>
            <a:cxnLst/>
            <a:rect l="l" t="t" r="r" b="b"/>
            <a:pathLst>
              <a:path w="5637654" h="733353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660018"/>
                </a:lnTo>
                <a:cubicBezTo>
                  <a:pt x="5637654" y="700520"/>
                  <a:pt x="5604821" y="733353"/>
                  <a:pt x="5564319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186523" y="1173365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351528" y="1356704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468836" y="1411705"/>
            <a:ext cx="119170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54872" y="1320036"/>
            <a:ext cx="4995970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Agir com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diligência, razoabilidade e boa-fé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cumprir requisitos do sistema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6523" y="2016722"/>
            <a:ext cx="5637654" cy="733353"/>
          </a:xfrm>
          <a:custGeom>
            <a:avLst/>
            <a:gdLst/>
            <a:ahLst/>
            <a:cxnLst/>
            <a:rect l="l" t="t" r="r" b="b"/>
            <a:pathLst>
              <a:path w="5637654" h="733353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660018"/>
                </a:lnTo>
                <a:cubicBezTo>
                  <a:pt x="5637654" y="700520"/>
                  <a:pt x="5604821" y="733353"/>
                  <a:pt x="5564319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186523" y="2016722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351528" y="2200060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62390" y="2255062"/>
            <a:ext cx="13750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54872" y="2163392"/>
            <a:ext cx="4995970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usar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ameaçar usar o MATCH como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ferramenta de cobrança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atividades discricionárias menores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86523" y="2860078"/>
            <a:ext cx="5637654" cy="733353"/>
          </a:xfrm>
          <a:custGeom>
            <a:avLst/>
            <a:gdLst/>
            <a:ahLst/>
            <a:cxnLst/>
            <a:rect l="l" t="t" r="r" b="b"/>
            <a:pathLst>
              <a:path w="5637654" h="733353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660018"/>
                </a:lnTo>
                <a:cubicBezTo>
                  <a:pt x="5637654" y="700520"/>
                  <a:pt x="5604821" y="733353"/>
                  <a:pt x="5564319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6186523" y="2860078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351528" y="3043417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462677" y="3098418"/>
            <a:ext cx="13750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54872" y="3006749"/>
            <a:ext cx="4995970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Adquirente que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inscrever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um Comerciante MATCH está sujeito a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avaliação de não conformidade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86523" y="3703435"/>
            <a:ext cx="5637654" cy="733353"/>
          </a:xfrm>
          <a:custGeom>
            <a:avLst/>
            <a:gdLst/>
            <a:ahLst/>
            <a:cxnLst/>
            <a:rect l="l" t="t" r="r" b="b"/>
            <a:pathLst>
              <a:path w="5637654" h="733353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660018"/>
                </a:lnTo>
                <a:cubicBezTo>
                  <a:pt x="5637654" y="700520"/>
                  <a:pt x="5604821" y="733353"/>
                  <a:pt x="5564319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6186523" y="3703435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6351528" y="3886773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436179" y="3941774"/>
            <a:ext cx="19250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54872" y="3850105"/>
            <a:ext cx="4995970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Fornecer ao Comerciante MATCH o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ICA de quem adicionou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o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de motivo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86523" y="4546791"/>
            <a:ext cx="5637654" cy="733353"/>
          </a:xfrm>
          <a:custGeom>
            <a:avLst/>
            <a:gdLst/>
            <a:ahLst/>
            <a:cxnLst/>
            <a:rect l="l" t="t" r="r" b="b"/>
            <a:pathLst>
              <a:path w="5637654" h="733353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660018"/>
                </a:lnTo>
                <a:cubicBezTo>
                  <a:pt x="5637654" y="700520"/>
                  <a:pt x="5604821" y="733353"/>
                  <a:pt x="5564319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6186523" y="4546791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6351528" y="4730129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6457377" y="4785131"/>
            <a:ext cx="1466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54872" y="4693462"/>
            <a:ext cx="4995970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Confirmar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os resultados do MATCH são relevantes para o Comerciante considerado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6523" y="5390147"/>
            <a:ext cx="5637654" cy="623350"/>
          </a:xfrm>
          <a:custGeom>
            <a:avLst/>
            <a:gdLst/>
            <a:ahLst/>
            <a:cxnLst/>
            <a:rect l="l" t="t" r="r" b="b"/>
            <a:pathLst>
              <a:path w="5637654" h="623350">
                <a:moveTo>
                  <a:pt x="36668" y="0"/>
                </a:moveTo>
                <a:lnTo>
                  <a:pt x="5564317" y="0"/>
                </a:lnTo>
                <a:cubicBezTo>
                  <a:pt x="5604820" y="0"/>
                  <a:pt x="5637654" y="32834"/>
                  <a:pt x="5637654" y="73337"/>
                </a:cubicBezTo>
                <a:lnTo>
                  <a:pt x="5637654" y="550013"/>
                </a:lnTo>
                <a:cubicBezTo>
                  <a:pt x="5637654" y="590516"/>
                  <a:pt x="5604820" y="623350"/>
                  <a:pt x="5564317" y="623350"/>
                </a:cubicBezTo>
                <a:lnTo>
                  <a:pt x="36668" y="623350"/>
                </a:lnTo>
                <a:cubicBezTo>
                  <a:pt x="16430" y="623350"/>
                  <a:pt x="0" y="606920"/>
                  <a:pt x="0" y="58668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6186523" y="5390147"/>
            <a:ext cx="36668" cy="623350"/>
          </a:xfrm>
          <a:custGeom>
            <a:avLst/>
            <a:gdLst/>
            <a:ahLst/>
            <a:cxnLst/>
            <a:rect l="l" t="t" r="r" b="b"/>
            <a:pathLst>
              <a:path w="36668" h="623350">
                <a:moveTo>
                  <a:pt x="36668" y="0"/>
                </a:moveTo>
                <a:lnTo>
                  <a:pt x="36668" y="0"/>
                </a:lnTo>
                <a:lnTo>
                  <a:pt x="36668" y="623350"/>
                </a:lnTo>
                <a:lnTo>
                  <a:pt x="36668" y="623350"/>
                </a:lnTo>
                <a:cubicBezTo>
                  <a:pt x="16430" y="623350"/>
                  <a:pt x="0" y="606920"/>
                  <a:pt x="0" y="58668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6351528" y="5573486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6445059" y="5628487"/>
            <a:ext cx="1741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54872" y="5536818"/>
            <a:ext cx="384093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Garantir que dados precisos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sejam inseridos no MATCH Pro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5011" y="6123501"/>
            <a:ext cx="11440313" cy="733353"/>
          </a:xfrm>
          <a:custGeom>
            <a:avLst/>
            <a:gdLst/>
            <a:ahLst/>
            <a:cxnLst/>
            <a:rect l="l" t="t" r="r" b="b"/>
            <a:pathLst>
              <a:path w="11440313" h="733353">
                <a:moveTo>
                  <a:pt x="36668" y="0"/>
                </a:moveTo>
                <a:lnTo>
                  <a:pt x="11366977" y="0"/>
                </a:lnTo>
                <a:cubicBezTo>
                  <a:pt x="11407479" y="0"/>
                  <a:pt x="11440313" y="32833"/>
                  <a:pt x="11440313" y="73335"/>
                </a:cubicBezTo>
                <a:lnTo>
                  <a:pt x="11440313" y="660018"/>
                </a:lnTo>
                <a:cubicBezTo>
                  <a:pt x="11440313" y="700520"/>
                  <a:pt x="11407479" y="733353"/>
                  <a:pt x="11366977" y="733353"/>
                </a:cubicBez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385011" y="6123501"/>
            <a:ext cx="36668" cy="733353"/>
          </a:xfrm>
          <a:custGeom>
            <a:avLst/>
            <a:gdLst/>
            <a:ahLst/>
            <a:cxnLst/>
            <a:rect l="l" t="t" r="r" b="b"/>
            <a:pathLst>
              <a:path w="36668" h="733353">
                <a:moveTo>
                  <a:pt x="36668" y="0"/>
                </a:moveTo>
                <a:lnTo>
                  <a:pt x="36668" y="0"/>
                </a:lnTo>
                <a:lnTo>
                  <a:pt x="36668" y="733353"/>
                </a:lnTo>
                <a:lnTo>
                  <a:pt x="36668" y="733353"/>
                </a:lnTo>
                <a:cubicBezTo>
                  <a:pt x="16430" y="733353"/>
                  <a:pt x="0" y="716923"/>
                  <a:pt x="0" y="69668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550015" y="6306839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641971" y="6361841"/>
            <a:ext cx="1741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53359" y="6270171"/>
            <a:ext cx="10798629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Manter um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contato MATCH Pro atualizado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Gerenciador da Minha Empresa para cada ICA, incluindo e-mail para caixa compartilhada acessada por mais de uma pessoa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027" y="334027"/>
            <a:ext cx="11590751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b="1" kern="0" spc="53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027" y="601249"/>
            <a:ext cx="11674258" cy="334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Merchant Monitoring Program (MMP)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729" y="1068888"/>
            <a:ext cx="11507244" cy="1194148"/>
          </a:xfrm>
          <a:custGeom>
            <a:avLst/>
            <a:gdLst/>
            <a:ahLst/>
            <a:cxnLst/>
            <a:rect l="l" t="t" r="r" b="b"/>
            <a:pathLst>
              <a:path w="11507244" h="1194148">
                <a:moveTo>
                  <a:pt x="33403" y="0"/>
                </a:moveTo>
                <a:lnTo>
                  <a:pt x="11440443" y="0"/>
                </a:lnTo>
                <a:cubicBezTo>
                  <a:pt x="11477336" y="0"/>
                  <a:pt x="11507244" y="29908"/>
                  <a:pt x="11507244" y="66801"/>
                </a:cubicBezTo>
                <a:lnTo>
                  <a:pt x="11507244" y="1127347"/>
                </a:lnTo>
                <a:cubicBezTo>
                  <a:pt x="11507244" y="1164240"/>
                  <a:pt x="11477336" y="1194148"/>
                  <a:pt x="11440443" y="1194148"/>
                </a:cubicBezTo>
                <a:lnTo>
                  <a:pt x="33403" y="1194148"/>
                </a:lnTo>
                <a:cubicBezTo>
                  <a:pt x="14955" y="1194148"/>
                  <a:pt x="0" y="1179193"/>
                  <a:pt x="0" y="1160745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50729" y="1068888"/>
            <a:ext cx="33403" cy="1194148"/>
          </a:xfrm>
          <a:custGeom>
            <a:avLst/>
            <a:gdLst/>
            <a:ahLst/>
            <a:cxnLst/>
            <a:rect l="l" t="t" r="r" b="b"/>
            <a:pathLst>
              <a:path w="33403" h="1194148">
                <a:moveTo>
                  <a:pt x="33403" y="0"/>
                </a:moveTo>
                <a:lnTo>
                  <a:pt x="33403" y="0"/>
                </a:lnTo>
                <a:lnTo>
                  <a:pt x="33403" y="1194148"/>
                </a:lnTo>
                <a:lnTo>
                  <a:pt x="33403" y="1194148"/>
                </a:lnTo>
                <a:cubicBezTo>
                  <a:pt x="14955" y="1194148"/>
                  <a:pt x="0" y="1179193"/>
                  <a:pt x="0" y="1160745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6970" y="1269304"/>
            <a:ext cx="225468" cy="200416"/>
          </a:xfrm>
          <a:custGeom>
            <a:avLst/>
            <a:gdLst/>
            <a:ahLst/>
            <a:cxnLst/>
            <a:rect l="l" t="t" r="r" b="b"/>
            <a:pathLst>
              <a:path w="225468" h="200416">
                <a:moveTo>
                  <a:pt x="112734" y="12526"/>
                </a:moveTo>
                <a:cubicBezTo>
                  <a:pt x="81106" y="12526"/>
                  <a:pt x="55780" y="26931"/>
                  <a:pt x="37343" y="44076"/>
                </a:cubicBezTo>
                <a:cubicBezTo>
                  <a:pt x="19024" y="61104"/>
                  <a:pt x="6772" y="81419"/>
                  <a:pt x="939" y="95394"/>
                </a:cubicBezTo>
                <a:cubicBezTo>
                  <a:pt x="-352" y="98486"/>
                  <a:pt x="-352" y="101931"/>
                  <a:pt x="939" y="105023"/>
                </a:cubicBezTo>
                <a:cubicBezTo>
                  <a:pt x="6772" y="118997"/>
                  <a:pt x="19024" y="139352"/>
                  <a:pt x="37343" y="156340"/>
                </a:cubicBezTo>
                <a:cubicBezTo>
                  <a:pt x="55780" y="173446"/>
                  <a:pt x="81106" y="187890"/>
                  <a:pt x="112734" y="187890"/>
                </a:cubicBezTo>
                <a:cubicBezTo>
                  <a:pt x="144362" y="187890"/>
                  <a:pt x="169689" y="173485"/>
                  <a:pt x="188125" y="156340"/>
                </a:cubicBezTo>
                <a:cubicBezTo>
                  <a:pt x="206445" y="139313"/>
                  <a:pt x="218697" y="118997"/>
                  <a:pt x="224529" y="105023"/>
                </a:cubicBezTo>
                <a:cubicBezTo>
                  <a:pt x="225821" y="101931"/>
                  <a:pt x="225821" y="98486"/>
                  <a:pt x="224529" y="95394"/>
                </a:cubicBezTo>
                <a:cubicBezTo>
                  <a:pt x="218697" y="81419"/>
                  <a:pt x="206445" y="61064"/>
                  <a:pt x="188125" y="44076"/>
                </a:cubicBezTo>
                <a:cubicBezTo>
                  <a:pt x="169689" y="26970"/>
                  <a:pt x="144362" y="12526"/>
                  <a:pt x="112734" y="12526"/>
                </a:cubicBezTo>
                <a:close/>
                <a:moveTo>
                  <a:pt x="56367" y="100208"/>
                </a:moveTo>
                <a:cubicBezTo>
                  <a:pt x="56367" y="69098"/>
                  <a:pt x="81624" y="43841"/>
                  <a:pt x="112734" y="43841"/>
                </a:cubicBezTo>
                <a:cubicBezTo>
                  <a:pt x="143844" y="43841"/>
                  <a:pt x="169101" y="69098"/>
                  <a:pt x="169101" y="100208"/>
                </a:cubicBezTo>
                <a:cubicBezTo>
                  <a:pt x="169101" y="131318"/>
                  <a:pt x="143844" y="156575"/>
                  <a:pt x="112734" y="156575"/>
                </a:cubicBezTo>
                <a:cubicBezTo>
                  <a:pt x="81624" y="156575"/>
                  <a:pt x="56367" y="131318"/>
                  <a:pt x="56367" y="100208"/>
                </a:cubicBezTo>
                <a:close/>
                <a:moveTo>
                  <a:pt x="112734" y="75156"/>
                </a:moveTo>
                <a:cubicBezTo>
                  <a:pt x="112734" y="88974"/>
                  <a:pt x="101500" y="100208"/>
                  <a:pt x="87682" y="100208"/>
                </a:cubicBezTo>
                <a:cubicBezTo>
                  <a:pt x="83181" y="100208"/>
                  <a:pt x="78953" y="99034"/>
                  <a:pt x="75274" y="96920"/>
                </a:cubicBezTo>
                <a:cubicBezTo>
                  <a:pt x="74882" y="101187"/>
                  <a:pt x="75234" y="105571"/>
                  <a:pt x="76409" y="109916"/>
                </a:cubicBezTo>
                <a:cubicBezTo>
                  <a:pt x="81771" y="129958"/>
                  <a:pt x="102400" y="141857"/>
                  <a:pt x="122442" y="136495"/>
                </a:cubicBezTo>
                <a:cubicBezTo>
                  <a:pt x="142484" y="131132"/>
                  <a:pt x="154383" y="110503"/>
                  <a:pt x="149021" y="90461"/>
                </a:cubicBezTo>
                <a:cubicBezTo>
                  <a:pt x="144245" y="72573"/>
                  <a:pt x="127296" y="61182"/>
                  <a:pt x="109446" y="62748"/>
                </a:cubicBezTo>
                <a:cubicBezTo>
                  <a:pt x="111521" y="66388"/>
                  <a:pt x="112734" y="70615"/>
                  <a:pt x="112734" y="7515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84964" y="1235901"/>
            <a:ext cx="11006203" cy="26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MMP?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4444" y="1603332"/>
            <a:ext cx="11231671" cy="492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18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Merchant Monitoring Program (MMP)</a:t>
            </a:r>
            <a:r>
              <a:rPr lang="en-US" sz="11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um programa que </a:t>
            </a:r>
            <a:r>
              <a:rPr lang="en-US" sz="118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auxilia no monitoramento e prevenção de violação do BRAM</a:t>
            </a:r>
            <a:r>
              <a:rPr lang="en-US" sz="11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garantindo que os comerciantes estejam em conformidade com as regras da Mastercard.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0729" y="2392471"/>
            <a:ext cx="11507244" cy="3741107"/>
          </a:xfrm>
          <a:custGeom>
            <a:avLst/>
            <a:gdLst/>
            <a:ahLst/>
            <a:cxnLst/>
            <a:rect l="l" t="t" r="r" b="b"/>
            <a:pathLst>
              <a:path w="11507244" h="3741107">
                <a:moveTo>
                  <a:pt x="33403" y="0"/>
                </a:moveTo>
                <a:lnTo>
                  <a:pt x="11440428" y="0"/>
                </a:lnTo>
                <a:cubicBezTo>
                  <a:pt x="11477329" y="0"/>
                  <a:pt x="11507244" y="29915"/>
                  <a:pt x="11507244" y="66816"/>
                </a:cubicBezTo>
                <a:lnTo>
                  <a:pt x="11507244" y="3674291"/>
                </a:lnTo>
                <a:cubicBezTo>
                  <a:pt x="11507244" y="3711192"/>
                  <a:pt x="11477329" y="3741107"/>
                  <a:pt x="11440428" y="3741107"/>
                </a:cubicBezTo>
                <a:lnTo>
                  <a:pt x="33403" y="3741107"/>
                </a:lnTo>
                <a:cubicBezTo>
                  <a:pt x="14955" y="3741107"/>
                  <a:pt x="0" y="3726152"/>
                  <a:pt x="0" y="3707704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50729" y="2392471"/>
            <a:ext cx="33403" cy="3741107"/>
          </a:xfrm>
          <a:custGeom>
            <a:avLst/>
            <a:gdLst/>
            <a:ahLst/>
            <a:cxnLst/>
            <a:rect l="l" t="t" r="r" b="b"/>
            <a:pathLst>
              <a:path w="33403" h="3741107">
                <a:moveTo>
                  <a:pt x="33403" y="0"/>
                </a:moveTo>
                <a:lnTo>
                  <a:pt x="33403" y="0"/>
                </a:lnTo>
                <a:lnTo>
                  <a:pt x="33403" y="3741107"/>
                </a:lnTo>
                <a:lnTo>
                  <a:pt x="33403" y="3741107"/>
                </a:lnTo>
                <a:cubicBezTo>
                  <a:pt x="14955" y="3741107"/>
                  <a:pt x="0" y="3726152"/>
                  <a:pt x="0" y="3707704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59496" y="2592888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52374" y="14209"/>
                </a:moveTo>
                <a:cubicBezTo>
                  <a:pt x="56641" y="17184"/>
                  <a:pt x="57659" y="23056"/>
                  <a:pt x="54684" y="27283"/>
                </a:cubicBezTo>
                <a:lnTo>
                  <a:pt x="32763" y="58598"/>
                </a:lnTo>
                <a:cubicBezTo>
                  <a:pt x="31158" y="60869"/>
                  <a:pt x="28653" y="62317"/>
                  <a:pt x="25874" y="62552"/>
                </a:cubicBezTo>
                <a:cubicBezTo>
                  <a:pt x="23095" y="62787"/>
                  <a:pt x="20355" y="61847"/>
                  <a:pt x="18398" y="59890"/>
                </a:cubicBezTo>
                <a:lnTo>
                  <a:pt x="2740" y="44233"/>
                </a:lnTo>
                <a:cubicBezTo>
                  <a:pt x="-900" y="40553"/>
                  <a:pt x="-900" y="34603"/>
                  <a:pt x="2740" y="30924"/>
                </a:cubicBezTo>
                <a:cubicBezTo>
                  <a:pt x="6380" y="27244"/>
                  <a:pt x="12369" y="27283"/>
                  <a:pt x="16049" y="30924"/>
                </a:cubicBezTo>
                <a:lnTo>
                  <a:pt x="23799" y="38674"/>
                </a:lnTo>
                <a:lnTo>
                  <a:pt x="39300" y="16519"/>
                </a:lnTo>
                <a:cubicBezTo>
                  <a:pt x="42275" y="12252"/>
                  <a:pt x="48147" y="11234"/>
                  <a:pt x="52374" y="14209"/>
                </a:cubicBezTo>
                <a:close/>
                <a:moveTo>
                  <a:pt x="52374" y="76839"/>
                </a:moveTo>
                <a:cubicBezTo>
                  <a:pt x="56641" y="79814"/>
                  <a:pt x="57659" y="85686"/>
                  <a:pt x="54684" y="89913"/>
                </a:cubicBezTo>
                <a:lnTo>
                  <a:pt x="32763" y="121228"/>
                </a:lnTo>
                <a:cubicBezTo>
                  <a:pt x="31158" y="123499"/>
                  <a:pt x="28653" y="124947"/>
                  <a:pt x="25874" y="125182"/>
                </a:cubicBezTo>
                <a:cubicBezTo>
                  <a:pt x="23095" y="125417"/>
                  <a:pt x="20355" y="124477"/>
                  <a:pt x="18398" y="122520"/>
                </a:cubicBezTo>
                <a:lnTo>
                  <a:pt x="2740" y="106863"/>
                </a:lnTo>
                <a:cubicBezTo>
                  <a:pt x="-939" y="103183"/>
                  <a:pt x="-939" y="97233"/>
                  <a:pt x="2740" y="93593"/>
                </a:cubicBezTo>
                <a:cubicBezTo>
                  <a:pt x="6420" y="89953"/>
                  <a:pt x="12369" y="89913"/>
                  <a:pt x="16010" y="93593"/>
                </a:cubicBezTo>
                <a:lnTo>
                  <a:pt x="23760" y="101343"/>
                </a:lnTo>
                <a:lnTo>
                  <a:pt x="39261" y="79188"/>
                </a:lnTo>
                <a:cubicBezTo>
                  <a:pt x="42236" y="74921"/>
                  <a:pt x="48108" y="73904"/>
                  <a:pt x="52335" y="76878"/>
                </a:cubicBezTo>
                <a:close/>
                <a:moveTo>
                  <a:pt x="87682" y="37578"/>
                </a:moveTo>
                <a:cubicBezTo>
                  <a:pt x="87682" y="30650"/>
                  <a:pt x="93280" y="25052"/>
                  <a:pt x="100208" y="25052"/>
                </a:cubicBezTo>
                <a:lnTo>
                  <a:pt x="187890" y="25052"/>
                </a:lnTo>
                <a:cubicBezTo>
                  <a:pt x="194819" y="25052"/>
                  <a:pt x="200416" y="30650"/>
                  <a:pt x="200416" y="37578"/>
                </a:cubicBezTo>
                <a:cubicBezTo>
                  <a:pt x="200416" y="44507"/>
                  <a:pt x="194819" y="50104"/>
                  <a:pt x="187890" y="50104"/>
                </a:cubicBezTo>
                <a:lnTo>
                  <a:pt x="100208" y="50104"/>
                </a:lnTo>
                <a:cubicBezTo>
                  <a:pt x="93280" y="50104"/>
                  <a:pt x="87682" y="44507"/>
                  <a:pt x="87682" y="37578"/>
                </a:cubicBezTo>
                <a:close/>
                <a:moveTo>
                  <a:pt x="87682" y="100208"/>
                </a:moveTo>
                <a:cubicBezTo>
                  <a:pt x="87682" y="93280"/>
                  <a:pt x="93280" y="87682"/>
                  <a:pt x="100208" y="87682"/>
                </a:cubicBezTo>
                <a:lnTo>
                  <a:pt x="187890" y="87682"/>
                </a:lnTo>
                <a:cubicBezTo>
                  <a:pt x="194819" y="87682"/>
                  <a:pt x="200416" y="93280"/>
                  <a:pt x="200416" y="100208"/>
                </a:cubicBezTo>
                <a:cubicBezTo>
                  <a:pt x="200416" y="107137"/>
                  <a:pt x="194819" y="112734"/>
                  <a:pt x="187890" y="112734"/>
                </a:cubicBezTo>
                <a:lnTo>
                  <a:pt x="100208" y="112734"/>
                </a:lnTo>
                <a:cubicBezTo>
                  <a:pt x="93280" y="112734"/>
                  <a:pt x="87682" y="107137"/>
                  <a:pt x="87682" y="100208"/>
                </a:cubicBezTo>
                <a:close/>
                <a:moveTo>
                  <a:pt x="62630" y="162838"/>
                </a:moveTo>
                <a:cubicBezTo>
                  <a:pt x="62630" y="155910"/>
                  <a:pt x="68228" y="150312"/>
                  <a:pt x="75156" y="150312"/>
                </a:cubicBezTo>
                <a:lnTo>
                  <a:pt x="187890" y="150312"/>
                </a:lnTo>
                <a:cubicBezTo>
                  <a:pt x="194819" y="150312"/>
                  <a:pt x="200416" y="155910"/>
                  <a:pt x="200416" y="162838"/>
                </a:cubicBezTo>
                <a:cubicBezTo>
                  <a:pt x="200416" y="169767"/>
                  <a:pt x="194819" y="175364"/>
                  <a:pt x="187890" y="175364"/>
                </a:cubicBezTo>
                <a:lnTo>
                  <a:pt x="75156" y="175364"/>
                </a:lnTo>
                <a:cubicBezTo>
                  <a:pt x="68228" y="175364"/>
                  <a:pt x="62630" y="169767"/>
                  <a:pt x="62630" y="162838"/>
                </a:cubicBezTo>
                <a:close/>
                <a:moveTo>
                  <a:pt x="25052" y="147181"/>
                </a:moveTo>
                <a:cubicBezTo>
                  <a:pt x="33694" y="147181"/>
                  <a:pt x="40710" y="154197"/>
                  <a:pt x="40710" y="162838"/>
                </a:cubicBezTo>
                <a:cubicBezTo>
                  <a:pt x="40710" y="171480"/>
                  <a:pt x="33694" y="178496"/>
                  <a:pt x="25052" y="178496"/>
                </a:cubicBezTo>
                <a:cubicBezTo>
                  <a:pt x="16410" y="178496"/>
                  <a:pt x="9395" y="171480"/>
                  <a:pt x="9395" y="162838"/>
                </a:cubicBezTo>
                <a:cubicBezTo>
                  <a:pt x="9395" y="154197"/>
                  <a:pt x="16410" y="147181"/>
                  <a:pt x="25052" y="14718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84964" y="2559485"/>
            <a:ext cx="11006203" cy="26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Requisitos para Participar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4444" y="2960318"/>
            <a:ext cx="5528153" cy="501041"/>
          </a:xfrm>
          <a:custGeom>
            <a:avLst/>
            <a:gdLst/>
            <a:ahLst/>
            <a:cxnLst/>
            <a:rect l="l" t="t" r="r" b="b"/>
            <a:pathLst>
              <a:path w="5528153" h="501041">
                <a:moveTo>
                  <a:pt x="66804" y="0"/>
                </a:moveTo>
                <a:lnTo>
                  <a:pt x="5461350" y="0"/>
                </a:lnTo>
                <a:cubicBezTo>
                  <a:pt x="5498244" y="0"/>
                  <a:pt x="5528153" y="29909"/>
                  <a:pt x="5528153" y="66804"/>
                </a:cubicBezTo>
                <a:lnTo>
                  <a:pt x="5528153" y="434237"/>
                </a:lnTo>
                <a:cubicBezTo>
                  <a:pt x="5528153" y="471132"/>
                  <a:pt x="5498244" y="501041"/>
                  <a:pt x="5461350" y="501041"/>
                </a:cubicBezTo>
                <a:lnTo>
                  <a:pt x="66804" y="501041"/>
                </a:lnTo>
                <a:cubicBezTo>
                  <a:pt x="29934" y="501041"/>
                  <a:pt x="0" y="471107"/>
                  <a:pt x="0" y="434237"/>
                </a:cubicBezTo>
                <a:lnTo>
                  <a:pt x="0" y="66804"/>
                </a:lnTo>
                <a:cubicBezTo>
                  <a:pt x="0" y="29934"/>
                  <a:pt x="29934" y="0"/>
                  <a:pt x="668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34652" y="3093929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19203" y="3169085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02082" y="3060526"/>
            <a:ext cx="3139858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Confirmar que o </a:t>
            </a: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MMSP foi aprovado</a:t>
            </a: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pela Mastercard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0848" y="2960318"/>
            <a:ext cx="5528153" cy="501041"/>
          </a:xfrm>
          <a:custGeom>
            <a:avLst/>
            <a:gdLst/>
            <a:ahLst/>
            <a:cxnLst/>
            <a:rect l="l" t="t" r="r" b="b"/>
            <a:pathLst>
              <a:path w="5528153" h="501041">
                <a:moveTo>
                  <a:pt x="66804" y="0"/>
                </a:moveTo>
                <a:lnTo>
                  <a:pt x="5461350" y="0"/>
                </a:lnTo>
                <a:cubicBezTo>
                  <a:pt x="5498244" y="0"/>
                  <a:pt x="5528153" y="29909"/>
                  <a:pt x="5528153" y="66804"/>
                </a:cubicBezTo>
                <a:lnTo>
                  <a:pt x="5528153" y="434237"/>
                </a:lnTo>
                <a:cubicBezTo>
                  <a:pt x="5528153" y="471132"/>
                  <a:pt x="5498244" y="501041"/>
                  <a:pt x="5461350" y="501041"/>
                </a:cubicBezTo>
                <a:lnTo>
                  <a:pt x="66804" y="501041"/>
                </a:lnTo>
                <a:cubicBezTo>
                  <a:pt x="29934" y="501041"/>
                  <a:pt x="0" y="471107"/>
                  <a:pt x="0" y="434237"/>
                </a:cubicBezTo>
                <a:lnTo>
                  <a:pt x="0" y="66804"/>
                </a:lnTo>
                <a:cubicBezTo>
                  <a:pt x="0" y="29934"/>
                  <a:pt x="29934" y="0"/>
                  <a:pt x="668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261057" y="3093929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345607" y="3169085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28487" y="3060526"/>
            <a:ext cx="2713973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Registrar o MMSP</a:t>
            </a: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como Provedor de Serviços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4444" y="3561567"/>
            <a:ext cx="5528153" cy="501041"/>
          </a:xfrm>
          <a:custGeom>
            <a:avLst/>
            <a:gdLst/>
            <a:ahLst/>
            <a:cxnLst/>
            <a:rect l="l" t="t" r="r" b="b"/>
            <a:pathLst>
              <a:path w="5528153" h="501041">
                <a:moveTo>
                  <a:pt x="66804" y="0"/>
                </a:moveTo>
                <a:lnTo>
                  <a:pt x="5461350" y="0"/>
                </a:lnTo>
                <a:cubicBezTo>
                  <a:pt x="5498244" y="0"/>
                  <a:pt x="5528153" y="29909"/>
                  <a:pt x="5528153" y="66804"/>
                </a:cubicBezTo>
                <a:lnTo>
                  <a:pt x="5528153" y="434237"/>
                </a:lnTo>
                <a:cubicBezTo>
                  <a:pt x="5528153" y="471132"/>
                  <a:pt x="5498244" y="501041"/>
                  <a:pt x="5461350" y="501041"/>
                </a:cubicBezTo>
                <a:lnTo>
                  <a:pt x="66804" y="501041"/>
                </a:lnTo>
                <a:cubicBezTo>
                  <a:pt x="29934" y="501041"/>
                  <a:pt x="0" y="471107"/>
                  <a:pt x="0" y="434237"/>
                </a:cubicBezTo>
                <a:lnTo>
                  <a:pt x="0" y="66804"/>
                </a:lnTo>
                <a:cubicBezTo>
                  <a:pt x="0" y="29934"/>
                  <a:pt x="29934" y="0"/>
                  <a:pt x="668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34652" y="3695178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19203" y="3770334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02082" y="3661775"/>
            <a:ext cx="3215014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Enviar ao MMSP </a:t>
            </a: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todas as informações</a:t>
            </a: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Comerciante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60848" y="3561567"/>
            <a:ext cx="5528153" cy="501041"/>
          </a:xfrm>
          <a:custGeom>
            <a:avLst/>
            <a:gdLst/>
            <a:ahLst/>
            <a:cxnLst/>
            <a:rect l="l" t="t" r="r" b="b"/>
            <a:pathLst>
              <a:path w="5528153" h="501041">
                <a:moveTo>
                  <a:pt x="66804" y="0"/>
                </a:moveTo>
                <a:lnTo>
                  <a:pt x="5461350" y="0"/>
                </a:lnTo>
                <a:cubicBezTo>
                  <a:pt x="5498244" y="0"/>
                  <a:pt x="5528153" y="29909"/>
                  <a:pt x="5528153" y="66804"/>
                </a:cubicBezTo>
                <a:lnTo>
                  <a:pt x="5528153" y="434237"/>
                </a:lnTo>
                <a:cubicBezTo>
                  <a:pt x="5528153" y="471132"/>
                  <a:pt x="5498244" y="501041"/>
                  <a:pt x="5461350" y="501041"/>
                </a:cubicBezTo>
                <a:lnTo>
                  <a:pt x="66804" y="501041"/>
                </a:lnTo>
                <a:cubicBezTo>
                  <a:pt x="29934" y="501041"/>
                  <a:pt x="0" y="471107"/>
                  <a:pt x="0" y="434237"/>
                </a:cubicBezTo>
                <a:lnTo>
                  <a:pt x="0" y="66804"/>
                </a:lnTo>
                <a:cubicBezTo>
                  <a:pt x="0" y="29934"/>
                  <a:pt x="29934" y="0"/>
                  <a:pt x="668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261057" y="3695178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345607" y="3770334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628487" y="3661775"/>
            <a:ext cx="4125238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Garantir </a:t>
            </a: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monitoramento persistente</a:t>
            </a: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 atividade de cada Comerciante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4444" y="4162816"/>
            <a:ext cx="5528153" cy="501041"/>
          </a:xfrm>
          <a:custGeom>
            <a:avLst/>
            <a:gdLst/>
            <a:ahLst/>
            <a:cxnLst/>
            <a:rect l="l" t="t" r="r" b="b"/>
            <a:pathLst>
              <a:path w="5528153" h="501041">
                <a:moveTo>
                  <a:pt x="66804" y="0"/>
                </a:moveTo>
                <a:lnTo>
                  <a:pt x="5461350" y="0"/>
                </a:lnTo>
                <a:cubicBezTo>
                  <a:pt x="5498244" y="0"/>
                  <a:pt x="5528153" y="29909"/>
                  <a:pt x="5528153" y="66804"/>
                </a:cubicBezTo>
                <a:lnTo>
                  <a:pt x="5528153" y="434237"/>
                </a:lnTo>
                <a:cubicBezTo>
                  <a:pt x="5528153" y="471132"/>
                  <a:pt x="5498244" y="501041"/>
                  <a:pt x="5461350" y="501041"/>
                </a:cubicBezTo>
                <a:lnTo>
                  <a:pt x="66804" y="501041"/>
                </a:lnTo>
                <a:cubicBezTo>
                  <a:pt x="29934" y="501041"/>
                  <a:pt x="0" y="471107"/>
                  <a:pt x="0" y="434237"/>
                </a:cubicBezTo>
                <a:lnTo>
                  <a:pt x="0" y="66804"/>
                </a:lnTo>
                <a:cubicBezTo>
                  <a:pt x="0" y="29934"/>
                  <a:pt x="29934" y="0"/>
                  <a:pt x="668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34652" y="4296427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19203" y="4371584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002082" y="4263025"/>
            <a:ext cx="4626279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Garantir que </a:t>
            </a: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URLs sejam monitorados completamente</a:t>
            </a: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incluindo áreas restritas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60848" y="4162816"/>
            <a:ext cx="5528153" cy="501041"/>
          </a:xfrm>
          <a:custGeom>
            <a:avLst/>
            <a:gdLst/>
            <a:ahLst/>
            <a:cxnLst/>
            <a:rect l="l" t="t" r="r" b="b"/>
            <a:pathLst>
              <a:path w="5528153" h="501041">
                <a:moveTo>
                  <a:pt x="66804" y="0"/>
                </a:moveTo>
                <a:lnTo>
                  <a:pt x="5461350" y="0"/>
                </a:lnTo>
                <a:cubicBezTo>
                  <a:pt x="5498244" y="0"/>
                  <a:pt x="5528153" y="29909"/>
                  <a:pt x="5528153" y="66804"/>
                </a:cubicBezTo>
                <a:lnTo>
                  <a:pt x="5528153" y="434237"/>
                </a:lnTo>
                <a:cubicBezTo>
                  <a:pt x="5528153" y="471132"/>
                  <a:pt x="5498244" y="501041"/>
                  <a:pt x="5461350" y="501041"/>
                </a:cubicBezTo>
                <a:lnTo>
                  <a:pt x="66804" y="501041"/>
                </a:lnTo>
                <a:cubicBezTo>
                  <a:pt x="29934" y="501041"/>
                  <a:pt x="0" y="471107"/>
                  <a:pt x="0" y="434237"/>
                </a:cubicBezTo>
                <a:lnTo>
                  <a:pt x="0" y="66804"/>
                </a:lnTo>
                <a:cubicBezTo>
                  <a:pt x="0" y="29934"/>
                  <a:pt x="29934" y="0"/>
                  <a:pt x="668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261057" y="4296427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345607" y="4371584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628487" y="4263025"/>
            <a:ext cx="3114805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Exigir que MMSP </a:t>
            </a: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 identificações em 5 dias úteis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4444" y="4764066"/>
            <a:ext cx="5528153" cy="601249"/>
          </a:xfrm>
          <a:custGeom>
            <a:avLst/>
            <a:gdLst/>
            <a:ahLst/>
            <a:cxnLst/>
            <a:rect l="l" t="t" r="r" b="b"/>
            <a:pathLst>
              <a:path w="5528153" h="601249">
                <a:moveTo>
                  <a:pt x="66805" y="0"/>
                </a:moveTo>
                <a:lnTo>
                  <a:pt x="5461349" y="0"/>
                </a:lnTo>
                <a:cubicBezTo>
                  <a:pt x="5498244" y="0"/>
                  <a:pt x="5528153" y="29910"/>
                  <a:pt x="5528153" y="66805"/>
                </a:cubicBezTo>
                <a:lnTo>
                  <a:pt x="5528153" y="534445"/>
                </a:lnTo>
                <a:cubicBezTo>
                  <a:pt x="5528153" y="571340"/>
                  <a:pt x="5498244" y="601249"/>
                  <a:pt x="5461349" y="601249"/>
                </a:cubicBezTo>
                <a:lnTo>
                  <a:pt x="66805" y="601249"/>
                </a:lnTo>
                <a:cubicBezTo>
                  <a:pt x="29910" y="601249"/>
                  <a:pt x="0" y="571340"/>
                  <a:pt x="0" y="534445"/>
                </a:cubicBezTo>
                <a:lnTo>
                  <a:pt x="0" y="66805"/>
                </a:lnTo>
                <a:cubicBezTo>
                  <a:pt x="0" y="29934"/>
                  <a:pt x="29934" y="0"/>
                  <a:pt x="6680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34652" y="4897677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719203" y="4972833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1002082" y="4864274"/>
            <a:ext cx="5027112" cy="40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Investigar violação</a:t>
            </a: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garantir que atividades cessaram e relatar resolução em </a:t>
            </a:r>
            <a:r>
              <a:rPr lang="en-US" sz="1052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dias corridos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60848" y="4764066"/>
            <a:ext cx="5528153" cy="601249"/>
          </a:xfrm>
          <a:custGeom>
            <a:avLst/>
            <a:gdLst/>
            <a:ahLst/>
            <a:cxnLst/>
            <a:rect l="l" t="t" r="r" b="b"/>
            <a:pathLst>
              <a:path w="5528153" h="601249">
                <a:moveTo>
                  <a:pt x="66805" y="0"/>
                </a:moveTo>
                <a:lnTo>
                  <a:pt x="5461349" y="0"/>
                </a:lnTo>
                <a:cubicBezTo>
                  <a:pt x="5498244" y="0"/>
                  <a:pt x="5528153" y="29910"/>
                  <a:pt x="5528153" y="66805"/>
                </a:cubicBezTo>
                <a:lnTo>
                  <a:pt x="5528153" y="534445"/>
                </a:lnTo>
                <a:cubicBezTo>
                  <a:pt x="5528153" y="571340"/>
                  <a:pt x="5498244" y="601249"/>
                  <a:pt x="5461349" y="601249"/>
                </a:cubicBezTo>
                <a:lnTo>
                  <a:pt x="66805" y="601249"/>
                </a:lnTo>
                <a:cubicBezTo>
                  <a:pt x="29910" y="601249"/>
                  <a:pt x="0" y="571340"/>
                  <a:pt x="0" y="534445"/>
                </a:cubicBezTo>
                <a:lnTo>
                  <a:pt x="0" y="66805"/>
                </a:lnTo>
                <a:cubicBezTo>
                  <a:pt x="0" y="29934"/>
                  <a:pt x="29934" y="0"/>
                  <a:pt x="6680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261057" y="4897677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345607" y="4972833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628487" y="4864274"/>
            <a:ext cx="3114805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Fornecer à Mastercard </a:t>
            </a: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relatórios mensais detalhados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4444" y="5465523"/>
            <a:ext cx="11156515" cy="501041"/>
          </a:xfrm>
          <a:custGeom>
            <a:avLst/>
            <a:gdLst/>
            <a:ahLst/>
            <a:cxnLst/>
            <a:rect l="l" t="t" r="r" b="b"/>
            <a:pathLst>
              <a:path w="11156515" h="501041">
                <a:moveTo>
                  <a:pt x="66804" y="0"/>
                </a:moveTo>
                <a:lnTo>
                  <a:pt x="11089711" y="0"/>
                </a:lnTo>
                <a:cubicBezTo>
                  <a:pt x="11126606" y="0"/>
                  <a:pt x="11156515" y="29909"/>
                  <a:pt x="11156515" y="66804"/>
                </a:cubicBezTo>
                <a:lnTo>
                  <a:pt x="11156515" y="434237"/>
                </a:lnTo>
                <a:cubicBezTo>
                  <a:pt x="11156515" y="471132"/>
                  <a:pt x="11126606" y="501041"/>
                  <a:pt x="11089711" y="501041"/>
                </a:cubicBezTo>
                <a:lnTo>
                  <a:pt x="66804" y="501041"/>
                </a:lnTo>
                <a:cubicBezTo>
                  <a:pt x="29934" y="501041"/>
                  <a:pt x="0" y="471107"/>
                  <a:pt x="0" y="434237"/>
                </a:cubicBezTo>
                <a:lnTo>
                  <a:pt x="0" y="66804"/>
                </a:lnTo>
                <a:cubicBezTo>
                  <a:pt x="0" y="29934"/>
                  <a:pt x="29934" y="0"/>
                  <a:pt x="668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34652" y="5599134"/>
            <a:ext cx="267222" cy="267222"/>
          </a:xfrm>
          <a:custGeom>
            <a:avLst/>
            <a:gdLst/>
            <a:ahLst/>
            <a:cxnLst/>
            <a:rect l="l" t="t" r="r" b="b"/>
            <a:pathLst>
              <a:path w="267222" h="267222">
                <a:moveTo>
                  <a:pt x="133611" y="0"/>
                </a:moveTo>
                <a:lnTo>
                  <a:pt x="133611" y="0"/>
                </a:lnTo>
                <a:cubicBezTo>
                  <a:pt x="207402" y="0"/>
                  <a:pt x="267222" y="59820"/>
                  <a:pt x="267222" y="133611"/>
                </a:cubicBezTo>
                <a:lnTo>
                  <a:pt x="267222" y="133611"/>
                </a:lnTo>
                <a:cubicBezTo>
                  <a:pt x="267222" y="207402"/>
                  <a:pt x="207402" y="267222"/>
                  <a:pt x="133611" y="267222"/>
                </a:cubicBezTo>
                <a:lnTo>
                  <a:pt x="133611" y="267222"/>
                </a:lnTo>
                <a:cubicBezTo>
                  <a:pt x="59820" y="267222"/>
                  <a:pt x="0" y="207402"/>
                  <a:pt x="0" y="133611"/>
                </a:cubicBezTo>
                <a:lnTo>
                  <a:pt x="0" y="133611"/>
                </a:lnTo>
                <a:cubicBezTo>
                  <a:pt x="0" y="59820"/>
                  <a:pt x="59820" y="0"/>
                  <a:pt x="133611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719203" y="5674290"/>
            <a:ext cx="102296" cy="116910"/>
          </a:xfrm>
          <a:custGeom>
            <a:avLst/>
            <a:gdLst/>
            <a:ahLst/>
            <a:cxnLst/>
            <a:rect l="l" t="t" r="r" b="b"/>
            <a:pathLst>
              <a:path w="102296" h="116910">
                <a:moveTo>
                  <a:pt x="99282" y="16007"/>
                </a:moveTo>
                <a:cubicBezTo>
                  <a:pt x="102547" y="18381"/>
                  <a:pt x="103278" y="22948"/>
                  <a:pt x="100903" y="26213"/>
                </a:cubicBezTo>
                <a:lnTo>
                  <a:pt x="42448" y="106589"/>
                </a:lnTo>
                <a:cubicBezTo>
                  <a:pt x="41192" y="108324"/>
                  <a:pt x="39251" y="109397"/>
                  <a:pt x="37105" y="109580"/>
                </a:cubicBezTo>
                <a:cubicBezTo>
                  <a:pt x="34959" y="109763"/>
                  <a:pt x="32881" y="108963"/>
                  <a:pt x="31374" y="107456"/>
                </a:cubicBezTo>
                <a:lnTo>
                  <a:pt x="2146" y="78229"/>
                </a:lnTo>
                <a:cubicBezTo>
                  <a:pt x="-708" y="75375"/>
                  <a:pt x="-708" y="70739"/>
                  <a:pt x="2146" y="67885"/>
                </a:cubicBezTo>
                <a:cubicBezTo>
                  <a:pt x="5001" y="65031"/>
                  <a:pt x="9636" y="65031"/>
                  <a:pt x="12490" y="67885"/>
                </a:cubicBezTo>
                <a:lnTo>
                  <a:pt x="35667" y="91062"/>
                </a:lnTo>
                <a:lnTo>
                  <a:pt x="89098" y="17605"/>
                </a:lnTo>
                <a:cubicBezTo>
                  <a:pt x="91473" y="14340"/>
                  <a:pt x="96039" y="13609"/>
                  <a:pt x="99305" y="15984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002082" y="5565732"/>
            <a:ext cx="4960307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Aderir aos Padrões MATCH</a:t>
            </a: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estabelecidos no Capítulo 11 do manual, quando aplicável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8203" y="6271364"/>
            <a:ext cx="11515595" cy="475989"/>
          </a:xfrm>
          <a:custGeom>
            <a:avLst/>
            <a:gdLst/>
            <a:ahLst/>
            <a:cxnLst/>
            <a:rect l="l" t="t" r="r" b="b"/>
            <a:pathLst>
              <a:path w="11515595" h="475989">
                <a:moveTo>
                  <a:pt x="66805" y="0"/>
                </a:moveTo>
                <a:lnTo>
                  <a:pt x="11448789" y="0"/>
                </a:lnTo>
                <a:cubicBezTo>
                  <a:pt x="11485685" y="0"/>
                  <a:pt x="11515595" y="29910"/>
                  <a:pt x="11515595" y="66805"/>
                </a:cubicBezTo>
                <a:lnTo>
                  <a:pt x="11515595" y="409184"/>
                </a:lnTo>
                <a:cubicBezTo>
                  <a:pt x="11515595" y="446079"/>
                  <a:pt x="11485685" y="475989"/>
                  <a:pt x="11448789" y="475989"/>
                </a:cubicBezTo>
                <a:lnTo>
                  <a:pt x="66805" y="475989"/>
                </a:lnTo>
                <a:cubicBezTo>
                  <a:pt x="29910" y="475989"/>
                  <a:pt x="0" y="446079"/>
                  <a:pt x="0" y="409184"/>
                </a:cubicBezTo>
                <a:lnTo>
                  <a:pt x="0" y="66805"/>
                </a:lnTo>
                <a:cubicBezTo>
                  <a:pt x="0" y="29934"/>
                  <a:pt x="29934" y="0"/>
                  <a:pt x="6680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509392" y="6442553"/>
            <a:ext cx="100208" cy="133611"/>
          </a:xfrm>
          <a:custGeom>
            <a:avLst/>
            <a:gdLst/>
            <a:ahLst/>
            <a:cxnLst/>
            <a:rect l="l" t="t" r="r" b="b"/>
            <a:pathLst>
              <a:path w="100208" h="133611">
                <a:moveTo>
                  <a:pt x="16701" y="0"/>
                </a:moveTo>
                <a:cubicBezTo>
                  <a:pt x="7490" y="0"/>
                  <a:pt x="0" y="7490"/>
                  <a:pt x="0" y="16701"/>
                </a:cubicBezTo>
                <a:lnTo>
                  <a:pt x="0" y="116910"/>
                </a:lnTo>
                <a:cubicBezTo>
                  <a:pt x="0" y="126121"/>
                  <a:pt x="7490" y="133611"/>
                  <a:pt x="16701" y="133611"/>
                </a:cubicBezTo>
                <a:lnTo>
                  <a:pt x="83507" y="133611"/>
                </a:lnTo>
                <a:cubicBezTo>
                  <a:pt x="92719" y="133611"/>
                  <a:pt x="100208" y="126121"/>
                  <a:pt x="100208" y="116910"/>
                </a:cubicBezTo>
                <a:lnTo>
                  <a:pt x="100208" y="16701"/>
                </a:lnTo>
                <a:cubicBezTo>
                  <a:pt x="100208" y="7490"/>
                  <a:pt x="92719" y="0"/>
                  <a:pt x="83507" y="0"/>
                </a:cubicBezTo>
                <a:lnTo>
                  <a:pt x="16701" y="0"/>
                </a:lnTo>
                <a:close/>
                <a:moveTo>
                  <a:pt x="45929" y="91858"/>
                </a:moveTo>
                <a:lnTo>
                  <a:pt x="54279" y="91858"/>
                </a:lnTo>
                <a:cubicBezTo>
                  <a:pt x="58898" y="91858"/>
                  <a:pt x="62630" y="95589"/>
                  <a:pt x="62630" y="100208"/>
                </a:cubicBezTo>
                <a:lnTo>
                  <a:pt x="62630" y="121085"/>
                </a:lnTo>
                <a:lnTo>
                  <a:pt x="37578" y="121085"/>
                </a:lnTo>
                <a:lnTo>
                  <a:pt x="37578" y="100208"/>
                </a:lnTo>
                <a:cubicBezTo>
                  <a:pt x="37578" y="95589"/>
                  <a:pt x="41310" y="91858"/>
                  <a:pt x="45929" y="91858"/>
                </a:cubicBezTo>
                <a:close/>
                <a:moveTo>
                  <a:pt x="25052" y="29227"/>
                </a:moveTo>
                <a:cubicBezTo>
                  <a:pt x="25052" y="26931"/>
                  <a:pt x="26931" y="25052"/>
                  <a:pt x="29227" y="25052"/>
                </a:cubicBezTo>
                <a:lnTo>
                  <a:pt x="37578" y="25052"/>
                </a:lnTo>
                <a:cubicBezTo>
                  <a:pt x="39875" y="25052"/>
                  <a:pt x="41753" y="26931"/>
                  <a:pt x="41753" y="29227"/>
                </a:cubicBezTo>
                <a:lnTo>
                  <a:pt x="41753" y="37578"/>
                </a:lnTo>
                <a:cubicBezTo>
                  <a:pt x="41753" y="39875"/>
                  <a:pt x="39875" y="41753"/>
                  <a:pt x="37578" y="41753"/>
                </a:cubicBezTo>
                <a:lnTo>
                  <a:pt x="29227" y="41753"/>
                </a:lnTo>
                <a:cubicBezTo>
                  <a:pt x="26931" y="41753"/>
                  <a:pt x="25052" y="39875"/>
                  <a:pt x="25052" y="37578"/>
                </a:cubicBezTo>
                <a:lnTo>
                  <a:pt x="25052" y="29227"/>
                </a:lnTo>
                <a:close/>
                <a:moveTo>
                  <a:pt x="62630" y="25052"/>
                </a:moveTo>
                <a:lnTo>
                  <a:pt x="70981" y="25052"/>
                </a:lnTo>
                <a:cubicBezTo>
                  <a:pt x="73277" y="25052"/>
                  <a:pt x="75156" y="26931"/>
                  <a:pt x="75156" y="29227"/>
                </a:cubicBezTo>
                <a:lnTo>
                  <a:pt x="75156" y="37578"/>
                </a:lnTo>
                <a:cubicBezTo>
                  <a:pt x="75156" y="39875"/>
                  <a:pt x="73277" y="41753"/>
                  <a:pt x="70981" y="41753"/>
                </a:cubicBezTo>
                <a:lnTo>
                  <a:pt x="62630" y="41753"/>
                </a:lnTo>
                <a:cubicBezTo>
                  <a:pt x="60334" y="41753"/>
                  <a:pt x="58455" y="39875"/>
                  <a:pt x="58455" y="37578"/>
                </a:cubicBezTo>
                <a:lnTo>
                  <a:pt x="58455" y="29227"/>
                </a:lnTo>
                <a:cubicBezTo>
                  <a:pt x="58455" y="26931"/>
                  <a:pt x="60334" y="25052"/>
                  <a:pt x="62630" y="25052"/>
                </a:cubicBezTo>
                <a:close/>
                <a:moveTo>
                  <a:pt x="25052" y="62630"/>
                </a:moveTo>
                <a:cubicBezTo>
                  <a:pt x="25052" y="60334"/>
                  <a:pt x="26931" y="58455"/>
                  <a:pt x="29227" y="58455"/>
                </a:cubicBezTo>
                <a:lnTo>
                  <a:pt x="37578" y="58455"/>
                </a:lnTo>
                <a:cubicBezTo>
                  <a:pt x="39875" y="58455"/>
                  <a:pt x="41753" y="60334"/>
                  <a:pt x="41753" y="62630"/>
                </a:cubicBezTo>
                <a:lnTo>
                  <a:pt x="41753" y="70981"/>
                </a:lnTo>
                <a:cubicBezTo>
                  <a:pt x="41753" y="73277"/>
                  <a:pt x="39875" y="75156"/>
                  <a:pt x="37578" y="75156"/>
                </a:cubicBezTo>
                <a:lnTo>
                  <a:pt x="29227" y="75156"/>
                </a:lnTo>
                <a:cubicBezTo>
                  <a:pt x="26931" y="75156"/>
                  <a:pt x="25052" y="73277"/>
                  <a:pt x="25052" y="70981"/>
                </a:cubicBezTo>
                <a:lnTo>
                  <a:pt x="25052" y="62630"/>
                </a:lnTo>
                <a:close/>
                <a:moveTo>
                  <a:pt x="62630" y="58455"/>
                </a:moveTo>
                <a:lnTo>
                  <a:pt x="70981" y="58455"/>
                </a:lnTo>
                <a:cubicBezTo>
                  <a:pt x="73277" y="58455"/>
                  <a:pt x="75156" y="60334"/>
                  <a:pt x="75156" y="62630"/>
                </a:cubicBezTo>
                <a:lnTo>
                  <a:pt x="75156" y="70981"/>
                </a:lnTo>
                <a:cubicBezTo>
                  <a:pt x="75156" y="73277"/>
                  <a:pt x="73277" y="75156"/>
                  <a:pt x="70981" y="75156"/>
                </a:cubicBezTo>
                <a:lnTo>
                  <a:pt x="62630" y="75156"/>
                </a:lnTo>
                <a:cubicBezTo>
                  <a:pt x="60334" y="75156"/>
                  <a:pt x="58455" y="73277"/>
                  <a:pt x="58455" y="70981"/>
                </a:cubicBezTo>
                <a:lnTo>
                  <a:pt x="58455" y="62630"/>
                </a:lnTo>
                <a:cubicBezTo>
                  <a:pt x="58455" y="60334"/>
                  <a:pt x="60334" y="58455"/>
                  <a:pt x="62630" y="5845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86930" y="6409151"/>
            <a:ext cx="11095887" cy="20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2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MMSP:</a:t>
            </a:r>
            <a:r>
              <a:rPr lang="en-US" sz="10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Merchant Monitoring Service Provider - prestador de serviço terceirizado especializado em monitoramento de comerciantes, aprovado pela Mastercard.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ATUALIZAÇÃO MASTERCARD - JUNHO/2025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MMP - Novas Obrigações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11541125" cy="1135063"/>
          </a:xfrm>
          <a:custGeom>
            <a:avLst/>
            <a:gdLst/>
            <a:ahLst/>
            <a:cxnLst/>
            <a:rect l="l" t="t" r="r" b="b"/>
            <a:pathLst>
              <a:path w="11541125" h="1135063">
                <a:moveTo>
                  <a:pt x="31750" y="0"/>
                </a:moveTo>
                <a:lnTo>
                  <a:pt x="11477630" y="0"/>
                </a:lnTo>
                <a:cubicBezTo>
                  <a:pt x="11512697" y="0"/>
                  <a:pt x="11541125" y="28428"/>
                  <a:pt x="11541125" y="63495"/>
                </a:cubicBezTo>
                <a:lnTo>
                  <a:pt x="11541125" y="1071567"/>
                </a:lnTo>
                <a:cubicBezTo>
                  <a:pt x="11541125" y="1106635"/>
                  <a:pt x="11512697" y="1135062"/>
                  <a:pt x="11477630" y="1135063"/>
                </a:cubicBezTo>
                <a:lnTo>
                  <a:pt x="31750" y="1135063"/>
                </a:lnTo>
                <a:cubicBezTo>
                  <a:pt x="14227" y="1135063"/>
                  <a:pt x="0" y="1120836"/>
                  <a:pt x="0" y="1103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1135063"/>
          </a:xfrm>
          <a:custGeom>
            <a:avLst/>
            <a:gdLst/>
            <a:ahLst/>
            <a:cxnLst/>
            <a:rect l="l" t="t" r="r" b="b"/>
            <a:pathLst>
              <a:path w="31750" h="1135063">
                <a:moveTo>
                  <a:pt x="31750" y="0"/>
                </a:moveTo>
                <a:lnTo>
                  <a:pt x="31750" y="0"/>
                </a:lnTo>
                <a:lnTo>
                  <a:pt x="31750" y="1135063"/>
                </a:lnTo>
                <a:lnTo>
                  <a:pt x="31750" y="1135063"/>
                </a:lnTo>
                <a:cubicBezTo>
                  <a:pt x="14227" y="1135063"/>
                  <a:pt x="0" y="1120836"/>
                  <a:pt x="0" y="1103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31813" y="120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6125" y="1174750"/>
            <a:ext cx="1106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mudou?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24000"/>
            <a:ext cx="11279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Mastercard revisou os padrões do MMP com o objetivo de </a:t>
            </a:r>
            <a:r>
              <a:rPr lang="en-US" sz="112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reforçar a prevenção de fraudes, lavagem de transações e atividades que violem o BRAM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 principal mudança não é a criação do MMSP nem a exigência de monitoramento em si, mas sim a </a:t>
            </a:r>
            <a:r>
              <a:rPr lang="en-US" sz="112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padronização, formalização e endurecimento das exigências operacionais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1469" y="2278063"/>
            <a:ext cx="5707063" cy="3675063"/>
          </a:xfrm>
          <a:custGeom>
            <a:avLst/>
            <a:gdLst/>
            <a:ahLst/>
            <a:cxnLst/>
            <a:rect l="l" t="t" r="r" b="b"/>
            <a:pathLst>
              <a:path w="5707063" h="3675063">
                <a:moveTo>
                  <a:pt x="63505" y="0"/>
                </a:moveTo>
                <a:lnTo>
                  <a:pt x="5643557" y="0"/>
                </a:lnTo>
                <a:cubicBezTo>
                  <a:pt x="5678630" y="0"/>
                  <a:pt x="5707063" y="28432"/>
                  <a:pt x="5707063" y="63505"/>
                </a:cubicBezTo>
                <a:lnTo>
                  <a:pt x="5707063" y="3611557"/>
                </a:lnTo>
                <a:cubicBezTo>
                  <a:pt x="5707063" y="3646630"/>
                  <a:pt x="5678630" y="3675063"/>
                  <a:pt x="5643557" y="3675063"/>
                </a:cubicBezTo>
                <a:lnTo>
                  <a:pt x="63505" y="3675063"/>
                </a:lnTo>
                <a:cubicBezTo>
                  <a:pt x="28432" y="3675063"/>
                  <a:pt x="0" y="3646630"/>
                  <a:pt x="0" y="3611557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4031" y="2472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1934" y="106660"/>
                </a:moveTo>
                <a:lnTo>
                  <a:pt x="71934" y="86816"/>
                </a:lnTo>
                <a:lnTo>
                  <a:pt x="52090" y="86816"/>
                </a:lnTo>
                <a:cubicBezTo>
                  <a:pt x="47966" y="86816"/>
                  <a:pt x="44648" y="83499"/>
                  <a:pt x="44648" y="79375"/>
                </a:cubicBezTo>
                <a:cubicBezTo>
                  <a:pt x="44648" y="75251"/>
                  <a:pt x="47966" y="71934"/>
                  <a:pt x="52090" y="71934"/>
                </a:cubicBezTo>
                <a:lnTo>
                  <a:pt x="71934" y="71934"/>
                </a:lnTo>
                <a:lnTo>
                  <a:pt x="71934" y="52090"/>
                </a:lnTo>
                <a:cubicBezTo>
                  <a:pt x="71934" y="47966"/>
                  <a:pt x="75251" y="44648"/>
                  <a:pt x="79375" y="44648"/>
                </a:cubicBezTo>
                <a:cubicBezTo>
                  <a:pt x="83499" y="44648"/>
                  <a:pt x="86816" y="47966"/>
                  <a:pt x="86816" y="52090"/>
                </a:cubicBezTo>
                <a:lnTo>
                  <a:pt x="86816" y="71934"/>
                </a:lnTo>
                <a:lnTo>
                  <a:pt x="106660" y="71934"/>
                </a:lnTo>
                <a:cubicBezTo>
                  <a:pt x="110784" y="71934"/>
                  <a:pt x="114102" y="75251"/>
                  <a:pt x="114102" y="79375"/>
                </a:cubicBezTo>
                <a:cubicBezTo>
                  <a:pt x="114102" y="83499"/>
                  <a:pt x="110784" y="86816"/>
                  <a:pt x="106660" y="86816"/>
                </a:cubicBezTo>
                <a:lnTo>
                  <a:pt x="86816" y="86816"/>
                </a:lnTo>
                <a:lnTo>
                  <a:pt x="86816" y="106660"/>
                </a:lnTo>
                <a:cubicBezTo>
                  <a:pt x="86816" y="110784"/>
                  <a:pt x="83499" y="114102"/>
                  <a:pt x="79375" y="114102"/>
                </a:cubicBezTo>
                <a:cubicBezTo>
                  <a:pt x="75251" y="114102"/>
                  <a:pt x="71934" y="110784"/>
                  <a:pt x="71934" y="10666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2625" y="2440781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Novas Obrigações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79003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79438" y="291703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45914" y="2988469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58362" y="18492"/>
                </a:moveTo>
                <a:lnTo>
                  <a:pt x="33055" y="46620"/>
                </a:lnTo>
                <a:cubicBezTo>
                  <a:pt x="32057" y="47727"/>
                  <a:pt x="32100" y="49442"/>
                  <a:pt x="33164" y="50505"/>
                </a:cubicBezTo>
                <a:cubicBezTo>
                  <a:pt x="39784" y="57125"/>
                  <a:pt x="50527" y="57125"/>
                  <a:pt x="57147" y="50505"/>
                </a:cubicBezTo>
                <a:lnTo>
                  <a:pt x="64049" y="43604"/>
                </a:lnTo>
                <a:cubicBezTo>
                  <a:pt x="64960" y="42692"/>
                  <a:pt x="66111" y="42193"/>
                  <a:pt x="67283" y="42106"/>
                </a:cubicBezTo>
                <a:cubicBezTo>
                  <a:pt x="68759" y="41976"/>
                  <a:pt x="70278" y="42475"/>
                  <a:pt x="71406" y="43604"/>
                </a:cubicBezTo>
                <a:lnTo>
                  <a:pt x="109736" y="81607"/>
                </a:lnTo>
                <a:lnTo>
                  <a:pt x="125016" y="69453"/>
                </a:lnTo>
                <a:lnTo>
                  <a:pt x="125016" y="6945"/>
                </a:lnTo>
                <a:lnTo>
                  <a:pt x="100707" y="20836"/>
                </a:lnTo>
                <a:lnTo>
                  <a:pt x="95541" y="17385"/>
                </a:lnTo>
                <a:cubicBezTo>
                  <a:pt x="92112" y="15106"/>
                  <a:pt x="88097" y="13891"/>
                  <a:pt x="83973" y="13891"/>
                </a:cubicBezTo>
                <a:lnTo>
                  <a:pt x="68693" y="13891"/>
                </a:lnTo>
                <a:cubicBezTo>
                  <a:pt x="68455" y="13891"/>
                  <a:pt x="68194" y="13891"/>
                  <a:pt x="67956" y="13912"/>
                </a:cubicBezTo>
                <a:cubicBezTo>
                  <a:pt x="64288" y="14108"/>
                  <a:pt x="60837" y="15757"/>
                  <a:pt x="58362" y="18492"/>
                </a:cubicBezTo>
                <a:close/>
                <a:moveTo>
                  <a:pt x="25307" y="39653"/>
                </a:moveTo>
                <a:lnTo>
                  <a:pt x="48487" y="13891"/>
                </a:lnTo>
                <a:lnTo>
                  <a:pt x="39892" y="13891"/>
                </a:lnTo>
                <a:cubicBezTo>
                  <a:pt x="34358" y="13891"/>
                  <a:pt x="29062" y="16083"/>
                  <a:pt x="25155" y="19989"/>
                </a:cubicBezTo>
                <a:lnTo>
                  <a:pt x="24309" y="20836"/>
                </a:lnTo>
                <a:lnTo>
                  <a:pt x="0" y="6945"/>
                </a:lnTo>
                <a:lnTo>
                  <a:pt x="0" y="69453"/>
                </a:lnTo>
                <a:lnTo>
                  <a:pt x="33945" y="97734"/>
                </a:lnTo>
                <a:cubicBezTo>
                  <a:pt x="38937" y="101901"/>
                  <a:pt x="45231" y="104180"/>
                  <a:pt x="51721" y="104180"/>
                </a:cubicBezTo>
                <a:lnTo>
                  <a:pt x="55128" y="104180"/>
                </a:lnTo>
                <a:lnTo>
                  <a:pt x="53609" y="102660"/>
                </a:lnTo>
                <a:cubicBezTo>
                  <a:pt x="51569" y="100620"/>
                  <a:pt x="51569" y="97321"/>
                  <a:pt x="53609" y="95303"/>
                </a:cubicBezTo>
                <a:cubicBezTo>
                  <a:pt x="55649" y="93284"/>
                  <a:pt x="58948" y="93263"/>
                  <a:pt x="60967" y="95303"/>
                </a:cubicBezTo>
                <a:lnTo>
                  <a:pt x="69866" y="104201"/>
                </a:lnTo>
                <a:lnTo>
                  <a:pt x="71819" y="104201"/>
                </a:lnTo>
                <a:cubicBezTo>
                  <a:pt x="75964" y="104201"/>
                  <a:pt x="80023" y="103268"/>
                  <a:pt x="83713" y="101532"/>
                </a:cubicBezTo>
                <a:lnTo>
                  <a:pt x="77918" y="95715"/>
                </a:lnTo>
                <a:cubicBezTo>
                  <a:pt x="75878" y="93675"/>
                  <a:pt x="75878" y="90376"/>
                  <a:pt x="77918" y="88357"/>
                </a:cubicBezTo>
                <a:cubicBezTo>
                  <a:pt x="79958" y="86339"/>
                  <a:pt x="83257" y="86317"/>
                  <a:pt x="85275" y="88357"/>
                </a:cubicBezTo>
                <a:lnTo>
                  <a:pt x="92221" y="95303"/>
                </a:lnTo>
                <a:lnTo>
                  <a:pt x="96019" y="91504"/>
                </a:lnTo>
                <a:cubicBezTo>
                  <a:pt x="97951" y="89573"/>
                  <a:pt x="98515" y="86773"/>
                  <a:pt x="97668" y="84320"/>
                </a:cubicBezTo>
                <a:lnTo>
                  <a:pt x="67739" y="54629"/>
                </a:lnTo>
                <a:lnTo>
                  <a:pt x="64505" y="57863"/>
                </a:lnTo>
                <a:cubicBezTo>
                  <a:pt x="53804" y="68563"/>
                  <a:pt x="36485" y="68563"/>
                  <a:pt x="25784" y="57863"/>
                </a:cubicBezTo>
                <a:cubicBezTo>
                  <a:pt x="20793" y="52871"/>
                  <a:pt x="20597" y="44862"/>
                  <a:pt x="25307" y="39632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28688" y="2885281"/>
            <a:ext cx="297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Contratação de MMSP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8688" y="3139281"/>
            <a:ext cx="296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Contratação de um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MMSP aprovado pela Mastercard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352028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79438" y="364728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52859" y="371871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0289" y="45145"/>
                </a:moveTo>
                <a:cubicBezTo>
                  <a:pt x="90289" y="55107"/>
                  <a:pt x="87055" y="64309"/>
                  <a:pt x="81607" y="71775"/>
                </a:cubicBezTo>
                <a:lnTo>
                  <a:pt x="109085" y="99275"/>
                </a:lnTo>
                <a:cubicBezTo>
                  <a:pt x="111798" y="101988"/>
                  <a:pt x="111798" y="106394"/>
                  <a:pt x="109085" y="109107"/>
                </a:cubicBezTo>
                <a:cubicBezTo>
                  <a:pt x="106372" y="111820"/>
                  <a:pt x="101966" y="111820"/>
                  <a:pt x="99253" y="109107"/>
                </a:cubicBezTo>
                <a:lnTo>
                  <a:pt x="71775" y="81607"/>
                </a:lnTo>
                <a:cubicBezTo>
                  <a:pt x="64309" y="87055"/>
                  <a:pt x="55107" y="90289"/>
                  <a:pt x="45145" y="90289"/>
                </a:cubicBezTo>
                <a:cubicBezTo>
                  <a:pt x="20207" y="90289"/>
                  <a:pt x="0" y="70083"/>
                  <a:pt x="0" y="45145"/>
                </a:cubicBezTo>
                <a:cubicBezTo>
                  <a:pt x="0" y="20207"/>
                  <a:pt x="20207" y="0"/>
                  <a:pt x="45145" y="0"/>
                </a:cubicBezTo>
                <a:cubicBezTo>
                  <a:pt x="70083" y="0"/>
                  <a:pt x="90289" y="20207"/>
                  <a:pt x="90289" y="45145"/>
                </a:cubicBezTo>
                <a:close/>
                <a:moveTo>
                  <a:pt x="45145" y="76398"/>
                </a:moveTo>
                <a:cubicBezTo>
                  <a:pt x="62394" y="76398"/>
                  <a:pt x="76398" y="62394"/>
                  <a:pt x="76398" y="45145"/>
                </a:cubicBezTo>
                <a:cubicBezTo>
                  <a:pt x="76398" y="27895"/>
                  <a:pt x="62394" y="13891"/>
                  <a:pt x="45145" y="13891"/>
                </a:cubicBezTo>
                <a:cubicBezTo>
                  <a:pt x="27895" y="13891"/>
                  <a:pt x="13891" y="27895"/>
                  <a:pt x="13891" y="45145"/>
                </a:cubicBezTo>
                <a:cubicBezTo>
                  <a:pt x="13891" y="62394"/>
                  <a:pt x="27895" y="76398"/>
                  <a:pt x="45145" y="7639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28688" y="3615531"/>
            <a:ext cx="410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Escaneamento Inicial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8688" y="3869531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MMSP deve realizar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escaneamento inicial antes da ativação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transações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187" y="425053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79438" y="437753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52859" y="444896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4303" y="49594"/>
                </a:moveTo>
                <a:cubicBezTo>
                  <a:pt x="17190" y="29409"/>
                  <a:pt x="34575" y="13891"/>
                  <a:pt x="55563" y="13891"/>
                </a:cubicBezTo>
                <a:cubicBezTo>
                  <a:pt x="67066" y="13891"/>
                  <a:pt x="77484" y="18557"/>
                  <a:pt x="85037" y="26088"/>
                </a:cubicBezTo>
                <a:cubicBezTo>
                  <a:pt x="85080" y="26132"/>
                  <a:pt x="85123" y="26175"/>
                  <a:pt x="85167" y="26219"/>
                </a:cubicBezTo>
                <a:lnTo>
                  <a:pt x="86816" y="27781"/>
                </a:lnTo>
                <a:lnTo>
                  <a:pt x="76420" y="27781"/>
                </a:lnTo>
                <a:cubicBezTo>
                  <a:pt x="72579" y="27781"/>
                  <a:pt x="69475" y="30885"/>
                  <a:pt x="69475" y="34727"/>
                </a:cubicBezTo>
                <a:cubicBezTo>
                  <a:pt x="69475" y="38568"/>
                  <a:pt x="72579" y="41672"/>
                  <a:pt x="76420" y="41672"/>
                </a:cubicBezTo>
                <a:lnTo>
                  <a:pt x="104201" y="41672"/>
                </a:lnTo>
                <a:cubicBezTo>
                  <a:pt x="108043" y="41672"/>
                  <a:pt x="111147" y="38568"/>
                  <a:pt x="111147" y="34727"/>
                </a:cubicBezTo>
                <a:lnTo>
                  <a:pt x="111147" y="6945"/>
                </a:lnTo>
                <a:cubicBezTo>
                  <a:pt x="111147" y="3104"/>
                  <a:pt x="108043" y="0"/>
                  <a:pt x="104201" y="0"/>
                </a:cubicBezTo>
                <a:cubicBezTo>
                  <a:pt x="100360" y="0"/>
                  <a:pt x="97256" y="3104"/>
                  <a:pt x="97256" y="6945"/>
                </a:cubicBezTo>
                <a:lnTo>
                  <a:pt x="97256" y="18535"/>
                </a:lnTo>
                <a:lnTo>
                  <a:pt x="94804" y="16213"/>
                </a:lnTo>
                <a:cubicBezTo>
                  <a:pt x="84755" y="6207"/>
                  <a:pt x="70864" y="0"/>
                  <a:pt x="55563" y="0"/>
                </a:cubicBezTo>
                <a:cubicBezTo>
                  <a:pt x="27564" y="0"/>
                  <a:pt x="4406" y="20706"/>
                  <a:pt x="564" y="47641"/>
                </a:cubicBezTo>
                <a:cubicBezTo>
                  <a:pt x="22" y="51439"/>
                  <a:pt x="2648" y="54955"/>
                  <a:pt x="6446" y="55497"/>
                </a:cubicBezTo>
                <a:cubicBezTo>
                  <a:pt x="10244" y="56040"/>
                  <a:pt x="13760" y="53392"/>
                  <a:pt x="14303" y="49616"/>
                </a:cubicBezTo>
                <a:close/>
                <a:moveTo>
                  <a:pt x="110561" y="63484"/>
                </a:moveTo>
                <a:cubicBezTo>
                  <a:pt x="111103" y="59686"/>
                  <a:pt x="108455" y="56170"/>
                  <a:pt x="104679" y="55628"/>
                </a:cubicBezTo>
                <a:cubicBezTo>
                  <a:pt x="100902" y="55085"/>
                  <a:pt x="97365" y="57733"/>
                  <a:pt x="96822" y="61509"/>
                </a:cubicBezTo>
                <a:cubicBezTo>
                  <a:pt x="93935" y="81694"/>
                  <a:pt x="76550" y="97213"/>
                  <a:pt x="55563" y="97213"/>
                </a:cubicBezTo>
                <a:cubicBezTo>
                  <a:pt x="44059" y="97213"/>
                  <a:pt x="33641" y="92546"/>
                  <a:pt x="26088" y="85015"/>
                </a:cubicBezTo>
                <a:cubicBezTo>
                  <a:pt x="26045" y="84972"/>
                  <a:pt x="26002" y="84928"/>
                  <a:pt x="25958" y="84885"/>
                </a:cubicBezTo>
                <a:lnTo>
                  <a:pt x="24309" y="83322"/>
                </a:lnTo>
                <a:lnTo>
                  <a:pt x="34705" y="83322"/>
                </a:lnTo>
                <a:cubicBezTo>
                  <a:pt x="38546" y="83322"/>
                  <a:pt x="41650" y="80218"/>
                  <a:pt x="41650" y="76377"/>
                </a:cubicBezTo>
                <a:cubicBezTo>
                  <a:pt x="41650" y="72535"/>
                  <a:pt x="38546" y="69431"/>
                  <a:pt x="34705" y="69431"/>
                </a:cubicBezTo>
                <a:lnTo>
                  <a:pt x="6945" y="69453"/>
                </a:lnTo>
                <a:cubicBezTo>
                  <a:pt x="5100" y="69453"/>
                  <a:pt x="3321" y="70191"/>
                  <a:pt x="2018" y="71515"/>
                </a:cubicBezTo>
                <a:cubicBezTo>
                  <a:pt x="716" y="72839"/>
                  <a:pt x="-22" y="74597"/>
                  <a:pt x="0" y="76464"/>
                </a:cubicBezTo>
                <a:lnTo>
                  <a:pt x="217" y="104028"/>
                </a:lnTo>
                <a:cubicBezTo>
                  <a:pt x="239" y="107869"/>
                  <a:pt x="3386" y="110951"/>
                  <a:pt x="7227" y="110908"/>
                </a:cubicBezTo>
                <a:cubicBezTo>
                  <a:pt x="11069" y="110865"/>
                  <a:pt x="14151" y="107739"/>
                  <a:pt x="14108" y="103898"/>
                </a:cubicBezTo>
                <a:lnTo>
                  <a:pt x="14021" y="92720"/>
                </a:lnTo>
                <a:lnTo>
                  <a:pt x="16343" y="94912"/>
                </a:lnTo>
                <a:cubicBezTo>
                  <a:pt x="26392" y="104918"/>
                  <a:pt x="40261" y="111125"/>
                  <a:pt x="55563" y="111125"/>
                </a:cubicBezTo>
                <a:cubicBezTo>
                  <a:pt x="83561" y="111125"/>
                  <a:pt x="106719" y="90419"/>
                  <a:pt x="110561" y="6348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28688" y="4345781"/>
            <a:ext cx="411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Monitoramento Contínuo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688" y="4599781"/>
            <a:ext cx="410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Monitoramento contínuo de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URLs, incluindo áreas restritas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membros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187" y="498078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579438" y="510778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66750" y="5179219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0" y="13891"/>
                </a:moveTo>
                <a:cubicBezTo>
                  <a:pt x="0" y="6229"/>
                  <a:pt x="6229" y="0"/>
                  <a:pt x="13891" y="0"/>
                </a:cubicBezTo>
                <a:lnTo>
                  <a:pt x="46338" y="0"/>
                </a:lnTo>
                <a:cubicBezTo>
                  <a:pt x="50028" y="0"/>
                  <a:pt x="53566" y="1454"/>
                  <a:pt x="56170" y="4059"/>
                </a:cubicBezTo>
                <a:lnTo>
                  <a:pt x="79285" y="27195"/>
                </a:lnTo>
                <a:cubicBezTo>
                  <a:pt x="81890" y="29800"/>
                  <a:pt x="83344" y="33338"/>
                  <a:pt x="83344" y="37027"/>
                </a:cubicBezTo>
                <a:lnTo>
                  <a:pt x="83344" y="97234"/>
                </a:lnTo>
                <a:cubicBezTo>
                  <a:pt x="83344" y="104896"/>
                  <a:pt x="77115" y="111125"/>
                  <a:pt x="69453" y="111125"/>
                </a:cubicBezTo>
                <a:lnTo>
                  <a:pt x="13891" y="111125"/>
                </a:lnTo>
                <a:cubicBezTo>
                  <a:pt x="6229" y="111125"/>
                  <a:pt x="0" y="104896"/>
                  <a:pt x="0" y="97234"/>
                </a:cubicBezTo>
                <a:lnTo>
                  <a:pt x="0" y="13891"/>
                </a:lnTo>
                <a:close/>
                <a:moveTo>
                  <a:pt x="45145" y="12697"/>
                </a:moveTo>
                <a:lnTo>
                  <a:pt x="45145" y="32990"/>
                </a:lnTo>
                <a:cubicBezTo>
                  <a:pt x="45145" y="35877"/>
                  <a:pt x="47467" y="38199"/>
                  <a:pt x="50354" y="38199"/>
                </a:cubicBezTo>
                <a:lnTo>
                  <a:pt x="70647" y="38199"/>
                </a:lnTo>
                <a:lnTo>
                  <a:pt x="45145" y="12697"/>
                </a:lnTo>
                <a:close/>
                <a:moveTo>
                  <a:pt x="26045" y="55563"/>
                </a:moveTo>
                <a:cubicBezTo>
                  <a:pt x="23158" y="55563"/>
                  <a:pt x="20836" y="57885"/>
                  <a:pt x="20836" y="60771"/>
                </a:cubicBezTo>
                <a:cubicBezTo>
                  <a:pt x="20836" y="63658"/>
                  <a:pt x="23158" y="65980"/>
                  <a:pt x="26045" y="65980"/>
                </a:cubicBezTo>
                <a:lnTo>
                  <a:pt x="57299" y="65980"/>
                </a:lnTo>
                <a:cubicBezTo>
                  <a:pt x="60185" y="65980"/>
                  <a:pt x="62508" y="63658"/>
                  <a:pt x="62508" y="60771"/>
                </a:cubicBezTo>
                <a:cubicBezTo>
                  <a:pt x="62508" y="57885"/>
                  <a:pt x="60185" y="55563"/>
                  <a:pt x="57299" y="55563"/>
                </a:cubicBezTo>
                <a:lnTo>
                  <a:pt x="26045" y="55563"/>
                </a:lnTo>
                <a:close/>
                <a:moveTo>
                  <a:pt x="26045" y="76398"/>
                </a:moveTo>
                <a:cubicBezTo>
                  <a:pt x="23158" y="76398"/>
                  <a:pt x="20836" y="78721"/>
                  <a:pt x="20836" y="81607"/>
                </a:cubicBezTo>
                <a:cubicBezTo>
                  <a:pt x="20836" y="84494"/>
                  <a:pt x="23158" y="86816"/>
                  <a:pt x="26045" y="86816"/>
                </a:cubicBezTo>
                <a:lnTo>
                  <a:pt x="57299" y="86816"/>
                </a:lnTo>
                <a:cubicBezTo>
                  <a:pt x="60185" y="86816"/>
                  <a:pt x="62508" y="84494"/>
                  <a:pt x="62508" y="81607"/>
                </a:cubicBezTo>
                <a:cubicBezTo>
                  <a:pt x="62508" y="78721"/>
                  <a:pt x="60185" y="76398"/>
                  <a:pt x="57299" y="76398"/>
                </a:cubicBezTo>
                <a:lnTo>
                  <a:pt x="26045" y="76398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928688" y="5076031"/>
            <a:ext cx="421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Relatórios Mensais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8688" y="5330031"/>
            <a:ext cx="420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MMSP deve gerar e enviar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relatórios mensais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diretamente ou via adquirente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63469" y="2278063"/>
            <a:ext cx="5707063" cy="1143000"/>
          </a:xfrm>
          <a:custGeom>
            <a:avLst/>
            <a:gdLst/>
            <a:ahLst/>
            <a:cxnLst/>
            <a:rect l="l" t="t" r="r" b="b"/>
            <a:pathLst>
              <a:path w="5707063" h="1143000">
                <a:moveTo>
                  <a:pt x="63505" y="0"/>
                </a:moveTo>
                <a:lnTo>
                  <a:pt x="5643557" y="0"/>
                </a:lnTo>
                <a:cubicBezTo>
                  <a:pt x="5678630" y="0"/>
                  <a:pt x="5707063" y="28432"/>
                  <a:pt x="5707063" y="63505"/>
                </a:cubicBezTo>
                <a:lnTo>
                  <a:pt x="5707063" y="1079495"/>
                </a:lnTo>
                <a:cubicBezTo>
                  <a:pt x="5707063" y="1114568"/>
                  <a:pt x="5678630" y="1143000"/>
                  <a:pt x="5643557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365875" y="2472531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52865"/>
                </a:lnTo>
                <a:cubicBezTo>
                  <a:pt x="119062" y="47594"/>
                  <a:pt x="116985" y="42540"/>
                  <a:pt x="113264" y="38819"/>
                </a:cubicBezTo>
                <a:lnTo>
                  <a:pt x="80212" y="5798"/>
                </a:lnTo>
                <a:cubicBezTo>
                  <a:pt x="76491" y="2077"/>
                  <a:pt x="71469" y="0"/>
                  <a:pt x="66198" y="0"/>
                </a:cubicBezTo>
                <a:lnTo>
                  <a:pt x="19844" y="0"/>
                </a:lnTo>
                <a:close/>
                <a:moveTo>
                  <a:pt x="100924" y="54570"/>
                </a:moveTo>
                <a:lnTo>
                  <a:pt x="71934" y="54570"/>
                </a:lnTo>
                <a:cubicBezTo>
                  <a:pt x="67810" y="54570"/>
                  <a:pt x="64492" y="51253"/>
                  <a:pt x="64492" y="47129"/>
                </a:cubicBezTo>
                <a:lnTo>
                  <a:pt x="64492" y="18138"/>
                </a:lnTo>
                <a:lnTo>
                  <a:pt x="100924" y="54570"/>
                </a:lnTo>
                <a:close/>
                <a:moveTo>
                  <a:pt x="19844" y="119062"/>
                </a:moveTo>
                <a:lnTo>
                  <a:pt x="19844" y="99219"/>
                </a:lnTo>
                <a:cubicBezTo>
                  <a:pt x="19844" y="93731"/>
                  <a:pt x="24278" y="89297"/>
                  <a:pt x="29766" y="89297"/>
                </a:cubicBezTo>
                <a:lnTo>
                  <a:pt x="89297" y="89297"/>
                </a:lnTo>
                <a:cubicBezTo>
                  <a:pt x="94785" y="89297"/>
                  <a:pt x="99219" y="93731"/>
                  <a:pt x="99219" y="99219"/>
                </a:cubicBezTo>
                <a:lnTo>
                  <a:pt x="99219" y="119062"/>
                </a:lnTo>
                <a:cubicBezTo>
                  <a:pt x="99219" y="124551"/>
                  <a:pt x="94785" y="128984"/>
                  <a:pt x="89297" y="128984"/>
                </a:cubicBezTo>
                <a:lnTo>
                  <a:pt x="29766" y="128984"/>
                </a:lnTo>
                <a:cubicBezTo>
                  <a:pt x="24278" y="128984"/>
                  <a:pt x="19844" y="124551"/>
                  <a:pt x="19844" y="119062"/>
                </a:cubicBezTo>
                <a:close/>
                <a:moveTo>
                  <a:pt x="27285" y="19844"/>
                </a:moveTo>
                <a:lnTo>
                  <a:pt x="42168" y="19844"/>
                </a:lnTo>
                <a:cubicBezTo>
                  <a:pt x="46292" y="19844"/>
                  <a:pt x="49609" y="23161"/>
                  <a:pt x="49609" y="27285"/>
                </a:cubicBezTo>
                <a:cubicBezTo>
                  <a:pt x="49609" y="31409"/>
                  <a:pt x="46292" y="34727"/>
                  <a:pt x="42168" y="34727"/>
                </a:cubicBezTo>
                <a:lnTo>
                  <a:pt x="27285" y="34727"/>
                </a:lnTo>
                <a:cubicBezTo>
                  <a:pt x="23161" y="34727"/>
                  <a:pt x="19844" y="31409"/>
                  <a:pt x="19844" y="27285"/>
                </a:cubicBezTo>
                <a:cubicBezTo>
                  <a:pt x="19844" y="23161"/>
                  <a:pt x="23161" y="19844"/>
                  <a:pt x="27285" y="19844"/>
                </a:cubicBezTo>
                <a:close/>
                <a:moveTo>
                  <a:pt x="27285" y="49609"/>
                </a:moveTo>
                <a:lnTo>
                  <a:pt x="42168" y="49609"/>
                </a:lnTo>
                <a:cubicBezTo>
                  <a:pt x="46292" y="49609"/>
                  <a:pt x="49609" y="52927"/>
                  <a:pt x="49609" y="57051"/>
                </a:cubicBezTo>
                <a:cubicBezTo>
                  <a:pt x="49609" y="61175"/>
                  <a:pt x="46292" y="64492"/>
                  <a:pt x="42168" y="64492"/>
                </a:cubicBezTo>
                <a:lnTo>
                  <a:pt x="27285" y="64492"/>
                </a:lnTo>
                <a:cubicBezTo>
                  <a:pt x="23161" y="64492"/>
                  <a:pt x="19844" y="61175"/>
                  <a:pt x="19844" y="57051"/>
                </a:cubicBezTo>
                <a:cubicBezTo>
                  <a:pt x="19844" y="52927"/>
                  <a:pt x="23161" y="49609"/>
                  <a:pt x="27285" y="4960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524625" y="2440781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 Reports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26188" y="2758281"/>
            <a:ext cx="5445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reports devem ser produzidos pelo MMSP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modificados pelo adquirente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63469" y="3552031"/>
            <a:ext cx="5707063" cy="1143000"/>
          </a:xfrm>
          <a:custGeom>
            <a:avLst/>
            <a:gdLst/>
            <a:ahLst/>
            <a:cxnLst/>
            <a:rect l="l" t="t" r="r" b="b"/>
            <a:pathLst>
              <a:path w="5707063" h="1143000">
                <a:moveTo>
                  <a:pt x="63505" y="0"/>
                </a:moveTo>
                <a:lnTo>
                  <a:pt x="5643557" y="0"/>
                </a:lnTo>
                <a:cubicBezTo>
                  <a:pt x="5678630" y="0"/>
                  <a:pt x="5707063" y="28432"/>
                  <a:pt x="5707063" y="63505"/>
                </a:cubicBezTo>
                <a:lnTo>
                  <a:pt x="5707063" y="1079495"/>
                </a:lnTo>
                <a:cubicBezTo>
                  <a:pt x="5707063" y="1114568"/>
                  <a:pt x="5678630" y="1143000"/>
                  <a:pt x="5643557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346031" y="3746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519" y="22417"/>
                </a:moveTo>
                <a:cubicBezTo>
                  <a:pt x="11658" y="15007"/>
                  <a:pt x="18448" y="9922"/>
                  <a:pt x="26169" y="9922"/>
                </a:cubicBezTo>
                <a:lnTo>
                  <a:pt x="132829" y="9922"/>
                </a:lnTo>
                <a:cubicBezTo>
                  <a:pt x="140550" y="9922"/>
                  <a:pt x="147340" y="15007"/>
                  <a:pt x="149510" y="22417"/>
                </a:cubicBezTo>
                <a:lnTo>
                  <a:pt x="156766" y="47284"/>
                </a:lnTo>
                <a:cubicBezTo>
                  <a:pt x="160734" y="60833"/>
                  <a:pt x="150533" y="74414"/>
                  <a:pt x="136426" y="74414"/>
                </a:cubicBezTo>
                <a:cubicBezTo>
                  <a:pt x="128271" y="74414"/>
                  <a:pt x="121109" y="69794"/>
                  <a:pt x="117574" y="62911"/>
                </a:cubicBezTo>
                <a:cubicBezTo>
                  <a:pt x="113978" y="69701"/>
                  <a:pt x="106846" y="74414"/>
                  <a:pt x="98537" y="74414"/>
                </a:cubicBezTo>
                <a:cubicBezTo>
                  <a:pt x="90289" y="74414"/>
                  <a:pt x="83127" y="69763"/>
                  <a:pt x="79530" y="62942"/>
                </a:cubicBezTo>
                <a:cubicBezTo>
                  <a:pt x="75933" y="69763"/>
                  <a:pt x="68771" y="74414"/>
                  <a:pt x="60523" y="74414"/>
                </a:cubicBezTo>
                <a:cubicBezTo>
                  <a:pt x="52214" y="74414"/>
                  <a:pt x="45083" y="69732"/>
                  <a:pt x="41486" y="62911"/>
                </a:cubicBezTo>
                <a:cubicBezTo>
                  <a:pt x="37951" y="69763"/>
                  <a:pt x="30789" y="74414"/>
                  <a:pt x="22634" y="74414"/>
                </a:cubicBezTo>
                <a:cubicBezTo>
                  <a:pt x="8496" y="74414"/>
                  <a:pt x="-1674" y="60865"/>
                  <a:pt x="2294" y="47284"/>
                </a:cubicBezTo>
                <a:lnTo>
                  <a:pt x="9519" y="22417"/>
                </a:lnTo>
                <a:close/>
                <a:moveTo>
                  <a:pt x="29890" y="109141"/>
                </a:moveTo>
                <a:lnTo>
                  <a:pt x="129108" y="109141"/>
                </a:lnTo>
                <a:lnTo>
                  <a:pt x="129108" y="88553"/>
                </a:lnTo>
                <a:cubicBezTo>
                  <a:pt x="131465" y="89049"/>
                  <a:pt x="133914" y="89297"/>
                  <a:pt x="136395" y="89297"/>
                </a:cubicBezTo>
                <a:cubicBezTo>
                  <a:pt x="140829" y="89297"/>
                  <a:pt x="145076" y="88491"/>
                  <a:pt x="148952" y="87064"/>
                </a:cubicBezTo>
                <a:lnTo>
                  <a:pt x="148952" y="133945"/>
                </a:lnTo>
                <a:cubicBezTo>
                  <a:pt x="148952" y="142162"/>
                  <a:pt x="142286" y="148828"/>
                  <a:pt x="134069" y="148828"/>
                </a:cubicBezTo>
                <a:lnTo>
                  <a:pt x="24929" y="148828"/>
                </a:lnTo>
                <a:cubicBezTo>
                  <a:pt x="16712" y="148828"/>
                  <a:pt x="10046" y="142162"/>
                  <a:pt x="10046" y="133945"/>
                </a:cubicBezTo>
                <a:lnTo>
                  <a:pt x="10046" y="87064"/>
                </a:lnTo>
                <a:cubicBezTo>
                  <a:pt x="13922" y="88491"/>
                  <a:pt x="18138" y="89297"/>
                  <a:pt x="22603" y="89297"/>
                </a:cubicBezTo>
                <a:cubicBezTo>
                  <a:pt x="25115" y="89297"/>
                  <a:pt x="27533" y="89049"/>
                  <a:pt x="29890" y="88553"/>
                </a:cubicBezTo>
                <a:lnTo>
                  <a:pt x="29890" y="10914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524625" y="37147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Monitoramento Completo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26188" y="4032250"/>
            <a:ext cx="5445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Monitoramento de </a:t>
            </a: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os comerciantes ativos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 exceções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5375" y="4822031"/>
            <a:ext cx="5699125" cy="1135063"/>
          </a:xfrm>
          <a:custGeom>
            <a:avLst/>
            <a:gdLst/>
            <a:ahLst/>
            <a:cxnLst/>
            <a:rect l="l" t="t" r="r" b="b"/>
            <a:pathLst>
              <a:path w="5699125" h="1135063">
                <a:moveTo>
                  <a:pt x="31750" y="0"/>
                </a:moveTo>
                <a:lnTo>
                  <a:pt x="5635630" y="0"/>
                </a:lnTo>
                <a:cubicBezTo>
                  <a:pt x="5670697" y="0"/>
                  <a:pt x="5699125" y="28428"/>
                  <a:pt x="5699125" y="63495"/>
                </a:cubicBezTo>
                <a:lnTo>
                  <a:pt x="5699125" y="1071567"/>
                </a:lnTo>
                <a:cubicBezTo>
                  <a:pt x="5699125" y="1106635"/>
                  <a:pt x="5670697" y="1135063"/>
                  <a:pt x="5635630" y="1135063"/>
                </a:cubicBezTo>
                <a:lnTo>
                  <a:pt x="31750" y="1135063"/>
                </a:lnTo>
                <a:cubicBezTo>
                  <a:pt x="14227" y="1135063"/>
                  <a:pt x="0" y="1120836"/>
                  <a:pt x="0" y="1103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175375" y="4822031"/>
            <a:ext cx="31750" cy="1135063"/>
          </a:xfrm>
          <a:custGeom>
            <a:avLst/>
            <a:gdLst/>
            <a:ahLst/>
            <a:cxnLst/>
            <a:rect l="l" t="t" r="r" b="b"/>
            <a:pathLst>
              <a:path w="31750" h="1135063">
                <a:moveTo>
                  <a:pt x="31750" y="0"/>
                </a:moveTo>
                <a:lnTo>
                  <a:pt x="31750" y="0"/>
                </a:lnTo>
                <a:lnTo>
                  <a:pt x="31750" y="1135063"/>
                </a:lnTo>
                <a:lnTo>
                  <a:pt x="31750" y="1135063"/>
                </a:lnTo>
                <a:cubicBezTo>
                  <a:pt x="14227" y="1135063"/>
                  <a:pt x="0" y="1120836"/>
                  <a:pt x="0" y="1103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369844" y="5012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548438" y="4980781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Prazo para Resposta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0000" y="5298281"/>
            <a:ext cx="5429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Acquirer deve </a:t>
            </a: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investigar e resolver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qualquer violação em até </a:t>
            </a: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dias corridos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após notificação.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1469" y="6084094"/>
            <a:ext cx="11549063" cy="452438"/>
          </a:xfrm>
          <a:custGeom>
            <a:avLst/>
            <a:gdLst/>
            <a:ahLst/>
            <a:cxnLst/>
            <a:rect l="l" t="t" r="r" b="b"/>
            <a:pathLst>
              <a:path w="11549063" h="452438">
                <a:moveTo>
                  <a:pt x="63500" y="0"/>
                </a:moveTo>
                <a:lnTo>
                  <a:pt x="11485563" y="0"/>
                </a:lnTo>
                <a:cubicBezTo>
                  <a:pt x="11520633" y="0"/>
                  <a:pt x="11549063" y="28430"/>
                  <a:pt x="11549063" y="63500"/>
                </a:cubicBezTo>
                <a:lnTo>
                  <a:pt x="11549063" y="388938"/>
                </a:lnTo>
                <a:cubicBezTo>
                  <a:pt x="11549063" y="424008"/>
                  <a:pt x="11520633" y="452438"/>
                  <a:pt x="11485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468313" y="6246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50875" y="6215063"/>
            <a:ext cx="1115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de Vigência: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Boletim de junho/2025 - As novas regras já estão em vigor.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MMP - Obrigações do Adquirente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11541125" cy="1135063"/>
          </a:xfrm>
          <a:custGeom>
            <a:avLst/>
            <a:gdLst/>
            <a:ahLst/>
            <a:cxnLst/>
            <a:rect l="l" t="t" r="r" b="b"/>
            <a:pathLst>
              <a:path w="11541125" h="1135063">
                <a:moveTo>
                  <a:pt x="31750" y="0"/>
                </a:moveTo>
                <a:lnTo>
                  <a:pt x="11477630" y="0"/>
                </a:lnTo>
                <a:cubicBezTo>
                  <a:pt x="11512697" y="0"/>
                  <a:pt x="11541125" y="28428"/>
                  <a:pt x="11541125" y="63495"/>
                </a:cubicBezTo>
                <a:lnTo>
                  <a:pt x="11541125" y="1071567"/>
                </a:lnTo>
                <a:cubicBezTo>
                  <a:pt x="11541125" y="1106635"/>
                  <a:pt x="11512697" y="1135062"/>
                  <a:pt x="11477630" y="1135063"/>
                </a:cubicBezTo>
                <a:lnTo>
                  <a:pt x="31750" y="1135063"/>
                </a:lnTo>
                <a:cubicBezTo>
                  <a:pt x="14227" y="1135063"/>
                  <a:pt x="0" y="1120836"/>
                  <a:pt x="0" y="1103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1135063"/>
          </a:xfrm>
          <a:custGeom>
            <a:avLst/>
            <a:gdLst/>
            <a:ahLst/>
            <a:cxnLst/>
            <a:rect l="l" t="t" r="r" b="b"/>
            <a:pathLst>
              <a:path w="31750" h="1135063">
                <a:moveTo>
                  <a:pt x="31750" y="0"/>
                </a:moveTo>
                <a:lnTo>
                  <a:pt x="31750" y="0"/>
                </a:lnTo>
                <a:lnTo>
                  <a:pt x="31750" y="1135063"/>
                </a:lnTo>
                <a:lnTo>
                  <a:pt x="31750" y="1135063"/>
                </a:lnTo>
                <a:cubicBezTo>
                  <a:pt x="14227" y="1135063"/>
                  <a:pt x="0" y="1120836"/>
                  <a:pt x="0" y="1103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31813" y="120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6125" y="1174750"/>
            <a:ext cx="1106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Participação no MMP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24000"/>
            <a:ext cx="11279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participação no Merchant Monitoring Program (MMP) é </a:t>
            </a:r>
            <a:r>
              <a:rPr lang="en-US" sz="112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opcional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mas a </a:t>
            </a:r>
            <a:r>
              <a:rPr lang="en-US" sz="112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obrigação de mitigar violações ao BRAM não é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Todo adquirente é responsável por garantir que os ECs sob sua credencial não pratiquem atividades proibidas.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375" y="2278063"/>
            <a:ext cx="5707063" cy="3401219"/>
          </a:xfrm>
          <a:custGeom>
            <a:avLst/>
            <a:gdLst/>
            <a:ahLst/>
            <a:cxnLst/>
            <a:rect l="l" t="t" r="r" b="b"/>
            <a:pathLst>
              <a:path w="5707063" h="4278313">
                <a:moveTo>
                  <a:pt x="63490" y="0"/>
                </a:moveTo>
                <a:lnTo>
                  <a:pt x="5643572" y="0"/>
                </a:lnTo>
                <a:cubicBezTo>
                  <a:pt x="5678637" y="0"/>
                  <a:pt x="5707063" y="28426"/>
                  <a:pt x="5707063" y="63490"/>
                </a:cubicBezTo>
                <a:lnTo>
                  <a:pt x="5707063" y="4214822"/>
                </a:lnTo>
                <a:cubicBezTo>
                  <a:pt x="5707063" y="4249887"/>
                  <a:pt x="5678637" y="4278312"/>
                  <a:pt x="5643572" y="4278313"/>
                </a:cubicBezTo>
                <a:lnTo>
                  <a:pt x="63490" y="4278313"/>
                </a:lnTo>
                <a:cubicBezTo>
                  <a:pt x="28426" y="4278313"/>
                  <a:pt x="0" y="4249887"/>
                  <a:pt x="0" y="4214822"/>
                </a:cubicBezTo>
                <a:lnTo>
                  <a:pt x="0" y="63490"/>
                </a:lnTo>
                <a:cubicBezTo>
                  <a:pt x="0" y="28449"/>
                  <a:pt x="28449" y="0"/>
                  <a:pt x="6349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04031" y="2472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13854" y="127899"/>
                </a:moveTo>
                <a:lnTo>
                  <a:pt x="30851" y="44896"/>
                </a:lnTo>
                <a:cubicBezTo>
                  <a:pt x="23906" y="54632"/>
                  <a:pt x="19844" y="66539"/>
                  <a:pt x="19844" y="79375"/>
                </a:cubicBezTo>
                <a:cubicBezTo>
                  <a:pt x="19844" y="112241"/>
                  <a:pt x="46509" y="138906"/>
                  <a:pt x="79375" y="138906"/>
                </a:cubicBezTo>
                <a:cubicBezTo>
                  <a:pt x="92242" y="138906"/>
                  <a:pt x="104149" y="134844"/>
                  <a:pt x="113854" y="127899"/>
                </a:cubicBezTo>
                <a:close/>
                <a:moveTo>
                  <a:pt x="127899" y="113854"/>
                </a:moveTo>
                <a:cubicBezTo>
                  <a:pt x="134844" y="104118"/>
                  <a:pt x="138906" y="92211"/>
                  <a:pt x="138906" y="79375"/>
                </a:cubicBezTo>
                <a:cubicBezTo>
                  <a:pt x="138906" y="46509"/>
                  <a:pt x="112241" y="19844"/>
                  <a:pt x="79375" y="19844"/>
                </a:cubicBezTo>
                <a:cubicBezTo>
                  <a:pt x="66508" y="19844"/>
                  <a:pt x="54601" y="23906"/>
                  <a:pt x="44896" y="30851"/>
                </a:cubicBezTo>
                <a:lnTo>
                  <a:pt x="127899" y="113854"/>
                </a:ln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2625" y="2440781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Atividades Proibidas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79003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5313" y="291703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3438" y="2885281"/>
            <a:ext cx="385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Conteúdos ou Serviços Proibidos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438" y="3139281"/>
            <a:ext cx="384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Pornografia infantil, jogos ilegais, medicamentos não autorizados, etc.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187" y="3520281"/>
            <a:ext cx="5381625" cy="825500"/>
          </a:xfrm>
          <a:custGeom>
            <a:avLst/>
            <a:gdLst/>
            <a:ahLst/>
            <a:cxnLst/>
            <a:rect l="l" t="t" r="r" b="b"/>
            <a:pathLst>
              <a:path w="5381625" h="825500">
                <a:moveTo>
                  <a:pt x="63497" y="0"/>
                </a:moveTo>
                <a:lnTo>
                  <a:pt x="5318128" y="0"/>
                </a:lnTo>
                <a:cubicBezTo>
                  <a:pt x="5353196" y="0"/>
                  <a:pt x="5381625" y="28429"/>
                  <a:pt x="5381625" y="63497"/>
                </a:cubicBezTo>
                <a:lnTo>
                  <a:pt x="5381625" y="762003"/>
                </a:lnTo>
                <a:cubicBezTo>
                  <a:pt x="5381625" y="797071"/>
                  <a:pt x="5353196" y="825500"/>
                  <a:pt x="5318128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79438" y="364728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97967" y="3615531"/>
            <a:ext cx="504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Merchant Laundering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7967" y="3869531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Quando um comerciante "empresta" sua credencial para terceiros processarem transações fraudulentas ou proibidas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187" y="444103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95313" y="456803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33438" y="4536281"/>
            <a:ext cx="319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Atividades Prejudiciais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3438" y="4790281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Atividades que causem prejuízo à imagem da Mastercard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187" y="5163344"/>
            <a:ext cx="5373688" cy="388938"/>
          </a:xfrm>
          <a:custGeom>
            <a:avLst/>
            <a:gdLst/>
            <a:ahLst/>
            <a:cxnLst/>
            <a:rect l="l" t="t" r="r" b="b"/>
            <a:pathLst>
              <a:path w="5373688" h="388938">
                <a:moveTo>
                  <a:pt x="63502" y="0"/>
                </a:moveTo>
                <a:lnTo>
                  <a:pt x="5310186" y="0"/>
                </a:lnTo>
                <a:cubicBezTo>
                  <a:pt x="5345257" y="0"/>
                  <a:pt x="5373688" y="28431"/>
                  <a:pt x="5373688" y="63502"/>
                </a:cubicBezTo>
                <a:lnTo>
                  <a:pt x="5373688" y="325436"/>
                </a:lnTo>
                <a:cubicBezTo>
                  <a:pt x="5373688" y="360507"/>
                  <a:pt x="5345257" y="388938"/>
                  <a:pt x="53101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99281" y="5294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81844" y="5262563"/>
            <a:ext cx="504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Penalidades: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 detectadas, o adquirente pode ser penalizado </a:t>
            </a: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mesmo sem estar no MMP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3469" y="2278063"/>
            <a:ext cx="5707063" cy="4278313"/>
          </a:xfrm>
          <a:custGeom>
            <a:avLst/>
            <a:gdLst/>
            <a:ahLst/>
            <a:cxnLst/>
            <a:rect l="l" t="t" r="r" b="b"/>
            <a:pathLst>
              <a:path w="5707063" h="4278313">
                <a:moveTo>
                  <a:pt x="63490" y="0"/>
                </a:moveTo>
                <a:lnTo>
                  <a:pt x="5643572" y="0"/>
                </a:lnTo>
                <a:cubicBezTo>
                  <a:pt x="5678637" y="0"/>
                  <a:pt x="5707063" y="28426"/>
                  <a:pt x="5707063" y="63490"/>
                </a:cubicBezTo>
                <a:lnTo>
                  <a:pt x="5707063" y="4214822"/>
                </a:lnTo>
                <a:cubicBezTo>
                  <a:pt x="5707063" y="4249887"/>
                  <a:pt x="5678637" y="4278312"/>
                  <a:pt x="5643572" y="4278313"/>
                </a:cubicBezTo>
                <a:lnTo>
                  <a:pt x="63490" y="4278313"/>
                </a:lnTo>
                <a:cubicBezTo>
                  <a:pt x="28426" y="4278313"/>
                  <a:pt x="0" y="4249887"/>
                  <a:pt x="0" y="4214822"/>
                </a:cubicBezTo>
                <a:lnTo>
                  <a:pt x="0" y="63490"/>
                </a:lnTo>
                <a:cubicBezTo>
                  <a:pt x="0" y="28449"/>
                  <a:pt x="28449" y="0"/>
                  <a:pt x="6349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365875" y="2472531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6552" y="9922"/>
                </a:moveTo>
                <a:lnTo>
                  <a:pt x="99219" y="9922"/>
                </a:lnTo>
                <a:cubicBezTo>
                  <a:pt x="110164" y="9922"/>
                  <a:pt x="119062" y="18821"/>
                  <a:pt x="119062" y="2976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22510" y="9922"/>
                </a:lnTo>
                <a:cubicBezTo>
                  <a:pt x="25921" y="4000"/>
                  <a:pt x="32339" y="0"/>
                  <a:pt x="39688" y="0"/>
                </a:cubicBezTo>
                <a:lnTo>
                  <a:pt x="79375" y="0"/>
                </a:lnTo>
                <a:cubicBezTo>
                  <a:pt x="86723" y="0"/>
                  <a:pt x="93142" y="4000"/>
                  <a:pt x="96552" y="9922"/>
                </a:cubicBezTo>
                <a:close/>
                <a:moveTo>
                  <a:pt x="76895" y="34727"/>
                </a:moveTo>
                <a:cubicBezTo>
                  <a:pt x="81018" y="34727"/>
                  <a:pt x="84336" y="31409"/>
                  <a:pt x="84336" y="27285"/>
                </a:cubicBezTo>
                <a:cubicBezTo>
                  <a:pt x="84336" y="23161"/>
                  <a:pt x="81018" y="19844"/>
                  <a:pt x="76895" y="19844"/>
                </a:cubicBezTo>
                <a:lnTo>
                  <a:pt x="42168" y="19844"/>
                </a:lnTo>
                <a:cubicBezTo>
                  <a:pt x="38044" y="19844"/>
                  <a:pt x="34727" y="23161"/>
                  <a:pt x="34727" y="27285"/>
                </a:cubicBezTo>
                <a:cubicBezTo>
                  <a:pt x="34727" y="31409"/>
                  <a:pt x="38044" y="34727"/>
                  <a:pt x="42168" y="34727"/>
                </a:cubicBezTo>
                <a:lnTo>
                  <a:pt x="76895" y="34727"/>
                </a:lnTo>
                <a:close/>
                <a:moveTo>
                  <a:pt x="85700" y="80832"/>
                </a:moveTo>
                <a:cubicBezTo>
                  <a:pt x="87871" y="77360"/>
                  <a:pt x="86816" y="72771"/>
                  <a:pt x="83344" y="70569"/>
                </a:cubicBezTo>
                <a:cubicBezTo>
                  <a:pt x="79871" y="68368"/>
                  <a:pt x="75282" y="69453"/>
                  <a:pt x="73081" y="72926"/>
                </a:cubicBezTo>
                <a:lnTo>
                  <a:pt x="54043" y="103405"/>
                </a:lnTo>
                <a:lnTo>
                  <a:pt x="45672" y="92242"/>
                </a:lnTo>
                <a:cubicBezTo>
                  <a:pt x="43191" y="88956"/>
                  <a:pt x="38540" y="88274"/>
                  <a:pt x="35254" y="90754"/>
                </a:cubicBezTo>
                <a:cubicBezTo>
                  <a:pt x="31967" y="93235"/>
                  <a:pt x="31285" y="97885"/>
                  <a:pt x="33765" y="101172"/>
                </a:cubicBezTo>
                <a:lnTo>
                  <a:pt x="48648" y="121016"/>
                </a:lnTo>
                <a:cubicBezTo>
                  <a:pt x="50105" y="122969"/>
                  <a:pt x="52462" y="124085"/>
                  <a:pt x="54911" y="123992"/>
                </a:cubicBezTo>
                <a:cubicBezTo>
                  <a:pt x="57361" y="123899"/>
                  <a:pt x="59593" y="122597"/>
                  <a:pt x="60896" y="120489"/>
                </a:cubicBezTo>
                <a:lnTo>
                  <a:pt x="85700" y="8080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524625" y="2440781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Processo Interno de Monitoramento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6188" y="2790031"/>
            <a:ext cx="544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Adquirente deve garantir processo interno para: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26188" y="307578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421438" y="320278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494859" y="327421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0289" y="45145"/>
                </a:moveTo>
                <a:cubicBezTo>
                  <a:pt x="90289" y="55107"/>
                  <a:pt x="87055" y="64309"/>
                  <a:pt x="81607" y="71775"/>
                </a:cubicBezTo>
                <a:lnTo>
                  <a:pt x="109085" y="99275"/>
                </a:lnTo>
                <a:cubicBezTo>
                  <a:pt x="111798" y="101988"/>
                  <a:pt x="111798" y="106394"/>
                  <a:pt x="109085" y="109107"/>
                </a:cubicBezTo>
                <a:cubicBezTo>
                  <a:pt x="106372" y="111820"/>
                  <a:pt x="101966" y="111820"/>
                  <a:pt x="99253" y="109107"/>
                </a:cubicBezTo>
                <a:lnTo>
                  <a:pt x="71775" y="81607"/>
                </a:lnTo>
                <a:cubicBezTo>
                  <a:pt x="64309" y="87055"/>
                  <a:pt x="55107" y="90289"/>
                  <a:pt x="45145" y="90289"/>
                </a:cubicBezTo>
                <a:cubicBezTo>
                  <a:pt x="20207" y="90289"/>
                  <a:pt x="0" y="70083"/>
                  <a:pt x="0" y="45145"/>
                </a:cubicBezTo>
                <a:cubicBezTo>
                  <a:pt x="0" y="20207"/>
                  <a:pt x="20207" y="0"/>
                  <a:pt x="45145" y="0"/>
                </a:cubicBezTo>
                <a:cubicBezTo>
                  <a:pt x="70083" y="0"/>
                  <a:pt x="90289" y="20207"/>
                  <a:pt x="90289" y="45145"/>
                </a:cubicBezTo>
                <a:close/>
                <a:moveTo>
                  <a:pt x="45145" y="76398"/>
                </a:moveTo>
                <a:cubicBezTo>
                  <a:pt x="62394" y="76398"/>
                  <a:pt x="76398" y="62394"/>
                  <a:pt x="76398" y="45145"/>
                </a:cubicBezTo>
                <a:cubicBezTo>
                  <a:pt x="76398" y="27895"/>
                  <a:pt x="62394" y="13891"/>
                  <a:pt x="45145" y="13891"/>
                </a:cubicBezTo>
                <a:cubicBezTo>
                  <a:pt x="27895" y="13891"/>
                  <a:pt x="13891" y="27895"/>
                  <a:pt x="13891" y="45145"/>
                </a:cubicBezTo>
                <a:cubicBezTo>
                  <a:pt x="13891" y="62394"/>
                  <a:pt x="27895" y="76398"/>
                  <a:pt x="45145" y="7639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770688" y="3171031"/>
            <a:ext cx="196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Monitorar Proativamente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70688" y="3425031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Monitorar proativamente seus ECs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6188" y="380603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421438" y="393303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508750" y="4004469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0" y="13891"/>
                </a:moveTo>
                <a:cubicBezTo>
                  <a:pt x="0" y="6229"/>
                  <a:pt x="6229" y="0"/>
                  <a:pt x="13891" y="0"/>
                </a:cubicBezTo>
                <a:lnTo>
                  <a:pt x="46338" y="0"/>
                </a:lnTo>
                <a:cubicBezTo>
                  <a:pt x="50028" y="0"/>
                  <a:pt x="53566" y="1454"/>
                  <a:pt x="56170" y="4059"/>
                </a:cubicBezTo>
                <a:lnTo>
                  <a:pt x="79285" y="27195"/>
                </a:lnTo>
                <a:cubicBezTo>
                  <a:pt x="81890" y="29800"/>
                  <a:pt x="83344" y="33338"/>
                  <a:pt x="83344" y="37027"/>
                </a:cubicBezTo>
                <a:lnTo>
                  <a:pt x="83344" y="97234"/>
                </a:lnTo>
                <a:cubicBezTo>
                  <a:pt x="83344" y="104896"/>
                  <a:pt x="77115" y="111125"/>
                  <a:pt x="69453" y="111125"/>
                </a:cubicBezTo>
                <a:lnTo>
                  <a:pt x="13891" y="111125"/>
                </a:lnTo>
                <a:cubicBezTo>
                  <a:pt x="6229" y="111125"/>
                  <a:pt x="0" y="104896"/>
                  <a:pt x="0" y="97234"/>
                </a:cubicBezTo>
                <a:lnTo>
                  <a:pt x="0" y="13891"/>
                </a:lnTo>
                <a:close/>
                <a:moveTo>
                  <a:pt x="45145" y="12697"/>
                </a:moveTo>
                <a:lnTo>
                  <a:pt x="45145" y="32990"/>
                </a:lnTo>
                <a:cubicBezTo>
                  <a:pt x="45145" y="35877"/>
                  <a:pt x="47467" y="38199"/>
                  <a:pt x="50354" y="38199"/>
                </a:cubicBezTo>
                <a:lnTo>
                  <a:pt x="70647" y="38199"/>
                </a:lnTo>
                <a:lnTo>
                  <a:pt x="45145" y="12697"/>
                </a:lnTo>
                <a:close/>
                <a:moveTo>
                  <a:pt x="19100" y="13891"/>
                </a:moveTo>
                <a:cubicBezTo>
                  <a:pt x="16213" y="13891"/>
                  <a:pt x="13891" y="16213"/>
                  <a:pt x="13891" y="19100"/>
                </a:cubicBezTo>
                <a:cubicBezTo>
                  <a:pt x="13891" y="21986"/>
                  <a:pt x="16213" y="24309"/>
                  <a:pt x="19100" y="24309"/>
                </a:cubicBezTo>
                <a:lnTo>
                  <a:pt x="29518" y="24309"/>
                </a:lnTo>
                <a:cubicBezTo>
                  <a:pt x="32404" y="24309"/>
                  <a:pt x="34727" y="21986"/>
                  <a:pt x="34727" y="19100"/>
                </a:cubicBezTo>
                <a:cubicBezTo>
                  <a:pt x="34727" y="16213"/>
                  <a:pt x="32404" y="13891"/>
                  <a:pt x="29518" y="13891"/>
                </a:cubicBezTo>
                <a:lnTo>
                  <a:pt x="19100" y="13891"/>
                </a:lnTo>
                <a:close/>
                <a:moveTo>
                  <a:pt x="19100" y="34727"/>
                </a:moveTo>
                <a:cubicBezTo>
                  <a:pt x="16213" y="34727"/>
                  <a:pt x="13891" y="37049"/>
                  <a:pt x="13891" y="39936"/>
                </a:cubicBezTo>
                <a:cubicBezTo>
                  <a:pt x="13891" y="42822"/>
                  <a:pt x="16213" y="45145"/>
                  <a:pt x="19100" y="45145"/>
                </a:cubicBezTo>
                <a:lnTo>
                  <a:pt x="29518" y="45145"/>
                </a:lnTo>
                <a:cubicBezTo>
                  <a:pt x="32404" y="45145"/>
                  <a:pt x="34727" y="42822"/>
                  <a:pt x="34727" y="39936"/>
                </a:cubicBezTo>
                <a:cubicBezTo>
                  <a:pt x="34727" y="37049"/>
                  <a:pt x="32404" y="34727"/>
                  <a:pt x="29518" y="34727"/>
                </a:cubicBezTo>
                <a:lnTo>
                  <a:pt x="19100" y="34727"/>
                </a:lnTo>
                <a:close/>
                <a:moveTo>
                  <a:pt x="34358" y="69453"/>
                </a:moveTo>
                <a:cubicBezTo>
                  <a:pt x="31905" y="69453"/>
                  <a:pt x="29604" y="70560"/>
                  <a:pt x="28085" y="72470"/>
                </a:cubicBezTo>
                <a:lnTo>
                  <a:pt x="15041" y="88770"/>
                </a:lnTo>
                <a:cubicBezTo>
                  <a:pt x="13240" y="91005"/>
                  <a:pt x="13608" y="94304"/>
                  <a:pt x="15844" y="96084"/>
                </a:cubicBezTo>
                <a:cubicBezTo>
                  <a:pt x="18080" y="97864"/>
                  <a:pt x="21379" y="97517"/>
                  <a:pt x="23158" y="95259"/>
                </a:cubicBezTo>
                <a:lnTo>
                  <a:pt x="33381" y="82497"/>
                </a:lnTo>
                <a:lnTo>
                  <a:pt x="36680" y="93501"/>
                </a:lnTo>
                <a:cubicBezTo>
                  <a:pt x="37331" y="95715"/>
                  <a:pt x="39371" y="97213"/>
                  <a:pt x="41672" y="97213"/>
                </a:cubicBezTo>
                <a:lnTo>
                  <a:pt x="64244" y="97213"/>
                </a:lnTo>
                <a:cubicBezTo>
                  <a:pt x="67131" y="97213"/>
                  <a:pt x="69453" y="94890"/>
                  <a:pt x="69453" y="92004"/>
                </a:cubicBezTo>
                <a:cubicBezTo>
                  <a:pt x="69453" y="89117"/>
                  <a:pt x="67131" y="86795"/>
                  <a:pt x="64244" y="86795"/>
                </a:cubicBezTo>
                <a:lnTo>
                  <a:pt x="45557" y="86795"/>
                </a:lnTo>
                <a:lnTo>
                  <a:pt x="42063" y="75161"/>
                </a:lnTo>
                <a:cubicBezTo>
                  <a:pt x="41042" y="71754"/>
                  <a:pt x="37917" y="69431"/>
                  <a:pt x="34358" y="6943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770688" y="3901281"/>
            <a:ext cx="3627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Processos Auditáveis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70688" y="4155281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 processos internos auditáveis de revisão de conteúdo e URLs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26188" y="453628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421438" y="466328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487914" y="4734719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12154" y="48964"/>
                </a:moveTo>
                <a:lnTo>
                  <a:pt x="7032" y="64288"/>
                </a:lnTo>
                <a:lnTo>
                  <a:pt x="7032" y="20836"/>
                </a:lnTo>
                <a:cubicBezTo>
                  <a:pt x="7032" y="13174"/>
                  <a:pt x="13261" y="6945"/>
                  <a:pt x="20923" y="6945"/>
                </a:cubicBezTo>
                <a:lnTo>
                  <a:pt x="51026" y="6945"/>
                </a:lnTo>
                <a:cubicBezTo>
                  <a:pt x="54022" y="6945"/>
                  <a:pt x="56952" y="7922"/>
                  <a:pt x="59361" y="9723"/>
                </a:cubicBezTo>
                <a:lnTo>
                  <a:pt x="67695" y="15974"/>
                </a:lnTo>
                <a:cubicBezTo>
                  <a:pt x="68889" y="16886"/>
                  <a:pt x="70365" y="17363"/>
                  <a:pt x="71862" y="17363"/>
                </a:cubicBezTo>
                <a:lnTo>
                  <a:pt x="97321" y="17363"/>
                </a:lnTo>
                <a:cubicBezTo>
                  <a:pt x="104983" y="17363"/>
                  <a:pt x="111212" y="23592"/>
                  <a:pt x="111212" y="31254"/>
                </a:cubicBezTo>
                <a:lnTo>
                  <a:pt x="111212" y="34727"/>
                </a:lnTo>
                <a:lnTo>
                  <a:pt x="31905" y="34727"/>
                </a:lnTo>
                <a:cubicBezTo>
                  <a:pt x="22941" y="34727"/>
                  <a:pt x="14976" y="40456"/>
                  <a:pt x="12133" y="48964"/>
                </a:cubicBezTo>
                <a:close/>
                <a:moveTo>
                  <a:pt x="103702" y="97234"/>
                </a:moveTo>
                <a:lnTo>
                  <a:pt x="21487" y="97234"/>
                </a:lnTo>
                <a:cubicBezTo>
                  <a:pt x="14368" y="97234"/>
                  <a:pt x="9354" y="90267"/>
                  <a:pt x="11612" y="83517"/>
                </a:cubicBezTo>
                <a:lnTo>
                  <a:pt x="22030" y="52263"/>
                </a:lnTo>
                <a:cubicBezTo>
                  <a:pt x="23440" y="48009"/>
                  <a:pt x="27434" y="45145"/>
                  <a:pt x="31905" y="45145"/>
                </a:cubicBezTo>
                <a:lnTo>
                  <a:pt x="114120" y="45145"/>
                </a:lnTo>
                <a:cubicBezTo>
                  <a:pt x="121239" y="45145"/>
                  <a:pt x="126253" y="52112"/>
                  <a:pt x="123996" y="58862"/>
                </a:cubicBezTo>
                <a:lnTo>
                  <a:pt x="113578" y="90115"/>
                </a:lnTo>
                <a:cubicBezTo>
                  <a:pt x="112167" y="94369"/>
                  <a:pt x="108173" y="97234"/>
                  <a:pt x="103702" y="9723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770688" y="4631531"/>
            <a:ext cx="378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Gerar Evidências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70688" y="4885531"/>
            <a:ext cx="377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Gerar evidências em caso de notificação (logs, prints, investigações)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6188" y="5266531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6421438" y="539353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6494859" y="546496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770688" y="5361781"/>
            <a:ext cx="292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Responder no Prazo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70688" y="5615781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Responder a violações no mesmo prazo (até 15 dias)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30156" y="6000750"/>
            <a:ext cx="5373688" cy="388938"/>
          </a:xfrm>
          <a:custGeom>
            <a:avLst/>
            <a:gdLst/>
            <a:ahLst/>
            <a:cxnLst/>
            <a:rect l="l" t="t" r="r" b="b"/>
            <a:pathLst>
              <a:path w="5373688" h="388938">
                <a:moveTo>
                  <a:pt x="63502" y="0"/>
                </a:moveTo>
                <a:lnTo>
                  <a:pt x="5310186" y="0"/>
                </a:lnTo>
                <a:cubicBezTo>
                  <a:pt x="5345257" y="0"/>
                  <a:pt x="5373688" y="28431"/>
                  <a:pt x="5373688" y="63502"/>
                </a:cubicBezTo>
                <a:lnTo>
                  <a:pt x="5373688" y="325436"/>
                </a:lnTo>
                <a:cubicBezTo>
                  <a:pt x="5373688" y="360507"/>
                  <a:pt x="5345257" y="388938"/>
                  <a:pt x="53101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6445250" y="6131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6627813" y="6099969"/>
            <a:ext cx="504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Importante: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Mastercard poderá exigir evidência desses controles a qualquer momento.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49250" y="5818187"/>
            <a:ext cx="5552281" cy="908844"/>
          </a:xfrm>
          <a:custGeom>
            <a:avLst/>
            <a:gdLst/>
            <a:ahLst/>
            <a:cxnLst/>
            <a:rect l="l" t="t" r="r" b="b"/>
            <a:pathLst>
              <a:path w="11549063" h="452438">
                <a:moveTo>
                  <a:pt x="63500" y="0"/>
                </a:moveTo>
                <a:lnTo>
                  <a:pt x="11485563" y="0"/>
                </a:lnTo>
                <a:cubicBezTo>
                  <a:pt x="11520633" y="0"/>
                  <a:pt x="11549063" y="28430"/>
                  <a:pt x="11549063" y="63500"/>
                </a:cubicBezTo>
                <a:lnTo>
                  <a:pt x="11549063" y="388938"/>
                </a:lnTo>
                <a:cubicBezTo>
                  <a:pt x="11549063" y="424008"/>
                  <a:pt x="11520633" y="452438"/>
                  <a:pt x="1148556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484187" y="6854031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531813" y="5853906"/>
            <a:ext cx="5058104" cy="702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Benefício: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Ter um MMSP atuando de forma contínua </a:t>
            </a: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reduz o risco de violações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e, portanto, diminui a chance de multas, bloqueios ou perda de licença de aceitação da Mastercard.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13" y="341513"/>
            <a:ext cx="1157727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kern="0" spc="54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513" y="614723"/>
            <a:ext cx="11662655" cy="34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Questionable Merchant Audit Program (QMAP)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588" y="1092840"/>
            <a:ext cx="11491899" cy="1220908"/>
          </a:xfrm>
          <a:custGeom>
            <a:avLst/>
            <a:gdLst/>
            <a:ahLst/>
            <a:cxnLst/>
            <a:rect l="l" t="t" r="r" b="b"/>
            <a:pathLst>
              <a:path w="11491899" h="1220908">
                <a:moveTo>
                  <a:pt x="34151" y="0"/>
                </a:moveTo>
                <a:lnTo>
                  <a:pt x="11423602" y="0"/>
                </a:lnTo>
                <a:cubicBezTo>
                  <a:pt x="11461321" y="0"/>
                  <a:pt x="11491899" y="30578"/>
                  <a:pt x="11491899" y="68298"/>
                </a:cubicBezTo>
                <a:lnTo>
                  <a:pt x="11491899" y="1152610"/>
                </a:lnTo>
                <a:cubicBezTo>
                  <a:pt x="11491899" y="1190330"/>
                  <a:pt x="11461321" y="1220908"/>
                  <a:pt x="11423602" y="1220908"/>
                </a:cubicBezTo>
                <a:lnTo>
                  <a:pt x="34151" y="1220908"/>
                </a:lnTo>
                <a:cubicBezTo>
                  <a:pt x="15290" y="1220908"/>
                  <a:pt x="0" y="1205618"/>
                  <a:pt x="0" y="1186756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58588" y="1092840"/>
            <a:ext cx="34151" cy="1220908"/>
          </a:xfrm>
          <a:custGeom>
            <a:avLst/>
            <a:gdLst/>
            <a:ahLst/>
            <a:cxnLst/>
            <a:rect l="l" t="t" r="r" b="b"/>
            <a:pathLst>
              <a:path w="34151" h="1220908">
                <a:moveTo>
                  <a:pt x="34151" y="0"/>
                </a:moveTo>
                <a:lnTo>
                  <a:pt x="34151" y="0"/>
                </a:lnTo>
                <a:lnTo>
                  <a:pt x="34151" y="1220908"/>
                </a:lnTo>
                <a:lnTo>
                  <a:pt x="34151" y="1220908"/>
                </a:lnTo>
                <a:cubicBezTo>
                  <a:pt x="15290" y="1220908"/>
                  <a:pt x="0" y="1205618"/>
                  <a:pt x="0" y="1186756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2034" y="1297748"/>
            <a:ext cx="204908" cy="204908"/>
          </a:xfrm>
          <a:custGeom>
            <a:avLst/>
            <a:gdLst/>
            <a:ahLst/>
            <a:cxnLst/>
            <a:rect l="l" t="t" r="r" b="b"/>
            <a:pathLst>
              <a:path w="204908" h="204908">
                <a:moveTo>
                  <a:pt x="102454" y="204908"/>
                </a:moveTo>
                <a:cubicBezTo>
                  <a:pt x="159000" y="204908"/>
                  <a:pt x="204908" y="159000"/>
                  <a:pt x="204908" y="102454"/>
                </a:cubicBezTo>
                <a:cubicBezTo>
                  <a:pt x="204908" y="45908"/>
                  <a:pt x="159000" y="0"/>
                  <a:pt x="102454" y="0"/>
                </a:cubicBezTo>
                <a:cubicBezTo>
                  <a:pt x="45908" y="0"/>
                  <a:pt x="0" y="45908"/>
                  <a:pt x="0" y="102454"/>
                </a:cubicBezTo>
                <a:cubicBezTo>
                  <a:pt x="0" y="159000"/>
                  <a:pt x="45908" y="204908"/>
                  <a:pt x="102454" y="204908"/>
                </a:cubicBezTo>
                <a:close/>
                <a:moveTo>
                  <a:pt x="102454" y="70437"/>
                </a:moveTo>
                <a:cubicBezTo>
                  <a:pt x="95370" y="70437"/>
                  <a:pt x="89647" y="76160"/>
                  <a:pt x="89647" y="83244"/>
                </a:cubicBezTo>
                <a:cubicBezTo>
                  <a:pt x="89647" y="88566"/>
                  <a:pt x="85365" y="92849"/>
                  <a:pt x="80042" y="92849"/>
                </a:cubicBezTo>
                <a:cubicBezTo>
                  <a:pt x="74719" y="92849"/>
                  <a:pt x="70437" y="88566"/>
                  <a:pt x="70437" y="83244"/>
                </a:cubicBezTo>
                <a:cubicBezTo>
                  <a:pt x="70437" y="65554"/>
                  <a:pt x="84764" y="51227"/>
                  <a:pt x="102454" y="51227"/>
                </a:cubicBezTo>
                <a:cubicBezTo>
                  <a:pt x="120143" y="51227"/>
                  <a:pt x="134471" y="65554"/>
                  <a:pt x="134471" y="83244"/>
                </a:cubicBezTo>
                <a:cubicBezTo>
                  <a:pt x="134471" y="102134"/>
                  <a:pt x="120063" y="110138"/>
                  <a:pt x="112059" y="113059"/>
                </a:cubicBezTo>
                <a:lnTo>
                  <a:pt x="112059" y="114580"/>
                </a:lnTo>
                <a:cubicBezTo>
                  <a:pt x="112059" y="119903"/>
                  <a:pt x="107777" y="124185"/>
                  <a:pt x="102454" y="124185"/>
                </a:cubicBezTo>
                <a:cubicBezTo>
                  <a:pt x="97131" y="124185"/>
                  <a:pt x="92849" y="119903"/>
                  <a:pt x="92849" y="114580"/>
                </a:cubicBezTo>
                <a:lnTo>
                  <a:pt x="92849" y="111338"/>
                </a:lnTo>
                <a:cubicBezTo>
                  <a:pt x="92849" y="103134"/>
                  <a:pt x="98772" y="97251"/>
                  <a:pt x="104895" y="95250"/>
                </a:cubicBezTo>
                <a:cubicBezTo>
                  <a:pt x="107456" y="94410"/>
                  <a:pt x="110178" y="93049"/>
                  <a:pt x="112179" y="91128"/>
                </a:cubicBezTo>
                <a:cubicBezTo>
                  <a:pt x="113900" y="89447"/>
                  <a:pt x="115261" y="87126"/>
                  <a:pt x="115261" y="83284"/>
                </a:cubicBezTo>
                <a:cubicBezTo>
                  <a:pt x="115261" y="76200"/>
                  <a:pt x="109538" y="70477"/>
                  <a:pt x="102454" y="70477"/>
                </a:cubicBezTo>
                <a:close/>
                <a:moveTo>
                  <a:pt x="89647" y="147277"/>
                </a:moveTo>
                <a:cubicBezTo>
                  <a:pt x="89647" y="140209"/>
                  <a:pt x="95386" y="134471"/>
                  <a:pt x="102454" y="134471"/>
                </a:cubicBezTo>
                <a:cubicBezTo>
                  <a:pt x="109522" y="134471"/>
                  <a:pt x="115261" y="140209"/>
                  <a:pt x="115261" y="147277"/>
                </a:cubicBezTo>
                <a:cubicBezTo>
                  <a:pt x="115261" y="154346"/>
                  <a:pt x="109522" y="160084"/>
                  <a:pt x="102454" y="160084"/>
                </a:cubicBezTo>
                <a:cubicBezTo>
                  <a:pt x="95386" y="160084"/>
                  <a:pt x="89647" y="154346"/>
                  <a:pt x="89647" y="14727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2555" y="1263597"/>
            <a:ext cx="10979630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QMAP?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6420" y="1639261"/>
            <a:ext cx="11210151" cy="50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1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21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Questionable Merchant Audit Program (QMAP)</a:t>
            </a:r>
            <a:r>
              <a:rPr lang="en-US" sz="121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o programa da Mastercard que </a:t>
            </a:r>
            <a:r>
              <a:rPr lang="en-US" sz="121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estabelece padrões mínimos de comportamento aceitável</a:t>
            </a:r>
            <a:r>
              <a:rPr lang="en-US" sz="121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Comerciantes e identifica aqueles que podem não atender a esses padrões por participarem de </a:t>
            </a:r>
            <a:r>
              <a:rPr lang="en-US" sz="121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atividades colusivas, fraudulentas ou inadequadas</a:t>
            </a:r>
            <a:r>
              <a:rPr lang="en-US" sz="121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5782" y="2450353"/>
            <a:ext cx="5677647" cy="3560269"/>
          </a:xfrm>
          <a:custGeom>
            <a:avLst/>
            <a:gdLst/>
            <a:ahLst/>
            <a:cxnLst/>
            <a:rect l="l" t="t" r="r" b="b"/>
            <a:pathLst>
              <a:path w="5677647" h="3560269">
                <a:moveTo>
                  <a:pt x="68286" y="0"/>
                </a:moveTo>
                <a:lnTo>
                  <a:pt x="5609361" y="0"/>
                </a:lnTo>
                <a:cubicBezTo>
                  <a:pt x="5647074" y="0"/>
                  <a:pt x="5677647" y="30573"/>
                  <a:pt x="5677647" y="68286"/>
                </a:cubicBezTo>
                <a:lnTo>
                  <a:pt x="5677647" y="3491983"/>
                </a:lnTo>
                <a:cubicBezTo>
                  <a:pt x="5677647" y="3529696"/>
                  <a:pt x="5647074" y="3560269"/>
                  <a:pt x="5609361" y="3560269"/>
                </a:cubicBezTo>
                <a:lnTo>
                  <a:pt x="68286" y="3560269"/>
                </a:lnTo>
                <a:cubicBezTo>
                  <a:pt x="30573" y="3560269"/>
                  <a:pt x="0" y="3529696"/>
                  <a:pt x="0" y="3491983"/>
                </a:cubicBezTo>
                <a:lnTo>
                  <a:pt x="0" y="68286"/>
                </a:lnTo>
                <a:cubicBezTo>
                  <a:pt x="0" y="30573"/>
                  <a:pt x="30573" y="0"/>
                  <a:pt x="6828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52824" y="2659529"/>
            <a:ext cx="149412" cy="170756"/>
          </a:xfrm>
          <a:custGeom>
            <a:avLst/>
            <a:gdLst/>
            <a:ahLst/>
            <a:cxnLst/>
            <a:rect l="l" t="t" r="r" b="b"/>
            <a:pathLst>
              <a:path w="149412" h="170756">
                <a:moveTo>
                  <a:pt x="128067" y="170756"/>
                </a:moveTo>
                <a:lnTo>
                  <a:pt x="32017" y="170756"/>
                </a:lnTo>
                <a:cubicBezTo>
                  <a:pt x="14341" y="170756"/>
                  <a:pt x="0" y="156415"/>
                  <a:pt x="0" y="138739"/>
                </a:cubicBezTo>
                <a:lnTo>
                  <a:pt x="0" y="32017"/>
                </a:lnTo>
                <a:cubicBezTo>
                  <a:pt x="0" y="14341"/>
                  <a:pt x="14341" y="0"/>
                  <a:pt x="32017" y="0"/>
                </a:cubicBezTo>
                <a:lnTo>
                  <a:pt x="133403" y="0"/>
                </a:lnTo>
                <a:cubicBezTo>
                  <a:pt x="142241" y="0"/>
                  <a:pt x="149412" y="7170"/>
                  <a:pt x="149412" y="16008"/>
                </a:cubicBezTo>
                <a:lnTo>
                  <a:pt x="149412" y="112059"/>
                </a:lnTo>
                <a:cubicBezTo>
                  <a:pt x="149412" y="119029"/>
                  <a:pt x="144943" y="124966"/>
                  <a:pt x="138739" y="127167"/>
                </a:cubicBezTo>
                <a:lnTo>
                  <a:pt x="138739" y="149412"/>
                </a:lnTo>
                <a:cubicBezTo>
                  <a:pt x="144643" y="149412"/>
                  <a:pt x="149412" y="154181"/>
                  <a:pt x="149412" y="160084"/>
                </a:cubicBezTo>
                <a:cubicBezTo>
                  <a:pt x="149412" y="165987"/>
                  <a:pt x="144643" y="170756"/>
                  <a:pt x="138739" y="170756"/>
                </a:cubicBezTo>
                <a:lnTo>
                  <a:pt x="128067" y="170756"/>
                </a:lnTo>
                <a:close/>
                <a:moveTo>
                  <a:pt x="32017" y="128067"/>
                </a:moveTo>
                <a:cubicBezTo>
                  <a:pt x="26114" y="128067"/>
                  <a:pt x="21345" y="132836"/>
                  <a:pt x="21345" y="138739"/>
                </a:cubicBezTo>
                <a:cubicBezTo>
                  <a:pt x="21345" y="144643"/>
                  <a:pt x="26114" y="149412"/>
                  <a:pt x="32017" y="149412"/>
                </a:cubicBezTo>
                <a:lnTo>
                  <a:pt x="117395" y="149412"/>
                </a:lnTo>
                <a:lnTo>
                  <a:pt x="117395" y="128067"/>
                </a:lnTo>
                <a:lnTo>
                  <a:pt x="32017" y="128067"/>
                </a:lnTo>
                <a:close/>
                <a:moveTo>
                  <a:pt x="42689" y="50693"/>
                </a:moveTo>
                <a:cubicBezTo>
                  <a:pt x="42689" y="55129"/>
                  <a:pt x="46258" y="58697"/>
                  <a:pt x="50693" y="58697"/>
                </a:cubicBezTo>
                <a:lnTo>
                  <a:pt x="109391" y="58697"/>
                </a:lnTo>
                <a:cubicBezTo>
                  <a:pt x="113826" y="58697"/>
                  <a:pt x="117395" y="55129"/>
                  <a:pt x="117395" y="50693"/>
                </a:cubicBezTo>
                <a:cubicBezTo>
                  <a:pt x="117395" y="46258"/>
                  <a:pt x="113826" y="42689"/>
                  <a:pt x="109391" y="42689"/>
                </a:cubicBezTo>
                <a:lnTo>
                  <a:pt x="50693" y="42689"/>
                </a:lnTo>
                <a:cubicBezTo>
                  <a:pt x="46258" y="42689"/>
                  <a:pt x="42689" y="46258"/>
                  <a:pt x="42689" y="50693"/>
                </a:cubicBezTo>
                <a:close/>
                <a:moveTo>
                  <a:pt x="50693" y="74706"/>
                </a:moveTo>
                <a:cubicBezTo>
                  <a:pt x="46258" y="74706"/>
                  <a:pt x="42689" y="78274"/>
                  <a:pt x="42689" y="82710"/>
                </a:cubicBezTo>
                <a:cubicBezTo>
                  <a:pt x="42689" y="87146"/>
                  <a:pt x="46258" y="90714"/>
                  <a:pt x="50693" y="90714"/>
                </a:cubicBezTo>
                <a:lnTo>
                  <a:pt x="109391" y="90714"/>
                </a:lnTo>
                <a:cubicBezTo>
                  <a:pt x="113826" y="90714"/>
                  <a:pt x="117395" y="87146"/>
                  <a:pt x="117395" y="82710"/>
                </a:cubicBezTo>
                <a:cubicBezTo>
                  <a:pt x="117395" y="78274"/>
                  <a:pt x="113826" y="74706"/>
                  <a:pt x="109391" y="74706"/>
                </a:cubicBezTo>
                <a:lnTo>
                  <a:pt x="50693" y="7470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4252" y="2625378"/>
            <a:ext cx="519952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Definições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0807" y="2966891"/>
            <a:ext cx="5327597" cy="887933"/>
          </a:xfrm>
          <a:custGeom>
            <a:avLst/>
            <a:gdLst/>
            <a:ahLst/>
            <a:cxnLst/>
            <a:rect l="l" t="t" r="r" b="b"/>
            <a:pathLst>
              <a:path w="5327597" h="887933">
                <a:moveTo>
                  <a:pt x="68300" y="0"/>
                </a:moveTo>
                <a:lnTo>
                  <a:pt x="5259297" y="0"/>
                </a:lnTo>
                <a:cubicBezTo>
                  <a:pt x="5297018" y="0"/>
                  <a:pt x="5327597" y="30579"/>
                  <a:pt x="5327597" y="68300"/>
                </a:cubicBezTo>
                <a:lnTo>
                  <a:pt x="5327597" y="819633"/>
                </a:lnTo>
                <a:cubicBezTo>
                  <a:pt x="5327597" y="857354"/>
                  <a:pt x="5297018" y="887933"/>
                  <a:pt x="5259297" y="887933"/>
                </a:cubicBezTo>
                <a:lnTo>
                  <a:pt x="68300" y="887933"/>
                </a:lnTo>
                <a:cubicBezTo>
                  <a:pt x="30579" y="887933"/>
                  <a:pt x="0" y="857354"/>
                  <a:pt x="0" y="819633"/>
                </a:cubicBezTo>
                <a:lnTo>
                  <a:pt x="0" y="68300"/>
                </a:lnTo>
                <a:cubicBezTo>
                  <a:pt x="0" y="30604"/>
                  <a:pt x="30604" y="0"/>
                  <a:pt x="683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3261" y="3069345"/>
            <a:ext cx="519952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Cardholder Bust-out Account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3261" y="3342555"/>
            <a:ext cx="5190992" cy="40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 encerrada pelo emissor por motivo de estabelecimento questionável, estorno ou transação fraudulenta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0807" y="3957277"/>
            <a:ext cx="5327597" cy="887933"/>
          </a:xfrm>
          <a:custGeom>
            <a:avLst/>
            <a:gdLst/>
            <a:ahLst/>
            <a:cxnLst/>
            <a:rect l="l" t="t" r="r" b="b"/>
            <a:pathLst>
              <a:path w="5327597" h="887933">
                <a:moveTo>
                  <a:pt x="68300" y="0"/>
                </a:moveTo>
                <a:lnTo>
                  <a:pt x="5259297" y="0"/>
                </a:lnTo>
                <a:cubicBezTo>
                  <a:pt x="5297018" y="0"/>
                  <a:pt x="5327597" y="30579"/>
                  <a:pt x="5327597" y="68300"/>
                </a:cubicBezTo>
                <a:lnTo>
                  <a:pt x="5327597" y="819633"/>
                </a:lnTo>
                <a:cubicBezTo>
                  <a:pt x="5327597" y="857354"/>
                  <a:pt x="5297018" y="887933"/>
                  <a:pt x="5259297" y="887933"/>
                </a:cubicBezTo>
                <a:lnTo>
                  <a:pt x="68300" y="887933"/>
                </a:lnTo>
                <a:cubicBezTo>
                  <a:pt x="30579" y="887933"/>
                  <a:pt x="0" y="857354"/>
                  <a:pt x="0" y="819633"/>
                </a:cubicBezTo>
                <a:lnTo>
                  <a:pt x="0" y="68300"/>
                </a:lnTo>
                <a:cubicBezTo>
                  <a:pt x="0" y="30604"/>
                  <a:pt x="30604" y="0"/>
                  <a:pt x="683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23261" y="4059731"/>
            <a:ext cx="519952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Scope Period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3261" y="4332941"/>
            <a:ext cx="5190992" cy="40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Período de </a:t>
            </a:r>
            <a:r>
              <a:rPr lang="en-US" sz="107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 dias corridos</a:t>
            </a:r>
            <a:r>
              <a:rPr lang="en-US" sz="107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anterior à data em que a Mastercard inicia uma investigação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0807" y="4947664"/>
            <a:ext cx="5327597" cy="887933"/>
          </a:xfrm>
          <a:custGeom>
            <a:avLst/>
            <a:gdLst/>
            <a:ahLst/>
            <a:cxnLst/>
            <a:rect l="l" t="t" r="r" b="b"/>
            <a:pathLst>
              <a:path w="5327597" h="887933">
                <a:moveTo>
                  <a:pt x="68300" y="0"/>
                </a:moveTo>
                <a:lnTo>
                  <a:pt x="5259297" y="0"/>
                </a:lnTo>
                <a:cubicBezTo>
                  <a:pt x="5297018" y="0"/>
                  <a:pt x="5327597" y="30579"/>
                  <a:pt x="5327597" y="68300"/>
                </a:cubicBezTo>
                <a:lnTo>
                  <a:pt x="5327597" y="819633"/>
                </a:lnTo>
                <a:cubicBezTo>
                  <a:pt x="5327597" y="857354"/>
                  <a:pt x="5297018" y="887933"/>
                  <a:pt x="5259297" y="887933"/>
                </a:cubicBezTo>
                <a:lnTo>
                  <a:pt x="68300" y="887933"/>
                </a:lnTo>
                <a:cubicBezTo>
                  <a:pt x="30579" y="887933"/>
                  <a:pt x="0" y="857354"/>
                  <a:pt x="0" y="819633"/>
                </a:cubicBezTo>
                <a:lnTo>
                  <a:pt x="0" y="68300"/>
                </a:lnTo>
                <a:cubicBezTo>
                  <a:pt x="0" y="30604"/>
                  <a:pt x="30604" y="0"/>
                  <a:pt x="683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23261" y="5050118"/>
            <a:ext cx="519952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Questionable Merchant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3261" y="5323328"/>
            <a:ext cx="5190992" cy="40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 que atende pelo menos </a:t>
            </a:r>
            <a:r>
              <a:rPr lang="en-US" sz="107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das 4 condições</a:t>
            </a:r>
            <a:r>
              <a:rPr lang="en-US" sz="107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atividade no período do escopo do caso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6570" y="2450353"/>
            <a:ext cx="5677647" cy="3560269"/>
          </a:xfrm>
          <a:custGeom>
            <a:avLst/>
            <a:gdLst/>
            <a:ahLst/>
            <a:cxnLst/>
            <a:rect l="l" t="t" r="r" b="b"/>
            <a:pathLst>
              <a:path w="5677647" h="3560269">
                <a:moveTo>
                  <a:pt x="68286" y="0"/>
                </a:moveTo>
                <a:lnTo>
                  <a:pt x="5609361" y="0"/>
                </a:lnTo>
                <a:cubicBezTo>
                  <a:pt x="5647074" y="0"/>
                  <a:pt x="5677647" y="30573"/>
                  <a:pt x="5677647" y="68286"/>
                </a:cubicBezTo>
                <a:lnTo>
                  <a:pt x="5677647" y="3491983"/>
                </a:lnTo>
                <a:cubicBezTo>
                  <a:pt x="5677647" y="3529696"/>
                  <a:pt x="5647074" y="3560269"/>
                  <a:pt x="5609361" y="3560269"/>
                </a:cubicBezTo>
                <a:lnTo>
                  <a:pt x="68286" y="3560269"/>
                </a:lnTo>
                <a:cubicBezTo>
                  <a:pt x="30573" y="3560269"/>
                  <a:pt x="0" y="3529696"/>
                  <a:pt x="0" y="3491983"/>
                </a:cubicBezTo>
                <a:lnTo>
                  <a:pt x="0" y="68286"/>
                </a:lnTo>
                <a:cubicBezTo>
                  <a:pt x="0" y="30573"/>
                  <a:pt x="30573" y="0"/>
                  <a:pt x="6828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384285" y="2659529"/>
            <a:ext cx="128067" cy="170756"/>
          </a:xfrm>
          <a:custGeom>
            <a:avLst/>
            <a:gdLst/>
            <a:ahLst/>
            <a:cxnLst/>
            <a:rect l="l" t="t" r="r" b="b"/>
            <a:pathLst>
              <a:path w="128067" h="170756">
                <a:moveTo>
                  <a:pt x="103855" y="10672"/>
                </a:moveTo>
                <a:lnTo>
                  <a:pt x="106723" y="10672"/>
                </a:lnTo>
                <a:cubicBezTo>
                  <a:pt x="118496" y="10672"/>
                  <a:pt x="128067" y="20244"/>
                  <a:pt x="128067" y="32017"/>
                </a:cubicBezTo>
                <a:lnTo>
                  <a:pt x="128067" y="149412"/>
                </a:lnTo>
                <a:cubicBezTo>
                  <a:pt x="128067" y="161185"/>
                  <a:pt x="118496" y="170756"/>
                  <a:pt x="106723" y="170756"/>
                </a:cubicBezTo>
                <a:lnTo>
                  <a:pt x="21345" y="170756"/>
                </a:lnTo>
                <a:cubicBezTo>
                  <a:pt x="9572" y="170756"/>
                  <a:pt x="0" y="161185"/>
                  <a:pt x="0" y="149412"/>
                </a:cubicBezTo>
                <a:lnTo>
                  <a:pt x="0" y="32017"/>
                </a:lnTo>
                <a:cubicBezTo>
                  <a:pt x="0" y="20244"/>
                  <a:pt x="9572" y="10672"/>
                  <a:pt x="21345" y="10672"/>
                </a:cubicBezTo>
                <a:lnTo>
                  <a:pt x="24213" y="10672"/>
                </a:lnTo>
                <a:cubicBezTo>
                  <a:pt x="27881" y="4302"/>
                  <a:pt x="34785" y="0"/>
                  <a:pt x="42689" y="0"/>
                </a:cubicBezTo>
                <a:lnTo>
                  <a:pt x="85378" y="0"/>
                </a:lnTo>
                <a:cubicBezTo>
                  <a:pt x="93282" y="0"/>
                  <a:pt x="100186" y="4302"/>
                  <a:pt x="103855" y="10672"/>
                </a:cubicBezTo>
                <a:close/>
                <a:moveTo>
                  <a:pt x="82710" y="37353"/>
                </a:moveTo>
                <a:cubicBezTo>
                  <a:pt x="87146" y="37353"/>
                  <a:pt x="90714" y="33784"/>
                  <a:pt x="90714" y="29349"/>
                </a:cubicBezTo>
                <a:cubicBezTo>
                  <a:pt x="90714" y="24913"/>
                  <a:pt x="87146" y="21345"/>
                  <a:pt x="82710" y="21345"/>
                </a:cubicBezTo>
                <a:lnTo>
                  <a:pt x="45357" y="21345"/>
                </a:lnTo>
                <a:cubicBezTo>
                  <a:pt x="40921" y="21345"/>
                  <a:pt x="37353" y="24913"/>
                  <a:pt x="37353" y="29349"/>
                </a:cubicBezTo>
                <a:cubicBezTo>
                  <a:pt x="37353" y="33784"/>
                  <a:pt x="40921" y="37353"/>
                  <a:pt x="45357" y="37353"/>
                </a:cubicBezTo>
                <a:lnTo>
                  <a:pt x="82710" y="37353"/>
                </a:lnTo>
                <a:close/>
                <a:moveTo>
                  <a:pt x="42689" y="85378"/>
                </a:moveTo>
                <a:cubicBezTo>
                  <a:pt x="42689" y="79488"/>
                  <a:pt x="37907" y="74706"/>
                  <a:pt x="32017" y="74706"/>
                </a:cubicBezTo>
                <a:cubicBezTo>
                  <a:pt x="26127" y="74706"/>
                  <a:pt x="21345" y="79488"/>
                  <a:pt x="21345" y="85378"/>
                </a:cubicBezTo>
                <a:cubicBezTo>
                  <a:pt x="21345" y="91268"/>
                  <a:pt x="26127" y="96050"/>
                  <a:pt x="32017" y="96050"/>
                </a:cubicBezTo>
                <a:cubicBezTo>
                  <a:pt x="37907" y="96050"/>
                  <a:pt x="42689" y="91268"/>
                  <a:pt x="42689" y="85378"/>
                </a:cubicBezTo>
                <a:close/>
                <a:moveTo>
                  <a:pt x="53361" y="85378"/>
                </a:moveTo>
                <a:cubicBezTo>
                  <a:pt x="53361" y="89814"/>
                  <a:pt x="56930" y="93382"/>
                  <a:pt x="61366" y="93382"/>
                </a:cubicBezTo>
                <a:lnTo>
                  <a:pt x="98718" y="93382"/>
                </a:lnTo>
                <a:cubicBezTo>
                  <a:pt x="103154" y="93382"/>
                  <a:pt x="106723" y="89814"/>
                  <a:pt x="106723" y="85378"/>
                </a:cubicBezTo>
                <a:cubicBezTo>
                  <a:pt x="106723" y="80942"/>
                  <a:pt x="103154" y="77374"/>
                  <a:pt x="98718" y="77374"/>
                </a:cubicBezTo>
                <a:lnTo>
                  <a:pt x="61366" y="77374"/>
                </a:lnTo>
                <a:cubicBezTo>
                  <a:pt x="56930" y="77374"/>
                  <a:pt x="53361" y="80942"/>
                  <a:pt x="53361" y="85378"/>
                </a:cubicBezTo>
                <a:close/>
                <a:moveTo>
                  <a:pt x="53361" y="128067"/>
                </a:moveTo>
                <a:cubicBezTo>
                  <a:pt x="53361" y="132503"/>
                  <a:pt x="56930" y="136071"/>
                  <a:pt x="61366" y="136071"/>
                </a:cubicBezTo>
                <a:lnTo>
                  <a:pt x="98718" y="136071"/>
                </a:lnTo>
                <a:cubicBezTo>
                  <a:pt x="103154" y="136071"/>
                  <a:pt x="106723" y="132503"/>
                  <a:pt x="106723" y="128067"/>
                </a:cubicBezTo>
                <a:cubicBezTo>
                  <a:pt x="106723" y="123632"/>
                  <a:pt x="103154" y="120063"/>
                  <a:pt x="98718" y="120063"/>
                </a:cubicBezTo>
                <a:lnTo>
                  <a:pt x="61366" y="120063"/>
                </a:lnTo>
                <a:cubicBezTo>
                  <a:pt x="56930" y="120063"/>
                  <a:pt x="53361" y="123632"/>
                  <a:pt x="53361" y="128067"/>
                </a:cubicBezTo>
                <a:close/>
                <a:moveTo>
                  <a:pt x="32017" y="138739"/>
                </a:moveTo>
                <a:cubicBezTo>
                  <a:pt x="37907" y="138739"/>
                  <a:pt x="42689" y="133957"/>
                  <a:pt x="42689" y="128067"/>
                </a:cubicBezTo>
                <a:cubicBezTo>
                  <a:pt x="42689" y="122177"/>
                  <a:pt x="37907" y="117395"/>
                  <a:pt x="32017" y="117395"/>
                </a:cubicBezTo>
                <a:cubicBezTo>
                  <a:pt x="26127" y="117395"/>
                  <a:pt x="21345" y="122177"/>
                  <a:pt x="21345" y="128067"/>
                </a:cubicBezTo>
                <a:cubicBezTo>
                  <a:pt x="21345" y="133957"/>
                  <a:pt x="26127" y="138739"/>
                  <a:pt x="32017" y="13873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555041" y="2625378"/>
            <a:ext cx="5199529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Critérios para Questionable Merchant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1596" y="2966891"/>
            <a:ext cx="5395899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estabelecimento deve atender pelo menos </a:t>
            </a:r>
            <a:r>
              <a:rPr lang="en-US" sz="107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das 4 condições</a:t>
            </a:r>
            <a:r>
              <a:rPr lang="en-US" sz="107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41596" y="3274252"/>
            <a:ext cx="5327597" cy="614723"/>
          </a:xfrm>
          <a:custGeom>
            <a:avLst/>
            <a:gdLst/>
            <a:ahLst/>
            <a:cxnLst/>
            <a:rect l="l" t="t" r="r" b="b"/>
            <a:pathLst>
              <a:path w="5327597" h="614723">
                <a:moveTo>
                  <a:pt x="68302" y="0"/>
                </a:moveTo>
                <a:lnTo>
                  <a:pt x="5259295" y="0"/>
                </a:lnTo>
                <a:cubicBezTo>
                  <a:pt x="5297017" y="0"/>
                  <a:pt x="5327597" y="30580"/>
                  <a:pt x="5327597" y="68302"/>
                </a:cubicBezTo>
                <a:lnTo>
                  <a:pt x="5327597" y="546421"/>
                </a:lnTo>
                <a:cubicBezTo>
                  <a:pt x="5327597" y="584143"/>
                  <a:pt x="5297017" y="614723"/>
                  <a:pt x="5259295" y="614723"/>
                </a:cubicBezTo>
                <a:lnTo>
                  <a:pt x="68302" y="614723"/>
                </a:lnTo>
                <a:cubicBezTo>
                  <a:pt x="30580" y="614723"/>
                  <a:pt x="0" y="584143"/>
                  <a:pt x="0" y="546421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44049" y="3410857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136605" y="0"/>
                </a:moveTo>
                <a:lnTo>
                  <a:pt x="136605" y="0"/>
                </a:lnTo>
                <a:cubicBezTo>
                  <a:pt x="211999" y="0"/>
                  <a:pt x="273210" y="61211"/>
                  <a:pt x="273210" y="136605"/>
                </a:cubicBezTo>
                <a:lnTo>
                  <a:pt x="273210" y="136605"/>
                </a:lnTo>
                <a:cubicBezTo>
                  <a:pt x="273210" y="211999"/>
                  <a:pt x="211999" y="273210"/>
                  <a:pt x="136605" y="273210"/>
                </a:cubicBezTo>
                <a:lnTo>
                  <a:pt x="136605" y="273210"/>
                </a:lnTo>
                <a:cubicBezTo>
                  <a:pt x="61211" y="273210"/>
                  <a:pt x="0" y="211999"/>
                  <a:pt x="0" y="136605"/>
                </a:cubicBezTo>
                <a:lnTo>
                  <a:pt x="0" y="136605"/>
                </a:lnTo>
                <a:cubicBezTo>
                  <a:pt x="0" y="61211"/>
                  <a:pt x="61211" y="0"/>
                  <a:pt x="136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61578" y="3462084"/>
            <a:ext cx="93916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9713" y="3376706"/>
            <a:ext cx="4815328" cy="40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Transações CP (POS 05 ou 07) e CNP (POS 10 e 81) </a:t>
            </a:r>
            <a:r>
              <a:rPr lang="en-US" sz="107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totalmente autenticadas por 3DS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1596" y="3957277"/>
            <a:ext cx="5327597" cy="512269"/>
          </a:xfrm>
          <a:custGeom>
            <a:avLst/>
            <a:gdLst/>
            <a:ahLst/>
            <a:cxnLst/>
            <a:rect l="l" t="t" r="r" b="b"/>
            <a:pathLst>
              <a:path w="5327597" h="512269">
                <a:moveTo>
                  <a:pt x="68301" y="0"/>
                </a:moveTo>
                <a:lnTo>
                  <a:pt x="5259296" y="0"/>
                </a:lnTo>
                <a:cubicBezTo>
                  <a:pt x="5297017" y="0"/>
                  <a:pt x="5327597" y="30579"/>
                  <a:pt x="5327597" y="68301"/>
                </a:cubicBezTo>
                <a:lnTo>
                  <a:pt x="5327597" y="443968"/>
                </a:lnTo>
                <a:cubicBezTo>
                  <a:pt x="5327597" y="481690"/>
                  <a:pt x="5297017" y="512269"/>
                  <a:pt x="5259296" y="512269"/>
                </a:cubicBezTo>
                <a:lnTo>
                  <a:pt x="68301" y="512269"/>
                </a:lnTo>
                <a:cubicBezTo>
                  <a:pt x="30579" y="512269"/>
                  <a:pt x="0" y="481690"/>
                  <a:pt x="0" y="443968"/>
                </a:cubicBezTo>
                <a:lnTo>
                  <a:pt x="0" y="68301"/>
                </a:lnTo>
                <a:cubicBezTo>
                  <a:pt x="0" y="30605"/>
                  <a:pt x="30605" y="0"/>
                  <a:pt x="683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444049" y="4093882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136605" y="0"/>
                </a:moveTo>
                <a:lnTo>
                  <a:pt x="136605" y="0"/>
                </a:lnTo>
                <a:cubicBezTo>
                  <a:pt x="211999" y="0"/>
                  <a:pt x="273210" y="61211"/>
                  <a:pt x="273210" y="136605"/>
                </a:cubicBezTo>
                <a:lnTo>
                  <a:pt x="273210" y="136605"/>
                </a:lnTo>
                <a:cubicBezTo>
                  <a:pt x="273210" y="211999"/>
                  <a:pt x="211999" y="273210"/>
                  <a:pt x="136605" y="273210"/>
                </a:cubicBezTo>
                <a:lnTo>
                  <a:pt x="136605" y="273210"/>
                </a:lnTo>
                <a:cubicBezTo>
                  <a:pt x="61211" y="273210"/>
                  <a:pt x="0" y="211999"/>
                  <a:pt x="0" y="136605"/>
                </a:cubicBezTo>
                <a:lnTo>
                  <a:pt x="0" y="136605"/>
                </a:lnTo>
                <a:cubicBezTo>
                  <a:pt x="0" y="61211"/>
                  <a:pt x="61211" y="0"/>
                  <a:pt x="136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50105" y="4145109"/>
            <a:ext cx="11952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9713" y="4059731"/>
            <a:ext cx="446527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Mínimo de </a:t>
            </a:r>
            <a:r>
              <a:rPr lang="en-US" sz="107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R$ 100.000</a:t>
            </a:r>
            <a:r>
              <a:rPr lang="en-US" sz="107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transações fraudulentas reportadas sob tipo 56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41596" y="4537849"/>
            <a:ext cx="5327597" cy="512269"/>
          </a:xfrm>
          <a:custGeom>
            <a:avLst/>
            <a:gdLst/>
            <a:ahLst/>
            <a:cxnLst/>
            <a:rect l="l" t="t" r="r" b="b"/>
            <a:pathLst>
              <a:path w="5327597" h="512269">
                <a:moveTo>
                  <a:pt x="68301" y="0"/>
                </a:moveTo>
                <a:lnTo>
                  <a:pt x="5259296" y="0"/>
                </a:lnTo>
                <a:cubicBezTo>
                  <a:pt x="5297017" y="0"/>
                  <a:pt x="5327597" y="30579"/>
                  <a:pt x="5327597" y="68301"/>
                </a:cubicBezTo>
                <a:lnTo>
                  <a:pt x="5327597" y="443968"/>
                </a:lnTo>
                <a:cubicBezTo>
                  <a:pt x="5327597" y="481690"/>
                  <a:pt x="5297017" y="512269"/>
                  <a:pt x="5259296" y="512269"/>
                </a:cubicBezTo>
                <a:lnTo>
                  <a:pt x="68301" y="512269"/>
                </a:lnTo>
                <a:cubicBezTo>
                  <a:pt x="30579" y="512269"/>
                  <a:pt x="0" y="481690"/>
                  <a:pt x="0" y="443968"/>
                </a:cubicBezTo>
                <a:lnTo>
                  <a:pt x="0" y="68301"/>
                </a:lnTo>
                <a:cubicBezTo>
                  <a:pt x="0" y="30605"/>
                  <a:pt x="30605" y="0"/>
                  <a:pt x="683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444049" y="4674454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136605" y="0"/>
                </a:moveTo>
                <a:lnTo>
                  <a:pt x="136605" y="0"/>
                </a:lnTo>
                <a:cubicBezTo>
                  <a:pt x="211999" y="0"/>
                  <a:pt x="273210" y="61211"/>
                  <a:pt x="273210" y="136605"/>
                </a:cubicBezTo>
                <a:lnTo>
                  <a:pt x="273210" y="136605"/>
                </a:lnTo>
                <a:cubicBezTo>
                  <a:pt x="273210" y="211999"/>
                  <a:pt x="211999" y="273210"/>
                  <a:pt x="136605" y="273210"/>
                </a:cubicBezTo>
                <a:lnTo>
                  <a:pt x="136605" y="273210"/>
                </a:lnTo>
                <a:cubicBezTo>
                  <a:pt x="61211" y="273210"/>
                  <a:pt x="0" y="211999"/>
                  <a:pt x="0" y="136605"/>
                </a:cubicBezTo>
                <a:lnTo>
                  <a:pt x="0" y="136605"/>
                </a:lnTo>
                <a:cubicBezTo>
                  <a:pt x="0" y="61211"/>
                  <a:pt x="61211" y="0"/>
                  <a:pt x="13660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548638" y="4725681"/>
            <a:ext cx="128067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19713" y="4640303"/>
            <a:ext cx="3935933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Proporção de fraude em relação às vendas foi de </a:t>
            </a:r>
            <a:r>
              <a:rPr lang="en-US" sz="107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 ou superior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1596" y="5118420"/>
            <a:ext cx="5327597" cy="512269"/>
          </a:xfrm>
          <a:custGeom>
            <a:avLst/>
            <a:gdLst/>
            <a:ahLst/>
            <a:cxnLst/>
            <a:rect l="l" t="t" r="r" b="b"/>
            <a:pathLst>
              <a:path w="5327597" h="512269">
                <a:moveTo>
                  <a:pt x="68301" y="0"/>
                </a:moveTo>
                <a:lnTo>
                  <a:pt x="5259296" y="0"/>
                </a:lnTo>
                <a:cubicBezTo>
                  <a:pt x="5297017" y="0"/>
                  <a:pt x="5327597" y="30579"/>
                  <a:pt x="5327597" y="68301"/>
                </a:cubicBezTo>
                <a:lnTo>
                  <a:pt x="5327597" y="443968"/>
                </a:lnTo>
                <a:cubicBezTo>
                  <a:pt x="5327597" y="481690"/>
                  <a:pt x="5297017" y="512269"/>
                  <a:pt x="5259296" y="512269"/>
                </a:cubicBezTo>
                <a:lnTo>
                  <a:pt x="68301" y="512269"/>
                </a:lnTo>
                <a:cubicBezTo>
                  <a:pt x="30579" y="512269"/>
                  <a:pt x="0" y="481690"/>
                  <a:pt x="0" y="443968"/>
                </a:cubicBezTo>
                <a:lnTo>
                  <a:pt x="0" y="68301"/>
                </a:lnTo>
                <a:cubicBezTo>
                  <a:pt x="0" y="30605"/>
                  <a:pt x="30605" y="0"/>
                  <a:pt x="683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444049" y="5255025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136605" y="0"/>
                </a:moveTo>
                <a:lnTo>
                  <a:pt x="136605" y="0"/>
                </a:lnTo>
                <a:cubicBezTo>
                  <a:pt x="211999" y="0"/>
                  <a:pt x="273210" y="61211"/>
                  <a:pt x="273210" y="136605"/>
                </a:cubicBezTo>
                <a:lnTo>
                  <a:pt x="273210" y="136605"/>
                </a:lnTo>
                <a:cubicBezTo>
                  <a:pt x="273210" y="211999"/>
                  <a:pt x="211999" y="273210"/>
                  <a:pt x="136605" y="273210"/>
                </a:cubicBezTo>
                <a:lnTo>
                  <a:pt x="136605" y="273210"/>
                </a:lnTo>
                <a:cubicBezTo>
                  <a:pt x="61211" y="273210"/>
                  <a:pt x="0" y="211999"/>
                  <a:pt x="0" y="136605"/>
                </a:cubicBezTo>
                <a:lnTo>
                  <a:pt x="0" y="136605"/>
                </a:lnTo>
                <a:cubicBezTo>
                  <a:pt x="0" y="61211"/>
                  <a:pt x="61211" y="0"/>
                  <a:pt x="136605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550238" y="5306252"/>
            <a:ext cx="11952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19713" y="5220874"/>
            <a:ext cx="4140840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Fraude reportada sob código </a:t>
            </a:r>
            <a:r>
              <a:rPr lang="en-US" sz="107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"56 - Manipulação do Titular do Cartão"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5782" y="6155765"/>
            <a:ext cx="11500437" cy="486655"/>
          </a:xfrm>
          <a:custGeom>
            <a:avLst/>
            <a:gdLst/>
            <a:ahLst/>
            <a:cxnLst/>
            <a:rect l="l" t="t" r="r" b="b"/>
            <a:pathLst>
              <a:path w="11500437" h="486655">
                <a:moveTo>
                  <a:pt x="68302" y="0"/>
                </a:moveTo>
                <a:lnTo>
                  <a:pt x="11432135" y="0"/>
                </a:lnTo>
                <a:cubicBezTo>
                  <a:pt x="11469857" y="0"/>
                  <a:pt x="11500437" y="30580"/>
                  <a:pt x="11500437" y="68302"/>
                </a:cubicBezTo>
                <a:lnTo>
                  <a:pt x="11500437" y="418353"/>
                </a:lnTo>
                <a:cubicBezTo>
                  <a:pt x="11500437" y="456076"/>
                  <a:pt x="11469857" y="486655"/>
                  <a:pt x="11432135" y="486655"/>
                </a:cubicBezTo>
                <a:lnTo>
                  <a:pt x="68302" y="486655"/>
                </a:lnTo>
                <a:cubicBezTo>
                  <a:pt x="30605" y="486655"/>
                  <a:pt x="0" y="456050"/>
                  <a:pt x="0" y="418353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503731" y="6330790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68303" y="136605"/>
                </a:moveTo>
                <a:cubicBezTo>
                  <a:pt x="106000" y="136605"/>
                  <a:pt x="136605" y="106000"/>
                  <a:pt x="136605" y="68303"/>
                </a:cubicBezTo>
                <a:cubicBezTo>
                  <a:pt x="136605" y="30605"/>
                  <a:pt x="106000" y="0"/>
                  <a:pt x="68303" y="0"/>
                </a:cubicBezTo>
                <a:cubicBezTo>
                  <a:pt x="30605" y="0"/>
                  <a:pt x="0" y="30605"/>
                  <a:pt x="0" y="68303"/>
                </a:cubicBezTo>
                <a:cubicBezTo>
                  <a:pt x="0" y="106000"/>
                  <a:pt x="30605" y="136605"/>
                  <a:pt x="68303" y="136605"/>
                </a:cubicBezTo>
                <a:close/>
                <a:moveTo>
                  <a:pt x="59765" y="42689"/>
                </a:moveTo>
                <a:cubicBezTo>
                  <a:pt x="59765" y="37977"/>
                  <a:pt x="63590" y="34151"/>
                  <a:pt x="68303" y="34151"/>
                </a:cubicBezTo>
                <a:cubicBezTo>
                  <a:pt x="73015" y="34151"/>
                  <a:pt x="76840" y="37977"/>
                  <a:pt x="76840" y="42689"/>
                </a:cubicBezTo>
                <a:cubicBezTo>
                  <a:pt x="76840" y="47401"/>
                  <a:pt x="73015" y="51227"/>
                  <a:pt x="68303" y="51227"/>
                </a:cubicBezTo>
                <a:cubicBezTo>
                  <a:pt x="63590" y="51227"/>
                  <a:pt x="59765" y="47401"/>
                  <a:pt x="59765" y="42689"/>
                </a:cubicBezTo>
                <a:close/>
                <a:moveTo>
                  <a:pt x="57630" y="59765"/>
                </a:moveTo>
                <a:lnTo>
                  <a:pt x="70437" y="59765"/>
                </a:lnTo>
                <a:cubicBezTo>
                  <a:pt x="73986" y="59765"/>
                  <a:pt x="76840" y="62620"/>
                  <a:pt x="76840" y="66168"/>
                </a:cubicBezTo>
                <a:lnTo>
                  <a:pt x="76840" y="89647"/>
                </a:lnTo>
                <a:lnTo>
                  <a:pt x="78975" y="89647"/>
                </a:lnTo>
                <a:cubicBezTo>
                  <a:pt x="82523" y="89647"/>
                  <a:pt x="85378" y="92502"/>
                  <a:pt x="85378" y="96050"/>
                </a:cubicBezTo>
                <a:cubicBezTo>
                  <a:pt x="85378" y="99599"/>
                  <a:pt x="82523" y="102454"/>
                  <a:pt x="78975" y="102454"/>
                </a:cubicBezTo>
                <a:lnTo>
                  <a:pt x="57630" y="102454"/>
                </a:lnTo>
                <a:cubicBezTo>
                  <a:pt x="54082" y="102454"/>
                  <a:pt x="51227" y="99599"/>
                  <a:pt x="51227" y="96050"/>
                </a:cubicBezTo>
                <a:cubicBezTo>
                  <a:pt x="51227" y="92502"/>
                  <a:pt x="54082" y="89647"/>
                  <a:pt x="57630" y="89647"/>
                </a:cubicBezTo>
                <a:lnTo>
                  <a:pt x="64034" y="89647"/>
                </a:lnTo>
                <a:lnTo>
                  <a:pt x="64034" y="72571"/>
                </a:lnTo>
                <a:lnTo>
                  <a:pt x="57630" y="72571"/>
                </a:lnTo>
                <a:cubicBezTo>
                  <a:pt x="54082" y="72571"/>
                  <a:pt x="51227" y="69717"/>
                  <a:pt x="51227" y="66168"/>
                </a:cubicBezTo>
                <a:cubicBezTo>
                  <a:pt x="51227" y="62620"/>
                  <a:pt x="54082" y="59765"/>
                  <a:pt x="57630" y="5976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03329" y="6296639"/>
            <a:ext cx="11070318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Observação:</a:t>
            </a:r>
            <a:r>
              <a:rPr lang="en-US" sz="107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QMAP é um programa crítico para identificar comerciantes envolvidos em atividades fraudulentas sistêmicas e proteger a integridade do ecossistema de pagamentos.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954" y="318954"/>
            <a:ext cx="11617884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954" y="574116"/>
            <a:ext cx="11697622" cy="31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QMAP - Notificação e Penalidades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901" y="1020651"/>
            <a:ext cx="5693321" cy="4864042"/>
          </a:xfrm>
          <a:custGeom>
            <a:avLst/>
            <a:gdLst/>
            <a:ahLst/>
            <a:cxnLst/>
            <a:rect l="l" t="t" r="r" b="b"/>
            <a:pathLst>
              <a:path w="5693321" h="4864042">
                <a:moveTo>
                  <a:pt x="31895" y="0"/>
                </a:moveTo>
                <a:lnTo>
                  <a:pt x="5629554" y="0"/>
                </a:lnTo>
                <a:cubicBezTo>
                  <a:pt x="5664771" y="0"/>
                  <a:pt x="5693321" y="28550"/>
                  <a:pt x="5693321" y="63768"/>
                </a:cubicBezTo>
                <a:lnTo>
                  <a:pt x="5693321" y="4800274"/>
                </a:lnTo>
                <a:cubicBezTo>
                  <a:pt x="5693321" y="4835492"/>
                  <a:pt x="5664771" y="4864042"/>
                  <a:pt x="5629554" y="4864042"/>
                </a:cubicBezTo>
                <a:lnTo>
                  <a:pt x="31895" y="4864042"/>
                </a:lnTo>
                <a:cubicBezTo>
                  <a:pt x="14280" y="4864042"/>
                  <a:pt x="0" y="4849762"/>
                  <a:pt x="0" y="4832147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34901" y="1020651"/>
            <a:ext cx="31895" cy="4864042"/>
          </a:xfrm>
          <a:custGeom>
            <a:avLst/>
            <a:gdLst/>
            <a:ahLst/>
            <a:cxnLst/>
            <a:rect l="l" t="t" r="r" b="b"/>
            <a:pathLst>
              <a:path w="31895" h="4864042">
                <a:moveTo>
                  <a:pt x="31895" y="0"/>
                </a:moveTo>
                <a:lnTo>
                  <a:pt x="31895" y="0"/>
                </a:lnTo>
                <a:lnTo>
                  <a:pt x="31895" y="4864042"/>
                </a:lnTo>
                <a:lnTo>
                  <a:pt x="31895" y="4864042"/>
                </a:lnTo>
                <a:cubicBezTo>
                  <a:pt x="14280" y="4864042"/>
                  <a:pt x="0" y="4849762"/>
                  <a:pt x="0" y="4832147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6208" y="1212024"/>
            <a:ext cx="167451" cy="191372"/>
          </a:xfrm>
          <a:custGeom>
            <a:avLst/>
            <a:gdLst/>
            <a:ahLst/>
            <a:cxnLst/>
            <a:rect l="l" t="t" r="r" b="b"/>
            <a:pathLst>
              <a:path w="167451" h="191372">
                <a:moveTo>
                  <a:pt x="83725" y="0"/>
                </a:moveTo>
                <a:cubicBezTo>
                  <a:pt x="77110" y="0"/>
                  <a:pt x="71765" y="5345"/>
                  <a:pt x="71765" y="11961"/>
                </a:cubicBezTo>
                <a:lnTo>
                  <a:pt x="71765" y="13157"/>
                </a:lnTo>
                <a:cubicBezTo>
                  <a:pt x="44479" y="18689"/>
                  <a:pt x="23922" y="42834"/>
                  <a:pt x="23922" y="71765"/>
                </a:cubicBezTo>
                <a:lnTo>
                  <a:pt x="23922" y="79875"/>
                </a:lnTo>
                <a:cubicBezTo>
                  <a:pt x="23922" y="97854"/>
                  <a:pt x="17792" y="115309"/>
                  <a:pt x="6578" y="129363"/>
                </a:cubicBezTo>
                <a:lnTo>
                  <a:pt x="2915" y="133923"/>
                </a:lnTo>
                <a:cubicBezTo>
                  <a:pt x="1009" y="136278"/>
                  <a:pt x="0" y="139193"/>
                  <a:pt x="0" y="142221"/>
                </a:cubicBezTo>
                <a:cubicBezTo>
                  <a:pt x="0" y="149547"/>
                  <a:pt x="5943" y="155490"/>
                  <a:pt x="13269" y="155490"/>
                </a:cubicBezTo>
                <a:lnTo>
                  <a:pt x="154144" y="155490"/>
                </a:lnTo>
                <a:cubicBezTo>
                  <a:pt x="161470" y="155490"/>
                  <a:pt x="167413" y="149547"/>
                  <a:pt x="167413" y="142221"/>
                </a:cubicBezTo>
                <a:cubicBezTo>
                  <a:pt x="167413" y="139193"/>
                  <a:pt x="166404" y="136278"/>
                  <a:pt x="164498" y="133923"/>
                </a:cubicBezTo>
                <a:lnTo>
                  <a:pt x="160835" y="129363"/>
                </a:lnTo>
                <a:cubicBezTo>
                  <a:pt x="149659" y="115309"/>
                  <a:pt x="143529" y="97854"/>
                  <a:pt x="143529" y="79875"/>
                </a:cubicBezTo>
                <a:lnTo>
                  <a:pt x="143529" y="71765"/>
                </a:lnTo>
                <a:cubicBezTo>
                  <a:pt x="143529" y="42834"/>
                  <a:pt x="122972" y="18689"/>
                  <a:pt x="95686" y="13157"/>
                </a:cubicBezTo>
                <a:lnTo>
                  <a:pt x="95686" y="11961"/>
                </a:lnTo>
                <a:cubicBezTo>
                  <a:pt x="95686" y="5345"/>
                  <a:pt x="90341" y="0"/>
                  <a:pt x="83725" y="0"/>
                </a:cubicBezTo>
                <a:close/>
                <a:moveTo>
                  <a:pt x="60551" y="173431"/>
                </a:moveTo>
                <a:cubicBezTo>
                  <a:pt x="63205" y="183747"/>
                  <a:pt x="72587" y="191372"/>
                  <a:pt x="83725" y="191372"/>
                </a:cubicBezTo>
                <a:cubicBezTo>
                  <a:pt x="94864" y="191372"/>
                  <a:pt x="104245" y="183747"/>
                  <a:pt x="106899" y="173431"/>
                </a:cubicBezTo>
                <a:lnTo>
                  <a:pt x="60551" y="17343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9541" y="1180128"/>
            <a:ext cx="5214891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Notificação para Adquirente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0326" y="1562872"/>
            <a:ext cx="5358420" cy="829279"/>
          </a:xfrm>
          <a:custGeom>
            <a:avLst/>
            <a:gdLst/>
            <a:ahLst/>
            <a:cxnLst/>
            <a:rect l="l" t="t" r="r" b="b"/>
            <a:pathLst>
              <a:path w="5358420" h="829279">
                <a:moveTo>
                  <a:pt x="63788" y="0"/>
                </a:moveTo>
                <a:lnTo>
                  <a:pt x="5294632" y="0"/>
                </a:lnTo>
                <a:cubicBezTo>
                  <a:pt x="5329861" y="0"/>
                  <a:pt x="5358420" y="28559"/>
                  <a:pt x="5358420" y="63788"/>
                </a:cubicBezTo>
                <a:lnTo>
                  <a:pt x="5358420" y="765491"/>
                </a:lnTo>
                <a:cubicBezTo>
                  <a:pt x="5358420" y="800720"/>
                  <a:pt x="5329861" y="829279"/>
                  <a:pt x="5294632" y="829279"/>
                </a:cubicBezTo>
                <a:lnTo>
                  <a:pt x="63788" y="829279"/>
                </a:lnTo>
                <a:cubicBezTo>
                  <a:pt x="28559" y="829279"/>
                  <a:pt x="0" y="800720"/>
                  <a:pt x="0" y="765491"/>
                </a:cubicBezTo>
                <a:lnTo>
                  <a:pt x="0" y="63788"/>
                </a:lnTo>
                <a:cubicBezTo>
                  <a:pt x="0" y="28583"/>
                  <a:pt x="28583" y="0"/>
                  <a:pt x="6378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06012" y="1658559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159477" y="0"/>
                </a:moveTo>
                <a:lnTo>
                  <a:pt x="159477" y="0"/>
                </a:lnTo>
                <a:cubicBezTo>
                  <a:pt x="247553" y="0"/>
                  <a:pt x="318954" y="71400"/>
                  <a:pt x="318954" y="159477"/>
                </a:cubicBezTo>
                <a:lnTo>
                  <a:pt x="318954" y="159477"/>
                </a:lnTo>
                <a:cubicBezTo>
                  <a:pt x="318954" y="247553"/>
                  <a:pt x="247553" y="318954"/>
                  <a:pt x="159477" y="318954"/>
                </a:cubicBezTo>
                <a:lnTo>
                  <a:pt x="159477" y="318954"/>
                </a:lnTo>
                <a:cubicBezTo>
                  <a:pt x="71400" y="318954"/>
                  <a:pt x="0" y="247553"/>
                  <a:pt x="0" y="159477"/>
                </a:cubicBezTo>
                <a:lnTo>
                  <a:pt x="0" y="159477"/>
                </a:lnTo>
                <a:cubicBezTo>
                  <a:pt x="0" y="71400"/>
                  <a:pt x="71400" y="0"/>
                  <a:pt x="15947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01698" y="1754245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11961" y="15948"/>
                </a:moveTo>
                <a:cubicBezTo>
                  <a:pt x="5357" y="15948"/>
                  <a:pt x="0" y="21305"/>
                  <a:pt x="0" y="27908"/>
                </a:cubicBezTo>
                <a:cubicBezTo>
                  <a:pt x="0" y="31671"/>
                  <a:pt x="1769" y="35209"/>
                  <a:pt x="4784" y="37477"/>
                </a:cubicBezTo>
                <a:lnTo>
                  <a:pt x="56614" y="76350"/>
                </a:lnTo>
                <a:cubicBezTo>
                  <a:pt x="60875" y="79539"/>
                  <a:pt x="66706" y="79539"/>
                  <a:pt x="70967" y="76350"/>
                </a:cubicBezTo>
                <a:lnTo>
                  <a:pt x="122797" y="37477"/>
                </a:lnTo>
                <a:cubicBezTo>
                  <a:pt x="125812" y="35209"/>
                  <a:pt x="127581" y="31671"/>
                  <a:pt x="127581" y="27908"/>
                </a:cubicBezTo>
                <a:cubicBezTo>
                  <a:pt x="127581" y="21305"/>
                  <a:pt x="122224" y="15948"/>
                  <a:pt x="115621" y="15948"/>
                </a:cubicBezTo>
                <a:lnTo>
                  <a:pt x="11961" y="15948"/>
                </a:lnTo>
                <a:close/>
                <a:moveTo>
                  <a:pt x="0" y="48840"/>
                </a:moveTo>
                <a:lnTo>
                  <a:pt x="0" y="95686"/>
                </a:lnTo>
                <a:cubicBezTo>
                  <a:pt x="0" y="104482"/>
                  <a:pt x="7152" y="111634"/>
                  <a:pt x="15948" y="111634"/>
                </a:cubicBezTo>
                <a:lnTo>
                  <a:pt x="111634" y="111634"/>
                </a:lnTo>
                <a:cubicBezTo>
                  <a:pt x="120430" y="111634"/>
                  <a:pt x="127581" y="104482"/>
                  <a:pt x="127581" y="95686"/>
                </a:cubicBezTo>
                <a:lnTo>
                  <a:pt x="127581" y="48840"/>
                </a:lnTo>
                <a:lnTo>
                  <a:pt x="78144" y="85918"/>
                </a:lnTo>
                <a:cubicBezTo>
                  <a:pt x="69647" y="92297"/>
                  <a:pt x="57935" y="92297"/>
                  <a:pt x="49438" y="85918"/>
                </a:cubicBezTo>
                <a:lnTo>
                  <a:pt x="0" y="48840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20651" y="1658559"/>
            <a:ext cx="4824173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Canal de Notificação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0651" y="1913721"/>
            <a:ext cx="4816199" cy="38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Mastercard notificará o Adquirente por </a:t>
            </a:r>
            <a:r>
              <a:rPr lang="en-US" sz="1005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e-mail</a:t>
            </a: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o </a:t>
            </a:r>
            <a:r>
              <a:rPr lang="en-US" sz="1005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Contato de Segurança</a:t>
            </a: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disponível no Mastercard Connect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0326" y="2487838"/>
            <a:ext cx="5358420" cy="829279"/>
          </a:xfrm>
          <a:custGeom>
            <a:avLst/>
            <a:gdLst/>
            <a:ahLst/>
            <a:cxnLst/>
            <a:rect l="l" t="t" r="r" b="b"/>
            <a:pathLst>
              <a:path w="5358420" h="829279">
                <a:moveTo>
                  <a:pt x="63788" y="0"/>
                </a:moveTo>
                <a:lnTo>
                  <a:pt x="5294632" y="0"/>
                </a:lnTo>
                <a:cubicBezTo>
                  <a:pt x="5329861" y="0"/>
                  <a:pt x="5358420" y="28559"/>
                  <a:pt x="5358420" y="63788"/>
                </a:cubicBezTo>
                <a:lnTo>
                  <a:pt x="5358420" y="765491"/>
                </a:lnTo>
                <a:cubicBezTo>
                  <a:pt x="5358420" y="800720"/>
                  <a:pt x="5329861" y="829279"/>
                  <a:pt x="5294632" y="829279"/>
                </a:cubicBezTo>
                <a:lnTo>
                  <a:pt x="63788" y="829279"/>
                </a:lnTo>
                <a:cubicBezTo>
                  <a:pt x="28559" y="829279"/>
                  <a:pt x="0" y="800720"/>
                  <a:pt x="0" y="765491"/>
                </a:cubicBezTo>
                <a:lnTo>
                  <a:pt x="0" y="63788"/>
                </a:lnTo>
                <a:cubicBezTo>
                  <a:pt x="0" y="28583"/>
                  <a:pt x="28583" y="0"/>
                  <a:pt x="6378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06012" y="2583524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159477" y="0"/>
                </a:moveTo>
                <a:lnTo>
                  <a:pt x="159477" y="0"/>
                </a:lnTo>
                <a:cubicBezTo>
                  <a:pt x="247553" y="0"/>
                  <a:pt x="318954" y="71400"/>
                  <a:pt x="318954" y="159477"/>
                </a:cubicBezTo>
                <a:lnTo>
                  <a:pt x="318954" y="159477"/>
                </a:lnTo>
                <a:cubicBezTo>
                  <a:pt x="318954" y="247553"/>
                  <a:pt x="247553" y="318954"/>
                  <a:pt x="159477" y="318954"/>
                </a:cubicBezTo>
                <a:lnTo>
                  <a:pt x="159477" y="318954"/>
                </a:lnTo>
                <a:cubicBezTo>
                  <a:pt x="71400" y="318954"/>
                  <a:pt x="0" y="247553"/>
                  <a:pt x="0" y="159477"/>
                </a:cubicBezTo>
                <a:lnTo>
                  <a:pt x="0" y="159477"/>
                </a:lnTo>
                <a:cubicBezTo>
                  <a:pt x="0" y="71400"/>
                  <a:pt x="71400" y="0"/>
                  <a:pt x="15947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93724" y="2679210"/>
            <a:ext cx="143529" cy="127581"/>
          </a:xfrm>
          <a:custGeom>
            <a:avLst/>
            <a:gdLst/>
            <a:ahLst/>
            <a:cxnLst/>
            <a:rect l="l" t="t" r="r" b="b"/>
            <a:pathLst>
              <a:path w="143529" h="127581">
                <a:moveTo>
                  <a:pt x="42261" y="38225"/>
                </a:moveTo>
                <a:lnTo>
                  <a:pt x="37602" y="33565"/>
                </a:lnTo>
                <a:cubicBezTo>
                  <a:pt x="34487" y="30450"/>
                  <a:pt x="34487" y="25392"/>
                  <a:pt x="37602" y="22277"/>
                </a:cubicBezTo>
                <a:lnTo>
                  <a:pt x="66183" y="-6329"/>
                </a:lnTo>
                <a:cubicBezTo>
                  <a:pt x="69298" y="-9444"/>
                  <a:pt x="74356" y="-9444"/>
                  <a:pt x="77471" y="-6329"/>
                </a:cubicBezTo>
                <a:lnTo>
                  <a:pt x="82131" y="-1645"/>
                </a:lnTo>
                <a:cubicBezTo>
                  <a:pt x="85245" y="1470"/>
                  <a:pt x="85245" y="6529"/>
                  <a:pt x="82131" y="9643"/>
                </a:cubicBezTo>
                <a:lnTo>
                  <a:pt x="53549" y="38225"/>
                </a:lnTo>
                <a:cubicBezTo>
                  <a:pt x="50435" y="41339"/>
                  <a:pt x="45376" y="41339"/>
                  <a:pt x="42261" y="38225"/>
                </a:cubicBezTo>
                <a:close/>
                <a:moveTo>
                  <a:pt x="68774" y="52752"/>
                </a:moveTo>
                <a:lnTo>
                  <a:pt x="60950" y="44928"/>
                </a:lnTo>
                <a:lnTo>
                  <a:pt x="88858" y="17019"/>
                </a:lnTo>
                <a:lnTo>
                  <a:pt x="118611" y="46772"/>
                </a:lnTo>
                <a:lnTo>
                  <a:pt x="90702" y="74680"/>
                </a:lnTo>
                <a:lnTo>
                  <a:pt x="82878" y="66856"/>
                </a:lnTo>
                <a:lnTo>
                  <a:pt x="25068" y="124666"/>
                </a:lnTo>
                <a:cubicBezTo>
                  <a:pt x="21181" y="128553"/>
                  <a:pt x="14876" y="128553"/>
                  <a:pt x="10964" y="124666"/>
                </a:cubicBezTo>
                <a:cubicBezTo>
                  <a:pt x="7052" y="120779"/>
                  <a:pt x="7077" y="114474"/>
                  <a:pt x="10964" y="110562"/>
                </a:cubicBezTo>
                <a:lnTo>
                  <a:pt x="68774" y="52752"/>
                </a:lnTo>
                <a:close/>
                <a:moveTo>
                  <a:pt x="97405" y="93344"/>
                </a:moveTo>
                <a:cubicBezTo>
                  <a:pt x="94291" y="90229"/>
                  <a:pt x="94291" y="85171"/>
                  <a:pt x="97405" y="82056"/>
                </a:cubicBezTo>
                <a:lnTo>
                  <a:pt x="125987" y="53475"/>
                </a:lnTo>
                <a:cubicBezTo>
                  <a:pt x="129101" y="50360"/>
                  <a:pt x="134160" y="50360"/>
                  <a:pt x="137275" y="53475"/>
                </a:cubicBezTo>
                <a:lnTo>
                  <a:pt x="141934" y="58134"/>
                </a:lnTo>
                <a:cubicBezTo>
                  <a:pt x="145049" y="61249"/>
                  <a:pt x="145049" y="66307"/>
                  <a:pt x="141934" y="69422"/>
                </a:cubicBezTo>
                <a:lnTo>
                  <a:pt x="113353" y="98028"/>
                </a:lnTo>
                <a:cubicBezTo>
                  <a:pt x="110238" y="101143"/>
                  <a:pt x="105180" y="101143"/>
                  <a:pt x="102065" y="98028"/>
                </a:cubicBezTo>
                <a:lnTo>
                  <a:pt x="97405" y="93369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20651" y="2583524"/>
            <a:ext cx="4824173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Contestação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0651" y="2838687"/>
            <a:ext cx="4816199" cy="38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 até </a:t>
            </a:r>
            <a:r>
              <a:rPr lang="en-US" sz="100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dias corridos</a:t>
            </a: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partir da data da notificação, o Adquirente poderá </a:t>
            </a:r>
            <a:r>
              <a:rPr lang="en-US" sz="1005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contestar</a:t>
            </a: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constatação preliminar fornecendo informações complementares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0326" y="3412803"/>
            <a:ext cx="5358420" cy="829279"/>
          </a:xfrm>
          <a:custGeom>
            <a:avLst/>
            <a:gdLst/>
            <a:ahLst/>
            <a:cxnLst/>
            <a:rect l="l" t="t" r="r" b="b"/>
            <a:pathLst>
              <a:path w="5358420" h="829279">
                <a:moveTo>
                  <a:pt x="63788" y="0"/>
                </a:moveTo>
                <a:lnTo>
                  <a:pt x="5294632" y="0"/>
                </a:lnTo>
                <a:cubicBezTo>
                  <a:pt x="5329861" y="0"/>
                  <a:pt x="5358420" y="28559"/>
                  <a:pt x="5358420" y="63788"/>
                </a:cubicBezTo>
                <a:lnTo>
                  <a:pt x="5358420" y="765491"/>
                </a:lnTo>
                <a:cubicBezTo>
                  <a:pt x="5358420" y="800720"/>
                  <a:pt x="5329861" y="829279"/>
                  <a:pt x="5294632" y="829279"/>
                </a:cubicBezTo>
                <a:lnTo>
                  <a:pt x="63788" y="829279"/>
                </a:lnTo>
                <a:cubicBezTo>
                  <a:pt x="28559" y="829279"/>
                  <a:pt x="0" y="800720"/>
                  <a:pt x="0" y="765491"/>
                </a:cubicBezTo>
                <a:lnTo>
                  <a:pt x="0" y="63788"/>
                </a:lnTo>
                <a:cubicBezTo>
                  <a:pt x="0" y="28583"/>
                  <a:pt x="28583" y="0"/>
                  <a:pt x="6378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06012" y="3508489"/>
            <a:ext cx="318954" cy="318954"/>
          </a:xfrm>
          <a:custGeom>
            <a:avLst/>
            <a:gdLst/>
            <a:ahLst/>
            <a:cxnLst/>
            <a:rect l="l" t="t" r="r" b="b"/>
            <a:pathLst>
              <a:path w="318954" h="318954">
                <a:moveTo>
                  <a:pt x="159477" y="0"/>
                </a:moveTo>
                <a:lnTo>
                  <a:pt x="159477" y="0"/>
                </a:lnTo>
                <a:cubicBezTo>
                  <a:pt x="247553" y="0"/>
                  <a:pt x="318954" y="71400"/>
                  <a:pt x="318954" y="159477"/>
                </a:cubicBezTo>
                <a:lnTo>
                  <a:pt x="318954" y="159477"/>
                </a:lnTo>
                <a:cubicBezTo>
                  <a:pt x="318954" y="247553"/>
                  <a:pt x="247553" y="318954"/>
                  <a:pt x="159477" y="318954"/>
                </a:cubicBezTo>
                <a:lnTo>
                  <a:pt x="159477" y="318954"/>
                </a:lnTo>
                <a:cubicBezTo>
                  <a:pt x="71400" y="318954"/>
                  <a:pt x="0" y="247553"/>
                  <a:pt x="0" y="159477"/>
                </a:cubicBezTo>
                <a:lnTo>
                  <a:pt x="0" y="159477"/>
                </a:lnTo>
                <a:cubicBezTo>
                  <a:pt x="0" y="71400"/>
                  <a:pt x="71400" y="0"/>
                  <a:pt x="15947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01698" y="3604175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127581" y="95686"/>
                </a:moveTo>
                <a:cubicBezTo>
                  <a:pt x="127581" y="104482"/>
                  <a:pt x="120430" y="111634"/>
                  <a:pt x="111634" y="111634"/>
                </a:cubicBezTo>
                <a:lnTo>
                  <a:pt x="15948" y="111634"/>
                </a:lnTo>
                <a:cubicBezTo>
                  <a:pt x="7152" y="111634"/>
                  <a:pt x="0" y="104482"/>
                  <a:pt x="0" y="95686"/>
                </a:cubicBezTo>
                <a:lnTo>
                  <a:pt x="0" y="23922"/>
                </a:lnTo>
                <a:cubicBezTo>
                  <a:pt x="0" y="15125"/>
                  <a:pt x="7152" y="7974"/>
                  <a:pt x="15948" y="7974"/>
                </a:cubicBezTo>
                <a:lnTo>
                  <a:pt x="50509" y="7974"/>
                </a:lnTo>
                <a:cubicBezTo>
                  <a:pt x="53948" y="7974"/>
                  <a:pt x="57312" y="9095"/>
                  <a:pt x="60078" y="11163"/>
                </a:cubicBezTo>
                <a:lnTo>
                  <a:pt x="69647" y="18340"/>
                </a:lnTo>
                <a:cubicBezTo>
                  <a:pt x="71017" y="19386"/>
                  <a:pt x="72711" y="19935"/>
                  <a:pt x="74431" y="19935"/>
                </a:cubicBezTo>
                <a:lnTo>
                  <a:pt x="111634" y="19935"/>
                </a:lnTo>
                <a:cubicBezTo>
                  <a:pt x="120430" y="19935"/>
                  <a:pt x="127581" y="27086"/>
                  <a:pt x="127581" y="35882"/>
                </a:cubicBezTo>
                <a:lnTo>
                  <a:pt x="127581" y="95686"/>
                </a:lnTo>
                <a:close/>
                <a:moveTo>
                  <a:pt x="63791" y="39869"/>
                </a:moveTo>
                <a:cubicBezTo>
                  <a:pt x="60477" y="39869"/>
                  <a:pt x="57810" y="42535"/>
                  <a:pt x="57810" y="45850"/>
                </a:cubicBezTo>
                <a:lnTo>
                  <a:pt x="57810" y="57810"/>
                </a:lnTo>
                <a:lnTo>
                  <a:pt x="45850" y="57810"/>
                </a:lnTo>
                <a:cubicBezTo>
                  <a:pt x="42535" y="57810"/>
                  <a:pt x="39869" y="60477"/>
                  <a:pt x="39869" y="63791"/>
                </a:cubicBezTo>
                <a:cubicBezTo>
                  <a:pt x="39869" y="67105"/>
                  <a:pt x="42535" y="69771"/>
                  <a:pt x="45850" y="69771"/>
                </a:cubicBezTo>
                <a:lnTo>
                  <a:pt x="57810" y="69771"/>
                </a:lnTo>
                <a:lnTo>
                  <a:pt x="57810" y="81732"/>
                </a:lnTo>
                <a:cubicBezTo>
                  <a:pt x="57810" y="85046"/>
                  <a:pt x="60477" y="87712"/>
                  <a:pt x="63791" y="87712"/>
                </a:cubicBezTo>
                <a:cubicBezTo>
                  <a:pt x="67105" y="87712"/>
                  <a:pt x="69771" y="85046"/>
                  <a:pt x="69771" y="81732"/>
                </a:cubicBezTo>
                <a:lnTo>
                  <a:pt x="69771" y="69771"/>
                </a:lnTo>
                <a:lnTo>
                  <a:pt x="81732" y="69771"/>
                </a:lnTo>
                <a:cubicBezTo>
                  <a:pt x="85046" y="69771"/>
                  <a:pt x="87712" y="67105"/>
                  <a:pt x="87712" y="63791"/>
                </a:cubicBezTo>
                <a:cubicBezTo>
                  <a:pt x="87712" y="60477"/>
                  <a:pt x="85046" y="57810"/>
                  <a:pt x="81732" y="57810"/>
                </a:cubicBezTo>
                <a:lnTo>
                  <a:pt x="69771" y="57810"/>
                </a:lnTo>
                <a:lnTo>
                  <a:pt x="69771" y="45850"/>
                </a:lnTo>
                <a:cubicBezTo>
                  <a:pt x="69771" y="42535"/>
                  <a:pt x="67105" y="39869"/>
                  <a:pt x="63791" y="39869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20651" y="3508489"/>
            <a:ext cx="4824173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Informações Adicionais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0651" y="3763652"/>
            <a:ext cx="4816199" cy="38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Adquirente deverá fornecer à Mastercard quaisquer </a:t>
            </a:r>
            <a:r>
              <a:rPr lang="en-US" sz="1005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outras informações adicionais</a:t>
            </a: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solicitadas para auxiliar a investigação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63279" y="1024638"/>
            <a:ext cx="5701295" cy="4856068"/>
          </a:xfrm>
          <a:custGeom>
            <a:avLst/>
            <a:gdLst/>
            <a:ahLst/>
            <a:cxnLst/>
            <a:rect l="l" t="t" r="r" b="b"/>
            <a:pathLst>
              <a:path w="5701295" h="4856068">
                <a:moveTo>
                  <a:pt x="63809" y="0"/>
                </a:moveTo>
                <a:lnTo>
                  <a:pt x="5637486" y="0"/>
                </a:lnTo>
                <a:cubicBezTo>
                  <a:pt x="5672727" y="0"/>
                  <a:pt x="5701295" y="28568"/>
                  <a:pt x="5701295" y="63809"/>
                </a:cubicBezTo>
                <a:lnTo>
                  <a:pt x="5701295" y="4792259"/>
                </a:lnTo>
                <a:cubicBezTo>
                  <a:pt x="5701295" y="4827500"/>
                  <a:pt x="5672727" y="4856068"/>
                  <a:pt x="5637486" y="4856068"/>
                </a:cubicBezTo>
                <a:lnTo>
                  <a:pt x="63809" y="4856068"/>
                </a:lnTo>
                <a:cubicBezTo>
                  <a:pt x="28568" y="4856068"/>
                  <a:pt x="0" y="4827500"/>
                  <a:pt x="0" y="4792259"/>
                </a:cubicBezTo>
                <a:lnTo>
                  <a:pt x="0" y="63809"/>
                </a:lnTo>
                <a:cubicBezTo>
                  <a:pt x="0" y="28592"/>
                  <a:pt x="28592" y="0"/>
                  <a:pt x="6380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386547" y="1219997"/>
            <a:ext cx="119608" cy="191372"/>
          </a:xfrm>
          <a:custGeom>
            <a:avLst/>
            <a:gdLst/>
            <a:ahLst/>
            <a:cxnLst/>
            <a:rect l="l" t="t" r="r" b="b"/>
            <a:pathLst>
              <a:path w="119608" h="191372">
                <a:moveTo>
                  <a:pt x="50833" y="8971"/>
                </a:moveTo>
                <a:cubicBezTo>
                  <a:pt x="50833" y="3999"/>
                  <a:pt x="54833" y="0"/>
                  <a:pt x="59804" y="0"/>
                </a:cubicBezTo>
                <a:cubicBezTo>
                  <a:pt x="64775" y="0"/>
                  <a:pt x="68774" y="3999"/>
                  <a:pt x="68774" y="8971"/>
                </a:cubicBezTo>
                <a:lnTo>
                  <a:pt x="68774" y="23922"/>
                </a:lnTo>
                <a:lnTo>
                  <a:pt x="89706" y="23922"/>
                </a:lnTo>
                <a:cubicBezTo>
                  <a:pt x="96321" y="23922"/>
                  <a:pt x="101666" y="29266"/>
                  <a:pt x="101666" y="35882"/>
                </a:cubicBezTo>
                <a:cubicBezTo>
                  <a:pt x="101666" y="42498"/>
                  <a:pt x="96321" y="47843"/>
                  <a:pt x="89706" y="47843"/>
                </a:cubicBezTo>
                <a:lnTo>
                  <a:pt x="46759" y="47843"/>
                </a:lnTo>
                <a:cubicBezTo>
                  <a:pt x="37452" y="47843"/>
                  <a:pt x="29902" y="55393"/>
                  <a:pt x="29902" y="64700"/>
                </a:cubicBezTo>
                <a:cubicBezTo>
                  <a:pt x="29902" y="73110"/>
                  <a:pt x="36069" y="80212"/>
                  <a:pt x="44367" y="81408"/>
                </a:cubicBezTo>
                <a:lnTo>
                  <a:pt x="78605" y="86304"/>
                </a:lnTo>
                <a:cubicBezTo>
                  <a:pt x="98714" y="89182"/>
                  <a:pt x="113627" y="106376"/>
                  <a:pt x="113627" y="126672"/>
                </a:cubicBezTo>
                <a:cubicBezTo>
                  <a:pt x="113627" y="149210"/>
                  <a:pt x="95350" y="167451"/>
                  <a:pt x="72848" y="167451"/>
                </a:cubicBezTo>
                <a:lnTo>
                  <a:pt x="68774" y="167451"/>
                </a:lnTo>
                <a:lnTo>
                  <a:pt x="68774" y="182402"/>
                </a:lnTo>
                <a:cubicBezTo>
                  <a:pt x="68774" y="187373"/>
                  <a:pt x="64775" y="191372"/>
                  <a:pt x="59804" y="191372"/>
                </a:cubicBezTo>
                <a:cubicBezTo>
                  <a:pt x="54833" y="191372"/>
                  <a:pt x="50833" y="187373"/>
                  <a:pt x="50833" y="182402"/>
                </a:cubicBezTo>
                <a:lnTo>
                  <a:pt x="50833" y="167451"/>
                </a:lnTo>
                <a:lnTo>
                  <a:pt x="23922" y="167451"/>
                </a:lnTo>
                <a:cubicBezTo>
                  <a:pt x="17306" y="167451"/>
                  <a:pt x="11961" y="162106"/>
                  <a:pt x="11961" y="155490"/>
                </a:cubicBezTo>
                <a:cubicBezTo>
                  <a:pt x="11961" y="148874"/>
                  <a:pt x="17306" y="143529"/>
                  <a:pt x="23922" y="143529"/>
                </a:cubicBezTo>
                <a:lnTo>
                  <a:pt x="72848" y="143529"/>
                </a:lnTo>
                <a:cubicBezTo>
                  <a:pt x="82155" y="143529"/>
                  <a:pt x="89706" y="135979"/>
                  <a:pt x="89706" y="126672"/>
                </a:cubicBezTo>
                <a:cubicBezTo>
                  <a:pt x="89706" y="118262"/>
                  <a:pt x="83538" y="111160"/>
                  <a:pt x="75241" y="109964"/>
                </a:cubicBezTo>
                <a:lnTo>
                  <a:pt x="41003" y="105068"/>
                </a:lnTo>
                <a:cubicBezTo>
                  <a:pt x="20894" y="102227"/>
                  <a:pt x="5980" y="84996"/>
                  <a:pt x="5980" y="64700"/>
                </a:cubicBezTo>
                <a:cubicBezTo>
                  <a:pt x="5980" y="42199"/>
                  <a:pt x="24258" y="23922"/>
                  <a:pt x="46759" y="23922"/>
                </a:cubicBezTo>
                <a:lnTo>
                  <a:pt x="50833" y="23922"/>
                </a:lnTo>
                <a:lnTo>
                  <a:pt x="50833" y="897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565958" y="1188102"/>
            <a:ext cx="5230838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Penalidades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42691" y="1570846"/>
            <a:ext cx="5358420" cy="773462"/>
          </a:xfrm>
          <a:custGeom>
            <a:avLst/>
            <a:gdLst/>
            <a:ahLst/>
            <a:cxnLst/>
            <a:rect l="l" t="t" r="r" b="b"/>
            <a:pathLst>
              <a:path w="5358420" h="773462">
                <a:moveTo>
                  <a:pt x="31895" y="0"/>
                </a:moveTo>
                <a:lnTo>
                  <a:pt x="5294632" y="0"/>
                </a:lnTo>
                <a:cubicBezTo>
                  <a:pt x="5329861" y="0"/>
                  <a:pt x="5358420" y="28559"/>
                  <a:pt x="5358420" y="63787"/>
                </a:cubicBezTo>
                <a:lnTo>
                  <a:pt x="5358420" y="709675"/>
                </a:lnTo>
                <a:cubicBezTo>
                  <a:pt x="5358420" y="744904"/>
                  <a:pt x="5329861" y="773462"/>
                  <a:pt x="5294632" y="773462"/>
                </a:cubicBezTo>
                <a:lnTo>
                  <a:pt x="31895" y="773462"/>
                </a:lnTo>
                <a:cubicBezTo>
                  <a:pt x="14280" y="773462"/>
                  <a:pt x="0" y="759182"/>
                  <a:pt x="0" y="741567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342691" y="1570846"/>
            <a:ext cx="31895" cy="773462"/>
          </a:xfrm>
          <a:custGeom>
            <a:avLst/>
            <a:gdLst/>
            <a:ahLst/>
            <a:cxnLst/>
            <a:rect l="l" t="t" r="r" b="b"/>
            <a:pathLst>
              <a:path w="31895" h="773462">
                <a:moveTo>
                  <a:pt x="31895" y="0"/>
                </a:moveTo>
                <a:lnTo>
                  <a:pt x="31895" y="0"/>
                </a:lnTo>
                <a:lnTo>
                  <a:pt x="31895" y="773462"/>
                </a:lnTo>
                <a:lnTo>
                  <a:pt x="31895" y="773462"/>
                </a:lnTo>
                <a:cubicBezTo>
                  <a:pt x="14280" y="773462"/>
                  <a:pt x="0" y="759182"/>
                  <a:pt x="0" y="741567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454324" y="1666532"/>
            <a:ext cx="522286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Taxa de Auditoria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54324" y="2244636"/>
            <a:ext cx="5151100" cy="7974"/>
          </a:xfrm>
          <a:custGeom>
            <a:avLst/>
            <a:gdLst/>
            <a:ahLst/>
            <a:cxnLst/>
            <a:rect l="l" t="t" r="r" b="b"/>
            <a:pathLst>
              <a:path w="5151100" h="7974">
                <a:moveTo>
                  <a:pt x="0" y="0"/>
                </a:moveTo>
                <a:lnTo>
                  <a:pt x="5151100" y="0"/>
                </a:lnTo>
                <a:lnTo>
                  <a:pt x="5151100" y="7974"/>
                </a:lnTo>
                <a:lnTo>
                  <a:pt x="0" y="7974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54324" y="2001434"/>
            <a:ext cx="98078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 identificação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97731" y="1985486"/>
            <a:ext cx="1092416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até USD 2.500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2691" y="2439995"/>
            <a:ext cx="5358420" cy="1028625"/>
          </a:xfrm>
          <a:custGeom>
            <a:avLst/>
            <a:gdLst/>
            <a:ahLst/>
            <a:cxnLst/>
            <a:rect l="l" t="t" r="r" b="b"/>
            <a:pathLst>
              <a:path w="5358420" h="1028625">
                <a:moveTo>
                  <a:pt x="31895" y="0"/>
                </a:moveTo>
                <a:lnTo>
                  <a:pt x="5294625" y="0"/>
                </a:lnTo>
                <a:cubicBezTo>
                  <a:pt x="5329858" y="0"/>
                  <a:pt x="5358420" y="28562"/>
                  <a:pt x="5358420" y="63795"/>
                </a:cubicBezTo>
                <a:lnTo>
                  <a:pt x="5358420" y="964830"/>
                </a:lnTo>
                <a:cubicBezTo>
                  <a:pt x="5358420" y="1000063"/>
                  <a:pt x="5329858" y="1028625"/>
                  <a:pt x="5294625" y="1028625"/>
                </a:cubicBezTo>
                <a:lnTo>
                  <a:pt x="31895" y="1028625"/>
                </a:lnTo>
                <a:cubicBezTo>
                  <a:pt x="14280" y="1028625"/>
                  <a:pt x="0" y="1014345"/>
                  <a:pt x="0" y="996730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342691" y="2439995"/>
            <a:ext cx="31895" cy="1028625"/>
          </a:xfrm>
          <a:custGeom>
            <a:avLst/>
            <a:gdLst/>
            <a:ahLst/>
            <a:cxnLst/>
            <a:rect l="l" t="t" r="r" b="b"/>
            <a:pathLst>
              <a:path w="31895" h="1028625">
                <a:moveTo>
                  <a:pt x="31895" y="0"/>
                </a:moveTo>
                <a:lnTo>
                  <a:pt x="31895" y="0"/>
                </a:lnTo>
                <a:lnTo>
                  <a:pt x="31895" y="1028625"/>
                </a:lnTo>
                <a:lnTo>
                  <a:pt x="31895" y="1028625"/>
                </a:lnTo>
                <a:cubicBezTo>
                  <a:pt x="14280" y="1028625"/>
                  <a:pt x="0" y="1014345"/>
                  <a:pt x="0" y="996730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454324" y="2535681"/>
            <a:ext cx="522286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QMAP Acquirer Assessment SC (2SC1400)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54324" y="2822739"/>
            <a:ext cx="521489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Cobra o adquirente por violação do QMAP para </a:t>
            </a:r>
            <a:r>
              <a:rPr lang="en-US" sz="1005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reembolsar os emissores afetados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4324" y="3081889"/>
            <a:ext cx="5151100" cy="7974"/>
          </a:xfrm>
          <a:custGeom>
            <a:avLst/>
            <a:gdLst/>
            <a:ahLst/>
            <a:cxnLst/>
            <a:rect l="l" t="t" r="r" b="b"/>
            <a:pathLst>
              <a:path w="5151100" h="7974">
                <a:moveTo>
                  <a:pt x="0" y="0"/>
                </a:moveTo>
                <a:lnTo>
                  <a:pt x="5151100" y="0"/>
                </a:lnTo>
                <a:lnTo>
                  <a:pt x="5151100" y="7974"/>
                </a:lnTo>
                <a:lnTo>
                  <a:pt x="0" y="7974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454324" y="3133719"/>
            <a:ext cx="358823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06686" y="3117771"/>
            <a:ext cx="574116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Variável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691" y="3564306"/>
            <a:ext cx="5358420" cy="1028625"/>
          </a:xfrm>
          <a:custGeom>
            <a:avLst/>
            <a:gdLst/>
            <a:ahLst/>
            <a:cxnLst/>
            <a:rect l="l" t="t" r="r" b="b"/>
            <a:pathLst>
              <a:path w="5358420" h="1028625">
                <a:moveTo>
                  <a:pt x="31895" y="0"/>
                </a:moveTo>
                <a:lnTo>
                  <a:pt x="5294625" y="0"/>
                </a:lnTo>
                <a:cubicBezTo>
                  <a:pt x="5329858" y="0"/>
                  <a:pt x="5358420" y="28562"/>
                  <a:pt x="5358420" y="63795"/>
                </a:cubicBezTo>
                <a:lnTo>
                  <a:pt x="5358420" y="964830"/>
                </a:lnTo>
                <a:cubicBezTo>
                  <a:pt x="5358420" y="1000063"/>
                  <a:pt x="5329858" y="1028625"/>
                  <a:pt x="5294625" y="1028625"/>
                </a:cubicBezTo>
                <a:lnTo>
                  <a:pt x="31895" y="1028625"/>
                </a:lnTo>
                <a:cubicBezTo>
                  <a:pt x="14280" y="1028625"/>
                  <a:pt x="0" y="1014345"/>
                  <a:pt x="0" y="996730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342691" y="3564306"/>
            <a:ext cx="31895" cy="1028625"/>
          </a:xfrm>
          <a:custGeom>
            <a:avLst/>
            <a:gdLst/>
            <a:ahLst/>
            <a:cxnLst/>
            <a:rect l="l" t="t" r="r" b="b"/>
            <a:pathLst>
              <a:path w="31895" h="1028625">
                <a:moveTo>
                  <a:pt x="31895" y="0"/>
                </a:moveTo>
                <a:lnTo>
                  <a:pt x="31895" y="0"/>
                </a:lnTo>
                <a:lnTo>
                  <a:pt x="31895" y="1028625"/>
                </a:lnTo>
                <a:lnTo>
                  <a:pt x="31895" y="1028625"/>
                </a:lnTo>
                <a:cubicBezTo>
                  <a:pt x="14280" y="1028625"/>
                  <a:pt x="0" y="1014345"/>
                  <a:pt x="0" y="996730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454324" y="3659992"/>
            <a:ext cx="522286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QMAP Acquirer Audit Fee (2SC1403)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54324" y="3947050"/>
            <a:ext cx="521489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administrativa para cobrir custos associados à investigação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4324" y="4206200"/>
            <a:ext cx="5151100" cy="7974"/>
          </a:xfrm>
          <a:custGeom>
            <a:avLst/>
            <a:gdLst/>
            <a:ahLst/>
            <a:cxnLst/>
            <a:rect l="l" t="t" r="r" b="b"/>
            <a:pathLst>
              <a:path w="5151100" h="7974">
                <a:moveTo>
                  <a:pt x="0" y="0"/>
                </a:moveTo>
                <a:lnTo>
                  <a:pt x="5151100" y="0"/>
                </a:lnTo>
                <a:lnTo>
                  <a:pt x="5151100" y="7974"/>
                </a:lnTo>
                <a:lnTo>
                  <a:pt x="0" y="7974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454324" y="4258030"/>
            <a:ext cx="358823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26636" y="4242082"/>
            <a:ext cx="1060521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BRL 6.000,00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42691" y="4688617"/>
            <a:ext cx="5358420" cy="1028625"/>
          </a:xfrm>
          <a:custGeom>
            <a:avLst/>
            <a:gdLst/>
            <a:ahLst/>
            <a:cxnLst/>
            <a:rect l="l" t="t" r="r" b="b"/>
            <a:pathLst>
              <a:path w="5358420" h="1028625">
                <a:moveTo>
                  <a:pt x="31895" y="0"/>
                </a:moveTo>
                <a:lnTo>
                  <a:pt x="5294625" y="0"/>
                </a:lnTo>
                <a:cubicBezTo>
                  <a:pt x="5329858" y="0"/>
                  <a:pt x="5358420" y="28562"/>
                  <a:pt x="5358420" y="63795"/>
                </a:cubicBezTo>
                <a:lnTo>
                  <a:pt x="5358420" y="964830"/>
                </a:lnTo>
                <a:cubicBezTo>
                  <a:pt x="5358420" y="1000063"/>
                  <a:pt x="5329858" y="1028625"/>
                  <a:pt x="5294625" y="1028625"/>
                </a:cubicBezTo>
                <a:lnTo>
                  <a:pt x="31895" y="1028625"/>
                </a:lnTo>
                <a:cubicBezTo>
                  <a:pt x="14280" y="1028625"/>
                  <a:pt x="0" y="1014345"/>
                  <a:pt x="0" y="996730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6342691" y="4688617"/>
            <a:ext cx="31895" cy="1028625"/>
          </a:xfrm>
          <a:custGeom>
            <a:avLst/>
            <a:gdLst/>
            <a:ahLst/>
            <a:cxnLst/>
            <a:rect l="l" t="t" r="r" b="b"/>
            <a:pathLst>
              <a:path w="31895" h="1028625">
                <a:moveTo>
                  <a:pt x="31895" y="0"/>
                </a:moveTo>
                <a:lnTo>
                  <a:pt x="31895" y="0"/>
                </a:lnTo>
                <a:lnTo>
                  <a:pt x="31895" y="1028625"/>
                </a:lnTo>
                <a:lnTo>
                  <a:pt x="31895" y="1028625"/>
                </a:lnTo>
                <a:cubicBezTo>
                  <a:pt x="14280" y="1028625"/>
                  <a:pt x="0" y="1014345"/>
                  <a:pt x="0" y="996730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454324" y="4784303"/>
            <a:ext cx="522286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Noncompliance Assessments (2SC2324)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54324" y="5071362"/>
            <a:ext cx="5214891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 de não conformidade por violação das Regras 5.1 ou 5.6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54324" y="5330511"/>
            <a:ext cx="5151100" cy="7974"/>
          </a:xfrm>
          <a:custGeom>
            <a:avLst/>
            <a:gdLst/>
            <a:ahLst/>
            <a:cxnLst/>
            <a:rect l="l" t="t" r="r" b="b"/>
            <a:pathLst>
              <a:path w="5151100" h="7974">
                <a:moveTo>
                  <a:pt x="0" y="0"/>
                </a:moveTo>
                <a:lnTo>
                  <a:pt x="5151100" y="0"/>
                </a:lnTo>
                <a:lnTo>
                  <a:pt x="5151100" y="7974"/>
                </a:lnTo>
                <a:lnTo>
                  <a:pt x="0" y="7974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454324" y="5382341"/>
            <a:ext cx="358823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106686" y="5366394"/>
            <a:ext cx="574116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Variável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2940" y="6016262"/>
            <a:ext cx="11546119" cy="454509"/>
          </a:xfrm>
          <a:custGeom>
            <a:avLst/>
            <a:gdLst/>
            <a:ahLst/>
            <a:cxnLst/>
            <a:rect l="l" t="t" r="r" b="b"/>
            <a:pathLst>
              <a:path w="11546119" h="454509">
                <a:moveTo>
                  <a:pt x="63790" y="0"/>
                </a:moveTo>
                <a:lnTo>
                  <a:pt x="11482329" y="0"/>
                </a:lnTo>
                <a:cubicBezTo>
                  <a:pt x="11517559" y="0"/>
                  <a:pt x="11546119" y="28560"/>
                  <a:pt x="11546119" y="63790"/>
                </a:cubicBezTo>
                <a:lnTo>
                  <a:pt x="11546119" y="390719"/>
                </a:lnTo>
                <a:cubicBezTo>
                  <a:pt x="11546119" y="425949"/>
                  <a:pt x="11517559" y="454509"/>
                  <a:pt x="11482329" y="454509"/>
                </a:cubicBezTo>
                <a:lnTo>
                  <a:pt x="63790" y="454509"/>
                </a:lnTo>
                <a:cubicBezTo>
                  <a:pt x="28560" y="454509"/>
                  <a:pt x="0" y="425949"/>
                  <a:pt x="0" y="390719"/>
                </a:cubicBezTo>
                <a:lnTo>
                  <a:pt x="0" y="63790"/>
                </a:lnTo>
                <a:cubicBezTo>
                  <a:pt x="0" y="28583"/>
                  <a:pt x="28583" y="0"/>
                  <a:pt x="6379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486404" y="6179725"/>
            <a:ext cx="95686" cy="127581"/>
          </a:xfrm>
          <a:custGeom>
            <a:avLst/>
            <a:gdLst/>
            <a:ahLst/>
            <a:cxnLst/>
            <a:rect l="l" t="t" r="r" b="b"/>
            <a:pathLst>
              <a:path w="95686" h="127581">
                <a:moveTo>
                  <a:pt x="72986" y="95686"/>
                </a:moveTo>
                <a:cubicBezTo>
                  <a:pt x="74805" y="90129"/>
                  <a:pt x="78443" y="85096"/>
                  <a:pt x="82554" y="80760"/>
                </a:cubicBezTo>
                <a:cubicBezTo>
                  <a:pt x="90702" y="72188"/>
                  <a:pt x="95686" y="60601"/>
                  <a:pt x="95686" y="47843"/>
                </a:cubicBezTo>
                <a:cubicBezTo>
                  <a:pt x="95686" y="21430"/>
                  <a:pt x="74256" y="0"/>
                  <a:pt x="47843" y="0"/>
                </a:cubicBezTo>
                <a:cubicBezTo>
                  <a:pt x="21430" y="0"/>
                  <a:pt x="0" y="21430"/>
                  <a:pt x="0" y="47843"/>
                </a:cubicBezTo>
                <a:cubicBezTo>
                  <a:pt x="0" y="60601"/>
                  <a:pt x="4984" y="72188"/>
                  <a:pt x="13132" y="80760"/>
                </a:cubicBezTo>
                <a:cubicBezTo>
                  <a:pt x="17243" y="85096"/>
                  <a:pt x="20906" y="90129"/>
                  <a:pt x="22701" y="95686"/>
                </a:cubicBezTo>
                <a:lnTo>
                  <a:pt x="72961" y="95686"/>
                </a:lnTo>
                <a:close/>
                <a:moveTo>
                  <a:pt x="71765" y="107647"/>
                </a:moveTo>
                <a:lnTo>
                  <a:pt x="23922" y="107647"/>
                </a:lnTo>
                <a:lnTo>
                  <a:pt x="23922" y="111634"/>
                </a:lnTo>
                <a:cubicBezTo>
                  <a:pt x="23922" y="122648"/>
                  <a:pt x="32842" y="131568"/>
                  <a:pt x="43856" y="131568"/>
                </a:cubicBezTo>
                <a:lnTo>
                  <a:pt x="51830" y="131568"/>
                </a:lnTo>
                <a:cubicBezTo>
                  <a:pt x="62844" y="131568"/>
                  <a:pt x="71765" y="122648"/>
                  <a:pt x="71765" y="111634"/>
                </a:cubicBezTo>
                <a:lnTo>
                  <a:pt x="71765" y="107647"/>
                </a:lnTo>
                <a:close/>
                <a:moveTo>
                  <a:pt x="45850" y="27908"/>
                </a:moveTo>
                <a:cubicBezTo>
                  <a:pt x="35932" y="27908"/>
                  <a:pt x="27908" y="35932"/>
                  <a:pt x="27908" y="45850"/>
                </a:cubicBezTo>
                <a:cubicBezTo>
                  <a:pt x="27908" y="49164"/>
                  <a:pt x="25242" y="51830"/>
                  <a:pt x="21928" y="51830"/>
                </a:cubicBezTo>
                <a:cubicBezTo>
                  <a:pt x="18614" y="51830"/>
                  <a:pt x="15948" y="49164"/>
                  <a:pt x="15948" y="45850"/>
                </a:cubicBezTo>
                <a:cubicBezTo>
                  <a:pt x="15948" y="29329"/>
                  <a:pt x="29329" y="15948"/>
                  <a:pt x="45850" y="15948"/>
                </a:cubicBezTo>
                <a:cubicBezTo>
                  <a:pt x="49164" y="15948"/>
                  <a:pt x="51830" y="18614"/>
                  <a:pt x="51830" y="21928"/>
                </a:cubicBezTo>
                <a:cubicBezTo>
                  <a:pt x="51830" y="25242"/>
                  <a:pt x="49164" y="27908"/>
                  <a:pt x="45850" y="2790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654037" y="6147830"/>
            <a:ext cx="1114724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Dica:</a:t>
            </a:r>
            <a:r>
              <a:rPr lang="en-US" sz="100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adquirente deve manter processos robustos de monitoramento para identificar e mitigar atividades questionáveis antes que sejam detectadas pela Mastercard.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956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kern="0" spc="52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96348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Visa Acquirer Monitoring Program (VAMP)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870" y="1060174"/>
            <a:ext cx="11512826" cy="1184413"/>
          </a:xfrm>
          <a:custGeom>
            <a:avLst/>
            <a:gdLst/>
            <a:ahLst/>
            <a:cxnLst/>
            <a:rect l="l" t="t" r="r" b="b"/>
            <a:pathLst>
              <a:path w="11512826" h="1184413">
                <a:moveTo>
                  <a:pt x="33130" y="0"/>
                </a:moveTo>
                <a:lnTo>
                  <a:pt x="11446570" y="0"/>
                </a:lnTo>
                <a:cubicBezTo>
                  <a:pt x="11483162" y="0"/>
                  <a:pt x="11512826" y="29664"/>
                  <a:pt x="11512826" y="66256"/>
                </a:cubicBezTo>
                <a:lnTo>
                  <a:pt x="11512826" y="1118157"/>
                </a:lnTo>
                <a:cubicBezTo>
                  <a:pt x="11512826" y="1154749"/>
                  <a:pt x="11483162" y="1184413"/>
                  <a:pt x="11446570" y="1184413"/>
                </a:cubicBezTo>
                <a:lnTo>
                  <a:pt x="33130" y="1184413"/>
                </a:lnTo>
                <a:cubicBezTo>
                  <a:pt x="14833" y="1184413"/>
                  <a:pt x="0" y="1169580"/>
                  <a:pt x="0" y="11512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1A365D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47870" y="1060174"/>
            <a:ext cx="33130" cy="1184413"/>
          </a:xfrm>
          <a:custGeom>
            <a:avLst/>
            <a:gdLst/>
            <a:ahLst/>
            <a:cxnLst/>
            <a:rect l="l" t="t" r="r" b="b"/>
            <a:pathLst>
              <a:path w="33130" h="1184413">
                <a:moveTo>
                  <a:pt x="33130" y="0"/>
                </a:moveTo>
                <a:lnTo>
                  <a:pt x="33130" y="0"/>
                </a:lnTo>
                <a:lnTo>
                  <a:pt x="33130" y="1184413"/>
                </a:lnTo>
                <a:lnTo>
                  <a:pt x="33130" y="1184413"/>
                </a:lnTo>
                <a:cubicBezTo>
                  <a:pt x="14833" y="1184413"/>
                  <a:pt x="0" y="1169580"/>
                  <a:pt x="0" y="11512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54935" y="1258957"/>
            <a:ext cx="198783" cy="198783"/>
          </a:xfrm>
          <a:custGeom>
            <a:avLst/>
            <a:gdLst/>
            <a:ahLst/>
            <a:cxnLst/>
            <a:rect l="l" t="t" r="r" b="b"/>
            <a:pathLst>
              <a:path w="198783" h="198783">
                <a:moveTo>
                  <a:pt x="24848" y="24848"/>
                </a:moveTo>
                <a:cubicBezTo>
                  <a:pt x="24848" y="17976"/>
                  <a:pt x="19296" y="12424"/>
                  <a:pt x="12424" y="12424"/>
                </a:cubicBezTo>
                <a:cubicBezTo>
                  <a:pt x="5552" y="12424"/>
                  <a:pt x="0" y="17976"/>
                  <a:pt x="0" y="24848"/>
                </a:cubicBezTo>
                <a:lnTo>
                  <a:pt x="0" y="155299"/>
                </a:lnTo>
                <a:cubicBezTo>
                  <a:pt x="0" y="172459"/>
                  <a:pt x="13899" y="186359"/>
                  <a:pt x="31060" y="186359"/>
                </a:cubicBezTo>
                <a:lnTo>
                  <a:pt x="186359" y="186359"/>
                </a:lnTo>
                <a:cubicBezTo>
                  <a:pt x="193231" y="186359"/>
                  <a:pt x="198783" y="180807"/>
                  <a:pt x="198783" y="173935"/>
                </a:cubicBezTo>
                <a:cubicBezTo>
                  <a:pt x="198783" y="167063"/>
                  <a:pt x="193231" y="161511"/>
                  <a:pt x="186359" y="161511"/>
                </a:cubicBezTo>
                <a:lnTo>
                  <a:pt x="31060" y="161511"/>
                </a:lnTo>
                <a:cubicBezTo>
                  <a:pt x="27643" y="161511"/>
                  <a:pt x="24848" y="158715"/>
                  <a:pt x="24848" y="155299"/>
                </a:cubicBezTo>
                <a:lnTo>
                  <a:pt x="24848" y="24848"/>
                </a:lnTo>
                <a:close/>
                <a:moveTo>
                  <a:pt x="182709" y="58470"/>
                </a:moveTo>
                <a:cubicBezTo>
                  <a:pt x="187562" y="53617"/>
                  <a:pt x="187562" y="45736"/>
                  <a:pt x="182709" y="40882"/>
                </a:cubicBezTo>
                <a:cubicBezTo>
                  <a:pt x="177856" y="36029"/>
                  <a:pt x="169975" y="36029"/>
                  <a:pt x="165122" y="40882"/>
                </a:cubicBezTo>
                <a:lnTo>
                  <a:pt x="124239" y="81804"/>
                </a:lnTo>
                <a:lnTo>
                  <a:pt x="101954" y="59557"/>
                </a:lnTo>
                <a:cubicBezTo>
                  <a:pt x="97101" y="54704"/>
                  <a:pt x="89219" y="54704"/>
                  <a:pt x="84366" y="59557"/>
                </a:cubicBezTo>
                <a:lnTo>
                  <a:pt x="47094" y="96829"/>
                </a:lnTo>
                <a:cubicBezTo>
                  <a:pt x="42241" y="101682"/>
                  <a:pt x="42241" y="109563"/>
                  <a:pt x="47094" y="114416"/>
                </a:cubicBezTo>
                <a:cubicBezTo>
                  <a:pt x="51947" y="119270"/>
                  <a:pt x="59829" y="119270"/>
                  <a:pt x="64682" y="114416"/>
                </a:cubicBezTo>
                <a:lnTo>
                  <a:pt x="93179" y="85919"/>
                </a:lnTo>
                <a:lnTo>
                  <a:pt x="115465" y="108205"/>
                </a:lnTo>
                <a:cubicBezTo>
                  <a:pt x="120318" y="113058"/>
                  <a:pt x="128199" y="113058"/>
                  <a:pt x="133052" y="108205"/>
                </a:cubicBezTo>
                <a:lnTo>
                  <a:pt x="182748" y="58509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8565" y="1225826"/>
            <a:ext cx="11015870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VAMP?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087" y="1590261"/>
            <a:ext cx="11239500" cy="488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17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Visa Acquirer Monitoring Program (VAMP)</a:t>
            </a:r>
            <a:r>
              <a:rPr lang="en-US" sz="117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um programa de </a:t>
            </a:r>
            <a:r>
              <a:rPr lang="en-US" sz="117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cartão não presente</a:t>
            </a:r>
            <a:r>
              <a:rPr lang="en-US" sz="117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desenvolvido para monitorar </a:t>
            </a:r>
            <a:r>
              <a:rPr lang="en-US" sz="117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níveis elevados de fraude, enumeração e disputas</a:t>
            </a:r>
            <a:r>
              <a:rPr lang="en-US" sz="117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todo o sistema. O programa ajuda as Adquirentes a aprimorar os controles de risco e supervisionar as métricas de desempenho relacionadas.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5446" y="2377109"/>
            <a:ext cx="5690152" cy="3420717"/>
          </a:xfrm>
          <a:custGeom>
            <a:avLst/>
            <a:gdLst/>
            <a:ahLst/>
            <a:cxnLst/>
            <a:rect l="l" t="t" r="r" b="b"/>
            <a:pathLst>
              <a:path w="5690152" h="3420717">
                <a:moveTo>
                  <a:pt x="66259" y="0"/>
                </a:moveTo>
                <a:lnTo>
                  <a:pt x="5623893" y="0"/>
                </a:lnTo>
                <a:cubicBezTo>
                  <a:pt x="5660462" y="0"/>
                  <a:pt x="5690152" y="29690"/>
                  <a:pt x="5690152" y="66259"/>
                </a:cubicBezTo>
                <a:lnTo>
                  <a:pt x="5690152" y="3354458"/>
                </a:lnTo>
                <a:cubicBezTo>
                  <a:pt x="5690152" y="3391028"/>
                  <a:pt x="5660462" y="3420717"/>
                  <a:pt x="5623893" y="3420717"/>
                </a:cubicBezTo>
                <a:lnTo>
                  <a:pt x="66259" y="3420717"/>
                </a:lnTo>
                <a:cubicBezTo>
                  <a:pt x="29690" y="3420717"/>
                  <a:pt x="0" y="3391028"/>
                  <a:pt x="0" y="3354458"/>
                </a:cubicBezTo>
                <a:lnTo>
                  <a:pt x="0" y="66259"/>
                </a:lnTo>
                <a:cubicBezTo>
                  <a:pt x="0" y="29665"/>
                  <a:pt x="29665" y="0"/>
                  <a:pt x="6625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25946" y="2580033"/>
            <a:ext cx="165652" cy="165652"/>
          </a:xfrm>
          <a:custGeom>
            <a:avLst/>
            <a:gdLst/>
            <a:ahLst/>
            <a:cxnLst/>
            <a:rect l="l" t="t" r="r" b="b"/>
            <a:pathLst>
              <a:path w="165652" h="165652">
                <a:moveTo>
                  <a:pt x="155331" y="62120"/>
                </a:moveTo>
                <a:lnTo>
                  <a:pt x="157887" y="62120"/>
                </a:lnTo>
                <a:cubicBezTo>
                  <a:pt x="162190" y="62120"/>
                  <a:pt x="165652" y="58658"/>
                  <a:pt x="165652" y="54355"/>
                </a:cubicBezTo>
                <a:lnTo>
                  <a:pt x="165652" y="7765"/>
                </a:lnTo>
                <a:cubicBezTo>
                  <a:pt x="165652" y="4627"/>
                  <a:pt x="163776" y="1779"/>
                  <a:pt x="160864" y="582"/>
                </a:cubicBezTo>
                <a:cubicBezTo>
                  <a:pt x="157952" y="-615"/>
                  <a:pt x="154619" y="65"/>
                  <a:pt x="152387" y="2265"/>
                </a:cubicBezTo>
                <a:lnTo>
                  <a:pt x="135660" y="19024"/>
                </a:lnTo>
                <a:cubicBezTo>
                  <a:pt x="121327" y="7150"/>
                  <a:pt x="102886" y="0"/>
                  <a:pt x="82826" y="0"/>
                </a:cubicBezTo>
                <a:cubicBezTo>
                  <a:pt x="41090" y="0"/>
                  <a:pt x="6568" y="30866"/>
                  <a:pt x="841" y="71017"/>
                </a:cubicBezTo>
                <a:cubicBezTo>
                  <a:pt x="32" y="76679"/>
                  <a:pt x="3947" y="81920"/>
                  <a:pt x="9609" y="82729"/>
                </a:cubicBezTo>
                <a:cubicBezTo>
                  <a:pt x="15271" y="83538"/>
                  <a:pt x="20512" y="79591"/>
                  <a:pt x="21321" y="73961"/>
                </a:cubicBezTo>
                <a:cubicBezTo>
                  <a:pt x="25624" y="43840"/>
                  <a:pt x="51540" y="20707"/>
                  <a:pt x="82826" y="20707"/>
                </a:cubicBezTo>
                <a:cubicBezTo>
                  <a:pt x="97191" y="20707"/>
                  <a:pt x="110392" y="25560"/>
                  <a:pt x="120907" y="33745"/>
                </a:cubicBezTo>
                <a:lnTo>
                  <a:pt x="105797" y="48854"/>
                </a:lnTo>
                <a:cubicBezTo>
                  <a:pt x="103565" y="51087"/>
                  <a:pt x="102918" y="54419"/>
                  <a:pt x="104115" y="57331"/>
                </a:cubicBezTo>
                <a:cubicBezTo>
                  <a:pt x="105312" y="60243"/>
                  <a:pt x="108159" y="62120"/>
                  <a:pt x="111298" y="62120"/>
                </a:cubicBezTo>
                <a:lnTo>
                  <a:pt x="155331" y="62120"/>
                </a:lnTo>
                <a:close/>
                <a:moveTo>
                  <a:pt x="164843" y="94635"/>
                </a:moveTo>
                <a:cubicBezTo>
                  <a:pt x="165652" y="88973"/>
                  <a:pt x="161705" y="83732"/>
                  <a:pt x="156075" y="82923"/>
                </a:cubicBezTo>
                <a:cubicBezTo>
                  <a:pt x="150446" y="82114"/>
                  <a:pt x="145172" y="86061"/>
                  <a:pt x="144363" y="91691"/>
                </a:cubicBezTo>
                <a:cubicBezTo>
                  <a:pt x="140060" y="121780"/>
                  <a:pt x="114145" y="144913"/>
                  <a:pt x="82858" y="144913"/>
                </a:cubicBezTo>
                <a:cubicBezTo>
                  <a:pt x="68493" y="144913"/>
                  <a:pt x="55293" y="140060"/>
                  <a:pt x="44778" y="131875"/>
                </a:cubicBezTo>
                <a:lnTo>
                  <a:pt x="59855" y="116798"/>
                </a:lnTo>
                <a:cubicBezTo>
                  <a:pt x="62087" y="114565"/>
                  <a:pt x="62734" y="111233"/>
                  <a:pt x="61537" y="108321"/>
                </a:cubicBezTo>
                <a:cubicBezTo>
                  <a:pt x="60340" y="105409"/>
                  <a:pt x="57493" y="103533"/>
                  <a:pt x="54355" y="103533"/>
                </a:cubicBezTo>
                <a:lnTo>
                  <a:pt x="7765" y="103533"/>
                </a:lnTo>
                <a:cubicBezTo>
                  <a:pt x="3462" y="103533"/>
                  <a:pt x="0" y="106994"/>
                  <a:pt x="0" y="111298"/>
                </a:cubicBezTo>
                <a:lnTo>
                  <a:pt x="0" y="157887"/>
                </a:lnTo>
                <a:cubicBezTo>
                  <a:pt x="0" y="161026"/>
                  <a:pt x="1877" y="163873"/>
                  <a:pt x="4788" y="165070"/>
                </a:cubicBezTo>
                <a:cubicBezTo>
                  <a:pt x="7700" y="166267"/>
                  <a:pt x="11033" y="165587"/>
                  <a:pt x="13265" y="163387"/>
                </a:cubicBezTo>
                <a:lnTo>
                  <a:pt x="30024" y="146628"/>
                </a:lnTo>
                <a:cubicBezTo>
                  <a:pt x="44325" y="158502"/>
                  <a:pt x="62767" y="165652"/>
                  <a:pt x="82826" y="165652"/>
                </a:cubicBezTo>
                <a:cubicBezTo>
                  <a:pt x="124563" y="165652"/>
                  <a:pt x="159084" y="134787"/>
                  <a:pt x="164811" y="9463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12304" y="2546902"/>
            <a:ext cx="5226326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Monitoramento Mensal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5239" y="2878207"/>
            <a:ext cx="5416826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Visa analisa mensalmente as atividades do mês anterior: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5239" y="3176380"/>
            <a:ext cx="5350565" cy="563217"/>
          </a:xfrm>
          <a:custGeom>
            <a:avLst/>
            <a:gdLst/>
            <a:ahLst/>
            <a:cxnLst/>
            <a:rect l="l" t="t" r="r" b="b"/>
            <a:pathLst>
              <a:path w="5350565" h="563217">
                <a:moveTo>
                  <a:pt x="66263" y="0"/>
                </a:moveTo>
                <a:lnTo>
                  <a:pt x="5284303" y="0"/>
                </a:lnTo>
                <a:cubicBezTo>
                  <a:pt x="5320898" y="0"/>
                  <a:pt x="5350565" y="29667"/>
                  <a:pt x="5350565" y="66263"/>
                </a:cubicBezTo>
                <a:lnTo>
                  <a:pt x="5350565" y="496955"/>
                </a:lnTo>
                <a:cubicBezTo>
                  <a:pt x="5350565" y="533551"/>
                  <a:pt x="5320898" y="563217"/>
                  <a:pt x="5284303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04630" y="3292337"/>
            <a:ext cx="331304" cy="331304"/>
          </a:xfrm>
          <a:custGeom>
            <a:avLst/>
            <a:gdLst/>
            <a:ahLst/>
            <a:cxnLst/>
            <a:rect l="l" t="t" r="r" b="b"/>
            <a:pathLst>
              <a:path w="331304" h="331304">
                <a:moveTo>
                  <a:pt x="165652" y="0"/>
                </a:moveTo>
                <a:lnTo>
                  <a:pt x="165652" y="0"/>
                </a:lnTo>
                <a:cubicBezTo>
                  <a:pt x="257139" y="0"/>
                  <a:pt x="331304" y="74165"/>
                  <a:pt x="331304" y="165652"/>
                </a:cubicBezTo>
                <a:lnTo>
                  <a:pt x="331304" y="165652"/>
                </a:lnTo>
                <a:cubicBezTo>
                  <a:pt x="331304" y="257139"/>
                  <a:pt x="257139" y="331304"/>
                  <a:pt x="165652" y="331304"/>
                </a:cubicBezTo>
                <a:lnTo>
                  <a:pt x="165652" y="331304"/>
                </a:lnTo>
                <a:cubicBezTo>
                  <a:pt x="74165" y="331304"/>
                  <a:pt x="0" y="257139"/>
                  <a:pt x="0" y="165652"/>
                </a:cubicBezTo>
                <a:lnTo>
                  <a:pt x="0" y="165652"/>
                </a:lnTo>
                <a:cubicBezTo>
                  <a:pt x="0" y="74165"/>
                  <a:pt x="74165" y="0"/>
                  <a:pt x="16565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04022" y="3391728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130089" y="38980"/>
                </a:moveTo>
                <a:lnTo>
                  <a:pt x="105241" y="63828"/>
                </a:lnTo>
                <a:cubicBezTo>
                  <a:pt x="102860" y="66209"/>
                  <a:pt x="99314" y="66908"/>
                  <a:pt x="96208" y="65614"/>
                </a:cubicBezTo>
                <a:cubicBezTo>
                  <a:pt x="93102" y="64320"/>
                  <a:pt x="91109" y="61317"/>
                  <a:pt x="91109" y="57978"/>
                </a:cubicBezTo>
                <a:lnTo>
                  <a:pt x="91109" y="41413"/>
                </a:lnTo>
                <a:lnTo>
                  <a:pt x="8283" y="41413"/>
                </a:lnTo>
                <a:cubicBezTo>
                  <a:pt x="3701" y="41413"/>
                  <a:pt x="0" y="37712"/>
                  <a:pt x="0" y="33130"/>
                </a:cubicBezTo>
                <a:cubicBezTo>
                  <a:pt x="0" y="28549"/>
                  <a:pt x="3701" y="24848"/>
                  <a:pt x="8283" y="24848"/>
                </a:cubicBezTo>
                <a:lnTo>
                  <a:pt x="91109" y="24848"/>
                </a:lnTo>
                <a:lnTo>
                  <a:pt x="91109" y="8283"/>
                </a:lnTo>
                <a:cubicBezTo>
                  <a:pt x="91109" y="4944"/>
                  <a:pt x="93128" y="1915"/>
                  <a:pt x="96234" y="621"/>
                </a:cubicBezTo>
                <a:cubicBezTo>
                  <a:pt x="99340" y="-673"/>
                  <a:pt x="102886" y="52"/>
                  <a:pt x="105267" y="2407"/>
                </a:cubicBezTo>
                <a:lnTo>
                  <a:pt x="130115" y="27255"/>
                </a:lnTo>
                <a:cubicBezTo>
                  <a:pt x="133350" y="30490"/>
                  <a:pt x="133350" y="35745"/>
                  <a:pt x="130115" y="38980"/>
                </a:cubicBezTo>
                <a:close/>
                <a:moveTo>
                  <a:pt x="27255" y="130089"/>
                </a:moveTo>
                <a:lnTo>
                  <a:pt x="2407" y="105241"/>
                </a:lnTo>
                <a:cubicBezTo>
                  <a:pt x="-828" y="102006"/>
                  <a:pt x="-828" y="96751"/>
                  <a:pt x="2407" y="93516"/>
                </a:cubicBezTo>
                <a:lnTo>
                  <a:pt x="27255" y="68668"/>
                </a:lnTo>
                <a:cubicBezTo>
                  <a:pt x="29636" y="66287"/>
                  <a:pt x="33182" y="65588"/>
                  <a:pt x="36288" y="66882"/>
                </a:cubicBezTo>
                <a:cubicBezTo>
                  <a:pt x="39394" y="68176"/>
                  <a:pt x="41413" y="71205"/>
                  <a:pt x="41413" y="74543"/>
                </a:cubicBezTo>
                <a:lnTo>
                  <a:pt x="41413" y="91109"/>
                </a:lnTo>
                <a:lnTo>
                  <a:pt x="124239" y="91109"/>
                </a:lnTo>
                <a:cubicBezTo>
                  <a:pt x="128820" y="91109"/>
                  <a:pt x="132522" y="94810"/>
                  <a:pt x="132522" y="99391"/>
                </a:cubicBezTo>
                <a:cubicBezTo>
                  <a:pt x="132522" y="103973"/>
                  <a:pt x="128820" y="107674"/>
                  <a:pt x="124239" y="107674"/>
                </a:cubicBezTo>
                <a:lnTo>
                  <a:pt x="41413" y="107674"/>
                </a:lnTo>
                <a:lnTo>
                  <a:pt x="41413" y="124239"/>
                </a:lnTo>
                <a:cubicBezTo>
                  <a:pt x="41413" y="127578"/>
                  <a:pt x="39394" y="130606"/>
                  <a:pt x="36288" y="131901"/>
                </a:cubicBezTo>
                <a:cubicBezTo>
                  <a:pt x="33182" y="133195"/>
                  <a:pt x="29636" y="132470"/>
                  <a:pt x="27255" y="13011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35326" y="3275772"/>
            <a:ext cx="1408043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Transações Liquidadas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5326" y="3474554"/>
            <a:ext cx="1399761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TC05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5239" y="3805859"/>
            <a:ext cx="5350565" cy="563217"/>
          </a:xfrm>
          <a:custGeom>
            <a:avLst/>
            <a:gdLst/>
            <a:ahLst/>
            <a:cxnLst/>
            <a:rect l="l" t="t" r="r" b="b"/>
            <a:pathLst>
              <a:path w="5350565" h="563217">
                <a:moveTo>
                  <a:pt x="66263" y="0"/>
                </a:moveTo>
                <a:lnTo>
                  <a:pt x="5284303" y="0"/>
                </a:lnTo>
                <a:cubicBezTo>
                  <a:pt x="5320898" y="0"/>
                  <a:pt x="5350565" y="29667"/>
                  <a:pt x="5350565" y="66263"/>
                </a:cubicBezTo>
                <a:lnTo>
                  <a:pt x="5350565" y="496955"/>
                </a:lnTo>
                <a:cubicBezTo>
                  <a:pt x="5350565" y="533551"/>
                  <a:pt x="5320898" y="563217"/>
                  <a:pt x="5284303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04630" y="3921815"/>
            <a:ext cx="331304" cy="331304"/>
          </a:xfrm>
          <a:custGeom>
            <a:avLst/>
            <a:gdLst/>
            <a:ahLst/>
            <a:cxnLst/>
            <a:rect l="l" t="t" r="r" b="b"/>
            <a:pathLst>
              <a:path w="331304" h="331304">
                <a:moveTo>
                  <a:pt x="165652" y="0"/>
                </a:moveTo>
                <a:lnTo>
                  <a:pt x="165652" y="0"/>
                </a:lnTo>
                <a:cubicBezTo>
                  <a:pt x="257139" y="0"/>
                  <a:pt x="331304" y="74165"/>
                  <a:pt x="331304" y="165652"/>
                </a:cubicBezTo>
                <a:lnTo>
                  <a:pt x="331304" y="165652"/>
                </a:lnTo>
                <a:cubicBezTo>
                  <a:pt x="331304" y="257139"/>
                  <a:pt x="257139" y="331304"/>
                  <a:pt x="165652" y="331304"/>
                </a:cubicBezTo>
                <a:lnTo>
                  <a:pt x="165652" y="331304"/>
                </a:lnTo>
                <a:cubicBezTo>
                  <a:pt x="74165" y="331304"/>
                  <a:pt x="0" y="257139"/>
                  <a:pt x="0" y="165652"/>
                </a:cubicBezTo>
                <a:lnTo>
                  <a:pt x="0" y="165652"/>
                </a:lnTo>
                <a:cubicBezTo>
                  <a:pt x="0" y="74165"/>
                  <a:pt x="74165" y="0"/>
                  <a:pt x="16565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04022" y="4021207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66261" y="16565"/>
                </a:moveTo>
                <a:cubicBezTo>
                  <a:pt x="51559" y="16565"/>
                  <a:pt x="38333" y="22958"/>
                  <a:pt x="29222" y="33130"/>
                </a:cubicBezTo>
                <a:lnTo>
                  <a:pt x="41413" y="33130"/>
                </a:lnTo>
                <a:cubicBezTo>
                  <a:pt x="45994" y="33130"/>
                  <a:pt x="49696" y="36832"/>
                  <a:pt x="49696" y="41413"/>
                </a:cubicBezTo>
                <a:cubicBezTo>
                  <a:pt x="49696" y="45994"/>
                  <a:pt x="45994" y="49696"/>
                  <a:pt x="41413" y="49696"/>
                </a:cubicBezTo>
                <a:lnTo>
                  <a:pt x="8283" y="49696"/>
                </a:lnTo>
                <a:cubicBezTo>
                  <a:pt x="3701" y="49696"/>
                  <a:pt x="0" y="45994"/>
                  <a:pt x="0" y="41413"/>
                </a:cubicBezTo>
                <a:lnTo>
                  <a:pt x="0" y="8283"/>
                </a:lnTo>
                <a:cubicBezTo>
                  <a:pt x="0" y="3701"/>
                  <a:pt x="3701" y="0"/>
                  <a:pt x="8283" y="0"/>
                </a:cubicBezTo>
                <a:cubicBezTo>
                  <a:pt x="12864" y="0"/>
                  <a:pt x="16565" y="3701"/>
                  <a:pt x="16565" y="8283"/>
                </a:cubicBezTo>
                <a:lnTo>
                  <a:pt x="16565" y="22441"/>
                </a:lnTo>
                <a:cubicBezTo>
                  <a:pt x="28704" y="8697"/>
                  <a:pt x="46460" y="0"/>
                  <a:pt x="66261" y="0"/>
                </a:cubicBezTo>
                <a:cubicBezTo>
                  <a:pt x="102860" y="0"/>
                  <a:pt x="132522" y="29662"/>
                  <a:pt x="132522" y="66261"/>
                </a:cubicBezTo>
                <a:cubicBezTo>
                  <a:pt x="132522" y="102860"/>
                  <a:pt x="102860" y="132522"/>
                  <a:pt x="66261" y="132522"/>
                </a:cubicBezTo>
                <a:cubicBezTo>
                  <a:pt x="43743" y="132522"/>
                  <a:pt x="23838" y="121288"/>
                  <a:pt x="11880" y="104128"/>
                </a:cubicBezTo>
                <a:cubicBezTo>
                  <a:pt x="9266" y="100375"/>
                  <a:pt x="10172" y="95224"/>
                  <a:pt x="13925" y="92584"/>
                </a:cubicBezTo>
                <a:cubicBezTo>
                  <a:pt x="17678" y="89944"/>
                  <a:pt x="22829" y="90876"/>
                  <a:pt x="25469" y="94629"/>
                </a:cubicBezTo>
                <a:cubicBezTo>
                  <a:pt x="34476" y="107519"/>
                  <a:pt x="49385" y="115931"/>
                  <a:pt x="66261" y="115931"/>
                </a:cubicBezTo>
                <a:cubicBezTo>
                  <a:pt x="93697" y="115931"/>
                  <a:pt x="115957" y="93671"/>
                  <a:pt x="115957" y="66235"/>
                </a:cubicBezTo>
                <a:cubicBezTo>
                  <a:pt x="115957" y="38799"/>
                  <a:pt x="93697" y="16565"/>
                  <a:pt x="66261" y="1656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35326" y="3905250"/>
            <a:ext cx="579783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Disputas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5326" y="4104033"/>
            <a:ext cx="57150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TC15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5239" y="4435337"/>
            <a:ext cx="5350565" cy="563217"/>
          </a:xfrm>
          <a:custGeom>
            <a:avLst/>
            <a:gdLst/>
            <a:ahLst/>
            <a:cxnLst/>
            <a:rect l="l" t="t" r="r" b="b"/>
            <a:pathLst>
              <a:path w="5350565" h="563217">
                <a:moveTo>
                  <a:pt x="66263" y="0"/>
                </a:moveTo>
                <a:lnTo>
                  <a:pt x="5284303" y="0"/>
                </a:lnTo>
                <a:cubicBezTo>
                  <a:pt x="5320898" y="0"/>
                  <a:pt x="5350565" y="29667"/>
                  <a:pt x="5350565" y="66263"/>
                </a:cubicBezTo>
                <a:lnTo>
                  <a:pt x="5350565" y="496955"/>
                </a:lnTo>
                <a:cubicBezTo>
                  <a:pt x="5350565" y="533551"/>
                  <a:pt x="5320898" y="563217"/>
                  <a:pt x="5284303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04630" y="4551293"/>
            <a:ext cx="331304" cy="331304"/>
          </a:xfrm>
          <a:custGeom>
            <a:avLst/>
            <a:gdLst/>
            <a:ahLst/>
            <a:cxnLst/>
            <a:rect l="l" t="t" r="r" b="b"/>
            <a:pathLst>
              <a:path w="331304" h="331304">
                <a:moveTo>
                  <a:pt x="165652" y="0"/>
                </a:moveTo>
                <a:lnTo>
                  <a:pt x="165652" y="0"/>
                </a:lnTo>
                <a:cubicBezTo>
                  <a:pt x="257139" y="0"/>
                  <a:pt x="331304" y="74165"/>
                  <a:pt x="331304" y="165652"/>
                </a:cubicBezTo>
                <a:lnTo>
                  <a:pt x="331304" y="165652"/>
                </a:lnTo>
                <a:cubicBezTo>
                  <a:pt x="331304" y="257139"/>
                  <a:pt x="257139" y="331304"/>
                  <a:pt x="165652" y="331304"/>
                </a:cubicBezTo>
                <a:lnTo>
                  <a:pt x="165652" y="331304"/>
                </a:lnTo>
                <a:cubicBezTo>
                  <a:pt x="74165" y="331304"/>
                  <a:pt x="0" y="257139"/>
                  <a:pt x="0" y="165652"/>
                </a:cubicBezTo>
                <a:lnTo>
                  <a:pt x="0" y="165652"/>
                </a:lnTo>
                <a:cubicBezTo>
                  <a:pt x="0" y="74165"/>
                  <a:pt x="74165" y="0"/>
                  <a:pt x="16565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12304" y="4650685"/>
            <a:ext cx="115957" cy="132522"/>
          </a:xfrm>
          <a:custGeom>
            <a:avLst/>
            <a:gdLst/>
            <a:ahLst/>
            <a:cxnLst/>
            <a:rect l="l" t="t" r="r" b="b"/>
            <a:pathLst>
              <a:path w="115957" h="132522">
                <a:moveTo>
                  <a:pt x="44260" y="-4141"/>
                </a:moveTo>
                <a:cubicBezTo>
                  <a:pt x="34839" y="-4141"/>
                  <a:pt x="29300" y="10949"/>
                  <a:pt x="26582" y="24848"/>
                </a:cubicBezTo>
                <a:lnTo>
                  <a:pt x="18636" y="24848"/>
                </a:lnTo>
                <a:cubicBezTo>
                  <a:pt x="15193" y="24848"/>
                  <a:pt x="12424" y="27617"/>
                  <a:pt x="12424" y="31060"/>
                </a:cubicBezTo>
                <a:cubicBezTo>
                  <a:pt x="12424" y="34502"/>
                  <a:pt x="15193" y="37272"/>
                  <a:pt x="18636" y="37272"/>
                </a:cubicBezTo>
                <a:lnTo>
                  <a:pt x="24848" y="37272"/>
                </a:lnTo>
                <a:lnTo>
                  <a:pt x="24848" y="45554"/>
                </a:lnTo>
                <a:cubicBezTo>
                  <a:pt x="24848" y="49954"/>
                  <a:pt x="25702" y="54148"/>
                  <a:pt x="27255" y="57978"/>
                </a:cubicBezTo>
                <a:lnTo>
                  <a:pt x="24848" y="57978"/>
                </a:lnTo>
                <a:lnTo>
                  <a:pt x="24848" y="57978"/>
                </a:lnTo>
                <a:lnTo>
                  <a:pt x="19542" y="57978"/>
                </a:lnTo>
                <a:cubicBezTo>
                  <a:pt x="15608" y="57978"/>
                  <a:pt x="12424" y="61162"/>
                  <a:pt x="12424" y="65096"/>
                </a:cubicBezTo>
                <a:cubicBezTo>
                  <a:pt x="12424" y="65873"/>
                  <a:pt x="12553" y="66623"/>
                  <a:pt x="12786" y="67348"/>
                </a:cubicBezTo>
                <a:lnTo>
                  <a:pt x="20267" y="89763"/>
                </a:lnTo>
                <a:cubicBezTo>
                  <a:pt x="10405" y="98252"/>
                  <a:pt x="4141" y="110806"/>
                  <a:pt x="4141" y="124834"/>
                </a:cubicBezTo>
                <a:cubicBezTo>
                  <a:pt x="4141" y="129079"/>
                  <a:pt x="7584" y="132522"/>
                  <a:pt x="11829" y="132522"/>
                </a:cubicBezTo>
                <a:lnTo>
                  <a:pt x="104128" y="132522"/>
                </a:lnTo>
                <a:cubicBezTo>
                  <a:pt x="108373" y="132522"/>
                  <a:pt x="111815" y="129079"/>
                  <a:pt x="111815" y="124834"/>
                </a:cubicBezTo>
                <a:cubicBezTo>
                  <a:pt x="111815" y="110806"/>
                  <a:pt x="105551" y="98252"/>
                  <a:pt x="95690" y="89789"/>
                </a:cubicBezTo>
                <a:lnTo>
                  <a:pt x="103170" y="67374"/>
                </a:lnTo>
                <a:cubicBezTo>
                  <a:pt x="103403" y="66649"/>
                  <a:pt x="103533" y="65899"/>
                  <a:pt x="103533" y="65122"/>
                </a:cubicBezTo>
                <a:cubicBezTo>
                  <a:pt x="103533" y="61188"/>
                  <a:pt x="100349" y="58004"/>
                  <a:pt x="96415" y="58004"/>
                </a:cubicBezTo>
                <a:lnTo>
                  <a:pt x="91109" y="58004"/>
                </a:lnTo>
                <a:lnTo>
                  <a:pt x="91109" y="58004"/>
                </a:lnTo>
                <a:lnTo>
                  <a:pt x="88702" y="58004"/>
                </a:lnTo>
                <a:cubicBezTo>
                  <a:pt x="90255" y="54173"/>
                  <a:pt x="91109" y="49980"/>
                  <a:pt x="91109" y="45580"/>
                </a:cubicBezTo>
                <a:lnTo>
                  <a:pt x="91109" y="37298"/>
                </a:lnTo>
                <a:lnTo>
                  <a:pt x="97321" y="37298"/>
                </a:lnTo>
                <a:cubicBezTo>
                  <a:pt x="100763" y="37298"/>
                  <a:pt x="103533" y="34528"/>
                  <a:pt x="103533" y="31086"/>
                </a:cubicBezTo>
                <a:cubicBezTo>
                  <a:pt x="103533" y="27643"/>
                  <a:pt x="100763" y="24874"/>
                  <a:pt x="97321" y="24874"/>
                </a:cubicBezTo>
                <a:lnTo>
                  <a:pt x="89375" y="24874"/>
                </a:lnTo>
                <a:cubicBezTo>
                  <a:pt x="86683" y="10974"/>
                  <a:pt x="81118" y="-4115"/>
                  <a:pt x="71696" y="-4115"/>
                </a:cubicBezTo>
                <a:cubicBezTo>
                  <a:pt x="69212" y="-4115"/>
                  <a:pt x="66779" y="-3106"/>
                  <a:pt x="64578" y="-1993"/>
                </a:cubicBezTo>
                <a:cubicBezTo>
                  <a:pt x="62456" y="-932"/>
                  <a:pt x="59816" y="26"/>
                  <a:pt x="57978" y="26"/>
                </a:cubicBezTo>
                <a:cubicBezTo>
                  <a:pt x="56141" y="26"/>
                  <a:pt x="53500" y="-932"/>
                  <a:pt x="51378" y="-1993"/>
                </a:cubicBezTo>
                <a:cubicBezTo>
                  <a:pt x="49178" y="-3132"/>
                  <a:pt x="46745" y="-4141"/>
                  <a:pt x="44260" y="-4141"/>
                </a:cubicBezTo>
                <a:close/>
                <a:moveTo>
                  <a:pt x="68513" y="121237"/>
                </a:moveTo>
                <a:lnTo>
                  <a:pt x="62094" y="102886"/>
                </a:lnTo>
                <a:lnTo>
                  <a:pt x="69315" y="94474"/>
                </a:lnTo>
                <a:cubicBezTo>
                  <a:pt x="70014" y="93645"/>
                  <a:pt x="70402" y="92610"/>
                  <a:pt x="70402" y="91523"/>
                </a:cubicBezTo>
                <a:cubicBezTo>
                  <a:pt x="70402" y="89012"/>
                  <a:pt x="68383" y="86993"/>
                  <a:pt x="65873" y="86993"/>
                </a:cubicBezTo>
                <a:lnTo>
                  <a:pt x="50084" y="86993"/>
                </a:lnTo>
                <a:cubicBezTo>
                  <a:pt x="47573" y="86993"/>
                  <a:pt x="45554" y="89012"/>
                  <a:pt x="45554" y="91523"/>
                </a:cubicBezTo>
                <a:cubicBezTo>
                  <a:pt x="45554" y="92610"/>
                  <a:pt x="45943" y="93645"/>
                  <a:pt x="46641" y="94474"/>
                </a:cubicBezTo>
                <a:lnTo>
                  <a:pt x="53863" y="102886"/>
                </a:lnTo>
                <a:lnTo>
                  <a:pt x="47444" y="121237"/>
                </a:lnTo>
                <a:lnTo>
                  <a:pt x="32690" y="74543"/>
                </a:lnTo>
                <a:lnTo>
                  <a:pt x="41931" y="74543"/>
                </a:lnTo>
                <a:cubicBezTo>
                  <a:pt x="46693" y="77184"/>
                  <a:pt x="52155" y="78685"/>
                  <a:pt x="57978" y="78685"/>
                </a:cubicBezTo>
                <a:cubicBezTo>
                  <a:pt x="63802" y="78685"/>
                  <a:pt x="69263" y="77184"/>
                  <a:pt x="74026" y="74543"/>
                </a:cubicBezTo>
                <a:lnTo>
                  <a:pt x="83266" y="74543"/>
                </a:lnTo>
                <a:lnTo>
                  <a:pt x="68513" y="121237"/>
                </a:lnTo>
                <a:close/>
                <a:moveTo>
                  <a:pt x="57978" y="66261"/>
                </a:moveTo>
                <a:cubicBezTo>
                  <a:pt x="48997" y="66261"/>
                  <a:pt x="41361" y="60541"/>
                  <a:pt x="38488" y="52543"/>
                </a:cubicBezTo>
                <a:cubicBezTo>
                  <a:pt x="39964" y="53371"/>
                  <a:pt x="41672" y="53837"/>
                  <a:pt x="43484" y="53837"/>
                </a:cubicBezTo>
                <a:lnTo>
                  <a:pt x="46693" y="53837"/>
                </a:lnTo>
                <a:cubicBezTo>
                  <a:pt x="50964" y="53837"/>
                  <a:pt x="54743" y="51093"/>
                  <a:pt x="56089" y="47056"/>
                </a:cubicBezTo>
                <a:cubicBezTo>
                  <a:pt x="56684" y="45244"/>
                  <a:pt x="59247" y="45244"/>
                  <a:pt x="59842" y="47056"/>
                </a:cubicBezTo>
                <a:cubicBezTo>
                  <a:pt x="61188" y="51093"/>
                  <a:pt x="64993" y="53837"/>
                  <a:pt x="69237" y="53837"/>
                </a:cubicBezTo>
                <a:lnTo>
                  <a:pt x="72447" y="53837"/>
                </a:lnTo>
                <a:cubicBezTo>
                  <a:pt x="74259" y="53837"/>
                  <a:pt x="75967" y="53371"/>
                  <a:pt x="77442" y="52543"/>
                </a:cubicBezTo>
                <a:cubicBezTo>
                  <a:pt x="74569" y="60541"/>
                  <a:pt x="66934" y="66261"/>
                  <a:pt x="57952" y="6626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35326" y="4534728"/>
            <a:ext cx="47210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5326" y="4733511"/>
            <a:ext cx="46382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TC40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5239" y="5064815"/>
            <a:ext cx="5350565" cy="563217"/>
          </a:xfrm>
          <a:custGeom>
            <a:avLst/>
            <a:gdLst/>
            <a:ahLst/>
            <a:cxnLst/>
            <a:rect l="l" t="t" r="r" b="b"/>
            <a:pathLst>
              <a:path w="5350565" h="563217">
                <a:moveTo>
                  <a:pt x="66263" y="0"/>
                </a:moveTo>
                <a:lnTo>
                  <a:pt x="5284303" y="0"/>
                </a:lnTo>
                <a:cubicBezTo>
                  <a:pt x="5320898" y="0"/>
                  <a:pt x="5350565" y="29667"/>
                  <a:pt x="5350565" y="66263"/>
                </a:cubicBezTo>
                <a:lnTo>
                  <a:pt x="5350565" y="496955"/>
                </a:lnTo>
                <a:cubicBezTo>
                  <a:pt x="5350565" y="533551"/>
                  <a:pt x="5320898" y="563217"/>
                  <a:pt x="5284303" y="563217"/>
                </a:cubicBezTo>
                <a:lnTo>
                  <a:pt x="66263" y="563217"/>
                </a:lnTo>
                <a:cubicBezTo>
                  <a:pt x="29667" y="563217"/>
                  <a:pt x="0" y="533551"/>
                  <a:pt x="0" y="49695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04630" y="5180772"/>
            <a:ext cx="331304" cy="331304"/>
          </a:xfrm>
          <a:custGeom>
            <a:avLst/>
            <a:gdLst/>
            <a:ahLst/>
            <a:cxnLst/>
            <a:rect l="l" t="t" r="r" b="b"/>
            <a:pathLst>
              <a:path w="331304" h="331304">
                <a:moveTo>
                  <a:pt x="165652" y="0"/>
                </a:moveTo>
                <a:lnTo>
                  <a:pt x="165652" y="0"/>
                </a:lnTo>
                <a:cubicBezTo>
                  <a:pt x="257139" y="0"/>
                  <a:pt x="331304" y="74165"/>
                  <a:pt x="331304" y="165652"/>
                </a:cubicBezTo>
                <a:lnTo>
                  <a:pt x="331304" y="165652"/>
                </a:lnTo>
                <a:cubicBezTo>
                  <a:pt x="331304" y="257139"/>
                  <a:pt x="257139" y="331304"/>
                  <a:pt x="165652" y="331304"/>
                </a:cubicBezTo>
                <a:lnTo>
                  <a:pt x="165652" y="331304"/>
                </a:lnTo>
                <a:cubicBezTo>
                  <a:pt x="74165" y="331304"/>
                  <a:pt x="0" y="257139"/>
                  <a:pt x="0" y="165652"/>
                </a:cubicBezTo>
                <a:lnTo>
                  <a:pt x="0" y="165652"/>
                </a:lnTo>
                <a:cubicBezTo>
                  <a:pt x="0" y="74165"/>
                  <a:pt x="74165" y="0"/>
                  <a:pt x="165652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04022" y="5280163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0" y="18636"/>
                </a:moveTo>
                <a:cubicBezTo>
                  <a:pt x="0" y="15219"/>
                  <a:pt x="2769" y="12424"/>
                  <a:pt x="6212" y="12424"/>
                </a:cubicBezTo>
                <a:lnTo>
                  <a:pt x="18636" y="12424"/>
                </a:lnTo>
                <a:cubicBezTo>
                  <a:pt x="22078" y="12424"/>
                  <a:pt x="24848" y="15193"/>
                  <a:pt x="24848" y="18636"/>
                </a:cubicBezTo>
                <a:lnTo>
                  <a:pt x="24848" y="45554"/>
                </a:lnTo>
                <a:lnTo>
                  <a:pt x="31060" y="45554"/>
                </a:lnTo>
                <a:cubicBezTo>
                  <a:pt x="34502" y="45554"/>
                  <a:pt x="37272" y="48324"/>
                  <a:pt x="37272" y="51766"/>
                </a:cubicBezTo>
                <a:cubicBezTo>
                  <a:pt x="37272" y="55209"/>
                  <a:pt x="34502" y="57978"/>
                  <a:pt x="31060" y="57978"/>
                </a:cubicBezTo>
                <a:lnTo>
                  <a:pt x="6212" y="57978"/>
                </a:lnTo>
                <a:cubicBezTo>
                  <a:pt x="2769" y="57978"/>
                  <a:pt x="0" y="55209"/>
                  <a:pt x="0" y="51766"/>
                </a:cubicBezTo>
                <a:cubicBezTo>
                  <a:pt x="0" y="48324"/>
                  <a:pt x="2769" y="45554"/>
                  <a:pt x="6212" y="45554"/>
                </a:cubicBezTo>
                <a:lnTo>
                  <a:pt x="12424" y="45554"/>
                </a:lnTo>
                <a:lnTo>
                  <a:pt x="12424" y="24848"/>
                </a:lnTo>
                <a:lnTo>
                  <a:pt x="6212" y="24848"/>
                </a:lnTo>
                <a:cubicBezTo>
                  <a:pt x="2769" y="24848"/>
                  <a:pt x="0" y="22078"/>
                  <a:pt x="0" y="18636"/>
                </a:cubicBezTo>
                <a:close/>
                <a:moveTo>
                  <a:pt x="7868" y="77960"/>
                </a:moveTo>
                <a:cubicBezTo>
                  <a:pt x="10819" y="75734"/>
                  <a:pt x="14417" y="74543"/>
                  <a:pt x="18118" y="74543"/>
                </a:cubicBezTo>
                <a:lnTo>
                  <a:pt x="19386" y="74543"/>
                </a:lnTo>
                <a:cubicBezTo>
                  <a:pt x="28109" y="74543"/>
                  <a:pt x="35201" y="81635"/>
                  <a:pt x="35201" y="90358"/>
                </a:cubicBezTo>
                <a:cubicBezTo>
                  <a:pt x="35201" y="95431"/>
                  <a:pt x="32768" y="100168"/>
                  <a:pt x="28679" y="103144"/>
                </a:cubicBezTo>
                <a:lnTo>
                  <a:pt x="22467" y="107674"/>
                </a:lnTo>
                <a:lnTo>
                  <a:pt x="31060" y="107674"/>
                </a:lnTo>
                <a:cubicBezTo>
                  <a:pt x="34502" y="107674"/>
                  <a:pt x="37272" y="110443"/>
                  <a:pt x="37272" y="113886"/>
                </a:cubicBezTo>
                <a:cubicBezTo>
                  <a:pt x="37272" y="117328"/>
                  <a:pt x="34502" y="120098"/>
                  <a:pt x="31060" y="120098"/>
                </a:cubicBezTo>
                <a:lnTo>
                  <a:pt x="7584" y="120098"/>
                </a:lnTo>
                <a:cubicBezTo>
                  <a:pt x="3391" y="120098"/>
                  <a:pt x="0" y="116707"/>
                  <a:pt x="0" y="112514"/>
                </a:cubicBezTo>
                <a:cubicBezTo>
                  <a:pt x="0" y="110081"/>
                  <a:pt x="1165" y="107803"/>
                  <a:pt x="3132" y="106380"/>
                </a:cubicBezTo>
                <a:lnTo>
                  <a:pt x="21379" y="93102"/>
                </a:lnTo>
                <a:cubicBezTo>
                  <a:pt x="22260" y="92455"/>
                  <a:pt x="22777" y="91445"/>
                  <a:pt x="22777" y="90358"/>
                </a:cubicBezTo>
                <a:cubicBezTo>
                  <a:pt x="22777" y="88494"/>
                  <a:pt x="21250" y="86967"/>
                  <a:pt x="19386" y="86967"/>
                </a:cubicBezTo>
                <a:lnTo>
                  <a:pt x="18118" y="86967"/>
                </a:lnTo>
                <a:cubicBezTo>
                  <a:pt x="17109" y="86967"/>
                  <a:pt x="16125" y="87304"/>
                  <a:pt x="15323" y="87899"/>
                </a:cubicBezTo>
                <a:lnTo>
                  <a:pt x="9939" y="91937"/>
                </a:lnTo>
                <a:cubicBezTo>
                  <a:pt x="7196" y="94008"/>
                  <a:pt x="3313" y="93438"/>
                  <a:pt x="1242" y="90695"/>
                </a:cubicBezTo>
                <a:cubicBezTo>
                  <a:pt x="-828" y="87951"/>
                  <a:pt x="-259" y="84068"/>
                  <a:pt x="2485" y="81998"/>
                </a:cubicBezTo>
                <a:lnTo>
                  <a:pt x="7868" y="77960"/>
                </a:lnTo>
                <a:close/>
                <a:moveTo>
                  <a:pt x="57978" y="16565"/>
                </a:moveTo>
                <a:lnTo>
                  <a:pt x="124239" y="16565"/>
                </a:lnTo>
                <a:cubicBezTo>
                  <a:pt x="128820" y="16565"/>
                  <a:pt x="132522" y="20267"/>
                  <a:pt x="132522" y="24848"/>
                </a:cubicBezTo>
                <a:cubicBezTo>
                  <a:pt x="132522" y="29429"/>
                  <a:pt x="128820" y="33130"/>
                  <a:pt x="124239" y="33130"/>
                </a:cubicBezTo>
                <a:lnTo>
                  <a:pt x="57978" y="33130"/>
                </a:lnTo>
                <a:cubicBezTo>
                  <a:pt x="53397" y="33130"/>
                  <a:pt x="49696" y="29429"/>
                  <a:pt x="49696" y="24848"/>
                </a:cubicBezTo>
                <a:cubicBezTo>
                  <a:pt x="49696" y="20267"/>
                  <a:pt x="53397" y="16565"/>
                  <a:pt x="57978" y="16565"/>
                </a:cubicBezTo>
                <a:close/>
                <a:moveTo>
                  <a:pt x="57978" y="57978"/>
                </a:moveTo>
                <a:lnTo>
                  <a:pt x="124239" y="57978"/>
                </a:lnTo>
                <a:cubicBezTo>
                  <a:pt x="128820" y="57978"/>
                  <a:pt x="132522" y="61680"/>
                  <a:pt x="132522" y="66261"/>
                </a:cubicBezTo>
                <a:cubicBezTo>
                  <a:pt x="132522" y="70842"/>
                  <a:pt x="128820" y="74543"/>
                  <a:pt x="124239" y="74543"/>
                </a:cubicBezTo>
                <a:lnTo>
                  <a:pt x="57978" y="74543"/>
                </a:lnTo>
                <a:cubicBezTo>
                  <a:pt x="53397" y="74543"/>
                  <a:pt x="49696" y="70842"/>
                  <a:pt x="49696" y="66261"/>
                </a:cubicBezTo>
                <a:cubicBezTo>
                  <a:pt x="49696" y="61680"/>
                  <a:pt x="53397" y="57978"/>
                  <a:pt x="57978" y="57978"/>
                </a:cubicBezTo>
                <a:close/>
                <a:moveTo>
                  <a:pt x="57978" y="99391"/>
                </a:moveTo>
                <a:lnTo>
                  <a:pt x="124239" y="99391"/>
                </a:lnTo>
                <a:cubicBezTo>
                  <a:pt x="128820" y="99391"/>
                  <a:pt x="132522" y="103093"/>
                  <a:pt x="132522" y="107674"/>
                </a:cubicBezTo>
                <a:cubicBezTo>
                  <a:pt x="132522" y="112255"/>
                  <a:pt x="128820" y="115957"/>
                  <a:pt x="124239" y="115957"/>
                </a:cubicBezTo>
                <a:lnTo>
                  <a:pt x="57978" y="115957"/>
                </a:lnTo>
                <a:cubicBezTo>
                  <a:pt x="53397" y="115957"/>
                  <a:pt x="49696" y="112255"/>
                  <a:pt x="49696" y="107674"/>
                </a:cubicBezTo>
                <a:cubicBezTo>
                  <a:pt x="49696" y="103093"/>
                  <a:pt x="53397" y="99391"/>
                  <a:pt x="57978" y="99391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35326" y="5164207"/>
            <a:ext cx="120926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Enumeração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5326" y="5362989"/>
            <a:ext cx="1200978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Ataques de força bruta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8826" y="2372967"/>
            <a:ext cx="5681870" cy="3429000"/>
          </a:xfrm>
          <a:custGeom>
            <a:avLst/>
            <a:gdLst/>
            <a:ahLst/>
            <a:cxnLst/>
            <a:rect l="l" t="t" r="r" b="b"/>
            <a:pathLst>
              <a:path w="5681870" h="3429000">
                <a:moveTo>
                  <a:pt x="33130" y="0"/>
                </a:moveTo>
                <a:lnTo>
                  <a:pt x="5615621" y="0"/>
                </a:lnTo>
                <a:cubicBezTo>
                  <a:pt x="5652209" y="0"/>
                  <a:pt x="5681870" y="29660"/>
                  <a:pt x="5681870" y="66248"/>
                </a:cubicBezTo>
                <a:lnTo>
                  <a:pt x="5681870" y="3362752"/>
                </a:lnTo>
                <a:cubicBezTo>
                  <a:pt x="5681870" y="3399340"/>
                  <a:pt x="5652209" y="3429000"/>
                  <a:pt x="5615621" y="3429000"/>
                </a:cubicBezTo>
                <a:lnTo>
                  <a:pt x="33130" y="3429000"/>
                </a:lnTo>
                <a:cubicBezTo>
                  <a:pt x="14833" y="3429000"/>
                  <a:pt x="0" y="3414167"/>
                  <a:pt x="0" y="339587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178826" y="2372967"/>
            <a:ext cx="33130" cy="3429000"/>
          </a:xfrm>
          <a:custGeom>
            <a:avLst/>
            <a:gdLst/>
            <a:ahLst/>
            <a:cxnLst/>
            <a:rect l="l" t="t" r="r" b="b"/>
            <a:pathLst>
              <a:path w="33130" h="3429000">
                <a:moveTo>
                  <a:pt x="33130" y="0"/>
                </a:moveTo>
                <a:lnTo>
                  <a:pt x="33130" y="0"/>
                </a:lnTo>
                <a:lnTo>
                  <a:pt x="33130" y="3429000"/>
                </a:lnTo>
                <a:lnTo>
                  <a:pt x="33130" y="3429000"/>
                </a:lnTo>
                <a:cubicBezTo>
                  <a:pt x="14833" y="3429000"/>
                  <a:pt x="0" y="3414167"/>
                  <a:pt x="0" y="339587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402457" y="2571750"/>
            <a:ext cx="124239" cy="165652"/>
          </a:xfrm>
          <a:custGeom>
            <a:avLst/>
            <a:gdLst/>
            <a:ahLst/>
            <a:cxnLst/>
            <a:rect l="l" t="t" r="r" b="b"/>
            <a:pathLst>
              <a:path w="124239" h="165652">
                <a:moveTo>
                  <a:pt x="20707" y="0"/>
                </a:moveTo>
                <a:cubicBezTo>
                  <a:pt x="9286" y="0"/>
                  <a:pt x="0" y="9286"/>
                  <a:pt x="0" y="20707"/>
                </a:cubicBezTo>
                <a:lnTo>
                  <a:pt x="0" y="144946"/>
                </a:lnTo>
                <a:cubicBezTo>
                  <a:pt x="0" y="156367"/>
                  <a:pt x="9286" y="165652"/>
                  <a:pt x="20707" y="165652"/>
                </a:cubicBezTo>
                <a:lnTo>
                  <a:pt x="103533" y="165652"/>
                </a:lnTo>
                <a:cubicBezTo>
                  <a:pt x="114954" y="165652"/>
                  <a:pt x="124239" y="156367"/>
                  <a:pt x="124239" y="144946"/>
                </a:cubicBezTo>
                <a:lnTo>
                  <a:pt x="124239" y="20707"/>
                </a:lnTo>
                <a:cubicBezTo>
                  <a:pt x="124239" y="9286"/>
                  <a:pt x="114954" y="0"/>
                  <a:pt x="103533" y="0"/>
                </a:cubicBezTo>
                <a:lnTo>
                  <a:pt x="20707" y="0"/>
                </a:lnTo>
                <a:close/>
                <a:moveTo>
                  <a:pt x="31060" y="20707"/>
                </a:moveTo>
                <a:lnTo>
                  <a:pt x="93179" y="20707"/>
                </a:lnTo>
                <a:cubicBezTo>
                  <a:pt x="98906" y="20707"/>
                  <a:pt x="103533" y="25333"/>
                  <a:pt x="103533" y="31060"/>
                </a:cubicBezTo>
                <a:lnTo>
                  <a:pt x="103533" y="41413"/>
                </a:lnTo>
                <a:cubicBezTo>
                  <a:pt x="103533" y="47140"/>
                  <a:pt x="98906" y="51766"/>
                  <a:pt x="93179" y="51766"/>
                </a:cubicBezTo>
                <a:lnTo>
                  <a:pt x="31060" y="51766"/>
                </a:lnTo>
                <a:cubicBezTo>
                  <a:pt x="25333" y="51766"/>
                  <a:pt x="20707" y="47140"/>
                  <a:pt x="20707" y="41413"/>
                </a:cubicBezTo>
                <a:lnTo>
                  <a:pt x="20707" y="31060"/>
                </a:lnTo>
                <a:cubicBezTo>
                  <a:pt x="20707" y="25333"/>
                  <a:pt x="25333" y="20707"/>
                  <a:pt x="31060" y="20707"/>
                </a:cubicBezTo>
                <a:close/>
                <a:moveTo>
                  <a:pt x="36236" y="75061"/>
                </a:moveTo>
                <a:cubicBezTo>
                  <a:pt x="36236" y="79347"/>
                  <a:pt x="32757" y="82826"/>
                  <a:pt x="28471" y="82826"/>
                </a:cubicBezTo>
                <a:cubicBezTo>
                  <a:pt x="24186" y="82826"/>
                  <a:pt x="20707" y="79347"/>
                  <a:pt x="20707" y="75061"/>
                </a:cubicBezTo>
                <a:cubicBezTo>
                  <a:pt x="20707" y="70776"/>
                  <a:pt x="24186" y="67296"/>
                  <a:pt x="28471" y="67296"/>
                </a:cubicBezTo>
                <a:cubicBezTo>
                  <a:pt x="32757" y="67296"/>
                  <a:pt x="36236" y="70776"/>
                  <a:pt x="36236" y="75061"/>
                </a:cubicBezTo>
                <a:close/>
                <a:moveTo>
                  <a:pt x="62120" y="82826"/>
                </a:moveTo>
                <a:cubicBezTo>
                  <a:pt x="57834" y="82826"/>
                  <a:pt x="54355" y="79347"/>
                  <a:pt x="54355" y="75061"/>
                </a:cubicBezTo>
                <a:cubicBezTo>
                  <a:pt x="54355" y="70776"/>
                  <a:pt x="57834" y="67296"/>
                  <a:pt x="62120" y="67296"/>
                </a:cubicBezTo>
                <a:cubicBezTo>
                  <a:pt x="66405" y="67296"/>
                  <a:pt x="69885" y="70776"/>
                  <a:pt x="69885" y="75061"/>
                </a:cubicBezTo>
                <a:cubicBezTo>
                  <a:pt x="69885" y="79347"/>
                  <a:pt x="66405" y="82826"/>
                  <a:pt x="62120" y="82826"/>
                </a:cubicBezTo>
                <a:close/>
                <a:moveTo>
                  <a:pt x="103533" y="75061"/>
                </a:moveTo>
                <a:cubicBezTo>
                  <a:pt x="103533" y="79347"/>
                  <a:pt x="100053" y="82826"/>
                  <a:pt x="95768" y="82826"/>
                </a:cubicBezTo>
                <a:cubicBezTo>
                  <a:pt x="91482" y="82826"/>
                  <a:pt x="88003" y="79347"/>
                  <a:pt x="88003" y="75061"/>
                </a:cubicBezTo>
                <a:cubicBezTo>
                  <a:pt x="88003" y="70776"/>
                  <a:pt x="91482" y="67296"/>
                  <a:pt x="95768" y="67296"/>
                </a:cubicBezTo>
                <a:cubicBezTo>
                  <a:pt x="100053" y="67296"/>
                  <a:pt x="103533" y="70776"/>
                  <a:pt x="103533" y="75061"/>
                </a:cubicBezTo>
                <a:close/>
                <a:moveTo>
                  <a:pt x="28471" y="113886"/>
                </a:moveTo>
                <a:cubicBezTo>
                  <a:pt x="24186" y="113886"/>
                  <a:pt x="20707" y="110407"/>
                  <a:pt x="20707" y="106121"/>
                </a:cubicBezTo>
                <a:cubicBezTo>
                  <a:pt x="20707" y="101835"/>
                  <a:pt x="24186" y="98356"/>
                  <a:pt x="28471" y="98356"/>
                </a:cubicBezTo>
                <a:cubicBezTo>
                  <a:pt x="32757" y="98356"/>
                  <a:pt x="36236" y="101835"/>
                  <a:pt x="36236" y="106121"/>
                </a:cubicBezTo>
                <a:cubicBezTo>
                  <a:pt x="36236" y="110407"/>
                  <a:pt x="32757" y="113886"/>
                  <a:pt x="28471" y="113886"/>
                </a:cubicBezTo>
                <a:close/>
                <a:moveTo>
                  <a:pt x="69885" y="106121"/>
                </a:moveTo>
                <a:cubicBezTo>
                  <a:pt x="69885" y="110407"/>
                  <a:pt x="66405" y="113886"/>
                  <a:pt x="62120" y="113886"/>
                </a:cubicBezTo>
                <a:cubicBezTo>
                  <a:pt x="57834" y="113886"/>
                  <a:pt x="54355" y="110407"/>
                  <a:pt x="54355" y="106121"/>
                </a:cubicBezTo>
                <a:cubicBezTo>
                  <a:pt x="54355" y="101835"/>
                  <a:pt x="57834" y="98356"/>
                  <a:pt x="62120" y="98356"/>
                </a:cubicBezTo>
                <a:cubicBezTo>
                  <a:pt x="66405" y="98356"/>
                  <a:pt x="69885" y="101835"/>
                  <a:pt x="69885" y="106121"/>
                </a:cubicBezTo>
                <a:close/>
                <a:moveTo>
                  <a:pt x="95768" y="113886"/>
                </a:moveTo>
                <a:cubicBezTo>
                  <a:pt x="91482" y="113886"/>
                  <a:pt x="88003" y="110407"/>
                  <a:pt x="88003" y="106121"/>
                </a:cubicBezTo>
                <a:cubicBezTo>
                  <a:pt x="88003" y="101835"/>
                  <a:pt x="91482" y="98356"/>
                  <a:pt x="95768" y="98356"/>
                </a:cubicBezTo>
                <a:cubicBezTo>
                  <a:pt x="100053" y="98356"/>
                  <a:pt x="103533" y="101835"/>
                  <a:pt x="103533" y="106121"/>
                </a:cubicBezTo>
                <a:cubicBezTo>
                  <a:pt x="103533" y="110407"/>
                  <a:pt x="100053" y="113886"/>
                  <a:pt x="95768" y="113886"/>
                </a:cubicBezTo>
                <a:close/>
                <a:moveTo>
                  <a:pt x="20707" y="137181"/>
                </a:moveTo>
                <a:cubicBezTo>
                  <a:pt x="20707" y="132878"/>
                  <a:pt x="24168" y="129416"/>
                  <a:pt x="28471" y="129416"/>
                </a:cubicBezTo>
                <a:lnTo>
                  <a:pt x="64708" y="129416"/>
                </a:lnTo>
                <a:cubicBezTo>
                  <a:pt x="69011" y="129416"/>
                  <a:pt x="72473" y="132878"/>
                  <a:pt x="72473" y="137181"/>
                </a:cubicBezTo>
                <a:cubicBezTo>
                  <a:pt x="72473" y="141484"/>
                  <a:pt x="69011" y="144946"/>
                  <a:pt x="64708" y="144946"/>
                </a:cubicBezTo>
                <a:lnTo>
                  <a:pt x="28471" y="144946"/>
                </a:lnTo>
                <a:cubicBezTo>
                  <a:pt x="24168" y="144946"/>
                  <a:pt x="20707" y="141484"/>
                  <a:pt x="20707" y="137181"/>
                </a:cubicBezTo>
                <a:close/>
                <a:moveTo>
                  <a:pt x="95768" y="129416"/>
                </a:moveTo>
                <a:cubicBezTo>
                  <a:pt x="100071" y="129416"/>
                  <a:pt x="103533" y="132878"/>
                  <a:pt x="103533" y="137181"/>
                </a:cubicBezTo>
                <a:cubicBezTo>
                  <a:pt x="103533" y="141484"/>
                  <a:pt x="100071" y="144946"/>
                  <a:pt x="95768" y="144946"/>
                </a:cubicBezTo>
                <a:cubicBezTo>
                  <a:pt x="91465" y="144946"/>
                  <a:pt x="88003" y="141484"/>
                  <a:pt x="88003" y="137181"/>
                </a:cubicBezTo>
                <a:cubicBezTo>
                  <a:pt x="88003" y="132878"/>
                  <a:pt x="91465" y="129416"/>
                  <a:pt x="95768" y="12941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68109" y="2538620"/>
            <a:ext cx="5209761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Métricas do VAMP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1043" y="2869924"/>
            <a:ext cx="5334000" cy="1209261"/>
          </a:xfrm>
          <a:custGeom>
            <a:avLst/>
            <a:gdLst/>
            <a:ahLst/>
            <a:cxnLst/>
            <a:rect l="l" t="t" r="r" b="b"/>
            <a:pathLst>
              <a:path w="5334000" h="1209261">
                <a:moveTo>
                  <a:pt x="66255" y="0"/>
                </a:moveTo>
                <a:lnTo>
                  <a:pt x="5267745" y="0"/>
                </a:lnTo>
                <a:cubicBezTo>
                  <a:pt x="5304336" y="0"/>
                  <a:pt x="5334000" y="29664"/>
                  <a:pt x="5334000" y="66255"/>
                </a:cubicBezTo>
                <a:lnTo>
                  <a:pt x="5334000" y="1143005"/>
                </a:lnTo>
                <a:cubicBezTo>
                  <a:pt x="5334000" y="1179597"/>
                  <a:pt x="5304336" y="1209261"/>
                  <a:pt x="5267745" y="1209261"/>
                </a:cubicBezTo>
                <a:lnTo>
                  <a:pt x="66255" y="1209261"/>
                </a:lnTo>
                <a:cubicBezTo>
                  <a:pt x="29664" y="1209261"/>
                  <a:pt x="0" y="1179597"/>
                  <a:pt x="0" y="1143005"/>
                </a:cubicBezTo>
                <a:lnTo>
                  <a:pt x="0" y="66255"/>
                </a:lnTo>
                <a:cubicBezTo>
                  <a:pt x="0" y="29664"/>
                  <a:pt x="29664" y="0"/>
                  <a:pt x="662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493565" y="3002446"/>
            <a:ext cx="514350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Cálculo do VAMP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97707" y="3304761"/>
            <a:ext cx="5060674" cy="405848"/>
          </a:xfrm>
          <a:custGeom>
            <a:avLst/>
            <a:gdLst/>
            <a:ahLst/>
            <a:cxnLst/>
            <a:rect l="l" t="t" r="r" b="b"/>
            <a:pathLst>
              <a:path w="5060674" h="405848">
                <a:moveTo>
                  <a:pt x="66263" y="0"/>
                </a:moveTo>
                <a:lnTo>
                  <a:pt x="4994411" y="0"/>
                </a:lnTo>
                <a:cubicBezTo>
                  <a:pt x="5031007" y="0"/>
                  <a:pt x="5060674" y="29667"/>
                  <a:pt x="5060674" y="66263"/>
                </a:cubicBezTo>
                <a:lnTo>
                  <a:pt x="5060674" y="339585"/>
                </a:lnTo>
                <a:cubicBezTo>
                  <a:pt x="5060674" y="376181"/>
                  <a:pt x="5031007" y="405848"/>
                  <a:pt x="4994411" y="405848"/>
                </a:cubicBezTo>
                <a:lnTo>
                  <a:pt x="66263" y="405848"/>
                </a:lnTo>
                <a:cubicBezTo>
                  <a:pt x="29691" y="405848"/>
                  <a:pt x="0" y="376156"/>
                  <a:pt x="0" y="33958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568109" y="3408293"/>
            <a:ext cx="491987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3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(TC40 + TC15) ÷ Total Transações Liquidadas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3565" y="3781011"/>
            <a:ext cx="5126935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Fraudes CNP + Disputas não relacionadas a fraude ÷ Transações CNP liquidadas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1043" y="4178576"/>
            <a:ext cx="5334000" cy="1209261"/>
          </a:xfrm>
          <a:custGeom>
            <a:avLst/>
            <a:gdLst/>
            <a:ahLst/>
            <a:cxnLst/>
            <a:rect l="l" t="t" r="r" b="b"/>
            <a:pathLst>
              <a:path w="5334000" h="1209261">
                <a:moveTo>
                  <a:pt x="66255" y="0"/>
                </a:moveTo>
                <a:lnTo>
                  <a:pt x="5267745" y="0"/>
                </a:lnTo>
                <a:cubicBezTo>
                  <a:pt x="5304336" y="0"/>
                  <a:pt x="5334000" y="29664"/>
                  <a:pt x="5334000" y="66255"/>
                </a:cubicBezTo>
                <a:lnTo>
                  <a:pt x="5334000" y="1143005"/>
                </a:lnTo>
                <a:cubicBezTo>
                  <a:pt x="5334000" y="1179597"/>
                  <a:pt x="5304336" y="1209261"/>
                  <a:pt x="5267745" y="1209261"/>
                </a:cubicBezTo>
                <a:lnTo>
                  <a:pt x="66255" y="1209261"/>
                </a:lnTo>
                <a:cubicBezTo>
                  <a:pt x="29664" y="1209261"/>
                  <a:pt x="0" y="1179597"/>
                  <a:pt x="0" y="1143005"/>
                </a:cubicBezTo>
                <a:lnTo>
                  <a:pt x="0" y="66255"/>
                </a:lnTo>
                <a:cubicBezTo>
                  <a:pt x="0" y="29664"/>
                  <a:pt x="29664" y="0"/>
                  <a:pt x="662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493565" y="4311098"/>
            <a:ext cx="514350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Cálculo de Enumeração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97707" y="4613413"/>
            <a:ext cx="5060674" cy="405848"/>
          </a:xfrm>
          <a:custGeom>
            <a:avLst/>
            <a:gdLst/>
            <a:ahLst/>
            <a:cxnLst/>
            <a:rect l="l" t="t" r="r" b="b"/>
            <a:pathLst>
              <a:path w="5060674" h="405848">
                <a:moveTo>
                  <a:pt x="66263" y="0"/>
                </a:moveTo>
                <a:lnTo>
                  <a:pt x="4994411" y="0"/>
                </a:lnTo>
                <a:cubicBezTo>
                  <a:pt x="5031007" y="0"/>
                  <a:pt x="5060674" y="29667"/>
                  <a:pt x="5060674" y="66263"/>
                </a:cubicBezTo>
                <a:lnTo>
                  <a:pt x="5060674" y="339585"/>
                </a:lnTo>
                <a:cubicBezTo>
                  <a:pt x="5060674" y="376181"/>
                  <a:pt x="5031007" y="405848"/>
                  <a:pt x="4994411" y="405848"/>
                </a:cubicBezTo>
                <a:lnTo>
                  <a:pt x="66263" y="405848"/>
                </a:lnTo>
                <a:cubicBezTo>
                  <a:pt x="29691" y="405848"/>
                  <a:pt x="0" y="376156"/>
                  <a:pt x="0" y="339585"/>
                </a:cubicBezTo>
                <a:lnTo>
                  <a:pt x="0" y="66263"/>
                </a:lnTo>
                <a:cubicBezTo>
                  <a:pt x="0" y="29691"/>
                  <a:pt x="29691" y="0"/>
                  <a:pt x="6626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568109" y="4716946"/>
            <a:ext cx="491987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3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Transações Enumeradas ÷ Transações Autorizadas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93565" y="5089663"/>
            <a:ext cx="5126935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Contagem de transações de autorização enumeradas (aprovadas + negadas)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35446" y="5938630"/>
            <a:ext cx="11521109" cy="472109"/>
          </a:xfrm>
          <a:custGeom>
            <a:avLst/>
            <a:gdLst/>
            <a:ahLst/>
            <a:cxnLst/>
            <a:rect l="l" t="t" r="r" b="b"/>
            <a:pathLst>
              <a:path w="11521109" h="472109">
                <a:moveTo>
                  <a:pt x="66260" y="0"/>
                </a:moveTo>
                <a:lnTo>
                  <a:pt x="11454848" y="0"/>
                </a:lnTo>
                <a:cubicBezTo>
                  <a:pt x="11491443" y="0"/>
                  <a:pt x="11521109" y="29666"/>
                  <a:pt x="11521109" y="66260"/>
                </a:cubicBezTo>
                <a:lnTo>
                  <a:pt x="11521109" y="405848"/>
                </a:lnTo>
                <a:cubicBezTo>
                  <a:pt x="11521109" y="442443"/>
                  <a:pt x="11491443" y="472109"/>
                  <a:pt x="11454848" y="472109"/>
                </a:cubicBezTo>
                <a:lnTo>
                  <a:pt x="66260" y="472109"/>
                </a:lnTo>
                <a:cubicBezTo>
                  <a:pt x="29690" y="472109"/>
                  <a:pt x="0" y="442418"/>
                  <a:pt x="0" y="405848"/>
                </a:cubicBezTo>
                <a:lnTo>
                  <a:pt x="0" y="66260"/>
                </a:lnTo>
                <a:cubicBezTo>
                  <a:pt x="0" y="29690"/>
                  <a:pt x="29690" y="0"/>
                  <a:pt x="6626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488674" y="6108424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66261" y="132522"/>
                </a:moveTo>
                <a:cubicBezTo>
                  <a:pt x="102831" y="132522"/>
                  <a:pt x="132522" y="102831"/>
                  <a:pt x="132522" y="66261"/>
                </a:cubicBezTo>
                <a:cubicBezTo>
                  <a:pt x="132522" y="29691"/>
                  <a:pt x="102831" y="0"/>
                  <a:pt x="66261" y="0"/>
                </a:cubicBezTo>
                <a:cubicBezTo>
                  <a:pt x="29691" y="0"/>
                  <a:pt x="0" y="29691"/>
                  <a:pt x="0" y="66261"/>
                </a:cubicBezTo>
                <a:cubicBezTo>
                  <a:pt x="0" y="102831"/>
                  <a:pt x="29691" y="132522"/>
                  <a:pt x="66261" y="132522"/>
                </a:cubicBezTo>
                <a:close/>
                <a:moveTo>
                  <a:pt x="57978" y="41413"/>
                </a:moveTo>
                <a:cubicBezTo>
                  <a:pt x="57978" y="36842"/>
                  <a:pt x="61690" y="33130"/>
                  <a:pt x="66261" y="33130"/>
                </a:cubicBezTo>
                <a:cubicBezTo>
                  <a:pt x="70832" y="33130"/>
                  <a:pt x="74543" y="36842"/>
                  <a:pt x="74543" y="41413"/>
                </a:cubicBezTo>
                <a:cubicBezTo>
                  <a:pt x="74543" y="45984"/>
                  <a:pt x="70832" y="49696"/>
                  <a:pt x="66261" y="49696"/>
                </a:cubicBezTo>
                <a:cubicBezTo>
                  <a:pt x="61690" y="49696"/>
                  <a:pt x="57978" y="45984"/>
                  <a:pt x="57978" y="41413"/>
                </a:cubicBezTo>
                <a:close/>
                <a:moveTo>
                  <a:pt x="55908" y="57978"/>
                </a:moveTo>
                <a:lnTo>
                  <a:pt x="68332" y="57978"/>
                </a:lnTo>
                <a:cubicBezTo>
                  <a:pt x="71774" y="57978"/>
                  <a:pt x="74543" y="60748"/>
                  <a:pt x="74543" y="64190"/>
                </a:cubicBezTo>
                <a:lnTo>
                  <a:pt x="74543" y="86967"/>
                </a:lnTo>
                <a:lnTo>
                  <a:pt x="76614" y="86967"/>
                </a:lnTo>
                <a:cubicBezTo>
                  <a:pt x="80057" y="86967"/>
                  <a:pt x="82826" y="89737"/>
                  <a:pt x="82826" y="93179"/>
                </a:cubicBezTo>
                <a:cubicBezTo>
                  <a:pt x="82826" y="96622"/>
                  <a:pt x="80057" y="99391"/>
                  <a:pt x="76614" y="99391"/>
                </a:cubicBezTo>
                <a:lnTo>
                  <a:pt x="55908" y="99391"/>
                </a:lnTo>
                <a:cubicBezTo>
                  <a:pt x="52465" y="99391"/>
                  <a:pt x="49696" y="96622"/>
                  <a:pt x="49696" y="93179"/>
                </a:cubicBezTo>
                <a:cubicBezTo>
                  <a:pt x="49696" y="89737"/>
                  <a:pt x="52465" y="86967"/>
                  <a:pt x="55908" y="86967"/>
                </a:cubicBezTo>
                <a:lnTo>
                  <a:pt x="62120" y="86967"/>
                </a:lnTo>
                <a:lnTo>
                  <a:pt x="62120" y="70402"/>
                </a:lnTo>
                <a:lnTo>
                  <a:pt x="55908" y="70402"/>
                </a:lnTo>
                <a:cubicBezTo>
                  <a:pt x="52465" y="70402"/>
                  <a:pt x="49696" y="67633"/>
                  <a:pt x="49696" y="64190"/>
                </a:cubicBezTo>
                <a:cubicBezTo>
                  <a:pt x="49696" y="60748"/>
                  <a:pt x="52465" y="57978"/>
                  <a:pt x="55908" y="5797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80974" y="6075293"/>
            <a:ext cx="11105178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Identificação:</a:t>
            </a:r>
            <a:r>
              <a:rPr lang="en-US" sz="1043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credenciador pode ser identificado no VAMP se exceder os limites da Proporção do VAMP, ou se o comerciante exceder os limites de Proporção ou Enumeração.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6676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kern="0" spc="55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625231"/>
            <a:ext cx="11653607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VAMP - Níveis de Identificação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18" y="1111521"/>
            <a:ext cx="5661812" cy="4897641"/>
          </a:xfrm>
          <a:custGeom>
            <a:avLst/>
            <a:gdLst/>
            <a:ahLst/>
            <a:cxnLst/>
            <a:rect l="l" t="t" r="r" b="b"/>
            <a:pathLst>
              <a:path w="5661812" h="4897641">
                <a:moveTo>
                  <a:pt x="34735" y="0"/>
                </a:moveTo>
                <a:lnTo>
                  <a:pt x="5592363" y="0"/>
                </a:lnTo>
                <a:cubicBezTo>
                  <a:pt x="5630719" y="0"/>
                  <a:pt x="5661812" y="31093"/>
                  <a:pt x="5661812" y="69449"/>
                </a:cubicBezTo>
                <a:lnTo>
                  <a:pt x="5661812" y="4828192"/>
                </a:lnTo>
                <a:cubicBezTo>
                  <a:pt x="5661812" y="4866548"/>
                  <a:pt x="5630719" y="4897641"/>
                  <a:pt x="5592363" y="4897641"/>
                </a:cubicBezTo>
                <a:lnTo>
                  <a:pt x="34735" y="4897641"/>
                </a:lnTo>
                <a:cubicBezTo>
                  <a:pt x="15551" y="4897641"/>
                  <a:pt x="0" y="4882090"/>
                  <a:pt x="0" y="486290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4718" y="1111521"/>
            <a:ext cx="34735" cy="4897641"/>
          </a:xfrm>
          <a:custGeom>
            <a:avLst/>
            <a:gdLst/>
            <a:ahLst/>
            <a:cxnLst/>
            <a:rect l="l" t="t" r="r" b="b"/>
            <a:pathLst>
              <a:path w="34735" h="4897641">
                <a:moveTo>
                  <a:pt x="34735" y="0"/>
                </a:moveTo>
                <a:lnTo>
                  <a:pt x="34735" y="0"/>
                </a:lnTo>
                <a:lnTo>
                  <a:pt x="34735" y="4897641"/>
                </a:lnTo>
                <a:lnTo>
                  <a:pt x="34735" y="4897641"/>
                </a:lnTo>
                <a:cubicBezTo>
                  <a:pt x="15551" y="4897641"/>
                  <a:pt x="0" y="4882090"/>
                  <a:pt x="0" y="486290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55761" y="1285197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277880" y="0"/>
                </a:moveTo>
                <a:lnTo>
                  <a:pt x="277880" y="0"/>
                </a:lnTo>
                <a:cubicBezTo>
                  <a:pt x="431247" y="0"/>
                  <a:pt x="555761" y="124514"/>
                  <a:pt x="555761" y="277880"/>
                </a:cubicBezTo>
                <a:lnTo>
                  <a:pt x="555761" y="277880"/>
                </a:lnTo>
                <a:cubicBezTo>
                  <a:pt x="555761" y="431247"/>
                  <a:pt x="431247" y="555761"/>
                  <a:pt x="277880" y="555761"/>
                </a:cubicBezTo>
                <a:lnTo>
                  <a:pt x="277880" y="555761"/>
                </a:lnTo>
                <a:cubicBezTo>
                  <a:pt x="124514" y="555761"/>
                  <a:pt x="0" y="431247"/>
                  <a:pt x="0" y="277880"/>
                </a:cubicBezTo>
                <a:lnTo>
                  <a:pt x="0" y="277880"/>
                </a:lnTo>
                <a:cubicBezTo>
                  <a:pt x="0" y="124514"/>
                  <a:pt x="124514" y="0"/>
                  <a:pt x="27788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38120" y="1432821"/>
            <a:ext cx="195385" cy="260513"/>
          </a:xfrm>
          <a:custGeom>
            <a:avLst/>
            <a:gdLst/>
            <a:ahLst/>
            <a:cxnLst/>
            <a:rect l="l" t="t" r="r" b="b"/>
            <a:pathLst>
              <a:path w="195385" h="260513">
                <a:moveTo>
                  <a:pt x="109192" y="8853"/>
                </a:moveTo>
                <a:cubicBezTo>
                  <a:pt x="102831" y="2493"/>
                  <a:pt x="92502" y="2493"/>
                  <a:pt x="86142" y="8853"/>
                </a:cubicBezTo>
                <a:lnTo>
                  <a:pt x="4732" y="90264"/>
                </a:lnTo>
                <a:cubicBezTo>
                  <a:pt x="-1628" y="96624"/>
                  <a:pt x="-1628" y="106953"/>
                  <a:pt x="4732" y="113313"/>
                </a:cubicBezTo>
                <a:cubicBezTo>
                  <a:pt x="11092" y="119673"/>
                  <a:pt x="21421" y="119673"/>
                  <a:pt x="27781" y="113313"/>
                </a:cubicBezTo>
                <a:lnTo>
                  <a:pt x="81410" y="59684"/>
                </a:lnTo>
                <a:lnTo>
                  <a:pt x="81410" y="248301"/>
                </a:lnTo>
                <a:cubicBezTo>
                  <a:pt x="81410" y="257307"/>
                  <a:pt x="88686" y="264583"/>
                  <a:pt x="97692" y="264583"/>
                </a:cubicBezTo>
                <a:cubicBezTo>
                  <a:pt x="106698" y="264583"/>
                  <a:pt x="113974" y="257307"/>
                  <a:pt x="113974" y="248301"/>
                </a:cubicBezTo>
                <a:lnTo>
                  <a:pt x="113974" y="59684"/>
                </a:lnTo>
                <a:lnTo>
                  <a:pt x="167603" y="113313"/>
                </a:lnTo>
                <a:cubicBezTo>
                  <a:pt x="173964" y="119673"/>
                  <a:pt x="184292" y="119673"/>
                  <a:pt x="190653" y="113313"/>
                </a:cubicBezTo>
                <a:cubicBezTo>
                  <a:pt x="197013" y="106953"/>
                  <a:pt x="197013" y="96624"/>
                  <a:pt x="190653" y="90264"/>
                </a:cubicBezTo>
                <a:lnTo>
                  <a:pt x="109242" y="8853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50462" y="1285197"/>
            <a:ext cx="2066735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Acima do Padrão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0462" y="1597812"/>
            <a:ext cx="2014632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Above Standard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761" y="1979897"/>
            <a:ext cx="5297094" cy="937846"/>
          </a:xfrm>
          <a:custGeom>
            <a:avLst/>
            <a:gdLst/>
            <a:ahLst/>
            <a:cxnLst/>
            <a:rect l="l" t="t" r="r" b="b"/>
            <a:pathLst>
              <a:path w="5297094" h="937846">
                <a:moveTo>
                  <a:pt x="69466" y="0"/>
                </a:moveTo>
                <a:lnTo>
                  <a:pt x="5227628" y="0"/>
                </a:lnTo>
                <a:cubicBezTo>
                  <a:pt x="5265993" y="0"/>
                  <a:pt x="5297094" y="31101"/>
                  <a:pt x="5297094" y="69466"/>
                </a:cubicBezTo>
                <a:lnTo>
                  <a:pt x="5297094" y="868380"/>
                </a:lnTo>
                <a:cubicBezTo>
                  <a:pt x="5297094" y="906745"/>
                  <a:pt x="5265993" y="937846"/>
                  <a:pt x="5227628" y="937846"/>
                </a:cubicBezTo>
                <a:lnTo>
                  <a:pt x="69466" y="937846"/>
                </a:lnTo>
                <a:cubicBezTo>
                  <a:pt x="31101" y="937846"/>
                  <a:pt x="0" y="906745"/>
                  <a:pt x="0" y="868380"/>
                </a:cubicBezTo>
                <a:lnTo>
                  <a:pt x="0" y="69466"/>
                </a:lnTo>
                <a:cubicBezTo>
                  <a:pt x="0" y="31101"/>
                  <a:pt x="31101" y="0"/>
                  <a:pt x="6946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9966" y="2084103"/>
            <a:ext cx="516683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Indicador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9966" y="2396718"/>
            <a:ext cx="5158154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Este nível indica um </a:t>
            </a:r>
            <a:r>
              <a:rPr lang="en-US" sz="109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aumento significativo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 atividade de fraude, disputa ou enumeração </a:t>
            </a:r>
            <a:r>
              <a:rPr lang="en-US" sz="109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acima do desempenho padrão de mercado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5761" y="3021949"/>
            <a:ext cx="5297094" cy="729436"/>
          </a:xfrm>
          <a:custGeom>
            <a:avLst/>
            <a:gdLst/>
            <a:ahLst/>
            <a:cxnLst/>
            <a:rect l="l" t="t" r="r" b="b"/>
            <a:pathLst>
              <a:path w="5297094" h="729436">
                <a:moveTo>
                  <a:pt x="69471" y="0"/>
                </a:moveTo>
                <a:lnTo>
                  <a:pt x="5227623" y="0"/>
                </a:lnTo>
                <a:cubicBezTo>
                  <a:pt x="5265991" y="0"/>
                  <a:pt x="5297094" y="31103"/>
                  <a:pt x="5297094" y="69471"/>
                </a:cubicBezTo>
                <a:lnTo>
                  <a:pt x="5297094" y="659964"/>
                </a:lnTo>
                <a:cubicBezTo>
                  <a:pt x="5297094" y="698332"/>
                  <a:pt x="5265991" y="729436"/>
                  <a:pt x="5227623" y="729436"/>
                </a:cubicBezTo>
                <a:lnTo>
                  <a:pt x="69471" y="729436"/>
                </a:lnTo>
                <a:cubicBezTo>
                  <a:pt x="31103" y="729436"/>
                  <a:pt x="0" y="698332"/>
                  <a:pt x="0" y="659964"/>
                </a:cubicBezTo>
                <a:lnTo>
                  <a:pt x="0" y="69471"/>
                </a:lnTo>
                <a:cubicBezTo>
                  <a:pt x="0" y="31129"/>
                  <a:pt x="31129" y="0"/>
                  <a:pt x="694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9966" y="3126154"/>
            <a:ext cx="516683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Ação Requerida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966" y="3438769"/>
            <a:ext cx="5158154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Requer </a:t>
            </a:r>
            <a:r>
              <a:rPr lang="en-US" sz="109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medidas corretivas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trazer o desempenho de volta ao nível padrão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5761" y="3855590"/>
            <a:ext cx="5297094" cy="937846"/>
          </a:xfrm>
          <a:custGeom>
            <a:avLst/>
            <a:gdLst/>
            <a:ahLst/>
            <a:cxnLst/>
            <a:rect l="l" t="t" r="r" b="b"/>
            <a:pathLst>
              <a:path w="5297094" h="937846">
                <a:moveTo>
                  <a:pt x="69466" y="0"/>
                </a:moveTo>
                <a:lnTo>
                  <a:pt x="5227628" y="0"/>
                </a:lnTo>
                <a:cubicBezTo>
                  <a:pt x="5265993" y="0"/>
                  <a:pt x="5297094" y="31101"/>
                  <a:pt x="5297094" y="69466"/>
                </a:cubicBezTo>
                <a:lnTo>
                  <a:pt x="5297094" y="868380"/>
                </a:lnTo>
                <a:cubicBezTo>
                  <a:pt x="5297094" y="906745"/>
                  <a:pt x="5265993" y="937846"/>
                  <a:pt x="5227628" y="937846"/>
                </a:cubicBezTo>
                <a:lnTo>
                  <a:pt x="69466" y="937846"/>
                </a:lnTo>
                <a:cubicBezTo>
                  <a:pt x="31101" y="937846"/>
                  <a:pt x="0" y="906745"/>
                  <a:pt x="0" y="868380"/>
                </a:cubicBezTo>
                <a:lnTo>
                  <a:pt x="0" y="69466"/>
                </a:lnTo>
                <a:cubicBezTo>
                  <a:pt x="0" y="31101"/>
                  <a:pt x="31101" y="0"/>
                  <a:pt x="6946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9966" y="3959795"/>
            <a:ext cx="516683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Monitoramento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966" y="4272410"/>
            <a:ext cx="5158154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Este nível monitora a atividade de </a:t>
            </a:r>
            <a:r>
              <a:rPr lang="en-US" sz="109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fraude e disputa no nível da carteira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Adquirente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4737" y="1111521"/>
            <a:ext cx="5661812" cy="4897641"/>
          </a:xfrm>
          <a:custGeom>
            <a:avLst/>
            <a:gdLst/>
            <a:ahLst/>
            <a:cxnLst/>
            <a:rect l="l" t="t" r="r" b="b"/>
            <a:pathLst>
              <a:path w="5661812" h="4897641">
                <a:moveTo>
                  <a:pt x="34735" y="0"/>
                </a:moveTo>
                <a:lnTo>
                  <a:pt x="5592363" y="0"/>
                </a:lnTo>
                <a:cubicBezTo>
                  <a:pt x="5630719" y="0"/>
                  <a:pt x="5661812" y="31093"/>
                  <a:pt x="5661812" y="69449"/>
                </a:cubicBezTo>
                <a:lnTo>
                  <a:pt x="5661812" y="4828192"/>
                </a:lnTo>
                <a:cubicBezTo>
                  <a:pt x="5661812" y="4866548"/>
                  <a:pt x="5630719" y="4897641"/>
                  <a:pt x="5592363" y="4897641"/>
                </a:cubicBezTo>
                <a:lnTo>
                  <a:pt x="34735" y="4897641"/>
                </a:lnTo>
                <a:cubicBezTo>
                  <a:pt x="15551" y="4897641"/>
                  <a:pt x="0" y="4882090"/>
                  <a:pt x="0" y="486290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184737" y="1111521"/>
            <a:ext cx="34735" cy="4897641"/>
          </a:xfrm>
          <a:custGeom>
            <a:avLst/>
            <a:gdLst/>
            <a:ahLst/>
            <a:cxnLst/>
            <a:rect l="l" t="t" r="r" b="b"/>
            <a:pathLst>
              <a:path w="34735" h="4897641">
                <a:moveTo>
                  <a:pt x="34735" y="0"/>
                </a:moveTo>
                <a:lnTo>
                  <a:pt x="34735" y="0"/>
                </a:lnTo>
                <a:lnTo>
                  <a:pt x="34735" y="4897641"/>
                </a:lnTo>
                <a:lnTo>
                  <a:pt x="34735" y="4897641"/>
                </a:lnTo>
                <a:cubicBezTo>
                  <a:pt x="15551" y="4897641"/>
                  <a:pt x="0" y="4882090"/>
                  <a:pt x="0" y="486290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375780" y="1285197"/>
            <a:ext cx="555761" cy="555761"/>
          </a:xfrm>
          <a:custGeom>
            <a:avLst/>
            <a:gdLst/>
            <a:ahLst/>
            <a:cxnLst/>
            <a:rect l="l" t="t" r="r" b="b"/>
            <a:pathLst>
              <a:path w="555761" h="555761">
                <a:moveTo>
                  <a:pt x="277880" y="0"/>
                </a:moveTo>
                <a:lnTo>
                  <a:pt x="277880" y="0"/>
                </a:lnTo>
                <a:cubicBezTo>
                  <a:pt x="431247" y="0"/>
                  <a:pt x="555761" y="124514"/>
                  <a:pt x="555761" y="277880"/>
                </a:cubicBezTo>
                <a:lnTo>
                  <a:pt x="555761" y="277880"/>
                </a:lnTo>
                <a:cubicBezTo>
                  <a:pt x="555761" y="431247"/>
                  <a:pt x="431247" y="555761"/>
                  <a:pt x="277880" y="555761"/>
                </a:cubicBezTo>
                <a:lnTo>
                  <a:pt x="277880" y="555761"/>
                </a:lnTo>
                <a:cubicBezTo>
                  <a:pt x="124514" y="555761"/>
                  <a:pt x="0" y="431247"/>
                  <a:pt x="0" y="277880"/>
                </a:cubicBezTo>
                <a:lnTo>
                  <a:pt x="0" y="277880"/>
                </a:lnTo>
                <a:cubicBezTo>
                  <a:pt x="0" y="124514"/>
                  <a:pt x="124514" y="0"/>
                  <a:pt x="27788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623267" y="1432821"/>
            <a:ext cx="65128" cy="260513"/>
          </a:xfrm>
          <a:custGeom>
            <a:avLst/>
            <a:gdLst/>
            <a:ahLst/>
            <a:cxnLst/>
            <a:rect l="l" t="t" r="r" b="b"/>
            <a:pathLst>
              <a:path w="65128" h="260513">
                <a:moveTo>
                  <a:pt x="48846" y="16282"/>
                </a:moveTo>
                <a:cubicBezTo>
                  <a:pt x="48846" y="7276"/>
                  <a:pt x="41570" y="0"/>
                  <a:pt x="32564" y="0"/>
                </a:cubicBezTo>
                <a:cubicBezTo>
                  <a:pt x="23558" y="0"/>
                  <a:pt x="16282" y="7276"/>
                  <a:pt x="16282" y="16282"/>
                </a:cubicBezTo>
                <a:lnTo>
                  <a:pt x="16282" y="179103"/>
                </a:lnTo>
                <a:cubicBezTo>
                  <a:pt x="16282" y="188109"/>
                  <a:pt x="23558" y="195385"/>
                  <a:pt x="32564" y="195385"/>
                </a:cubicBezTo>
                <a:cubicBezTo>
                  <a:pt x="41570" y="195385"/>
                  <a:pt x="48846" y="188109"/>
                  <a:pt x="48846" y="179103"/>
                </a:cubicBezTo>
                <a:lnTo>
                  <a:pt x="48846" y="16282"/>
                </a:lnTo>
                <a:close/>
                <a:moveTo>
                  <a:pt x="32564" y="260513"/>
                </a:moveTo>
                <a:cubicBezTo>
                  <a:pt x="43809" y="260513"/>
                  <a:pt x="52917" y="251405"/>
                  <a:pt x="52917" y="240160"/>
                </a:cubicBezTo>
                <a:cubicBezTo>
                  <a:pt x="52917" y="228915"/>
                  <a:pt x="43809" y="219808"/>
                  <a:pt x="32564" y="219808"/>
                </a:cubicBezTo>
                <a:cubicBezTo>
                  <a:pt x="21319" y="219808"/>
                  <a:pt x="12212" y="228915"/>
                  <a:pt x="12212" y="240160"/>
                </a:cubicBezTo>
                <a:cubicBezTo>
                  <a:pt x="12212" y="251405"/>
                  <a:pt x="21319" y="260513"/>
                  <a:pt x="32564" y="260513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070481" y="1285197"/>
            <a:ext cx="1285197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Excessivo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70481" y="1597812"/>
            <a:ext cx="123309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75780" y="1979897"/>
            <a:ext cx="5297094" cy="937846"/>
          </a:xfrm>
          <a:custGeom>
            <a:avLst/>
            <a:gdLst/>
            <a:ahLst/>
            <a:cxnLst/>
            <a:rect l="l" t="t" r="r" b="b"/>
            <a:pathLst>
              <a:path w="5297094" h="937846">
                <a:moveTo>
                  <a:pt x="69466" y="0"/>
                </a:moveTo>
                <a:lnTo>
                  <a:pt x="5227628" y="0"/>
                </a:lnTo>
                <a:cubicBezTo>
                  <a:pt x="5265993" y="0"/>
                  <a:pt x="5297094" y="31101"/>
                  <a:pt x="5297094" y="69466"/>
                </a:cubicBezTo>
                <a:lnTo>
                  <a:pt x="5297094" y="868380"/>
                </a:lnTo>
                <a:cubicBezTo>
                  <a:pt x="5297094" y="906745"/>
                  <a:pt x="5265993" y="937846"/>
                  <a:pt x="5227628" y="937846"/>
                </a:cubicBezTo>
                <a:lnTo>
                  <a:pt x="69466" y="937846"/>
                </a:lnTo>
                <a:cubicBezTo>
                  <a:pt x="31101" y="937846"/>
                  <a:pt x="0" y="906745"/>
                  <a:pt x="0" y="868380"/>
                </a:cubicBezTo>
                <a:lnTo>
                  <a:pt x="0" y="69466"/>
                </a:lnTo>
                <a:cubicBezTo>
                  <a:pt x="0" y="31101"/>
                  <a:pt x="31101" y="0"/>
                  <a:pt x="6946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79985" y="2084103"/>
            <a:ext cx="516683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Indicador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9985" y="2396718"/>
            <a:ext cx="5158154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Este nível indica o </a:t>
            </a:r>
            <a:r>
              <a:rPr lang="en-US" sz="1094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nível mais alto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fraude, disputa ou atividade de enumeração em comparação com o desempenho padrão de mercado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5780" y="3021949"/>
            <a:ext cx="5297094" cy="729436"/>
          </a:xfrm>
          <a:custGeom>
            <a:avLst/>
            <a:gdLst/>
            <a:ahLst/>
            <a:cxnLst/>
            <a:rect l="l" t="t" r="r" b="b"/>
            <a:pathLst>
              <a:path w="5297094" h="729436">
                <a:moveTo>
                  <a:pt x="69471" y="0"/>
                </a:moveTo>
                <a:lnTo>
                  <a:pt x="5227623" y="0"/>
                </a:lnTo>
                <a:cubicBezTo>
                  <a:pt x="5265991" y="0"/>
                  <a:pt x="5297094" y="31103"/>
                  <a:pt x="5297094" y="69471"/>
                </a:cubicBezTo>
                <a:lnTo>
                  <a:pt x="5297094" y="659964"/>
                </a:lnTo>
                <a:cubicBezTo>
                  <a:pt x="5297094" y="698332"/>
                  <a:pt x="5265991" y="729436"/>
                  <a:pt x="5227623" y="729436"/>
                </a:cubicBezTo>
                <a:lnTo>
                  <a:pt x="69471" y="729436"/>
                </a:lnTo>
                <a:cubicBezTo>
                  <a:pt x="31103" y="729436"/>
                  <a:pt x="0" y="698332"/>
                  <a:pt x="0" y="659964"/>
                </a:cubicBezTo>
                <a:lnTo>
                  <a:pt x="0" y="69471"/>
                </a:lnTo>
                <a:cubicBezTo>
                  <a:pt x="0" y="31129"/>
                  <a:pt x="31129" y="0"/>
                  <a:pt x="694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79985" y="3126154"/>
            <a:ext cx="516683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Ação Requerida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9985" y="3438769"/>
            <a:ext cx="5158154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Exige </a:t>
            </a:r>
            <a:r>
              <a:rPr lang="en-US" sz="1094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ações corretivas rigorosas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trazer o desempenho ao nível padrão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75780" y="3855590"/>
            <a:ext cx="5297094" cy="937846"/>
          </a:xfrm>
          <a:custGeom>
            <a:avLst/>
            <a:gdLst/>
            <a:ahLst/>
            <a:cxnLst/>
            <a:rect l="l" t="t" r="r" b="b"/>
            <a:pathLst>
              <a:path w="5297094" h="937846">
                <a:moveTo>
                  <a:pt x="69466" y="0"/>
                </a:moveTo>
                <a:lnTo>
                  <a:pt x="5227628" y="0"/>
                </a:lnTo>
                <a:cubicBezTo>
                  <a:pt x="5265993" y="0"/>
                  <a:pt x="5297094" y="31101"/>
                  <a:pt x="5297094" y="69466"/>
                </a:cubicBezTo>
                <a:lnTo>
                  <a:pt x="5297094" y="868380"/>
                </a:lnTo>
                <a:cubicBezTo>
                  <a:pt x="5297094" y="906745"/>
                  <a:pt x="5265993" y="937846"/>
                  <a:pt x="5227628" y="937846"/>
                </a:cubicBezTo>
                <a:lnTo>
                  <a:pt x="69466" y="937846"/>
                </a:lnTo>
                <a:cubicBezTo>
                  <a:pt x="31101" y="937846"/>
                  <a:pt x="0" y="906745"/>
                  <a:pt x="0" y="868380"/>
                </a:cubicBezTo>
                <a:lnTo>
                  <a:pt x="0" y="69466"/>
                </a:lnTo>
                <a:cubicBezTo>
                  <a:pt x="0" y="31101"/>
                  <a:pt x="31101" y="0"/>
                  <a:pt x="6946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79985" y="3959795"/>
            <a:ext cx="516683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Monitoramento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9985" y="4272410"/>
            <a:ext cx="5158154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 atividade no </a:t>
            </a:r>
            <a:r>
              <a:rPr lang="en-US" sz="109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nível da carteira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no </a:t>
            </a:r>
            <a:r>
              <a:rPr lang="en-US" sz="1094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nível individual do estabelecimento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 base no descritor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5780" y="4897641"/>
            <a:ext cx="5297094" cy="937846"/>
          </a:xfrm>
          <a:custGeom>
            <a:avLst/>
            <a:gdLst/>
            <a:ahLst/>
            <a:cxnLst/>
            <a:rect l="l" t="t" r="r" b="b"/>
            <a:pathLst>
              <a:path w="5297094" h="937846">
                <a:moveTo>
                  <a:pt x="69466" y="0"/>
                </a:moveTo>
                <a:lnTo>
                  <a:pt x="5227628" y="0"/>
                </a:lnTo>
                <a:cubicBezTo>
                  <a:pt x="5265993" y="0"/>
                  <a:pt x="5297094" y="31101"/>
                  <a:pt x="5297094" y="69466"/>
                </a:cubicBezTo>
                <a:lnTo>
                  <a:pt x="5297094" y="868380"/>
                </a:lnTo>
                <a:cubicBezTo>
                  <a:pt x="5297094" y="906745"/>
                  <a:pt x="5265993" y="937846"/>
                  <a:pt x="5227628" y="937846"/>
                </a:cubicBezTo>
                <a:lnTo>
                  <a:pt x="69466" y="937846"/>
                </a:lnTo>
                <a:cubicBezTo>
                  <a:pt x="31101" y="937846"/>
                  <a:pt x="0" y="906745"/>
                  <a:pt x="0" y="868380"/>
                </a:cubicBezTo>
                <a:lnTo>
                  <a:pt x="0" y="69466"/>
                </a:lnTo>
                <a:cubicBezTo>
                  <a:pt x="0" y="31101"/>
                  <a:pt x="31101" y="0"/>
                  <a:pt x="6946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79985" y="5001846"/>
            <a:ext cx="516683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Estabelecimentos Patrocinados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79985" y="5314462"/>
            <a:ext cx="5158154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Visa pode avaliar no nível do </a:t>
            </a:r>
            <a:r>
              <a:rPr lang="en-US" sz="109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facilitador de pagamento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do estabelecimento patrocinado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51692" y="6152444"/>
            <a:ext cx="11488615" cy="494974"/>
          </a:xfrm>
          <a:custGeom>
            <a:avLst/>
            <a:gdLst/>
            <a:ahLst/>
            <a:cxnLst/>
            <a:rect l="l" t="t" r="r" b="b"/>
            <a:pathLst>
              <a:path w="11488615" h="494974">
                <a:moveTo>
                  <a:pt x="69470" y="0"/>
                </a:moveTo>
                <a:lnTo>
                  <a:pt x="11419146" y="0"/>
                </a:lnTo>
                <a:cubicBezTo>
                  <a:pt x="11457513" y="0"/>
                  <a:pt x="11488615" y="31103"/>
                  <a:pt x="11488615" y="69470"/>
                </a:cubicBezTo>
                <a:lnTo>
                  <a:pt x="11488615" y="425505"/>
                </a:lnTo>
                <a:cubicBezTo>
                  <a:pt x="11488615" y="463872"/>
                  <a:pt x="11457513" y="494974"/>
                  <a:pt x="11419146" y="494974"/>
                </a:cubicBezTo>
                <a:lnTo>
                  <a:pt x="69470" y="494974"/>
                </a:lnTo>
                <a:cubicBezTo>
                  <a:pt x="31128" y="494974"/>
                  <a:pt x="0" y="463846"/>
                  <a:pt x="0" y="425505"/>
                </a:cubicBezTo>
                <a:lnTo>
                  <a:pt x="0" y="69470"/>
                </a:lnTo>
                <a:cubicBezTo>
                  <a:pt x="0" y="31128"/>
                  <a:pt x="31128" y="0"/>
                  <a:pt x="6947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529709" y="6330462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79484" y="104205"/>
                </a:moveTo>
                <a:cubicBezTo>
                  <a:pt x="81465" y="98154"/>
                  <a:pt x="85426" y="92672"/>
                  <a:pt x="89904" y="87950"/>
                </a:cubicBezTo>
                <a:cubicBezTo>
                  <a:pt x="98778" y="78615"/>
                  <a:pt x="104205" y="65997"/>
                  <a:pt x="104205" y="52103"/>
                </a:cubicBezTo>
                <a:cubicBezTo>
                  <a:pt x="104205" y="23338"/>
                  <a:pt x="80868" y="0"/>
                  <a:pt x="52103" y="0"/>
                </a:cubicBezTo>
                <a:cubicBezTo>
                  <a:pt x="23338" y="0"/>
                  <a:pt x="0" y="23338"/>
                  <a:pt x="0" y="52103"/>
                </a:cubicBezTo>
                <a:cubicBezTo>
                  <a:pt x="0" y="65997"/>
                  <a:pt x="5427" y="78615"/>
                  <a:pt x="14301" y="87950"/>
                </a:cubicBezTo>
                <a:cubicBezTo>
                  <a:pt x="18779" y="92672"/>
                  <a:pt x="22768" y="98154"/>
                  <a:pt x="24722" y="104205"/>
                </a:cubicBezTo>
                <a:lnTo>
                  <a:pt x="79456" y="104205"/>
                </a:lnTo>
                <a:close/>
                <a:moveTo>
                  <a:pt x="78154" y="117231"/>
                </a:moveTo>
                <a:lnTo>
                  <a:pt x="26051" y="117231"/>
                </a:lnTo>
                <a:lnTo>
                  <a:pt x="26051" y="121573"/>
                </a:lnTo>
                <a:cubicBezTo>
                  <a:pt x="26051" y="133567"/>
                  <a:pt x="35766" y="143282"/>
                  <a:pt x="47761" y="143282"/>
                </a:cubicBezTo>
                <a:lnTo>
                  <a:pt x="56444" y="143282"/>
                </a:lnTo>
                <a:cubicBezTo>
                  <a:pt x="68439" y="143282"/>
                  <a:pt x="78154" y="133567"/>
                  <a:pt x="78154" y="121573"/>
                </a:cubicBezTo>
                <a:lnTo>
                  <a:pt x="78154" y="117231"/>
                </a:lnTo>
                <a:close/>
                <a:moveTo>
                  <a:pt x="49932" y="30393"/>
                </a:moveTo>
                <a:cubicBezTo>
                  <a:pt x="39131" y="30393"/>
                  <a:pt x="30393" y="39131"/>
                  <a:pt x="30393" y="49932"/>
                </a:cubicBezTo>
                <a:cubicBezTo>
                  <a:pt x="30393" y="53541"/>
                  <a:pt x="27490" y="56444"/>
                  <a:pt x="23880" y="56444"/>
                </a:cubicBezTo>
                <a:cubicBezTo>
                  <a:pt x="20271" y="56444"/>
                  <a:pt x="17368" y="53541"/>
                  <a:pt x="17368" y="49932"/>
                </a:cubicBezTo>
                <a:cubicBezTo>
                  <a:pt x="17368" y="31940"/>
                  <a:pt x="31940" y="17368"/>
                  <a:pt x="49932" y="17368"/>
                </a:cubicBezTo>
                <a:cubicBezTo>
                  <a:pt x="53541" y="17368"/>
                  <a:pt x="56444" y="20271"/>
                  <a:pt x="56444" y="23880"/>
                </a:cubicBezTo>
                <a:cubicBezTo>
                  <a:pt x="56444" y="27490"/>
                  <a:pt x="53541" y="30393"/>
                  <a:pt x="49932" y="3039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16150" y="6295726"/>
            <a:ext cx="1105034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Importante:</a:t>
            </a:r>
            <a:r>
              <a:rPr lang="en-US" sz="109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nível Excessivo representa uma situação crítica que requer atenção imediata e ações enérgicas por parte do adquirente para evitar penalidades severas.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847" y="328847"/>
            <a:ext cx="1160007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kern="0" spc="52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847" y="591924"/>
            <a:ext cx="11682287" cy="32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VAMP - Limites e Critérios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5289" y="1052310"/>
            <a:ext cx="11517864" cy="2038851"/>
          </a:xfrm>
          <a:custGeom>
            <a:avLst/>
            <a:gdLst/>
            <a:ahLst/>
            <a:cxnLst/>
            <a:rect l="l" t="t" r="r" b="b"/>
            <a:pathLst>
              <a:path w="11517864" h="2038851">
                <a:moveTo>
                  <a:pt x="32885" y="0"/>
                </a:moveTo>
                <a:lnTo>
                  <a:pt x="11452090" y="0"/>
                </a:lnTo>
                <a:cubicBezTo>
                  <a:pt x="11488416" y="0"/>
                  <a:pt x="11517864" y="29448"/>
                  <a:pt x="11517864" y="65773"/>
                </a:cubicBezTo>
                <a:lnTo>
                  <a:pt x="11517864" y="1973078"/>
                </a:lnTo>
                <a:cubicBezTo>
                  <a:pt x="11517864" y="2009403"/>
                  <a:pt x="11488416" y="2038851"/>
                  <a:pt x="11452090" y="2038851"/>
                </a:cubicBezTo>
                <a:lnTo>
                  <a:pt x="32885" y="2038851"/>
                </a:lnTo>
                <a:cubicBezTo>
                  <a:pt x="14723" y="2038851"/>
                  <a:pt x="0" y="2024128"/>
                  <a:pt x="0" y="2005966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45289" y="1052310"/>
            <a:ext cx="32885" cy="2038851"/>
          </a:xfrm>
          <a:custGeom>
            <a:avLst/>
            <a:gdLst/>
            <a:ahLst/>
            <a:cxnLst/>
            <a:rect l="l" t="t" r="r" b="b"/>
            <a:pathLst>
              <a:path w="32885" h="2038851">
                <a:moveTo>
                  <a:pt x="32885" y="0"/>
                </a:moveTo>
                <a:lnTo>
                  <a:pt x="32885" y="0"/>
                </a:lnTo>
                <a:lnTo>
                  <a:pt x="32885" y="2038851"/>
                </a:lnTo>
                <a:lnTo>
                  <a:pt x="32885" y="2038851"/>
                </a:lnTo>
                <a:cubicBezTo>
                  <a:pt x="14723" y="2038851"/>
                  <a:pt x="0" y="2024128"/>
                  <a:pt x="0" y="2005966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50819" y="1249618"/>
            <a:ext cx="197308" cy="197308"/>
          </a:xfrm>
          <a:custGeom>
            <a:avLst/>
            <a:gdLst/>
            <a:ahLst/>
            <a:cxnLst/>
            <a:rect l="l" t="t" r="r" b="b"/>
            <a:pathLst>
              <a:path w="197308" h="197308">
                <a:moveTo>
                  <a:pt x="12332" y="24664"/>
                </a:moveTo>
                <a:cubicBezTo>
                  <a:pt x="5511" y="24664"/>
                  <a:pt x="0" y="30174"/>
                  <a:pt x="0" y="36995"/>
                </a:cubicBezTo>
                <a:cubicBezTo>
                  <a:pt x="0" y="43816"/>
                  <a:pt x="5511" y="49327"/>
                  <a:pt x="12332" y="49327"/>
                </a:cubicBezTo>
                <a:lnTo>
                  <a:pt x="45743" y="49327"/>
                </a:lnTo>
                <a:cubicBezTo>
                  <a:pt x="50483" y="60233"/>
                  <a:pt x="61351" y="67825"/>
                  <a:pt x="73991" y="67825"/>
                </a:cubicBezTo>
                <a:cubicBezTo>
                  <a:pt x="86631" y="67825"/>
                  <a:pt x="97498" y="60233"/>
                  <a:pt x="102238" y="49327"/>
                </a:cubicBezTo>
                <a:lnTo>
                  <a:pt x="184976" y="49327"/>
                </a:lnTo>
                <a:cubicBezTo>
                  <a:pt x="191797" y="49327"/>
                  <a:pt x="197308" y="43816"/>
                  <a:pt x="197308" y="36995"/>
                </a:cubicBezTo>
                <a:cubicBezTo>
                  <a:pt x="197308" y="30174"/>
                  <a:pt x="191797" y="24664"/>
                  <a:pt x="184976" y="24664"/>
                </a:cubicBezTo>
                <a:lnTo>
                  <a:pt x="102238" y="24664"/>
                </a:lnTo>
                <a:cubicBezTo>
                  <a:pt x="97498" y="13758"/>
                  <a:pt x="86631" y="6166"/>
                  <a:pt x="73991" y="6166"/>
                </a:cubicBezTo>
                <a:cubicBezTo>
                  <a:pt x="61351" y="6166"/>
                  <a:pt x="50483" y="13758"/>
                  <a:pt x="45743" y="24664"/>
                </a:cubicBezTo>
                <a:lnTo>
                  <a:pt x="12332" y="24664"/>
                </a:lnTo>
                <a:close/>
                <a:moveTo>
                  <a:pt x="12332" y="86322"/>
                </a:moveTo>
                <a:cubicBezTo>
                  <a:pt x="5511" y="86322"/>
                  <a:pt x="0" y="91833"/>
                  <a:pt x="0" y="98654"/>
                </a:cubicBezTo>
                <a:cubicBezTo>
                  <a:pt x="0" y="105475"/>
                  <a:pt x="5511" y="110986"/>
                  <a:pt x="12332" y="110986"/>
                </a:cubicBezTo>
                <a:lnTo>
                  <a:pt x="107402" y="110986"/>
                </a:lnTo>
                <a:cubicBezTo>
                  <a:pt x="112142" y="121892"/>
                  <a:pt x="123009" y="129483"/>
                  <a:pt x="135649" y="129483"/>
                </a:cubicBezTo>
                <a:cubicBezTo>
                  <a:pt x="148289" y="129483"/>
                  <a:pt x="159157" y="121892"/>
                  <a:pt x="163897" y="110986"/>
                </a:cubicBezTo>
                <a:lnTo>
                  <a:pt x="184976" y="110986"/>
                </a:lnTo>
                <a:cubicBezTo>
                  <a:pt x="191797" y="110986"/>
                  <a:pt x="197308" y="105475"/>
                  <a:pt x="197308" y="98654"/>
                </a:cubicBezTo>
                <a:cubicBezTo>
                  <a:pt x="197308" y="91833"/>
                  <a:pt x="191797" y="86322"/>
                  <a:pt x="184976" y="86322"/>
                </a:cubicBezTo>
                <a:lnTo>
                  <a:pt x="163897" y="86322"/>
                </a:lnTo>
                <a:cubicBezTo>
                  <a:pt x="159157" y="75416"/>
                  <a:pt x="148289" y="67825"/>
                  <a:pt x="135649" y="67825"/>
                </a:cubicBezTo>
                <a:cubicBezTo>
                  <a:pt x="123009" y="67825"/>
                  <a:pt x="112142" y="75416"/>
                  <a:pt x="107402" y="86322"/>
                </a:cubicBezTo>
                <a:lnTo>
                  <a:pt x="12332" y="86322"/>
                </a:lnTo>
                <a:close/>
                <a:moveTo>
                  <a:pt x="12332" y="147981"/>
                </a:moveTo>
                <a:cubicBezTo>
                  <a:pt x="5511" y="147981"/>
                  <a:pt x="0" y="153492"/>
                  <a:pt x="0" y="160313"/>
                </a:cubicBezTo>
                <a:cubicBezTo>
                  <a:pt x="0" y="167134"/>
                  <a:pt x="5511" y="172645"/>
                  <a:pt x="12332" y="172645"/>
                </a:cubicBezTo>
                <a:lnTo>
                  <a:pt x="33411" y="172645"/>
                </a:lnTo>
                <a:cubicBezTo>
                  <a:pt x="38151" y="183551"/>
                  <a:pt x="49019" y="191142"/>
                  <a:pt x="61659" y="191142"/>
                </a:cubicBezTo>
                <a:cubicBezTo>
                  <a:pt x="74299" y="191142"/>
                  <a:pt x="85166" y="183551"/>
                  <a:pt x="89906" y="172645"/>
                </a:cubicBezTo>
                <a:lnTo>
                  <a:pt x="184976" y="172645"/>
                </a:lnTo>
                <a:cubicBezTo>
                  <a:pt x="191797" y="172645"/>
                  <a:pt x="197308" y="167134"/>
                  <a:pt x="197308" y="160313"/>
                </a:cubicBezTo>
                <a:cubicBezTo>
                  <a:pt x="197308" y="153492"/>
                  <a:pt x="191797" y="147981"/>
                  <a:pt x="184976" y="147981"/>
                </a:cubicBezTo>
                <a:lnTo>
                  <a:pt x="89906" y="147981"/>
                </a:lnTo>
                <a:cubicBezTo>
                  <a:pt x="85166" y="137075"/>
                  <a:pt x="74299" y="129483"/>
                  <a:pt x="61659" y="129483"/>
                </a:cubicBezTo>
                <a:cubicBezTo>
                  <a:pt x="49019" y="129483"/>
                  <a:pt x="38151" y="137075"/>
                  <a:pt x="33411" y="147981"/>
                </a:cubicBezTo>
                <a:lnTo>
                  <a:pt x="12332" y="14798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2790" y="1216734"/>
            <a:ext cx="11024593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do VAMP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6155" y="1611350"/>
            <a:ext cx="5516407" cy="394616"/>
          </a:xfrm>
          <a:custGeom>
            <a:avLst/>
            <a:gdLst/>
            <a:ahLst/>
            <a:cxnLst/>
            <a:rect l="l" t="t" r="r" b="b"/>
            <a:pathLst>
              <a:path w="5516407" h="394616">
                <a:moveTo>
                  <a:pt x="65771" y="0"/>
                </a:moveTo>
                <a:lnTo>
                  <a:pt x="5450637" y="0"/>
                </a:lnTo>
                <a:cubicBezTo>
                  <a:pt x="5486961" y="0"/>
                  <a:pt x="5516407" y="29447"/>
                  <a:pt x="5516407" y="65771"/>
                </a:cubicBezTo>
                <a:lnTo>
                  <a:pt x="5516407" y="328846"/>
                </a:lnTo>
                <a:cubicBezTo>
                  <a:pt x="5516407" y="365170"/>
                  <a:pt x="5486961" y="394616"/>
                  <a:pt x="5450637" y="394616"/>
                </a:cubicBezTo>
                <a:lnTo>
                  <a:pt x="65771" y="394616"/>
                </a:lnTo>
                <a:cubicBezTo>
                  <a:pt x="29447" y="394616"/>
                  <a:pt x="0" y="365170"/>
                  <a:pt x="0" y="328846"/>
                </a:cubicBezTo>
                <a:lnTo>
                  <a:pt x="0" y="65771"/>
                </a:lnTo>
                <a:cubicBezTo>
                  <a:pt x="0" y="29447"/>
                  <a:pt x="29447" y="0"/>
                  <a:pt x="657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1252" y="1742889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65769" y="131539"/>
                </a:moveTo>
                <a:cubicBezTo>
                  <a:pt x="102068" y="131539"/>
                  <a:pt x="131539" y="102068"/>
                  <a:pt x="131539" y="65769"/>
                </a:cubicBezTo>
                <a:cubicBezTo>
                  <a:pt x="131539" y="29470"/>
                  <a:pt x="102068" y="0"/>
                  <a:pt x="65769" y="0"/>
                </a:cubicBezTo>
                <a:cubicBezTo>
                  <a:pt x="29470" y="0"/>
                  <a:pt x="0" y="29470"/>
                  <a:pt x="0" y="65769"/>
                </a:cubicBezTo>
                <a:cubicBezTo>
                  <a:pt x="0" y="102068"/>
                  <a:pt x="29470" y="131539"/>
                  <a:pt x="65769" y="131539"/>
                </a:cubicBezTo>
                <a:close/>
                <a:moveTo>
                  <a:pt x="87453" y="54645"/>
                </a:moveTo>
                <a:lnTo>
                  <a:pt x="66900" y="87530"/>
                </a:lnTo>
                <a:cubicBezTo>
                  <a:pt x="65821" y="89251"/>
                  <a:pt x="63971" y="90330"/>
                  <a:pt x="61941" y="90433"/>
                </a:cubicBezTo>
                <a:cubicBezTo>
                  <a:pt x="59912" y="90536"/>
                  <a:pt x="57959" y="89611"/>
                  <a:pt x="56752" y="87967"/>
                </a:cubicBezTo>
                <a:lnTo>
                  <a:pt x="44420" y="71524"/>
                </a:lnTo>
                <a:cubicBezTo>
                  <a:pt x="42365" y="68801"/>
                  <a:pt x="42930" y="64947"/>
                  <a:pt x="45653" y="62892"/>
                </a:cubicBezTo>
                <a:cubicBezTo>
                  <a:pt x="48376" y="60837"/>
                  <a:pt x="52230" y="61402"/>
                  <a:pt x="54285" y="64125"/>
                </a:cubicBezTo>
                <a:lnTo>
                  <a:pt x="61222" y="73374"/>
                </a:lnTo>
                <a:lnTo>
                  <a:pt x="76996" y="48120"/>
                </a:lnTo>
                <a:cubicBezTo>
                  <a:pt x="78795" y="45242"/>
                  <a:pt x="82597" y="44343"/>
                  <a:pt x="85500" y="46167"/>
                </a:cubicBezTo>
                <a:cubicBezTo>
                  <a:pt x="88403" y="47991"/>
                  <a:pt x="89277" y="51768"/>
                  <a:pt x="87453" y="5467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87887" y="1710004"/>
            <a:ext cx="4891598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Inclui somente transações </a:t>
            </a:r>
            <a:r>
              <a:rPr lang="en-US" sz="103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VisaNet nacionais e internacionais sem presença de cartão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6155" y="2071736"/>
            <a:ext cx="5516407" cy="394616"/>
          </a:xfrm>
          <a:custGeom>
            <a:avLst/>
            <a:gdLst/>
            <a:ahLst/>
            <a:cxnLst/>
            <a:rect l="l" t="t" r="r" b="b"/>
            <a:pathLst>
              <a:path w="5516407" h="394616">
                <a:moveTo>
                  <a:pt x="65771" y="0"/>
                </a:moveTo>
                <a:lnTo>
                  <a:pt x="5450637" y="0"/>
                </a:lnTo>
                <a:cubicBezTo>
                  <a:pt x="5486961" y="0"/>
                  <a:pt x="5516407" y="29447"/>
                  <a:pt x="5516407" y="65771"/>
                </a:cubicBezTo>
                <a:lnTo>
                  <a:pt x="5516407" y="328846"/>
                </a:lnTo>
                <a:cubicBezTo>
                  <a:pt x="5516407" y="365170"/>
                  <a:pt x="5486961" y="394616"/>
                  <a:pt x="5450637" y="394616"/>
                </a:cubicBezTo>
                <a:lnTo>
                  <a:pt x="65771" y="394616"/>
                </a:lnTo>
                <a:cubicBezTo>
                  <a:pt x="29447" y="394616"/>
                  <a:pt x="0" y="365170"/>
                  <a:pt x="0" y="328846"/>
                </a:cubicBezTo>
                <a:lnTo>
                  <a:pt x="0" y="65771"/>
                </a:lnTo>
                <a:cubicBezTo>
                  <a:pt x="0" y="29447"/>
                  <a:pt x="29447" y="0"/>
                  <a:pt x="657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1252" y="2203274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65769" y="131539"/>
                </a:moveTo>
                <a:cubicBezTo>
                  <a:pt x="102068" y="131539"/>
                  <a:pt x="131539" y="102068"/>
                  <a:pt x="131539" y="65769"/>
                </a:cubicBezTo>
                <a:cubicBezTo>
                  <a:pt x="131539" y="29470"/>
                  <a:pt x="102068" y="0"/>
                  <a:pt x="65769" y="0"/>
                </a:cubicBezTo>
                <a:cubicBezTo>
                  <a:pt x="29470" y="0"/>
                  <a:pt x="0" y="29470"/>
                  <a:pt x="0" y="65769"/>
                </a:cubicBezTo>
                <a:cubicBezTo>
                  <a:pt x="0" y="102068"/>
                  <a:pt x="29470" y="131539"/>
                  <a:pt x="65769" y="131539"/>
                </a:cubicBezTo>
                <a:close/>
                <a:moveTo>
                  <a:pt x="87453" y="54645"/>
                </a:moveTo>
                <a:lnTo>
                  <a:pt x="66900" y="87530"/>
                </a:lnTo>
                <a:cubicBezTo>
                  <a:pt x="65821" y="89251"/>
                  <a:pt x="63971" y="90330"/>
                  <a:pt x="61941" y="90433"/>
                </a:cubicBezTo>
                <a:cubicBezTo>
                  <a:pt x="59912" y="90536"/>
                  <a:pt x="57959" y="89611"/>
                  <a:pt x="56752" y="87967"/>
                </a:cubicBezTo>
                <a:lnTo>
                  <a:pt x="44420" y="71524"/>
                </a:lnTo>
                <a:cubicBezTo>
                  <a:pt x="42365" y="68801"/>
                  <a:pt x="42930" y="64947"/>
                  <a:pt x="45653" y="62892"/>
                </a:cubicBezTo>
                <a:cubicBezTo>
                  <a:pt x="48376" y="60837"/>
                  <a:pt x="52230" y="61402"/>
                  <a:pt x="54285" y="64125"/>
                </a:cubicBezTo>
                <a:lnTo>
                  <a:pt x="61222" y="73374"/>
                </a:lnTo>
                <a:lnTo>
                  <a:pt x="76996" y="48120"/>
                </a:lnTo>
                <a:cubicBezTo>
                  <a:pt x="78795" y="45242"/>
                  <a:pt x="82597" y="44343"/>
                  <a:pt x="85500" y="46167"/>
                </a:cubicBezTo>
                <a:cubicBezTo>
                  <a:pt x="88403" y="47991"/>
                  <a:pt x="89277" y="51768"/>
                  <a:pt x="87453" y="5467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87887" y="2170390"/>
            <a:ext cx="4036596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Requer um </a:t>
            </a:r>
            <a:r>
              <a:rPr lang="en-US" sz="103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mínimo de 1.500 fraudes mensais</a:t>
            </a: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(TC40) e disputas (TC15)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6155" y="2532121"/>
            <a:ext cx="5516407" cy="394616"/>
          </a:xfrm>
          <a:custGeom>
            <a:avLst/>
            <a:gdLst/>
            <a:ahLst/>
            <a:cxnLst/>
            <a:rect l="l" t="t" r="r" b="b"/>
            <a:pathLst>
              <a:path w="5516407" h="394616">
                <a:moveTo>
                  <a:pt x="65771" y="0"/>
                </a:moveTo>
                <a:lnTo>
                  <a:pt x="5450637" y="0"/>
                </a:lnTo>
                <a:cubicBezTo>
                  <a:pt x="5486961" y="0"/>
                  <a:pt x="5516407" y="29447"/>
                  <a:pt x="5516407" y="65771"/>
                </a:cubicBezTo>
                <a:lnTo>
                  <a:pt x="5516407" y="328846"/>
                </a:lnTo>
                <a:cubicBezTo>
                  <a:pt x="5516407" y="365170"/>
                  <a:pt x="5486961" y="394616"/>
                  <a:pt x="5450637" y="394616"/>
                </a:cubicBezTo>
                <a:lnTo>
                  <a:pt x="65771" y="394616"/>
                </a:lnTo>
                <a:cubicBezTo>
                  <a:pt x="29447" y="394616"/>
                  <a:pt x="0" y="365170"/>
                  <a:pt x="0" y="328846"/>
                </a:cubicBezTo>
                <a:lnTo>
                  <a:pt x="0" y="65771"/>
                </a:lnTo>
                <a:cubicBezTo>
                  <a:pt x="0" y="29447"/>
                  <a:pt x="29447" y="0"/>
                  <a:pt x="657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1252" y="2663660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65769" y="131539"/>
                </a:moveTo>
                <a:cubicBezTo>
                  <a:pt x="102068" y="131539"/>
                  <a:pt x="131539" y="102068"/>
                  <a:pt x="131539" y="65769"/>
                </a:cubicBezTo>
                <a:cubicBezTo>
                  <a:pt x="131539" y="29470"/>
                  <a:pt x="102068" y="0"/>
                  <a:pt x="65769" y="0"/>
                </a:cubicBezTo>
                <a:cubicBezTo>
                  <a:pt x="29470" y="0"/>
                  <a:pt x="0" y="29470"/>
                  <a:pt x="0" y="65769"/>
                </a:cubicBezTo>
                <a:cubicBezTo>
                  <a:pt x="0" y="102068"/>
                  <a:pt x="29470" y="131539"/>
                  <a:pt x="65769" y="131539"/>
                </a:cubicBezTo>
                <a:close/>
                <a:moveTo>
                  <a:pt x="87453" y="54645"/>
                </a:moveTo>
                <a:lnTo>
                  <a:pt x="66900" y="87530"/>
                </a:lnTo>
                <a:cubicBezTo>
                  <a:pt x="65821" y="89251"/>
                  <a:pt x="63971" y="90330"/>
                  <a:pt x="61941" y="90433"/>
                </a:cubicBezTo>
                <a:cubicBezTo>
                  <a:pt x="59912" y="90536"/>
                  <a:pt x="57959" y="89611"/>
                  <a:pt x="56752" y="87967"/>
                </a:cubicBezTo>
                <a:lnTo>
                  <a:pt x="44420" y="71524"/>
                </a:lnTo>
                <a:cubicBezTo>
                  <a:pt x="42365" y="68801"/>
                  <a:pt x="42930" y="64947"/>
                  <a:pt x="45653" y="62892"/>
                </a:cubicBezTo>
                <a:cubicBezTo>
                  <a:pt x="48376" y="60837"/>
                  <a:pt x="52230" y="61402"/>
                  <a:pt x="54285" y="64125"/>
                </a:cubicBezTo>
                <a:lnTo>
                  <a:pt x="61222" y="73374"/>
                </a:lnTo>
                <a:lnTo>
                  <a:pt x="76996" y="48120"/>
                </a:lnTo>
                <a:cubicBezTo>
                  <a:pt x="78795" y="45242"/>
                  <a:pt x="82597" y="44343"/>
                  <a:pt x="85500" y="46167"/>
                </a:cubicBezTo>
                <a:cubicBezTo>
                  <a:pt x="88403" y="47991"/>
                  <a:pt x="89277" y="51768"/>
                  <a:pt x="87453" y="5467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87887" y="2630775"/>
            <a:ext cx="3699528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inclui disputas resolvidas por meio de </a:t>
            </a:r>
            <a:r>
              <a:rPr lang="en-US" sz="103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soluções pré-disputa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6799" y="1611350"/>
            <a:ext cx="5516407" cy="394616"/>
          </a:xfrm>
          <a:custGeom>
            <a:avLst/>
            <a:gdLst/>
            <a:ahLst/>
            <a:cxnLst/>
            <a:rect l="l" t="t" r="r" b="b"/>
            <a:pathLst>
              <a:path w="5516407" h="394616">
                <a:moveTo>
                  <a:pt x="65771" y="0"/>
                </a:moveTo>
                <a:lnTo>
                  <a:pt x="5450637" y="0"/>
                </a:lnTo>
                <a:cubicBezTo>
                  <a:pt x="5486961" y="0"/>
                  <a:pt x="5516407" y="29447"/>
                  <a:pt x="5516407" y="65771"/>
                </a:cubicBezTo>
                <a:lnTo>
                  <a:pt x="5516407" y="328846"/>
                </a:lnTo>
                <a:cubicBezTo>
                  <a:pt x="5516407" y="365170"/>
                  <a:pt x="5486961" y="394616"/>
                  <a:pt x="5450637" y="394616"/>
                </a:cubicBezTo>
                <a:lnTo>
                  <a:pt x="65771" y="394616"/>
                </a:lnTo>
                <a:cubicBezTo>
                  <a:pt x="29447" y="394616"/>
                  <a:pt x="0" y="365170"/>
                  <a:pt x="0" y="328846"/>
                </a:cubicBezTo>
                <a:lnTo>
                  <a:pt x="0" y="65771"/>
                </a:lnTo>
                <a:cubicBezTo>
                  <a:pt x="0" y="29447"/>
                  <a:pt x="29447" y="0"/>
                  <a:pt x="657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291895" y="1742889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65769" y="131539"/>
                </a:moveTo>
                <a:cubicBezTo>
                  <a:pt x="102068" y="131539"/>
                  <a:pt x="131539" y="102068"/>
                  <a:pt x="131539" y="65769"/>
                </a:cubicBezTo>
                <a:cubicBezTo>
                  <a:pt x="131539" y="29470"/>
                  <a:pt x="102068" y="0"/>
                  <a:pt x="65769" y="0"/>
                </a:cubicBezTo>
                <a:cubicBezTo>
                  <a:pt x="29470" y="0"/>
                  <a:pt x="0" y="29470"/>
                  <a:pt x="0" y="65769"/>
                </a:cubicBezTo>
                <a:cubicBezTo>
                  <a:pt x="0" y="102068"/>
                  <a:pt x="29470" y="131539"/>
                  <a:pt x="65769" y="131539"/>
                </a:cubicBezTo>
                <a:close/>
                <a:moveTo>
                  <a:pt x="87453" y="54645"/>
                </a:moveTo>
                <a:lnTo>
                  <a:pt x="66900" y="87530"/>
                </a:lnTo>
                <a:cubicBezTo>
                  <a:pt x="65821" y="89251"/>
                  <a:pt x="63971" y="90330"/>
                  <a:pt x="61941" y="90433"/>
                </a:cubicBezTo>
                <a:cubicBezTo>
                  <a:pt x="59912" y="90536"/>
                  <a:pt x="57959" y="89611"/>
                  <a:pt x="56752" y="87967"/>
                </a:cubicBezTo>
                <a:lnTo>
                  <a:pt x="44420" y="71524"/>
                </a:lnTo>
                <a:cubicBezTo>
                  <a:pt x="42365" y="68801"/>
                  <a:pt x="42930" y="64947"/>
                  <a:pt x="45653" y="62892"/>
                </a:cubicBezTo>
                <a:cubicBezTo>
                  <a:pt x="48376" y="60837"/>
                  <a:pt x="52230" y="61402"/>
                  <a:pt x="54285" y="64125"/>
                </a:cubicBezTo>
                <a:lnTo>
                  <a:pt x="61222" y="73374"/>
                </a:lnTo>
                <a:lnTo>
                  <a:pt x="76996" y="48120"/>
                </a:lnTo>
                <a:cubicBezTo>
                  <a:pt x="78795" y="45242"/>
                  <a:pt x="82597" y="44343"/>
                  <a:pt x="85500" y="46167"/>
                </a:cubicBezTo>
                <a:cubicBezTo>
                  <a:pt x="88403" y="47991"/>
                  <a:pt x="89277" y="51768"/>
                  <a:pt x="87453" y="5467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538530" y="1710004"/>
            <a:ext cx="3592653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inclui transações qualificadas de </a:t>
            </a:r>
            <a:r>
              <a:rPr lang="en-US" sz="103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Provas Convincentes 3.0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799" y="2071736"/>
            <a:ext cx="5516407" cy="394616"/>
          </a:xfrm>
          <a:custGeom>
            <a:avLst/>
            <a:gdLst/>
            <a:ahLst/>
            <a:cxnLst/>
            <a:rect l="l" t="t" r="r" b="b"/>
            <a:pathLst>
              <a:path w="5516407" h="394616">
                <a:moveTo>
                  <a:pt x="65771" y="0"/>
                </a:moveTo>
                <a:lnTo>
                  <a:pt x="5450637" y="0"/>
                </a:lnTo>
                <a:cubicBezTo>
                  <a:pt x="5486961" y="0"/>
                  <a:pt x="5516407" y="29447"/>
                  <a:pt x="5516407" y="65771"/>
                </a:cubicBezTo>
                <a:lnTo>
                  <a:pt x="5516407" y="328846"/>
                </a:lnTo>
                <a:cubicBezTo>
                  <a:pt x="5516407" y="365170"/>
                  <a:pt x="5486961" y="394616"/>
                  <a:pt x="5450637" y="394616"/>
                </a:cubicBezTo>
                <a:lnTo>
                  <a:pt x="65771" y="394616"/>
                </a:lnTo>
                <a:cubicBezTo>
                  <a:pt x="29447" y="394616"/>
                  <a:pt x="0" y="365170"/>
                  <a:pt x="0" y="328846"/>
                </a:cubicBezTo>
                <a:lnTo>
                  <a:pt x="0" y="65771"/>
                </a:lnTo>
                <a:cubicBezTo>
                  <a:pt x="0" y="29447"/>
                  <a:pt x="29447" y="0"/>
                  <a:pt x="657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291895" y="2203274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65769" y="131539"/>
                </a:moveTo>
                <a:cubicBezTo>
                  <a:pt x="102068" y="131539"/>
                  <a:pt x="131539" y="102068"/>
                  <a:pt x="131539" y="65769"/>
                </a:cubicBezTo>
                <a:cubicBezTo>
                  <a:pt x="131539" y="29470"/>
                  <a:pt x="102068" y="0"/>
                  <a:pt x="65769" y="0"/>
                </a:cubicBezTo>
                <a:cubicBezTo>
                  <a:pt x="29470" y="0"/>
                  <a:pt x="0" y="29470"/>
                  <a:pt x="0" y="65769"/>
                </a:cubicBezTo>
                <a:cubicBezTo>
                  <a:pt x="0" y="102068"/>
                  <a:pt x="29470" y="131539"/>
                  <a:pt x="65769" y="131539"/>
                </a:cubicBezTo>
                <a:close/>
                <a:moveTo>
                  <a:pt x="57548" y="41106"/>
                </a:moveTo>
                <a:cubicBezTo>
                  <a:pt x="57548" y="36568"/>
                  <a:pt x="61232" y="32885"/>
                  <a:pt x="65769" y="32885"/>
                </a:cubicBezTo>
                <a:cubicBezTo>
                  <a:pt x="70307" y="32885"/>
                  <a:pt x="73991" y="36568"/>
                  <a:pt x="73991" y="41106"/>
                </a:cubicBezTo>
                <a:cubicBezTo>
                  <a:pt x="73991" y="45643"/>
                  <a:pt x="70307" y="49327"/>
                  <a:pt x="65769" y="49327"/>
                </a:cubicBezTo>
                <a:cubicBezTo>
                  <a:pt x="61232" y="49327"/>
                  <a:pt x="57548" y="45643"/>
                  <a:pt x="57548" y="41106"/>
                </a:cubicBezTo>
                <a:close/>
                <a:moveTo>
                  <a:pt x="55493" y="57548"/>
                </a:moveTo>
                <a:lnTo>
                  <a:pt x="67825" y="57548"/>
                </a:lnTo>
                <a:cubicBezTo>
                  <a:pt x="71242" y="57548"/>
                  <a:pt x="73991" y="60297"/>
                  <a:pt x="73991" y="63714"/>
                </a:cubicBezTo>
                <a:lnTo>
                  <a:pt x="73991" y="86322"/>
                </a:lnTo>
                <a:lnTo>
                  <a:pt x="76046" y="86322"/>
                </a:lnTo>
                <a:cubicBezTo>
                  <a:pt x="79463" y="86322"/>
                  <a:pt x="82212" y="89071"/>
                  <a:pt x="82212" y="92488"/>
                </a:cubicBezTo>
                <a:cubicBezTo>
                  <a:pt x="82212" y="95905"/>
                  <a:pt x="79463" y="98654"/>
                  <a:pt x="76046" y="98654"/>
                </a:cubicBezTo>
                <a:lnTo>
                  <a:pt x="55493" y="98654"/>
                </a:lnTo>
                <a:cubicBezTo>
                  <a:pt x="52076" y="98654"/>
                  <a:pt x="49327" y="95905"/>
                  <a:pt x="49327" y="92488"/>
                </a:cubicBezTo>
                <a:cubicBezTo>
                  <a:pt x="49327" y="89071"/>
                  <a:pt x="52076" y="86322"/>
                  <a:pt x="55493" y="86322"/>
                </a:cubicBezTo>
                <a:lnTo>
                  <a:pt x="61659" y="86322"/>
                </a:lnTo>
                <a:lnTo>
                  <a:pt x="61659" y="69880"/>
                </a:lnTo>
                <a:lnTo>
                  <a:pt x="55493" y="69880"/>
                </a:lnTo>
                <a:cubicBezTo>
                  <a:pt x="52076" y="69880"/>
                  <a:pt x="49327" y="67131"/>
                  <a:pt x="49327" y="63714"/>
                </a:cubicBezTo>
                <a:cubicBezTo>
                  <a:pt x="49327" y="60297"/>
                  <a:pt x="52076" y="57548"/>
                  <a:pt x="55493" y="5754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38530" y="2170390"/>
            <a:ext cx="2828084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Dependendo do momento da </a:t>
            </a:r>
            <a:r>
              <a:rPr lang="en-US" sz="103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extração de dados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2958" y="3226811"/>
            <a:ext cx="5689052" cy="2688324"/>
          </a:xfrm>
          <a:custGeom>
            <a:avLst/>
            <a:gdLst/>
            <a:ahLst/>
            <a:cxnLst/>
            <a:rect l="l" t="t" r="r" b="b"/>
            <a:pathLst>
              <a:path w="5689052" h="2688324">
                <a:moveTo>
                  <a:pt x="65756" y="0"/>
                </a:moveTo>
                <a:lnTo>
                  <a:pt x="5623296" y="0"/>
                </a:lnTo>
                <a:cubicBezTo>
                  <a:pt x="5659612" y="0"/>
                  <a:pt x="5689052" y="29440"/>
                  <a:pt x="5689052" y="65756"/>
                </a:cubicBezTo>
                <a:lnTo>
                  <a:pt x="5689052" y="2622567"/>
                </a:lnTo>
                <a:cubicBezTo>
                  <a:pt x="5689052" y="2658884"/>
                  <a:pt x="5659612" y="2688324"/>
                  <a:pt x="5623296" y="2688324"/>
                </a:cubicBezTo>
                <a:lnTo>
                  <a:pt x="65756" y="2688324"/>
                </a:lnTo>
                <a:cubicBezTo>
                  <a:pt x="29440" y="2688324"/>
                  <a:pt x="0" y="2658884"/>
                  <a:pt x="0" y="2622567"/>
                </a:cubicBezTo>
                <a:lnTo>
                  <a:pt x="0" y="65756"/>
                </a:lnTo>
                <a:cubicBezTo>
                  <a:pt x="0" y="29440"/>
                  <a:pt x="29440" y="0"/>
                  <a:pt x="6575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22045" y="3428229"/>
            <a:ext cx="164423" cy="164423"/>
          </a:xfrm>
          <a:custGeom>
            <a:avLst/>
            <a:gdLst/>
            <a:ahLst/>
            <a:cxnLst/>
            <a:rect l="l" t="t" r="r" b="b"/>
            <a:pathLst>
              <a:path w="164423" h="164423">
                <a:moveTo>
                  <a:pt x="0" y="23122"/>
                </a:moveTo>
                <a:cubicBezTo>
                  <a:pt x="0" y="18883"/>
                  <a:pt x="3436" y="15415"/>
                  <a:pt x="7707" y="15415"/>
                </a:cubicBezTo>
                <a:lnTo>
                  <a:pt x="23122" y="15415"/>
                </a:lnTo>
                <a:cubicBezTo>
                  <a:pt x="27393" y="15415"/>
                  <a:pt x="30829" y="18851"/>
                  <a:pt x="30829" y="23122"/>
                </a:cubicBezTo>
                <a:lnTo>
                  <a:pt x="30829" y="56521"/>
                </a:lnTo>
                <a:lnTo>
                  <a:pt x="38537" y="56521"/>
                </a:lnTo>
                <a:cubicBezTo>
                  <a:pt x="42808" y="56521"/>
                  <a:pt x="46244" y="59957"/>
                  <a:pt x="46244" y="64228"/>
                </a:cubicBezTo>
                <a:cubicBezTo>
                  <a:pt x="46244" y="68499"/>
                  <a:pt x="42808" y="71935"/>
                  <a:pt x="38537" y="71935"/>
                </a:cubicBezTo>
                <a:lnTo>
                  <a:pt x="7707" y="71935"/>
                </a:lnTo>
                <a:cubicBezTo>
                  <a:pt x="3436" y="71935"/>
                  <a:pt x="0" y="68499"/>
                  <a:pt x="0" y="64228"/>
                </a:cubicBezTo>
                <a:cubicBezTo>
                  <a:pt x="0" y="59957"/>
                  <a:pt x="3436" y="56521"/>
                  <a:pt x="7707" y="56521"/>
                </a:cubicBezTo>
                <a:lnTo>
                  <a:pt x="15415" y="56521"/>
                </a:lnTo>
                <a:lnTo>
                  <a:pt x="15415" y="30829"/>
                </a:lnTo>
                <a:lnTo>
                  <a:pt x="7707" y="30829"/>
                </a:lnTo>
                <a:cubicBezTo>
                  <a:pt x="3436" y="30829"/>
                  <a:pt x="0" y="27393"/>
                  <a:pt x="0" y="23122"/>
                </a:cubicBezTo>
                <a:close/>
                <a:moveTo>
                  <a:pt x="9763" y="96727"/>
                </a:moveTo>
                <a:cubicBezTo>
                  <a:pt x="13424" y="93965"/>
                  <a:pt x="17887" y="92488"/>
                  <a:pt x="22480" y="92488"/>
                </a:cubicBezTo>
                <a:lnTo>
                  <a:pt x="24053" y="92488"/>
                </a:lnTo>
                <a:cubicBezTo>
                  <a:pt x="34876" y="92488"/>
                  <a:pt x="43675" y="101287"/>
                  <a:pt x="43675" y="112110"/>
                </a:cubicBezTo>
                <a:cubicBezTo>
                  <a:pt x="43675" y="118404"/>
                  <a:pt x="40656" y="124281"/>
                  <a:pt x="35582" y="127974"/>
                </a:cubicBezTo>
                <a:lnTo>
                  <a:pt x="27875" y="133594"/>
                </a:lnTo>
                <a:lnTo>
                  <a:pt x="38537" y="133594"/>
                </a:lnTo>
                <a:cubicBezTo>
                  <a:pt x="42808" y="133594"/>
                  <a:pt x="46244" y="137030"/>
                  <a:pt x="46244" y="141301"/>
                </a:cubicBezTo>
                <a:cubicBezTo>
                  <a:pt x="46244" y="145573"/>
                  <a:pt x="42808" y="149009"/>
                  <a:pt x="38537" y="149009"/>
                </a:cubicBezTo>
                <a:lnTo>
                  <a:pt x="9409" y="149009"/>
                </a:lnTo>
                <a:cubicBezTo>
                  <a:pt x="4207" y="149009"/>
                  <a:pt x="0" y="144802"/>
                  <a:pt x="0" y="139599"/>
                </a:cubicBezTo>
                <a:cubicBezTo>
                  <a:pt x="0" y="136581"/>
                  <a:pt x="1445" y="133755"/>
                  <a:pt x="3886" y="131988"/>
                </a:cubicBezTo>
                <a:lnTo>
                  <a:pt x="26526" y="115514"/>
                </a:lnTo>
                <a:cubicBezTo>
                  <a:pt x="27618" y="114711"/>
                  <a:pt x="28260" y="113459"/>
                  <a:pt x="28260" y="112110"/>
                </a:cubicBezTo>
                <a:cubicBezTo>
                  <a:pt x="28260" y="109798"/>
                  <a:pt x="26366" y="107903"/>
                  <a:pt x="24053" y="107903"/>
                </a:cubicBezTo>
                <a:lnTo>
                  <a:pt x="22480" y="107903"/>
                </a:lnTo>
                <a:cubicBezTo>
                  <a:pt x="21227" y="107903"/>
                  <a:pt x="20007" y="108320"/>
                  <a:pt x="19011" y="109059"/>
                </a:cubicBezTo>
                <a:lnTo>
                  <a:pt x="12332" y="114069"/>
                </a:lnTo>
                <a:cubicBezTo>
                  <a:pt x="8928" y="116638"/>
                  <a:pt x="4111" y="115931"/>
                  <a:pt x="1541" y="112527"/>
                </a:cubicBezTo>
                <a:cubicBezTo>
                  <a:pt x="-1028" y="109123"/>
                  <a:pt x="-321" y="104306"/>
                  <a:pt x="3083" y="101737"/>
                </a:cubicBezTo>
                <a:lnTo>
                  <a:pt x="9763" y="96727"/>
                </a:lnTo>
                <a:close/>
                <a:moveTo>
                  <a:pt x="71935" y="20553"/>
                </a:moveTo>
                <a:lnTo>
                  <a:pt x="154147" y="20553"/>
                </a:lnTo>
                <a:cubicBezTo>
                  <a:pt x="159831" y="20553"/>
                  <a:pt x="164423" y="25145"/>
                  <a:pt x="164423" y="30829"/>
                </a:cubicBezTo>
                <a:cubicBezTo>
                  <a:pt x="164423" y="36514"/>
                  <a:pt x="159831" y="41106"/>
                  <a:pt x="154147" y="41106"/>
                </a:cubicBezTo>
                <a:lnTo>
                  <a:pt x="71935" y="41106"/>
                </a:lnTo>
                <a:cubicBezTo>
                  <a:pt x="66251" y="41106"/>
                  <a:pt x="61659" y="36514"/>
                  <a:pt x="61659" y="30829"/>
                </a:cubicBezTo>
                <a:cubicBezTo>
                  <a:pt x="61659" y="25145"/>
                  <a:pt x="66251" y="20553"/>
                  <a:pt x="71935" y="20553"/>
                </a:cubicBezTo>
                <a:close/>
                <a:moveTo>
                  <a:pt x="71935" y="71935"/>
                </a:moveTo>
                <a:lnTo>
                  <a:pt x="154147" y="71935"/>
                </a:lnTo>
                <a:cubicBezTo>
                  <a:pt x="159831" y="71935"/>
                  <a:pt x="164423" y="76528"/>
                  <a:pt x="164423" y="82212"/>
                </a:cubicBezTo>
                <a:cubicBezTo>
                  <a:pt x="164423" y="87896"/>
                  <a:pt x="159831" y="92488"/>
                  <a:pt x="154147" y="92488"/>
                </a:cubicBezTo>
                <a:lnTo>
                  <a:pt x="71935" y="92488"/>
                </a:lnTo>
                <a:cubicBezTo>
                  <a:pt x="66251" y="92488"/>
                  <a:pt x="61659" y="87896"/>
                  <a:pt x="61659" y="82212"/>
                </a:cubicBezTo>
                <a:cubicBezTo>
                  <a:pt x="61659" y="76528"/>
                  <a:pt x="66251" y="71935"/>
                  <a:pt x="71935" y="71935"/>
                </a:cubicBezTo>
                <a:close/>
                <a:moveTo>
                  <a:pt x="71935" y="123318"/>
                </a:moveTo>
                <a:lnTo>
                  <a:pt x="154147" y="123318"/>
                </a:lnTo>
                <a:cubicBezTo>
                  <a:pt x="159831" y="123318"/>
                  <a:pt x="164423" y="127910"/>
                  <a:pt x="164423" y="133594"/>
                </a:cubicBezTo>
                <a:cubicBezTo>
                  <a:pt x="164423" y="139278"/>
                  <a:pt x="159831" y="143871"/>
                  <a:pt x="154147" y="143871"/>
                </a:cubicBezTo>
                <a:lnTo>
                  <a:pt x="71935" y="143871"/>
                </a:lnTo>
                <a:cubicBezTo>
                  <a:pt x="66251" y="143871"/>
                  <a:pt x="61659" y="139278"/>
                  <a:pt x="61659" y="133594"/>
                </a:cubicBezTo>
                <a:cubicBezTo>
                  <a:pt x="61659" y="127910"/>
                  <a:pt x="66251" y="123318"/>
                  <a:pt x="71935" y="12331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07021" y="3395345"/>
            <a:ext cx="5228666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de Enumeração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1492" y="3724192"/>
            <a:ext cx="5351984" cy="665915"/>
          </a:xfrm>
          <a:custGeom>
            <a:avLst/>
            <a:gdLst/>
            <a:ahLst/>
            <a:cxnLst/>
            <a:rect l="l" t="t" r="r" b="b"/>
            <a:pathLst>
              <a:path w="5351984" h="665915">
                <a:moveTo>
                  <a:pt x="65772" y="0"/>
                </a:moveTo>
                <a:lnTo>
                  <a:pt x="5286211" y="0"/>
                </a:lnTo>
                <a:cubicBezTo>
                  <a:pt x="5322536" y="0"/>
                  <a:pt x="5351984" y="29447"/>
                  <a:pt x="5351984" y="65772"/>
                </a:cubicBezTo>
                <a:lnTo>
                  <a:pt x="5351984" y="600143"/>
                </a:lnTo>
                <a:cubicBezTo>
                  <a:pt x="5351984" y="636468"/>
                  <a:pt x="5322536" y="665915"/>
                  <a:pt x="5286211" y="665915"/>
                </a:cubicBezTo>
                <a:lnTo>
                  <a:pt x="65772" y="665915"/>
                </a:lnTo>
                <a:cubicBezTo>
                  <a:pt x="29447" y="665915"/>
                  <a:pt x="0" y="636468"/>
                  <a:pt x="0" y="600143"/>
                </a:cubicBezTo>
                <a:lnTo>
                  <a:pt x="0" y="65772"/>
                </a:lnTo>
                <a:cubicBezTo>
                  <a:pt x="0" y="29447"/>
                  <a:pt x="29447" y="0"/>
                  <a:pt x="657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33030" y="4254457"/>
            <a:ext cx="5088906" cy="8221"/>
          </a:xfrm>
          <a:custGeom>
            <a:avLst/>
            <a:gdLst/>
            <a:ahLst/>
            <a:cxnLst/>
            <a:rect l="l" t="t" r="r" b="b"/>
            <a:pathLst>
              <a:path w="5088906" h="8221">
                <a:moveTo>
                  <a:pt x="0" y="0"/>
                </a:moveTo>
                <a:lnTo>
                  <a:pt x="5088906" y="0"/>
                </a:lnTo>
                <a:lnTo>
                  <a:pt x="5088906" y="8221"/>
                </a:lnTo>
                <a:lnTo>
                  <a:pt x="0" y="8221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33030" y="3954384"/>
            <a:ext cx="1578465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Proporção de Enumeração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74765" y="3921500"/>
            <a:ext cx="1150964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2.000 bps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1492" y="4488761"/>
            <a:ext cx="5351984" cy="896108"/>
          </a:xfrm>
          <a:custGeom>
            <a:avLst/>
            <a:gdLst/>
            <a:ahLst/>
            <a:cxnLst/>
            <a:rect l="l" t="t" r="r" b="b"/>
            <a:pathLst>
              <a:path w="5351984" h="896108">
                <a:moveTo>
                  <a:pt x="65765" y="0"/>
                </a:moveTo>
                <a:lnTo>
                  <a:pt x="5286218" y="0"/>
                </a:lnTo>
                <a:cubicBezTo>
                  <a:pt x="5322540" y="0"/>
                  <a:pt x="5351984" y="29444"/>
                  <a:pt x="5351984" y="65765"/>
                </a:cubicBezTo>
                <a:lnTo>
                  <a:pt x="5351984" y="830343"/>
                </a:lnTo>
                <a:cubicBezTo>
                  <a:pt x="5351984" y="866664"/>
                  <a:pt x="5322540" y="896108"/>
                  <a:pt x="5286218" y="896108"/>
                </a:cubicBezTo>
                <a:lnTo>
                  <a:pt x="65765" y="896108"/>
                </a:lnTo>
                <a:cubicBezTo>
                  <a:pt x="29444" y="896108"/>
                  <a:pt x="0" y="866664"/>
                  <a:pt x="0" y="830343"/>
                </a:cubicBezTo>
                <a:lnTo>
                  <a:pt x="0" y="65765"/>
                </a:lnTo>
                <a:cubicBezTo>
                  <a:pt x="0" y="29444"/>
                  <a:pt x="29444" y="0"/>
                  <a:pt x="6576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33030" y="5019026"/>
            <a:ext cx="5088906" cy="8221"/>
          </a:xfrm>
          <a:custGeom>
            <a:avLst/>
            <a:gdLst/>
            <a:ahLst/>
            <a:cxnLst/>
            <a:rect l="l" t="t" r="r" b="b"/>
            <a:pathLst>
              <a:path w="5088906" h="8221">
                <a:moveTo>
                  <a:pt x="0" y="0"/>
                </a:moveTo>
                <a:lnTo>
                  <a:pt x="5088906" y="0"/>
                </a:lnTo>
                <a:lnTo>
                  <a:pt x="5088906" y="8221"/>
                </a:lnTo>
                <a:lnTo>
                  <a:pt x="0" y="8221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33030" y="4718953"/>
            <a:ext cx="1570244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Contagem de Enumeração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75731" y="4686069"/>
            <a:ext cx="1044089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300.000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3030" y="5088906"/>
            <a:ext cx="5146454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(aprovado e recusado)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64467" y="3226811"/>
            <a:ext cx="5689052" cy="2688324"/>
          </a:xfrm>
          <a:custGeom>
            <a:avLst/>
            <a:gdLst/>
            <a:ahLst/>
            <a:cxnLst/>
            <a:rect l="l" t="t" r="r" b="b"/>
            <a:pathLst>
              <a:path w="5689052" h="2688324">
                <a:moveTo>
                  <a:pt x="65756" y="0"/>
                </a:moveTo>
                <a:lnTo>
                  <a:pt x="5623296" y="0"/>
                </a:lnTo>
                <a:cubicBezTo>
                  <a:pt x="5659612" y="0"/>
                  <a:pt x="5689052" y="29440"/>
                  <a:pt x="5689052" y="65756"/>
                </a:cubicBezTo>
                <a:lnTo>
                  <a:pt x="5689052" y="2622567"/>
                </a:lnTo>
                <a:cubicBezTo>
                  <a:pt x="5689052" y="2658884"/>
                  <a:pt x="5659612" y="2688324"/>
                  <a:pt x="5623296" y="2688324"/>
                </a:cubicBezTo>
                <a:lnTo>
                  <a:pt x="65756" y="2688324"/>
                </a:lnTo>
                <a:cubicBezTo>
                  <a:pt x="29440" y="2688324"/>
                  <a:pt x="0" y="2658884"/>
                  <a:pt x="0" y="2622567"/>
                </a:cubicBezTo>
                <a:lnTo>
                  <a:pt x="0" y="65756"/>
                </a:lnTo>
                <a:cubicBezTo>
                  <a:pt x="0" y="29440"/>
                  <a:pt x="29440" y="0"/>
                  <a:pt x="6575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353554" y="3428229"/>
            <a:ext cx="164423" cy="164423"/>
          </a:xfrm>
          <a:custGeom>
            <a:avLst/>
            <a:gdLst/>
            <a:ahLst/>
            <a:cxnLst/>
            <a:rect l="l" t="t" r="r" b="b"/>
            <a:pathLst>
              <a:path w="164423" h="164423">
                <a:moveTo>
                  <a:pt x="0" y="41106"/>
                </a:moveTo>
                <a:lnTo>
                  <a:pt x="0" y="51382"/>
                </a:lnTo>
                <a:lnTo>
                  <a:pt x="164423" y="51382"/>
                </a:lnTo>
                <a:lnTo>
                  <a:pt x="164423" y="41106"/>
                </a:lnTo>
                <a:cubicBezTo>
                  <a:pt x="164423" y="29770"/>
                  <a:pt x="155207" y="20553"/>
                  <a:pt x="143871" y="20553"/>
                </a:cubicBezTo>
                <a:lnTo>
                  <a:pt x="20553" y="20553"/>
                </a:lnTo>
                <a:cubicBezTo>
                  <a:pt x="9217" y="20553"/>
                  <a:pt x="0" y="29770"/>
                  <a:pt x="0" y="41106"/>
                </a:cubicBezTo>
                <a:close/>
                <a:moveTo>
                  <a:pt x="0" y="66797"/>
                </a:moveTo>
                <a:lnTo>
                  <a:pt x="0" y="123318"/>
                </a:lnTo>
                <a:cubicBezTo>
                  <a:pt x="0" y="134654"/>
                  <a:pt x="9217" y="143871"/>
                  <a:pt x="20553" y="143871"/>
                </a:cubicBezTo>
                <a:lnTo>
                  <a:pt x="143871" y="143871"/>
                </a:lnTo>
                <a:cubicBezTo>
                  <a:pt x="155207" y="143871"/>
                  <a:pt x="164423" y="134654"/>
                  <a:pt x="164423" y="123318"/>
                </a:cubicBezTo>
                <a:lnTo>
                  <a:pt x="164423" y="66797"/>
                </a:lnTo>
                <a:lnTo>
                  <a:pt x="0" y="66797"/>
                </a:lnTo>
                <a:close/>
                <a:moveTo>
                  <a:pt x="20553" y="115610"/>
                </a:moveTo>
                <a:cubicBezTo>
                  <a:pt x="20553" y="111339"/>
                  <a:pt x="23989" y="107903"/>
                  <a:pt x="28260" y="107903"/>
                </a:cubicBezTo>
                <a:lnTo>
                  <a:pt x="43675" y="107903"/>
                </a:lnTo>
                <a:cubicBezTo>
                  <a:pt x="47946" y="107903"/>
                  <a:pt x="51382" y="111339"/>
                  <a:pt x="51382" y="115610"/>
                </a:cubicBezTo>
                <a:cubicBezTo>
                  <a:pt x="51382" y="119881"/>
                  <a:pt x="47946" y="123318"/>
                  <a:pt x="43675" y="123318"/>
                </a:cubicBezTo>
                <a:lnTo>
                  <a:pt x="28260" y="123318"/>
                </a:lnTo>
                <a:cubicBezTo>
                  <a:pt x="23989" y="123318"/>
                  <a:pt x="20553" y="119881"/>
                  <a:pt x="20553" y="115610"/>
                </a:cubicBezTo>
                <a:close/>
                <a:moveTo>
                  <a:pt x="66797" y="115610"/>
                </a:moveTo>
                <a:cubicBezTo>
                  <a:pt x="66797" y="111339"/>
                  <a:pt x="70233" y="107903"/>
                  <a:pt x="74504" y="107903"/>
                </a:cubicBezTo>
                <a:lnTo>
                  <a:pt x="95057" y="107903"/>
                </a:lnTo>
                <a:cubicBezTo>
                  <a:pt x="99328" y="107903"/>
                  <a:pt x="102765" y="111339"/>
                  <a:pt x="102765" y="115610"/>
                </a:cubicBezTo>
                <a:cubicBezTo>
                  <a:pt x="102765" y="119881"/>
                  <a:pt x="99328" y="123318"/>
                  <a:pt x="95057" y="123318"/>
                </a:cubicBezTo>
                <a:lnTo>
                  <a:pt x="74504" y="123318"/>
                </a:lnTo>
                <a:cubicBezTo>
                  <a:pt x="70233" y="123318"/>
                  <a:pt x="66797" y="119881"/>
                  <a:pt x="66797" y="115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538530" y="3395345"/>
            <a:ext cx="5228666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VAMP-CP-Brasil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3001" y="3724192"/>
            <a:ext cx="5417753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credenciador é identificado por fraude de CP (POS 5 ou 7) se atingir ou exceder: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3001" y="4020154"/>
            <a:ext cx="5351984" cy="665915"/>
          </a:xfrm>
          <a:custGeom>
            <a:avLst/>
            <a:gdLst/>
            <a:ahLst/>
            <a:cxnLst/>
            <a:rect l="l" t="t" r="r" b="b"/>
            <a:pathLst>
              <a:path w="5351984" h="665915">
                <a:moveTo>
                  <a:pt x="65772" y="0"/>
                </a:moveTo>
                <a:lnTo>
                  <a:pt x="5286211" y="0"/>
                </a:lnTo>
                <a:cubicBezTo>
                  <a:pt x="5322536" y="0"/>
                  <a:pt x="5351984" y="29447"/>
                  <a:pt x="5351984" y="65772"/>
                </a:cubicBezTo>
                <a:lnTo>
                  <a:pt x="5351984" y="600143"/>
                </a:lnTo>
                <a:cubicBezTo>
                  <a:pt x="5351984" y="636468"/>
                  <a:pt x="5322536" y="665915"/>
                  <a:pt x="5286211" y="665915"/>
                </a:cubicBezTo>
                <a:lnTo>
                  <a:pt x="65772" y="665915"/>
                </a:lnTo>
                <a:cubicBezTo>
                  <a:pt x="29447" y="665915"/>
                  <a:pt x="0" y="636468"/>
                  <a:pt x="0" y="600143"/>
                </a:cubicBezTo>
                <a:lnTo>
                  <a:pt x="0" y="65772"/>
                </a:lnTo>
                <a:cubicBezTo>
                  <a:pt x="0" y="29447"/>
                  <a:pt x="29447" y="0"/>
                  <a:pt x="657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464540" y="4550419"/>
            <a:ext cx="5088906" cy="8221"/>
          </a:xfrm>
          <a:custGeom>
            <a:avLst/>
            <a:gdLst/>
            <a:ahLst/>
            <a:cxnLst/>
            <a:rect l="l" t="t" r="r" b="b"/>
            <a:pathLst>
              <a:path w="5088906" h="8221">
                <a:moveTo>
                  <a:pt x="0" y="0"/>
                </a:moveTo>
                <a:lnTo>
                  <a:pt x="5088906" y="0"/>
                </a:lnTo>
                <a:lnTo>
                  <a:pt x="5088906" y="8221"/>
                </a:lnTo>
                <a:lnTo>
                  <a:pt x="0" y="8221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464540" y="4250347"/>
            <a:ext cx="82211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Fraude de CP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31574" y="4217462"/>
            <a:ext cx="1323609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500.000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3001" y="4784723"/>
            <a:ext cx="5351984" cy="896108"/>
          </a:xfrm>
          <a:custGeom>
            <a:avLst/>
            <a:gdLst/>
            <a:ahLst/>
            <a:cxnLst/>
            <a:rect l="l" t="t" r="r" b="b"/>
            <a:pathLst>
              <a:path w="5351984" h="896108">
                <a:moveTo>
                  <a:pt x="65765" y="0"/>
                </a:moveTo>
                <a:lnTo>
                  <a:pt x="5286218" y="0"/>
                </a:lnTo>
                <a:cubicBezTo>
                  <a:pt x="5322540" y="0"/>
                  <a:pt x="5351984" y="29444"/>
                  <a:pt x="5351984" y="65765"/>
                </a:cubicBezTo>
                <a:lnTo>
                  <a:pt x="5351984" y="830343"/>
                </a:lnTo>
                <a:cubicBezTo>
                  <a:pt x="5351984" y="866664"/>
                  <a:pt x="5322540" y="896108"/>
                  <a:pt x="5286218" y="896108"/>
                </a:cubicBezTo>
                <a:lnTo>
                  <a:pt x="65765" y="896108"/>
                </a:lnTo>
                <a:cubicBezTo>
                  <a:pt x="29444" y="896108"/>
                  <a:pt x="0" y="866664"/>
                  <a:pt x="0" y="830343"/>
                </a:cubicBezTo>
                <a:lnTo>
                  <a:pt x="0" y="65765"/>
                </a:lnTo>
                <a:cubicBezTo>
                  <a:pt x="0" y="29444"/>
                  <a:pt x="29444" y="0"/>
                  <a:pt x="6576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464540" y="5314989"/>
            <a:ext cx="5088906" cy="8221"/>
          </a:xfrm>
          <a:custGeom>
            <a:avLst/>
            <a:gdLst/>
            <a:ahLst/>
            <a:cxnLst/>
            <a:rect l="l" t="t" r="r" b="b"/>
            <a:pathLst>
              <a:path w="5088906" h="8221">
                <a:moveTo>
                  <a:pt x="0" y="0"/>
                </a:moveTo>
                <a:lnTo>
                  <a:pt x="5088906" y="0"/>
                </a:lnTo>
                <a:lnTo>
                  <a:pt x="5088906" y="8221"/>
                </a:lnTo>
                <a:lnTo>
                  <a:pt x="0" y="8221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464540" y="5014916"/>
            <a:ext cx="152091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Proporção fraude/vendas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985029" y="4982031"/>
            <a:ext cx="66591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0,03%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64540" y="5384869"/>
            <a:ext cx="5146454" cy="164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(valor de fraude de CP / valor de vendas)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32958" y="6054894"/>
            <a:ext cx="11526085" cy="468607"/>
          </a:xfrm>
          <a:custGeom>
            <a:avLst/>
            <a:gdLst/>
            <a:ahLst/>
            <a:cxnLst/>
            <a:rect l="l" t="t" r="r" b="b"/>
            <a:pathLst>
              <a:path w="11526085" h="468607">
                <a:moveTo>
                  <a:pt x="65769" y="0"/>
                </a:moveTo>
                <a:lnTo>
                  <a:pt x="11460316" y="0"/>
                </a:lnTo>
                <a:cubicBezTo>
                  <a:pt x="11496639" y="0"/>
                  <a:pt x="11526085" y="29446"/>
                  <a:pt x="11526085" y="65769"/>
                </a:cubicBezTo>
                <a:lnTo>
                  <a:pt x="11526085" y="402838"/>
                </a:lnTo>
                <a:cubicBezTo>
                  <a:pt x="11526085" y="439161"/>
                  <a:pt x="11496639" y="468607"/>
                  <a:pt x="11460316" y="468607"/>
                </a:cubicBezTo>
                <a:lnTo>
                  <a:pt x="65769" y="468607"/>
                </a:lnTo>
                <a:cubicBezTo>
                  <a:pt x="29446" y="468607"/>
                  <a:pt x="0" y="439161"/>
                  <a:pt x="0" y="40283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485049" y="6223428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65769" y="131539"/>
                </a:moveTo>
                <a:cubicBezTo>
                  <a:pt x="102068" y="131539"/>
                  <a:pt x="131539" y="102068"/>
                  <a:pt x="131539" y="65769"/>
                </a:cubicBezTo>
                <a:cubicBezTo>
                  <a:pt x="131539" y="29470"/>
                  <a:pt x="102068" y="0"/>
                  <a:pt x="65769" y="0"/>
                </a:cubicBezTo>
                <a:cubicBezTo>
                  <a:pt x="29470" y="0"/>
                  <a:pt x="0" y="29470"/>
                  <a:pt x="0" y="65769"/>
                </a:cubicBezTo>
                <a:cubicBezTo>
                  <a:pt x="0" y="102068"/>
                  <a:pt x="29470" y="131539"/>
                  <a:pt x="65769" y="131539"/>
                </a:cubicBezTo>
                <a:close/>
                <a:moveTo>
                  <a:pt x="57548" y="41106"/>
                </a:moveTo>
                <a:cubicBezTo>
                  <a:pt x="57548" y="36568"/>
                  <a:pt x="61232" y="32885"/>
                  <a:pt x="65769" y="32885"/>
                </a:cubicBezTo>
                <a:cubicBezTo>
                  <a:pt x="70307" y="32885"/>
                  <a:pt x="73991" y="36568"/>
                  <a:pt x="73991" y="41106"/>
                </a:cubicBezTo>
                <a:cubicBezTo>
                  <a:pt x="73991" y="45643"/>
                  <a:pt x="70307" y="49327"/>
                  <a:pt x="65769" y="49327"/>
                </a:cubicBezTo>
                <a:cubicBezTo>
                  <a:pt x="61232" y="49327"/>
                  <a:pt x="57548" y="45643"/>
                  <a:pt x="57548" y="41106"/>
                </a:cubicBezTo>
                <a:close/>
                <a:moveTo>
                  <a:pt x="55493" y="57548"/>
                </a:moveTo>
                <a:lnTo>
                  <a:pt x="67825" y="57548"/>
                </a:lnTo>
                <a:cubicBezTo>
                  <a:pt x="71242" y="57548"/>
                  <a:pt x="73991" y="60297"/>
                  <a:pt x="73991" y="63714"/>
                </a:cubicBezTo>
                <a:lnTo>
                  <a:pt x="73991" y="86322"/>
                </a:lnTo>
                <a:lnTo>
                  <a:pt x="76046" y="86322"/>
                </a:lnTo>
                <a:cubicBezTo>
                  <a:pt x="79463" y="86322"/>
                  <a:pt x="82212" y="89071"/>
                  <a:pt x="82212" y="92488"/>
                </a:cubicBezTo>
                <a:cubicBezTo>
                  <a:pt x="82212" y="95905"/>
                  <a:pt x="79463" y="98654"/>
                  <a:pt x="76046" y="98654"/>
                </a:cubicBezTo>
                <a:lnTo>
                  <a:pt x="55493" y="98654"/>
                </a:lnTo>
                <a:cubicBezTo>
                  <a:pt x="52076" y="98654"/>
                  <a:pt x="49327" y="95905"/>
                  <a:pt x="49327" y="92488"/>
                </a:cubicBezTo>
                <a:cubicBezTo>
                  <a:pt x="49327" y="89071"/>
                  <a:pt x="52076" y="86322"/>
                  <a:pt x="55493" y="86322"/>
                </a:cubicBezTo>
                <a:lnTo>
                  <a:pt x="61659" y="86322"/>
                </a:lnTo>
                <a:lnTo>
                  <a:pt x="61659" y="69880"/>
                </a:lnTo>
                <a:lnTo>
                  <a:pt x="55493" y="69880"/>
                </a:lnTo>
                <a:cubicBezTo>
                  <a:pt x="52076" y="69880"/>
                  <a:pt x="49327" y="67131"/>
                  <a:pt x="49327" y="63714"/>
                </a:cubicBezTo>
                <a:cubicBezTo>
                  <a:pt x="49327" y="60297"/>
                  <a:pt x="52076" y="57548"/>
                  <a:pt x="55493" y="5754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675605" y="6190543"/>
            <a:ext cx="11113557" cy="19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6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Nota:</a:t>
            </a:r>
            <a:r>
              <a:rPr lang="en-US" sz="1036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Os limites são aplicados mensalmente com base nas atividades do mês civil anterior.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VAMP - Limites por Categoria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7812" y="857251"/>
            <a:ext cx="11541125" cy="3508375"/>
          </a:xfrm>
          <a:custGeom>
            <a:avLst/>
            <a:gdLst/>
            <a:ahLst/>
            <a:cxnLst/>
            <a:rect l="l" t="t" r="r" b="b"/>
            <a:pathLst>
              <a:path w="11541125" h="3508375">
                <a:moveTo>
                  <a:pt x="31750" y="0"/>
                </a:moveTo>
                <a:lnTo>
                  <a:pt x="11477623" y="0"/>
                </a:lnTo>
                <a:cubicBezTo>
                  <a:pt x="11512694" y="0"/>
                  <a:pt x="11541125" y="28431"/>
                  <a:pt x="11541125" y="63502"/>
                </a:cubicBezTo>
                <a:lnTo>
                  <a:pt x="11541125" y="3444873"/>
                </a:lnTo>
                <a:cubicBezTo>
                  <a:pt x="11541125" y="3479944"/>
                  <a:pt x="11512694" y="3508375"/>
                  <a:pt x="11477623" y="3508375"/>
                </a:cubicBezTo>
                <a:lnTo>
                  <a:pt x="31750" y="3508375"/>
                </a:lnTo>
                <a:cubicBezTo>
                  <a:pt x="14215" y="3508375"/>
                  <a:pt x="0" y="3494160"/>
                  <a:pt x="0" y="347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7812" y="857251"/>
            <a:ext cx="31750" cy="3508375"/>
          </a:xfrm>
          <a:custGeom>
            <a:avLst/>
            <a:gdLst/>
            <a:ahLst/>
            <a:cxnLst/>
            <a:rect l="l" t="t" r="r" b="b"/>
            <a:pathLst>
              <a:path w="31750" h="3508375">
                <a:moveTo>
                  <a:pt x="31750" y="0"/>
                </a:moveTo>
                <a:lnTo>
                  <a:pt x="31750" y="0"/>
                </a:lnTo>
                <a:lnTo>
                  <a:pt x="31750" y="3508375"/>
                </a:lnTo>
                <a:lnTo>
                  <a:pt x="31750" y="3508375"/>
                </a:lnTo>
                <a:cubicBezTo>
                  <a:pt x="14227" y="3508375"/>
                  <a:pt x="0" y="3494148"/>
                  <a:pt x="0" y="3476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76250" y="10477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90562" y="1016001"/>
            <a:ext cx="1106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Atualizados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437" y="1397001"/>
            <a:ext cx="5540375" cy="1341438"/>
          </a:xfrm>
          <a:custGeom>
            <a:avLst/>
            <a:gdLst/>
            <a:ahLst/>
            <a:cxnLst/>
            <a:rect l="l" t="t" r="r" b="b"/>
            <a:pathLst>
              <a:path w="5540375" h="1341438">
                <a:moveTo>
                  <a:pt x="63504" y="0"/>
                </a:moveTo>
                <a:lnTo>
                  <a:pt x="5476871" y="0"/>
                </a:lnTo>
                <a:cubicBezTo>
                  <a:pt x="5511943" y="0"/>
                  <a:pt x="5540375" y="28432"/>
                  <a:pt x="5540375" y="63504"/>
                </a:cubicBezTo>
                <a:lnTo>
                  <a:pt x="5540375" y="1277934"/>
                </a:lnTo>
                <a:cubicBezTo>
                  <a:pt x="5540375" y="1313006"/>
                  <a:pt x="5511943" y="1341438"/>
                  <a:pt x="5476871" y="1341437"/>
                </a:cubicBezTo>
                <a:lnTo>
                  <a:pt x="63504" y="1341438"/>
                </a:lnTo>
                <a:cubicBezTo>
                  <a:pt x="28432" y="1341437"/>
                  <a:pt x="0" y="1313006"/>
                  <a:pt x="0" y="1277934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9437" y="1524001"/>
            <a:ext cx="535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Acima do Padrão (Credenciador)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437" y="2194720"/>
            <a:ext cx="5286375" cy="7938"/>
          </a:xfrm>
          <a:custGeom>
            <a:avLst/>
            <a:gdLst/>
            <a:ahLst/>
            <a:cxnLst/>
            <a:rect l="l" t="t" r="r" b="b"/>
            <a:pathLst>
              <a:path w="5286375" h="7938">
                <a:moveTo>
                  <a:pt x="0" y="0"/>
                </a:moveTo>
                <a:lnTo>
                  <a:pt x="5286375" y="0"/>
                </a:lnTo>
                <a:lnTo>
                  <a:pt x="52863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79437" y="1920876"/>
            <a:ext cx="118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Proporção do VAMP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9833" y="1905001"/>
            <a:ext cx="682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50 bps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437" y="2341564"/>
            <a:ext cx="145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Contagem de Transações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60665" y="2325689"/>
            <a:ext cx="58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1.500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19812" y="1397001"/>
            <a:ext cx="5540375" cy="1341438"/>
          </a:xfrm>
          <a:custGeom>
            <a:avLst/>
            <a:gdLst/>
            <a:ahLst/>
            <a:cxnLst/>
            <a:rect l="l" t="t" r="r" b="b"/>
            <a:pathLst>
              <a:path w="5540375" h="1341438">
                <a:moveTo>
                  <a:pt x="63504" y="0"/>
                </a:moveTo>
                <a:lnTo>
                  <a:pt x="5476871" y="0"/>
                </a:lnTo>
                <a:cubicBezTo>
                  <a:pt x="5511943" y="0"/>
                  <a:pt x="5540375" y="28432"/>
                  <a:pt x="5540375" y="63504"/>
                </a:cubicBezTo>
                <a:lnTo>
                  <a:pt x="5540375" y="1277934"/>
                </a:lnTo>
                <a:cubicBezTo>
                  <a:pt x="5540375" y="1313006"/>
                  <a:pt x="5511943" y="1341438"/>
                  <a:pt x="5476871" y="1341437"/>
                </a:cubicBezTo>
                <a:lnTo>
                  <a:pt x="63504" y="1341438"/>
                </a:lnTo>
                <a:cubicBezTo>
                  <a:pt x="28432" y="1341437"/>
                  <a:pt x="0" y="1313006"/>
                  <a:pt x="0" y="1277934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246812" y="1524001"/>
            <a:ext cx="535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Excesso (Credenciador)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6812" y="2194720"/>
            <a:ext cx="5286375" cy="7938"/>
          </a:xfrm>
          <a:custGeom>
            <a:avLst/>
            <a:gdLst/>
            <a:ahLst/>
            <a:cxnLst/>
            <a:rect l="l" t="t" r="r" b="b"/>
            <a:pathLst>
              <a:path w="5286375" h="7938">
                <a:moveTo>
                  <a:pt x="0" y="0"/>
                </a:moveTo>
                <a:lnTo>
                  <a:pt x="5286375" y="0"/>
                </a:lnTo>
                <a:lnTo>
                  <a:pt x="52863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46812" y="1920876"/>
            <a:ext cx="118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Proporção do VAMP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40107" y="1905001"/>
            <a:ext cx="674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70 bps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46812" y="2341564"/>
            <a:ext cx="145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Contagem de Transações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28040" y="2325689"/>
            <a:ext cx="58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1.500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437" y="2865439"/>
            <a:ext cx="5540375" cy="1341438"/>
          </a:xfrm>
          <a:custGeom>
            <a:avLst/>
            <a:gdLst/>
            <a:ahLst/>
            <a:cxnLst/>
            <a:rect l="l" t="t" r="r" b="b"/>
            <a:pathLst>
              <a:path w="5540375" h="1341438">
                <a:moveTo>
                  <a:pt x="63504" y="0"/>
                </a:moveTo>
                <a:lnTo>
                  <a:pt x="5476871" y="0"/>
                </a:lnTo>
                <a:cubicBezTo>
                  <a:pt x="5511943" y="0"/>
                  <a:pt x="5540375" y="28432"/>
                  <a:pt x="5540375" y="63504"/>
                </a:cubicBezTo>
                <a:lnTo>
                  <a:pt x="5540375" y="1277934"/>
                </a:lnTo>
                <a:cubicBezTo>
                  <a:pt x="5540375" y="1313006"/>
                  <a:pt x="5511943" y="1341438"/>
                  <a:pt x="5476871" y="1341437"/>
                </a:cubicBezTo>
                <a:lnTo>
                  <a:pt x="63504" y="1341438"/>
                </a:lnTo>
                <a:cubicBezTo>
                  <a:pt x="28432" y="1341437"/>
                  <a:pt x="0" y="1313006"/>
                  <a:pt x="0" y="1277934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79437" y="2992439"/>
            <a:ext cx="535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Excesso (Comerciante) - LAC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9437" y="3663157"/>
            <a:ext cx="5286375" cy="7938"/>
          </a:xfrm>
          <a:custGeom>
            <a:avLst/>
            <a:gdLst/>
            <a:ahLst/>
            <a:cxnLst/>
            <a:rect l="l" t="t" r="r" b="b"/>
            <a:pathLst>
              <a:path w="5286375" h="7938">
                <a:moveTo>
                  <a:pt x="0" y="0"/>
                </a:moveTo>
                <a:lnTo>
                  <a:pt x="5286375" y="0"/>
                </a:lnTo>
                <a:lnTo>
                  <a:pt x="52863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79437" y="3389314"/>
            <a:ext cx="39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09480" y="3373439"/>
            <a:ext cx="738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150 bps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19812" y="2865439"/>
            <a:ext cx="5540375" cy="1341438"/>
          </a:xfrm>
          <a:custGeom>
            <a:avLst/>
            <a:gdLst/>
            <a:ahLst/>
            <a:cxnLst/>
            <a:rect l="l" t="t" r="r" b="b"/>
            <a:pathLst>
              <a:path w="5540375" h="1341438">
                <a:moveTo>
                  <a:pt x="63504" y="0"/>
                </a:moveTo>
                <a:lnTo>
                  <a:pt x="5476871" y="0"/>
                </a:lnTo>
                <a:cubicBezTo>
                  <a:pt x="5511943" y="0"/>
                  <a:pt x="5540375" y="28432"/>
                  <a:pt x="5540375" y="63504"/>
                </a:cubicBezTo>
                <a:lnTo>
                  <a:pt x="5540375" y="1277934"/>
                </a:lnTo>
                <a:cubicBezTo>
                  <a:pt x="5540375" y="1313006"/>
                  <a:pt x="5511943" y="1341438"/>
                  <a:pt x="5476871" y="1341437"/>
                </a:cubicBezTo>
                <a:lnTo>
                  <a:pt x="63504" y="1341438"/>
                </a:lnTo>
                <a:cubicBezTo>
                  <a:pt x="28432" y="1341437"/>
                  <a:pt x="0" y="1313006"/>
                  <a:pt x="0" y="1277934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246812" y="2992439"/>
            <a:ext cx="535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Enumeração (Comerciante)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6812" y="3663157"/>
            <a:ext cx="5286375" cy="7938"/>
          </a:xfrm>
          <a:custGeom>
            <a:avLst/>
            <a:gdLst/>
            <a:ahLst/>
            <a:cxnLst/>
            <a:rect l="l" t="t" r="r" b="b"/>
            <a:pathLst>
              <a:path w="5286375" h="7938">
                <a:moveTo>
                  <a:pt x="0" y="0"/>
                </a:moveTo>
                <a:lnTo>
                  <a:pt x="5286375" y="0"/>
                </a:lnTo>
                <a:lnTo>
                  <a:pt x="52863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246812" y="3389314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Proporção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88463" y="3373439"/>
            <a:ext cx="92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2.000 bps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46812" y="3810001"/>
            <a:ext cx="62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Contagem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69699" y="3794126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300.000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94855" y="4442110"/>
            <a:ext cx="11492333" cy="2277867"/>
          </a:xfrm>
          <a:custGeom>
            <a:avLst/>
            <a:gdLst/>
            <a:ahLst/>
            <a:cxnLst/>
            <a:rect l="l" t="t" r="r" b="b"/>
            <a:pathLst>
              <a:path w="11549063" h="2619375">
                <a:moveTo>
                  <a:pt x="63494" y="0"/>
                </a:moveTo>
                <a:lnTo>
                  <a:pt x="11485569" y="0"/>
                </a:lnTo>
                <a:cubicBezTo>
                  <a:pt x="11520635" y="0"/>
                  <a:pt x="11549063" y="28427"/>
                  <a:pt x="11549063" y="63494"/>
                </a:cubicBezTo>
                <a:lnTo>
                  <a:pt x="11549063" y="2555881"/>
                </a:lnTo>
                <a:cubicBezTo>
                  <a:pt x="11549063" y="2590948"/>
                  <a:pt x="11520635" y="2619375"/>
                  <a:pt x="11485569" y="2619375"/>
                </a:cubicBezTo>
                <a:lnTo>
                  <a:pt x="63494" y="2619375"/>
                </a:lnTo>
                <a:cubicBezTo>
                  <a:pt x="28427" y="2619375"/>
                  <a:pt x="0" y="2590948"/>
                  <a:pt x="0" y="2555881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85462" y="45323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0"/>
                </a:moveTo>
                <a:cubicBezTo>
                  <a:pt x="45176" y="0"/>
                  <a:pt x="49609" y="4434"/>
                  <a:pt x="49609" y="9922"/>
                </a:cubicBezTo>
                <a:lnTo>
                  <a:pt x="49609" y="19844"/>
                </a:lnTo>
                <a:lnTo>
                  <a:pt x="89297" y="19844"/>
                </a:lnTo>
                <a:lnTo>
                  <a:pt x="89297" y="9922"/>
                </a:lnTo>
                <a:cubicBezTo>
                  <a:pt x="89297" y="4434"/>
                  <a:pt x="93731" y="0"/>
                  <a:pt x="99219" y="0"/>
                </a:cubicBezTo>
                <a:cubicBezTo>
                  <a:pt x="104707" y="0"/>
                  <a:pt x="109141" y="4434"/>
                  <a:pt x="109141" y="9922"/>
                </a:cubicBezTo>
                <a:lnTo>
                  <a:pt x="109141" y="19844"/>
                </a:lnTo>
                <a:lnTo>
                  <a:pt x="119062" y="19844"/>
                </a:lnTo>
                <a:cubicBezTo>
                  <a:pt x="130008" y="19844"/>
                  <a:pt x="138906" y="28742"/>
                  <a:pt x="138906" y="39688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39688"/>
                </a:lnTo>
                <a:cubicBezTo>
                  <a:pt x="0" y="28742"/>
                  <a:pt x="8899" y="19844"/>
                  <a:pt x="19844" y="19844"/>
                </a:cubicBezTo>
                <a:lnTo>
                  <a:pt x="29766" y="19844"/>
                </a:lnTo>
                <a:lnTo>
                  <a:pt x="29766" y="9922"/>
                </a:lnTo>
                <a:cubicBezTo>
                  <a:pt x="29766" y="4434"/>
                  <a:pt x="34199" y="0"/>
                  <a:pt x="39688" y="0"/>
                </a:cubicBezTo>
                <a:close/>
                <a:moveTo>
                  <a:pt x="19844" y="74414"/>
                </a:moveTo>
                <a:lnTo>
                  <a:pt x="19844" y="84336"/>
                </a:lnTo>
                <a:cubicBezTo>
                  <a:pt x="19844" y="87064"/>
                  <a:pt x="22076" y="89297"/>
                  <a:pt x="24805" y="89297"/>
                </a:cubicBezTo>
                <a:lnTo>
                  <a:pt x="34727" y="89297"/>
                </a:lnTo>
                <a:cubicBezTo>
                  <a:pt x="37455" y="89297"/>
                  <a:pt x="39688" y="87064"/>
                  <a:pt x="39688" y="84336"/>
                </a:cubicBezTo>
                <a:lnTo>
                  <a:pt x="39688" y="74414"/>
                </a:lnTo>
                <a:cubicBezTo>
                  <a:pt x="39688" y="71686"/>
                  <a:pt x="37455" y="69453"/>
                  <a:pt x="34727" y="69453"/>
                </a:cubicBezTo>
                <a:lnTo>
                  <a:pt x="24805" y="69453"/>
                </a:lnTo>
                <a:cubicBezTo>
                  <a:pt x="22076" y="69453"/>
                  <a:pt x="19844" y="71686"/>
                  <a:pt x="19844" y="74414"/>
                </a:cubicBezTo>
                <a:close/>
                <a:moveTo>
                  <a:pt x="59531" y="74414"/>
                </a:moveTo>
                <a:lnTo>
                  <a:pt x="59531" y="84336"/>
                </a:lnTo>
                <a:cubicBezTo>
                  <a:pt x="59531" y="87064"/>
                  <a:pt x="61764" y="89297"/>
                  <a:pt x="64492" y="89297"/>
                </a:cubicBezTo>
                <a:lnTo>
                  <a:pt x="74414" y="89297"/>
                </a:lnTo>
                <a:cubicBezTo>
                  <a:pt x="77143" y="89297"/>
                  <a:pt x="79375" y="87064"/>
                  <a:pt x="79375" y="84336"/>
                </a:cubicBezTo>
                <a:lnTo>
                  <a:pt x="79375" y="74414"/>
                </a:lnTo>
                <a:cubicBezTo>
                  <a:pt x="79375" y="71686"/>
                  <a:pt x="77143" y="69453"/>
                  <a:pt x="74414" y="69453"/>
                </a:cubicBezTo>
                <a:lnTo>
                  <a:pt x="64492" y="69453"/>
                </a:lnTo>
                <a:cubicBezTo>
                  <a:pt x="61764" y="69453"/>
                  <a:pt x="59531" y="71686"/>
                  <a:pt x="59531" y="74414"/>
                </a:cubicBezTo>
                <a:close/>
                <a:moveTo>
                  <a:pt x="104180" y="69453"/>
                </a:moveTo>
                <a:cubicBezTo>
                  <a:pt x="101451" y="69453"/>
                  <a:pt x="99219" y="71686"/>
                  <a:pt x="99219" y="74414"/>
                </a:cubicBezTo>
                <a:lnTo>
                  <a:pt x="99219" y="84336"/>
                </a:lnTo>
                <a:cubicBezTo>
                  <a:pt x="99219" y="87064"/>
                  <a:pt x="101451" y="89297"/>
                  <a:pt x="104180" y="89297"/>
                </a:cubicBezTo>
                <a:lnTo>
                  <a:pt x="114102" y="89297"/>
                </a:lnTo>
                <a:cubicBezTo>
                  <a:pt x="116830" y="89297"/>
                  <a:pt x="119062" y="87064"/>
                  <a:pt x="119062" y="84336"/>
                </a:cubicBezTo>
                <a:lnTo>
                  <a:pt x="119062" y="74414"/>
                </a:lnTo>
                <a:cubicBezTo>
                  <a:pt x="119062" y="71686"/>
                  <a:pt x="116830" y="69453"/>
                  <a:pt x="114102" y="69453"/>
                </a:cubicBezTo>
                <a:lnTo>
                  <a:pt x="104180" y="69453"/>
                </a:lnTo>
                <a:close/>
                <a:moveTo>
                  <a:pt x="19844" y="114102"/>
                </a:move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34727" y="128984"/>
                </a:lnTo>
                <a:cubicBezTo>
                  <a:pt x="37455" y="128984"/>
                  <a:pt x="39688" y="126752"/>
                  <a:pt x="39688" y="124023"/>
                </a:cubicBezTo>
                <a:lnTo>
                  <a:pt x="39688" y="114102"/>
                </a:lnTo>
                <a:cubicBezTo>
                  <a:pt x="39688" y="111373"/>
                  <a:pt x="37455" y="109141"/>
                  <a:pt x="34727" y="109141"/>
                </a:cubicBezTo>
                <a:lnTo>
                  <a:pt x="24805" y="109141"/>
                </a:lnTo>
                <a:cubicBezTo>
                  <a:pt x="22076" y="109141"/>
                  <a:pt x="19844" y="111373"/>
                  <a:pt x="19844" y="114102"/>
                </a:cubicBezTo>
                <a:close/>
                <a:moveTo>
                  <a:pt x="64492" y="109141"/>
                </a:moveTo>
                <a:cubicBezTo>
                  <a:pt x="61764" y="109141"/>
                  <a:pt x="59531" y="111373"/>
                  <a:pt x="59531" y="114102"/>
                </a:cubicBezTo>
                <a:lnTo>
                  <a:pt x="59531" y="124023"/>
                </a:lnTo>
                <a:cubicBezTo>
                  <a:pt x="59531" y="126752"/>
                  <a:pt x="61764" y="128984"/>
                  <a:pt x="64492" y="128984"/>
                </a:cubicBezTo>
                <a:lnTo>
                  <a:pt x="74414" y="128984"/>
                </a:lnTo>
                <a:cubicBezTo>
                  <a:pt x="77143" y="128984"/>
                  <a:pt x="79375" y="126752"/>
                  <a:pt x="79375" y="124023"/>
                </a:cubicBezTo>
                <a:lnTo>
                  <a:pt x="79375" y="114102"/>
                </a:lnTo>
                <a:cubicBezTo>
                  <a:pt x="79375" y="111373"/>
                  <a:pt x="77143" y="109141"/>
                  <a:pt x="74414" y="109141"/>
                </a:cubicBezTo>
                <a:lnTo>
                  <a:pt x="64492" y="109141"/>
                </a:lnTo>
                <a:close/>
                <a:moveTo>
                  <a:pt x="99219" y="114102"/>
                </a:moveTo>
                <a:lnTo>
                  <a:pt x="99219" y="124023"/>
                </a:lnTo>
                <a:cubicBezTo>
                  <a:pt x="99219" y="126752"/>
                  <a:pt x="101451" y="128984"/>
                  <a:pt x="104180" y="128984"/>
                </a:cubicBezTo>
                <a:lnTo>
                  <a:pt x="114102" y="128984"/>
                </a:lnTo>
                <a:cubicBezTo>
                  <a:pt x="116830" y="128984"/>
                  <a:pt x="119062" y="126752"/>
                  <a:pt x="119062" y="124023"/>
                </a:cubicBezTo>
                <a:lnTo>
                  <a:pt x="119062" y="114102"/>
                </a:lnTo>
                <a:cubicBezTo>
                  <a:pt x="119062" y="111373"/>
                  <a:pt x="116830" y="109141"/>
                  <a:pt x="114102" y="109141"/>
                </a:cubicBezTo>
                <a:lnTo>
                  <a:pt x="104180" y="109141"/>
                </a:lnTo>
                <a:cubicBezTo>
                  <a:pt x="101451" y="109141"/>
                  <a:pt x="99219" y="111373"/>
                  <a:pt x="99219" y="11410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4134" y="4500563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Evolução dos Limites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712745"/>
              </p:ext>
            </p:extLst>
          </p:nvPr>
        </p:nvGraphicFramePr>
        <p:xfrm>
          <a:off x="455696" y="4849813"/>
          <a:ext cx="11223626" cy="1944690"/>
        </p:xfrm>
        <a:graphic>
          <a:graphicData uri="http://schemas.openxmlformats.org/drawingml/2006/table">
            <a:tbl>
              <a:tblPr/>
              <a:tblGrid>
                <a:gridCol w="467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Categoria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 partir de 01/04/2025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 partir de 01/01/2026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2A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Credenciador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Não se aplica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30 a &lt; 50 bps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8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Estabelecimento Acima do Padrão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50 bps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50 bps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Casos de Excesso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70 bps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70 bps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Proporção de Enumeração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2.000 bps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8B2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2.000 bps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VAMP - Notificação, Remediação e Saída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19750" cy="4572000"/>
          </a:xfrm>
          <a:custGeom>
            <a:avLst/>
            <a:gdLst/>
            <a:ahLst/>
            <a:cxnLst/>
            <a:rect l="l" t="t" r="r" b="b"/>
            <a:pathLst>
              <a:path w="5619750" h="4572000">
                <a:moveTo>
                  <a:pt x="38100" y="0"/>
                </a:moveTo>
                <a:lnTo>
                  <a:pt x="5543535" y="0"/>
                </a:lnTo>
                <a:cubicBezTo>
                  <a:pt x="5585627" y="0"/>
                  <a:pt x="5619750" y="34123"/>
                  <a:pt x="5619750" y="76215"/>
                </a:cubicBezTo>
                <a:lnTo>
                  <a:pt x="5619750" y="4495785"/>
                </a:lnTo>
                <a:cubicBezTo>
                  <a:pt x="5619750" y="4537877"/>
                  <a:pt x="5585627" y="4572000"/>
                  <a:pt x="5543535" y="4572000"/>
                </a:cubicBezTo>
                <a:lnTo>
                  <a:pt x="38100" y="4572000"/>
                </a:lnTo>
                <a:cubicBezTo>
                  <a:pt x="17072" y="4572000"/>
                  <a:pt x="0" y="4554928"/>
                  <a:pt x="0" y="453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4572000"/>
          </a:xfrm>
          <a:custGeom>
            <a:avLst/>
            <a:gdLst/>
            <a:ahLst/>
            <a:cxnLst/>
            <a:rect l="l" t="t" r="r" b="b"/>
            <a:pathLst>
              <a:path w="38100" h="4572000">
                <a:moveTo>
                  <a:pt x="38100" y="0"/>
                </a:moveTo>
                <a:lnTo>
                  <a:pt x="38100" y="0"/>
                </a:lnTo>
                <a:lnTo>
                  <a:pt x="38100" y="4572000"/>
                </a:lnTo>
                <a:lnTo>
                  <a:pt x="38100" y="4572000"/>
                </a:lnTo>
                <a:cubicBezTo>
                  <a:pt x="17072" y="4572000"/>
                  <a:pt x="0" y="4554928"/>
                  <a:pt x="0" y="453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2463" y="1447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0"/>
                </a:moveTo>
                <a:cubicBezTo>
                  <a:pt x="92110" y="0"/>
                  <a:pt x="85725" y="6385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8" y="154528"/>
                </a:cubicBezTo>
                <a:lnTo>
                  <a:pt x="3483" y="159975"/>
                </a:lnTo>
                <a:cubicBezTo>
                  <a:pt x="1206" y="162788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0" y="178638"/>
                  <a:pt x="199980" y="169887"/>
                </a:cubicBezTo>
                <a:cubicBezTo>
                  <a:pt x="199980" y="166271"/>
                  <a:pt x="198775" y="162788"/>
                  <a:pt x="196498" y="159975"/>
                </a:cubicBezTo>
                <a:lnTo>
                  <a:pt x="192122" y="154528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7"/>
                </a:lnTo>
                <a:cubicBezTo>
                  <a:pt x="114300" y="6385"/>
                  <a:pt x="107915" y="0"/>
                  <a:pt x="100013" y="0"/>
                </a:cubicBezTo>
                <a:close/>
                <a:moveTo>
                  <a:pt x="72330" y="207169"/>
                </a:moveTo>
                <a:cubicBezTo>
                  <a:pt x="75501" y="219492"/>
                  <a:pt x="86707" y="228600"/>
                  <a:pt x="100013" y="228600"/>
                </a:cubicBezTo>
                <a:cubicBezTo>
                  <a:pt x="113318" y="228600"/>
                  <a:pt x="124524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5350" y="1409700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Notificação e Remediação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1866900"/>
            <a:ext cx="5219700" cy="990600"/>
          </a:xfrm>
          <a:custGeom>
            <a:avLst/>
            <a:gdLst/>
            <a:ahLst/>
            <a:cxnLst/>
            <a:rect l="l" t="t" r="r" b="b"/>
            <a:pathLst>
              <a:path w="5219700" h="9906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914403"/>
                </a:lnTo>
                <a:cubicBezTo>
                  <a:pt x="5219700" y="956485"/>
                  <a:pt x="5185585" y="990600"/>
                  <a:pt x="5143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23900" y="1981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38200" y="209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19200" y="1981200"/>
            <a:ext cx="458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Plataforma VERC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92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Credenciadores identificados recebem notificação via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Visa Ecosystem Risk Central (VERC)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2971800"/>
            <a:ext cx="5219700" cy="990600"/>
          </a:xfrm>
          <a:custGeom>
            <a:avLst/>
            <a:gdLst/>
            <a:ahLst/>
            <a:cxnLst/>
            <a:rect l="l" t="t" r="r" b="b"/>
            <a:pathLst>
              <a:path w="5219700" h="9906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914403"/>
                </a:lnTo>
                <a:cubicBezTo>
                  <a:pt x="5219700" y="956485"/>
                  <a:pt x="5185585" y="990600"/>
                  <a:pt x="5143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239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57250" y="3200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19200" y="3086100"/>
            <a:ext cx="458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Plano de Remediação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9200" y="33909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Credenciadores devem </a:t>
            </a:r>
            <a:r>
              <a:rPr lang="en-US" sz="12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enviar um plano de remediação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podem estar sujeitos a medidas de fiscalização e tarifas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4363" y="4081463"/>
            <a:ext cx="5210175" cy="1343025"/>
          </a:xfrm>
          <a:custGeom>
            <a:avLst/>
            <a:gdLst/>
            <a:ahLst/>
            <a:cxnLst/>
            <a:rect l="l" t="t" r="r" b="b"/>
            <a:pathLst>
              <a:path w="5210175" h="1343025">
                <a:moveTo>
                  <a:pt x="76203" y="0"/>
                </a:moveTo>
                <a:lnTo>
                  <a:pt x="5133972" y="0"/>
                </a:lnTo>
                <a:cubicBezTo>
                  <a:pt x="5176058" y="0"/>
                  <a:pt x="5210175" y="34117"/>
                  <a:pt x="5210175" y="76203"/>
                </a:cubicBezTo>
                <a:lnTo>
                  <a:pt x="5210175" y="1266822"/>
                </a:lnTo>
                <a:cubicBezTo>
                  <a:pt x="5210175" y="1308908"/>
                  <a:pt x="5176058" y="1343025"/>
                  <a:pt x="5133972" y="1343025"/>
                </a:cubicBezTo>
                <a:lnTo>
                  <a:pt x="76203" y="1343025"/>
                </a:lnTo>
                <a:cubicBezTo>
                  <a:pt x="34117" y="1343025"/>
                  <a:pt x="0" y="1308908"/>
                  <a:pt x="0" y="1266822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06053" y="42862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103272" y="76583"/>
                </a:moveTo>
                <a:cubicBezTo>
                  <a:pt x="105616" y="72833"/>
                  <a:pt x="104477" y="67877"/>
                  <a:pt x="100727" y="65499"/>
                </a:cubicBezTo>
                <a:cubicBezTo>
                  <a:pt x="96976" y="63122"/>
                  <a:pt x="92020" y="64294"/>
                  <a:pt x="89643" y="68044"/>
                </a:cubicBezTo>
                <a:lnTo>
                  <a:pt x="69082" y="100961"/>
                </a:lnTo>
                <a:lnTo>
                  <a:pt x="60041" y="88906"/>
                </a:lnTo>
                <a:cubicBezTo>
                  <a:pt x="57362" y="85357"/>
                  <a:pt x="52339" y="84620"/>
                  <a:pt x="48790" y="87299"/>
                </a:cubicBezTo>
                <a:cubicBezTo>
                  <a:pt x="45240" y="89978"/>
                  <a:pt x="44503" y="95001"/>
                  <a:pt x="47182" y="98550"/>
                </a:cubicBezTo>
                <a:lnTo>
                  <a:pt x="63256" y="119982"/>
                </a:lnTo>
                <a:cubicBezTo>
                  <a:pt x="64830" y="122091"/>
                  <a:pt x="67374" y="123297"/>
                  <a:pt x="70020" y="123196"/>
                </a:cubicBezTo>
                <a:cubicBezTo>
                  <a:pt x="72665" y="123096"/>
                  <a:pt x="75076" y="121689"/>
                  <a:pt x="76483" y="119412"/>
                </a:cubicBezTo>
                <a:lnTo>
                  <a:pt x="103272" y="7655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90600" y="4238625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Período de Carência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1525" y="4581525"/>
            <a:ext cx="4972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identificações pela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primeira vez em 12 meses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será concedido um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período de carência de 3 meses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que as medidas de fiscalização sejam tomadas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6963" y="1223963"/>
            <a:ext cx="5629275" cy="4562475"/>
          </a:xfrm>
          <a:custGeom>
            <a:avLst/>
            <a:gdLst/>
            <a:ahLst/>
            <a:cxnLst/>
            <a:rect l="l" t="t" r="r" b="b"/>
            <a:pathLst>
              <a:path w="5629275" h="4562475">
                <a:moveTo>
                  <a:pt x="76193" y="0"/>
                </a:moveTo>
                <a:lnTo>
                  <a:pt x="5553082" y="0"/>
                </a:lnTo>
                <a:cubicBezTo>
                  <a:pt x="5595162" y="0"/>
                  <a:pt x="5629275" y="34113"/>
                  <a:pt x="5629275" y="76193"/>
                </a:cubicBezTo>
                <a:lnTo>
                  <a:pt x="5629275" y="4486282"/>
                </a:lnTo>
                <a:cubicBezTo>
                  <a:pt x="5629275" y="4528362"/>
                  <a:pt x="5595162" y="4562475"/>
                  <a:pt x="5553082" y="4562475"/>
                </a:cubicBezTo>
                <a:lnTo>
                  <a:pt x="76193" y="4562475"/>
                </a:lnTo>
                <a:cubicBezTo>
                  <a:pt x="34113" y="4562475"/>
                  <a:pt x="0" y="4528362"/>
                  <a:pt x="0" y="4486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400800" y="1457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657975" y="1419225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Critérios de Saída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72225" y="1876425"/>
            <a:ext cx="5238750" cy="2476500"/>
          </a:xfrm>
          <a:custGeom>
            <a:avLst/>
            <a:gdLst/>
            <a:ahLst/>
            <a:cxnLst/>
            <a:rect l="l" t="t" r="r" b="b"/>
            <a:pathLst>
              <a:path w="5238750" h="2476500">
                <a:moveTo>
                  <a:pt x="76202" y="0"/>
                </a:moveTo>
                <a:lnTo>
                  <a:pt x="5162548" y="0"/>
                </a:lnTo>
                <a:cubicBezTo>
                  <a:pt x="5204633" y="0"/>
                  <a:pt x="5238750" y="34117"/>
                  <a:pt x="5238750" y="76202"/>
                </a:cubicBezTo>
                <a:lnTo>
                  <a:pt x="5238750" y="2400298"/>
                </a:lnTo>
                <a:cubicBezTo>
                  <a:pt x="5238750" y="2442383"/>
                  <a:pt x="5204633" y="2476500"/>
                  <a:pt x="5162548" y="2476500"/>
                </a:cubicBezTo>
                <a:lnTo>
                  <a:pt x="76202" y="2476500"/>
                </a:lnTo>
                <a:cubicBezTo>
                  <a:pt x="34117" y="2476500"/>
                  <a:pt x="0" y="2442383"/>
                  <a:pt x="0" y="24002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24625" y="20288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Correção Bem-Sucedida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24625" y="237172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correção é considerada bem-sucedida, e o caso VAMP é encerrado quando: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29388" y="2947988"/>
            <a:ext cx="4924425" cy="466725"/>
          </a:xfrm>
          <a:custGeom>
            <a:avLst/>
            <a:gdLst/>
            <a:ahLst/>
            <a:cxnLst/>
            <a:rect l="l" t="t" r="r" b="b"/>
            <a:pathLst>
              <a:path w="4924425" h="466725">
                <a:moveTo>
                  <a:pt x="76202" y="0"/>
                </a:moveTo>
                <a:lnTo>
                  <a:pt x="4848223" y="0"/>
                </a:lnTo>
                <a:cubicBezTo>
                  <a:pt x="4890308" y="0"/>
                  <a:pt x="4924425" y="34117"/>
                  <a:pt x="4924425" y="76202"/>
                </a:cubicBezTo>
                <a:lnTo>
                  <a:pt x="4924425" y="390523"/>
                </a:lnTo>
                <a:cubicBezTo>
                  <a:pt x="4924425" y="432608"/>
                  <a:pt x="4890308" y="466725"/>
                  <a:pt x="48482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686550" y="31051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953250" y="3067050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Desempenho do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Adquirente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estiver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abaixo de 30 bps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29388" y="3500438"/>
            <a:ext cx="4924425" cy="695325"/>
          </a:xfrm>
          <a:custGeom>
            <a:avLst/>
            <a:gdLst/>
            <a:ahLst/>
            <a:cxnLst/>
            <a:rect l="l" t="t" r="r" b="b"/>
            <a:pathLst>
              <a:path w="4924425" h="695325">
                <a:moveTo>
                  <a:pt x="76201" y="0"/>
                </a:moveTo>
                <a:lnTo>
                  <a:pt x="4848224" y="0"/>
                </a:lnTo>
                <a:cubicBezTo>
                  <a:pt x="4890309" y="0"/>
                  <a:pt x="4924425" y="34116"/>
                  <a:pt x="4924425" y="76201"/>
                </a:cubicBezTo>
                <a:lnTo>
                  <a:pt x="4924425" y="619124"/>
                </a:lnTo>
                <a:cubicBezTo>
                  <a:pt x="4924425" y="661209"/>
                  <a:pt x="4890309" y="695325"/>
                  <a:pt x="48482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662738" y="3657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901160" y="3619500"/>
            <a:ext cx="4505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Desempenho do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Comerciante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estiver </a:t>
            </a: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abaixo do limite excessivo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 atividade identificada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6988" y="4471988"/>
            <a:ext cx="5229225" cy="1114425"/>
          </a:xfrm>
          <a:custGeom>
            <a:avLst/>
            <a:gdLst/>
            <a:ahLst/>
            <a:cxnLst/>
            <a:rect l="l" t="t" r="r" b="b"/>
            <a:pathLst>
              <a:path w="5229225" h="1114425">
                <a:moveTo>
                  <a:pt x="76204" y="0"/>
                </a:moveTo>
                <a:lnTo>
                  <a:pt x="5153021" y="0"/>
                </a:lnTo>
                <a:cubicBezTo>
                  <a:pt x="5195107" y="0"/>
                  <a:pt x="5229225" y="34118"/>
                  <a:pt x="5229225" y="76204"/>
                </a:cubicBezTo>
                <a:lnTo>
                  <a:pt x="5229225" y="1038221"/>
                </a:lnTo>
                <a:cubicBezTo>
                  <a:pt x="5229225" y="1080307"/>
                  <a:pt x="5195107" y="1114425"/>
                  <a:pt x="515302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557963" y="4676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753225" y="4629150"/>
            <a:ext cx="478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Processo de Saída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4150" y="497205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caso é encerrado automaticamente quando os critérios são atingidos por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três meses consecutivos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5763" y="5948363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76204" y="0"/>
                </a:moveTo>
                <a:lnTo>
                  <a:pt x="11344271" y="0"/>
                </a:lnTo>
                <a:cubicBezTo>
                  <a:pt x="11386358" y="0"/>
                  <a:pt x="11420475" y="34117"/>
                  <a:pt x="11420475" y="76204"/>
                </a:cubicBezTo>
                <a:lnTo>
                  <a:pt x="11420475" y="695321"/>
                </a:lnTo>
                <a:cubicBezTo>
                  <a:pt x="11420475" y="737408"/>
                  <a:pt x="11386358" y="771525"/>
                  <a:pt x="113442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561975" y="6143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90575" y="6105525"/>
            <a:ext cx="1093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Importante: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período de carência é uma oportunidade para o adquirente implementar medidas corretivas sem penalidades imediatas, mas requer ação rápida e efetiva.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VAMP - Penalidades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3067050"/>
          </a:xfrm>
          <a:custGeom>
            <a:avLst/>
            <a:gdLst/>
            <a:ahLst/>
            <a:cxnLst/>
            <a:rect l="l" t="t" r="r" b="b"/>
            <a:pathLst>
              <a:path w="11410950" h="3067050">
                <a:moveTo>
                  <a:pt x="38100" y="0"/>
                </a:moveTo>
                <a:lnTo>
                  <a:pt x="11334764" y="0"/>
                </a:lnTo>
                <a:cubicBezTo>
                  <a:pt x="11376841" y="0"/>
                  <a:pt x="11410950" y="34109"/>
                  <a:pt x="11410950" y="76186"/>
                </a:cubicBezTo>
                <a:lnTo>
                  <a:pt x="11410950" y="2990864"/>
                </a:lnTo>
                <a:cubicBezTo>
                  <a:pt x="11410950" y="3032941"/>
                  <a:pt x="11376841" y="3067050"/>
                  <a:pt x="11334764" y="3067050"/>
                </a:cubicBezTo>
                <a:lnTo>
                  <a:pt x="38100" y="3067050"/>
                </a:lnTo>
                <a:cubicBezTo>
                  <a:pt x="17058" y="3067050"/>
                  <a:pt x="0" y="3049992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3067050"/>
          </a:xfrm>
          <a:custGeom>
            <a:avLst/>
            <a:gdLst/>
            <a:ahLst/>
            <a:cxnLst/>
            <a:rect l="l" t="t" r="r" b="b"/>
            <a:pathLst>
              <a:path w="38100" h="3067050">
                <a:moveTo>
                  <a:pt x="38100" y="0"/>
                </a:moveTo>
                <a:lnTo>
                  <a:pt x="38100" y="0"/>
                </a:lnTo>
                <a:lnTo>
                  <a:pt x="38100" y="3067050"/>
                </a:lnTo>
                <a:lnTo>
                  <a:pt x="38100" y="3067050"/>
                </a:lnTo>
                <a:cubicBezTo>
                  <a:pt x="17072" y="3067050"/>
                  <a:pt x="0" y="3049978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817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5350" y="1409700"/>
            <a:ext cx="10839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Tabela de Imposição de Tarifas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66900"/>
            <a:ext cx="1109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Tarifas por Não Conformidade para </a:t>
            </a:r>
            <a:r>
              <a:rPr lang="en-US" sz="135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Excesso de Disputas ou Proporção de Atividade de Fraude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Relação às Vendas: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286000"/>
            <a:ext cx="3571875" cy="1809750"/>
          </a:xfrm>
          <a:custGeom>
            <a:avLst/>
            <a:gdLst/>
            <a:ahLst/>
            <a:cxnLst/>
            <a:rect l="l" t="t" r="r" b="b"/>
            <a:pathLst>
              <a:path w="3571875" h="1809750">
                <a:moveTo>
                  <a:pt x="76209" y="0"/>
                </a:moveTo>
                <a:lnTo>
                  <a:pt x="3495666" y="0"/>
                </a:lnTo>
                <a:cubicBezTo>
                  <a:pt x="3537727" y="0"/>
                  <a:pt x="3571875" y="34148"/>
                  <a:pt x="3571875" y="76209"/>
                </a:cubicBezTo>
                <a:lnTo>
                  <a:pt x="3571875" y="1733541"/>
                </a:lnTo>
                <a:cubicBezTo>
                  <a:pt x="3571875" y="1775630"/>
                  <a:pt x="3537755" y="1809750"/>
                  <a:pt x="349566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9138" y="24384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Acima do Padrão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128963"/>
            <a:ext cx="3267075" cy="9525"/>
          </a:xfrm>
          <a:custGeom>
            <a:avLst/>
            <a:gdLst/>
            <a:ahLst/>
            <a:cxnLst/>
            <a:rect l="l" t="t" r="r" b="b"/>
            <a:pathLst>
              <a:path w="3267075" h="9525">
                <a:moveTo>
                  <a:pt x="0" y="0"/>
                </a:moveTo>
                <a:lnTo>
                  <a:pt x="3267075" y="0"/>
                </a:lnTo>
                <a:lnTo>
                  <a:pt x="3267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2000" y="28575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77791" y="285750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5.000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519488"/>
            <a:ext cx="3267075" cy="9525"/>
          </a:xfrm>
          <a:custGeom>
            <a:avLst/>
            <a:gdLst/>
            <a:ahLst/>
            <a:cxnLst/>
            <a:rect l="l" t="t" r="r" b="b"/>
            <a:pathLst>
              <a:path w="3267075" h="9525">
                <a:moveTo>
                  <a:pt x="0" y="0"/>
                </a:moveTo>
                <a:lnTo>
                  <a:pt x="3267075" y="0"/>
                </a:lnTo>
                <a:lnTo>
                  <a:pt x="3267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2000" y="324802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12455" y="324802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10.000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63855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3+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29421" y="363855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15.000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40126" y="2295525"/>
            <a:ext cx="3552825" cy="1790700"/>
          </a:xfrm>
          <a:custGeom>
            <a:avLst/>
            <a:gdLst/>
            <a:ahLst/>
            <a:cxnLst/>
            <a:rect l="l" t="t" r="r" b="b"/>
            <a:pathLst>
              <a:path w="3552825" h="1790700">
                <a:moveTo>
                  <a:pt x="76194" y="0"/>
                </a:moveTo>
                <a:lnTo>
                  <a:pt x="3476631" y="0"/>
                </a:lnTo>
                <a:cubicBezTo>
                  <a:pt x="3518683" y="0"/>
                  <a:pt x="3552825" y="34142"/>
                  <a:pt x="3552825" y="76194"/>
                </a:cubicBezTo>
                <a:lnTo>
                  <a:pt x="3552825" y="1714506"/>
                </a:lnTo>
                <a:cubicBezTo>
                  <a:pt x="3552825" y="1756587"/>
                  <a:pt x="3518712" y="1790700"/>
                  <a:pt x="3476631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25400">
            <a:solidFill>
              <a:srgbClr val="FB2C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459188" y="245745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Excessivo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02051" y="3148013"/>
            <a:ext cx="3228975" cy="9525"/>
          </a:xfrm>
          <a:custGeom>
            <a:avLst/>
            <a:gdLst/>
            <a:ahLst/>
            <a:cxnLst/>
            <a:rect l="l" t="t" r="r" b="b"/>
            <a:pathLst>
              <a:path w="3228975" h="9525">
                <a:moveTo>
                  <a:pt x="0" y="0"/>
                </a:moveTo>
                <a:lnTo>
                  <a:pt x="3228975" y="0"/>
                </a:lnTo>
                <a:lnTo>
                  <a:pt x="32289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02051" y="287655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14555" y="287655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10.000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02051" y="3538538"/>
            <a:ext cx="3228975" cy="9525"/>
          </a:xfrm>
          <a:custGeom>
            <a:avLst/>
            <a:gdLst/>
            <a:ahLst/>
            <a:cxnLst/>
            <a:rect l="l" t="t" r="r" b="b"/>
            <a:pathLst>
              <a:path w="3228975" h="9525">
                <a:moveTo>
                  <a:pt x="0" y="0"/>
                </a:moveTo>
                <a:lnTo>
                  <a:pt x="3228975" y="0"/>
                </a:lnTo>
                <a:lnTo>
                  <a:pt x="32289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502051" y="326707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5384" y="326707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20.000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2051" y="365760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3+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81366" y="36576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30.000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51750" y="2286000"/>
            <a:ext cx="3571875" cy="1809750"/>
          </a:xfrm>
          <a:custGeom>
            <a:avLst/>
            <a:gdLst/>
            <a:ahLst/>
            <a:cxnLst/>
            <a:rect l="l" t="t" r="r" b="b"/>
            <a:pathLst>
              <a:path w="3571875" h="1809750">
                <a:moveTo>
                  <a:pt x="76209" y="0"/>
                </a:moveTo>
                <a:lnTo>
                  <a:pt x="3495666" y="0"/>
                </a:lnTo>
                <a:cubicBezTo>
                  <a:pt x="3537727" y="0"/>
                  <a:pt x="3571875" y="34148"/>
                  <a:pt x="3571875" y="76209"/>
                </a:cubicBezTo>
                <a:lnTo>
                  <a:pt x="3571875" y="1733541"/>
                </a:lnTo>
                <a:cubicBezTo>
                  <a:pt x="3571875" y="1775630"/>
                  <a:pt x="3537755" y="1809750"/>
                  <a:pt x="349566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161288" y="24384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Enumeração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04150" y="3128963"/>
            <a:ext cx="3267075" cy="9525"/>
          </a:xfrm>
          <a:custGeom>
            <a:avLst/>
            <a:gdLst/>
            <a:ahLst/>
            <a:cxnLst/>
            <a:rect l="l" t="t" r="r" b="b"/>
            <a:pathLst>
              <a:path w="3267075" h="9525">
                <a:moveTo>
                  <a:pt x="0" y="0"/>
                </a:moveTo>
                <a:lnTo>
                  <a:pt x="3267075" y="0"/>
                </a:lnTo>
                <a:lnTo>
                  <a:pt x="3267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204150" y="28575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41223" y="28575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2.500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04150" y="3519488"/>
            <a:ext cx="3267075" cy="9525"/>
          </a:xfrm>
          <a:custGeom>
            <a:avLst/>
            <a:gdLst/>
            <a:ahLst/>
            <a:cxnLst/>
            <a:rect l="l" t="t" r="r" b="b"/>
            <a:pathLst>
              <a:path w="3267075" h="9525">
                <a:moveTo>
                  <a:pt x="0" y="0"/>
                </a:moveTo>
                <a:lnTo>
                  <a:pt x="3267075" y="0"/>
                </a:lnTo>
                <a:lnTo>
                  <a:pt x="3267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204150" y="324802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19941" y="3248025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5.000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04150" y="363855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3+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49111" y="363855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7.500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4443413"/>
            <a:ext cx="5629275" cy="1781175"/>
          </a:xfrm>
          <a:custGeom>
            <a:avLst/>
            <a:gdLst/>
            <a:ahLst/>
            <a:cxnLst/>
            <a:rect l="l" t="t" r="r" b="b"/>
            <a:pathLst>
              <a:path w="5629275" h="1781175">
                <a:moveTo>
                  <a:pt x="76199" y="0"/>
                </a:moveTo>
                <a:lnTo>
                  <a:pt x="5553076" y="0"/>
                </a:lnTo>
                <a:cubicBezTo>
                  <a:pt x="5595160" y="0"/>
                  <a:pt x="5629275" y="34115"/>
                  <a:pt x="5629275" y="76199"/>
                </a:cubicBezTo>
                <a:lnTo>
                  <a:pt x="5629275" y="1704976"/>
                </a:lnTo>
                <a:cubicBezTo>
                  <a:pt x="5629275" y="1747060"/>
                  <a:pt x="5595160" y="1781175"/>
                  <a:pt x="5553076" y="1781175"/>
                </a:cubicBezTo>
                <a:lnTo>
                  <a:pt x="76199" y="1781175"/>
                </a:lnTo>
                <a:cubicBezTo>
                  <a:pt x="34115" y="1781175"/>
                  <a:pt x="0" y="1747060"/>
                  <a:pt x="0" y="17049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566738" y="4638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81050" y="46005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Ataques de Enumeração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2925" y="5291138"/>
            <a:ext cx="5314950" cy="9525"/>
          </a:xfrm>
          <a:custGeom>
            <a:avLst/>
            <a:gdLst/>
            <a:ahLst/>
            <a:cxnLst/>
            <a:rect l="l" t="t" r="r" b="b"/>
            <a:pathLst>
              <a:path w="5314950" h="9525">
                <a:moveTo>
                  <a:pt x="0" y="0"/>
                </a:moveTo>
                <a:lnTo>
                  <a:pt x="5314950" y="0"/>
                </a:lnTo>
                <a:lnTo>
                  <a:pt x="5314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542925" y="501967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1º Identificação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31147" y="501967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2.500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2925" y="5681663"/>
            <a:ext cx="5314950" cy="9525"/>
          </a:xfrm>
          <a:custGeom>
            <a:avLst/>
            <a:gdLst/>
            <a:ahLst/>
            <a:cxnLst/>
            <a:rect l="l" t="t" r="r" b="b"/>
            <a:pathLst>
              <a:path w="5314950" h="9525">
                <a:moveTo>
                  <a:pt x="0" y="0"/>
                </a:moveTo>
                <a:lnTo>
                  <a:pt x="5314950" y="0"/>
                </a:lnTo>
                <a:lnTo>
                  <a:pt x="5314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542925" y="54102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2ª Identificação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09865" y="541020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5.000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2925" y="5800725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3ª+ Identificação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39035" y="580072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7.500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6963" y="4443413"/>
            <a:ext cx="5629275" cy="1781175"/>
          </a:xfrm>
          <a:custGeom>
            <a:avLst/>
            <a:gdLst/>
            <a:ahLst/>
            <a:cxnLst/>
            <a:rect l="l" t="t" r="r" b="b"/>
            <a:pathLst>
              <a:path w="5629275" h="1781175">
                <a:moveTo>
                  <a:pt x="76199" y="0"/>
                </a:moveTo>
                <a:lnTo>
                  <a:pt x="5553076" y="0"/>
                </a:lnTo>
                <a:cubicBezTo>
                  <a:pt x="5595160" y="0"/>
                  <a:pt x="5629275" y="34115"/>
                  <a:pt x="5629275" y="76199"/>
                </a:cubicBezTo>
                <a:lnTo>
                  <a:pt x="5629275" y="1704976"/>
                </a:lnTo>
                <a:cubicBezTo>
                  <a:pt x="5629275" y="1747060"/>
                  <a:pt x="5595160" y="1781175"/>
                  <a:pt x="5553076" y="1781175"/>
                </a:cubicBezTo>
                <a:lnTo>
                  <a:pt x="76199" y="1781175"/>
                </a:lnTo>
                <a:cubicBezTo>
                  <a:pt x="34115" y="1781175"/>
                  <a:pt x="0" y="1747060"/>
                  <a:pt x="0" y="170497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6357938" y="4638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572250" y="46005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Informações Importantes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62700" y="50196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600825" y="4981575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Penalidades são aplicadas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mensalmente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62700" y="53244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600825" y="5286375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Valores podem variar conforme a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região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2700" y="56292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6600825" y="5591175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Adquirente pode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contestar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notificações no prazo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astercapital.com/37246eecb80d9a68379b9236d713804f565995cd.webp"/>
          <p:cNvPicPr>
            <a:picLocks noChangeAspect="1"/>
          </p:cNvPicPr>
          <p:nvPr/>
        </p:nvPicPr>
        <p:blipFill>
          <a:blip r:embed="rId3">
            <a:alphaModFix amt="20000"/>
          </a:blip>
          <a:srcRect l="25" r="2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381000" y="709613"/>
            <a:ext cx="2056805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8B2AC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300288"/>
            <a:ext cx="76581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Programas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Monitoria de Chargeback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5176838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PED (Elo) e ECP (Mastercard)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6005513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406" y="380406"/>
            <a:ext cx="1150727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ELO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406" y="684730"/>
            <a:ext cx="11602371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PED - Programa de Excesso de Disputas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426" y="1217298"/>
            <a:ext cx="11412168" cy="1359950"/>
          </a:xfrm>
          <a:custGeom>
            <a:avLst/>
            <a:gdLst/>
            <a:ahLst/>
            <a:cxnLst/>
            <a:rect l="l" t="t" r="r" b="b"/>
            <a:pathLst>
              <a:path w="11412168" h="1359950">
                <a:moveTo>
                  <a:pt x="38041" y="0"/>
                </a:moveTo>
                <a:lnTo>
                  <a:pt x="11336093" y="0"/>
                </a:lnTo>
                <a:cubicBezTo>
                  <a:pt x="11378080" y="0"/>
                  <a:pt x="11412168" y="34088"/>
                  <a:pt x="11412168" y="76076"/>
                </a:cubicBezTo>
                <a:lnTo>
                  <a:pt x="11412168" y="1283874"/>
                </a:lnTo>
                <a:cubicBezTo>
                  <a:pt x="11412168" y="1325862"/>
                  <a:pt x="11378080" y="1359950"/>
                  <a:pt x="11336093" y="1359950"/>
                </a:cubicBezTo>
                <a:lnTo>
                  <a:pt x="38041" y="1359950"/>
                </a:lnTo>
                <a:cubicBezTo>
                  <a:pt x="17031" y="1359950"/>
                  <a:pt x="0" y="1342919"/>
                  <a:pt x="0" y="1321910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9426" y="1217298"/>
            <a:ext cx="38041" cy="1359950"/>
          </a:xfrm>
          <a:custGeom>
            <a:avLst/>
            <a:gdLst/>
            <a:ahLst/>
            <a:cxnLst/>
            <a:rect l="l" t="t" r="r" b="b"/>
            <a:pathLst>
              <a:path w="38041" h="1359950">
                <a:moveTo>
                  <a:pt x="38041" y="0"/>
                </a:moveTo>
                <a:lnTo>
                  <a:pt x="38041" y="0"/>
                </a:lnTo>
                <a:lnTo>
                  <a:pt x="38041" y="1359950"/>
                </a:lnTo>
                <a:lnTo>
                  <a:pt x="38041" y="1359950"/>
                </a:lnTo>
                <a:cubicBezTo>
                  <a:pt x="17031" y="1359950"/>
                  <a:pt x="0" y="1342919"/>
                  <a:pt x="0" y="1321910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37179" y="1445541"/>
            <a:ext cx="228243" cy="228243"/>
          </a:xfrm>
          <a:custGeom>
            <a:avLst/>
            <a:gdLst/>
            <a:ahLst/>
            <a:cxnLst/>
            <a:rect l="l" t="t" r="r" b="b"/>
            <a:pathLst>
              <a:path w="228243" h="228243">
                <a:moveTo>
                  <a:pt x="114122" y="28530"/>
                </a:moveTo>
                <a:cubicBezTo>
                  <a:pt x="88801" y="28530"/>
                  <a:pt x="66021" y="39541"/>
                  <a:pt x="50329" y="57061"/>
                </a:cubicBezTo>
                <a:lnTo>
                  <a:pt x="71326" y="57061"/>
                </a:lnTo>
                <a:cubicBezTo>
                  <a:pt x="79216" y="57061"/>
                  <a:pt x="85591" y="63436"/>
                  <a:pt x="85591" y="71326"/>
                </a:cubicBezTo>
                <a:cubicBezTo>
                  <a:pt x="85591" y="79216"/>
                  <a:pt x="79216" y="85591"/>
                  <a:pt x="71326" y="85591"/>
                </a:cubicBezTo>
                <a:lnTo>
                  <a:pt x="14265" y="85591"/>
                </a:lnTo>
                <a:cubicBezTo>
                  <a:pt x="6375" y="85591"/>
                  <a:pt x="0" y="79216"/>
                  <a:pt x="0" y="71326"/>
                </a:cubicBezTo>
                <a:lnTo>
                  <a:pt x="0" y="14265"/>
                </a:lnTo>
                <a:cubicBezTo>
                  <a:pt x="0" y="6375"/>
                  <a:pt x="6375" y="0"/>
                  <a:pt x="14265" y="0"/>
                </a:cubicBezTo>
                <a:cubicBezTo>
                  <a:pt x="22156" y="0"/>
                  <a:pt x="28530" y="6375"/>
                  <a:pt x="28530" y="14265"/>
                </a:cubicBezTo>
                <a:lnTo>
                  <a:pt x="28530" y="38650"/>
                </a:lnTo>
                <a:cubicBezTo>
                  <a:pt x="49438" y="14978"/>
                  <a:pt x="80019" y="0"/>
                  <a:pt x="114122" y="0"/>
                </a:cubicBezTo>
                <a:cubicBezTo>
                  <a:pt x="177156" y="0"/>
                  <a:pt x="228243" y="51087"/>
                  <a:pt x="228243" y="114122"/>
                </a:cubicBezTo>
                <a:cubicBezTo>
                  <a:pt x="228243" y="177156"/>
                  <a:pt x="177156" y="228243"/>
                  <a:pt x="114122" y="228243"/>
                </a:cubicBezTo>
                <a:cubicBezTo>
                  <a:pt x="75338" y="228243"/>
                  <a:pt x="41057" y="208896"/>
                  <a:pt x="20462" y="179340"/>
                </a:cubicBezTo>
                <a:cubicBezTo>
                  <a:pt x="15959" y="172877"/>
                  <a:pt x="17519" y="164005"/>
                  <a:pt x="23983" y="159458"/>
                </a:cubicBezTo>
                <a:cubicBezTo>
                  <a:pt x="30447" y="154911"/>
                  <a:pt x="39318" y="156516"/>
                  <a:pt x="43866" y="162980"/>
                </a:cubicBezTo>
                <a:cubicBezTo>
                  <a:pt x="59379" y="185180"/>
                  <a:pt x="85056" y="199668"/>
                  <a:pt x="114122" y="199668"/>
                </a:cubicBezTo>
                <a:cubicBezTo>
                  <a:pt x="161375" y="199668"/>
                  <a:pt x="199713" y="161331"/>
                  <a:pt x="199713" y="114077"/>
                </a:cubicBezTo>
                <a:cubicBezTo>
                  <a:pt x="199713" y="66824"/>
                  <a:pt x="161375" y="28530"/>
                  <a:pt x="114122" y="2853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3953" y="1407501"/>
            <a:ext cx="10841560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PED?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8649" y="1825947"/>
            <a:ext cx="11098334" cy="561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34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de Excesso de Disputas (PED)</a:t>
            </a:r>
            <a:r>
              <a:rPr lang="en-US" sz="13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um programa que avalia os </a:t>
            </a:r>
            <a:r>
              <a:rPr lang="en-US" sz="134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Estabelecimentos que possuem Excesso de disputas</a:t>
            </a:r>
            <a:r>
              <a:rPr lang="en-US" sz="13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 o objetivo de incentivar o </a:t>
            </a:r>
            <a:r>
              <a:rPr lang="en-US" sz="134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de disputa</a:t>
            </a:r>
            <a:r>
              <a:rPr lang="en-US" sz="13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dos participantes.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9426" y="2724655"/>
            <a:ext cx="11412168" cy="3043245"/>
          </a:xfrm>
          <a:custGeom>
            <a:avLst/>
            <a:gdLst/>
            <a:ahLst/>
            <a:cxnLst/>
            <a:rect l="l" t="t" r="r" b="b"/>
            <a:pathLst>
              <a:path w="11412168" h="3043245">
                <a:moveTo>
                  <a:pt x="38041" y="0"/>
                </a:moveTo>
                <a:lnTo>
                  <a:pt x="11336087" y="0"/>
                </a:lnTo>
                <a:cubicBezTo>
                  <a:pt x="11378106" y="0"/>
                  <a:pt x="11412168" y="34063"/>
                  <a:pt x="11412168" y="76081"/>
                </a:cubicBezTo>
                <a:lnTo>
                  <a:pt x="11412168" y="2967164"/>
                </a:lnTo>
                <a:cubicBezTo>
                  <a:pt x="11412168" y="3009182"/>
                  <a:pt x="11378106" y="3043245"/>
                  <a:pt x="11336087" y="3043245"/>
                </a:cubicBezTo>
                <a:lnTo>
                  <a:pt x="38041" y="3043245"/>
                </a:lnTo>
                <a:cubicBezTo>
                  <a:pt x="17031" y="3043245"/>
                  <a:pt x="0" y="3026214"/>
                  <a:pt x="0" y="3005204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99426" y="2724655"/>
            <a:ext cx="38041" cy="3043245"/>
          </a:xfrm>
          <a:custGeom>
            <a:avLst/>
            <a:gdLst/>
            <a:ahLst/>
            <a:cxnLst/>
            <a:rect l="l" t="t" r="r" b="b"/>
            <a:pathLst>
              <a:path w="38041" h="3043245">
                <a:moveTo>
                  <a:pt x="38041" y="0"/>
                </a:moveTo>
                <a:lnTo>
                  <a:pt x="38041" y="0"/>
                </a:lnTo>
                <a:lnTo>
                  <a:pt x="38041" y="3043245"/>
                </a:lnTo>
                <a:lnTo>
                  <a:pt x="38041" y="3043245"/>
                </a:lnTo>
                <a:cubicBezTo>
                  <a:pt x="17031" y="3043245"/>
                  <a:pt x="0" y="3026214"/>
                  <a:pt x="0" y="3005204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65710" y="2952899"/>
            <a:ext cx="171183" cy="228243"/>
          </a:xfrm>
          <a:custGeom>
            <a:avLst/>
            <a:gdLst/>
            <a:ahLst/>
            <a:cxnLst/>
            <a:rect l="l" t="t" r="r" b="b"/>
            <a:pathLst>
              <a:path w="171183" h="228243">
                <a:moveTo>
                  <a:pt x="28530" y="0"/>
                </a:moveTo>
                <a:cubicBezTo>
                  <a:pt x="12794" y="0"/>
                  <a:pt x="0" y="12794"/>
                  <a:pt x="0" y="28530"/>
                </a:cubicBezTo>
                <a:lnTo>
                  <a:pt x="0" y="199713"/>
                </a:lnTo>
                <a:cubicBezTo>
                  <a:pt x="0" y="215449"/>
                  <a:pt x="12794" y="228243"/>
                  <a:pt x="28530" y="228243"/>
                </a:cubicBezTo>
                <a:lnTo>
                  <a:pt x="142652" y="228243"/>
                </a:lnTo>
                <a:cubicBezTo>
                  <a:pt x="158388" y="228243"/>
                  <a:pt x="171183" y="215449"/>
                  <a:pt x="171183" y="199713"/>
                </a:cubicBezTo>
                <a:lnTo>
                  <a:pt x="171183" y="28530"/>
                </a:lnTo>
                <a:cubicBezTo>
                  <a:pt x="171183" y="12794"/>
                  <a:pt x="158388" y="0"/>
                  <a:pt x="142652" y="0"/>
                </a:cubicBezTo>
                <a:lnTo>
                  <a:pt x="28530" y="0"/>
                </a:lnTo>
                <a:close/>
                <a:moveTo>
                  <a:pt x="42796" y="28530"/>
                </a:moveTo>
                <a:lnTo>
                  <a:pt x="128387" y="28530"/>
                </a:lnTo>
                <a:cubicBezTo>
                  <a:pt x="136277" y="28530"/>
                  <a:pt x="142652" y="34905"/>
                  <a:pt x="142652" y="42796"/>
                </a:cubicBezTo>
                <a:lnTo>
                  <a:pt x="142652" y="57061"/>
                </a:lnTo>
                <a:cubicBezTo>
                  <a:pt x="142652" y="64951"/>
                  <a:pt x="136277" y="71326"/>
                  <a:pt x="128387" y="71326"/>
                </a:cubicBezTo>
                <a:lnTo>
                  <a:pt x="42796" y="71326"/>
                </a:lnTo>
                <a:cubicBezTo>
                  <a:pt x="34905" y="71326"/>
                  <a:pt x="28530" y="64951"/>
                  <a:pt x="28530" y="57061"/>
                </a:cubicBezTo>
                <a:lnTo>
                  <a:pt x="28530" y="42796"/>
                </a:lnTo>
                <a:cubicBezTo>
                  <a:pt x="28530" y="34905"/>
                  <a:pt x="34905" y="28530"/>
                  <a:pt x="42796" y="28530"/>
                </a:cubicBezTo>
                <a:close/>
                <a:moveTo>
                  <a:pt x="49928" y="103423"/>
                </a:moveTo>
                <a:cubicBezTo>
                  <a:pt x="49928" y="109328"/>
                  <a:pt x="45134" y="114122"/>
                  <a:pt x="39229" y="114122"/>
                </a:cubicBezTo>
                <a:cubicBezTo>
                  <a:pt x="33324" y="114122"/>
                  <a:pt x="28530" y="109328"/>
                  <a:pt x="28530" y="103423"/>
                </a:cubicBezTo>
                <a:cubicBezTo>
                  <a:pt x="28530" y="97518"/>
                  <a:pt x="33324" y="92724"/>
                  <a:pt x="39229" y="92724"/>
                </a:cubicBezTo>
                <a:cubicBezTo>
                  <a:pt x="45134" y="92724"/>
                  <a:pt x="49928" y="97518"/>
                  <a:pt x="49928" y="103423"/>
                </a:cubicBezTo>
                <a:close/>
                <a:moveTo>
                  <a:pt x="85591" y="114122"/>
                </a:moveTo>
                <a:cubicBezTo>
                  <a:pt x="79686" y="114122"/>
                  <a:pt x="74892" y="109328"/>
                  <a:pt x="74892" y="103423"/>
                </a:cubicBezTo>
                <a:cubicBezTo>
                  <a:pt x="74892" y="97518"/>
                  <a:pt x="79686" y="92724"/>
                  <a:pt x="85591" y="92724"/>
                </a:cubicBezTo>
                <a:cubicBezTo>
                  <a:pt x="91496" y="92724"/>
                  <a:pt x="96290" y="97518"/>
                  <a:pt x="96290" y="103423"/>
                </a:cubicBezTo>
                <a:cubicBezTo>
                  <a:pt x="96290" y="109328"/>
                  <a:pt x="91496" y="114122"/>
                  <a:pt x="85591" y="114122"/>
                </a:cubicBezTo>
                <a:close/>
                <a:moveTo>
                  <a:pt x="142652" y="103423"/>
                </a:moveTo>
                <a:cubicBezTo>
                  <a:pt x="142652" y="109328"/>
                  <a:pt x="137858" y="114122"/>
                  <a:pt x="131953" y="114122"/>
                </a:cubicBezTo>
                <a:cubicBezTo>
                  <a:pt x="126048" y="114122"/>
                  <a:pt x="121254" y="109328"/>
                  <a:pt x="121254" y="103423"/>
                </a:cubicBezTo>
                <a:cubicBezTo>
                  <a:pt x="121254" y="97518"/>
                  <a:pt x="126048" y="92724"/>
                  <a:pt x="131953" y="92724"/>
                </a:cubicBezTo>
                <a:cubicBezTo>
                  <a:pt x="137858" y="92724"/>
                  <a:pt x="142652" y="97518"/>
                  <a:pt x="142652" y="103423"/>
                </a:cubicBezTo>
                <a:close/>
                <a:moveTo>
                  <a:pt x="39229" y="156917"/>
                </a:moveTo>
                <a:cubicBezTo>
                  <a:pt x="33324" y="156917"/>
                  <a:pt x="28530" y="152123"/>
                  <a:pt x="28530" y="146218"/>
                </a:cubicBezTo>
                <a:cubicBezTo>
                  <a:pt x="28530" y="140314"/>
                  <a:pt x="33324" y="135520"/>
                  <a:pt x="39229" y="135520"/>
                </a:cubicBezTo>
                <a:cubicBezTo>
                  <a:pt x="45134" y="135520"/>
                  <a:pt x="49928" y="140314"/>
                  <a:pt x="49928" y="146218"/>
                </a:cubicBezTo>
                <a:cubicBezTo>
                  <a:pt x="49928" y="152123"/>
                  <a:pt x="45134" y="156917"/>
                  <a:pt x="39229" y="156917"/>
                </a:cubicBezTo>
                <a:close/>
                <a:moveTo>
                  <a:pt x="96290" y="146218"/>
                </a:moveTo>
                <a:cubicBezTo>
                  <a:pt x="96290" y="152123"/>
                  <a:pt x="91496" y="156917"/>
                  <a:pt x="85591" y="156917"/>
                </a:cubicBezTo>
                <a:cubicBezTo>
                  <a:pt x="79686" y="156917"/>
                  <a:pt x="74892" y="152123"/>
                  <a:pt x="74892" y="146218"/>
                </a:cubicBezTo>
                <a:cubicBezTo>
                  <a:pt x="74892" y="140314"/>
                  <a:pt x="79686" y="135520"/>
                  <a:pt x="85591" y="135520"/>
                </a:cubicBezTo>
                <a:cubicBezTo>
                  <a:pt x="91496" y="135520"/>
                  <a:pt x="96290" y="140314"/>
                  <a:pt x="96290" y="146218"/>
                </a:cubicBezTo>
                <a:close/>
                <a:moveTo>
                  <a:pt x="131953" y="156917"/>
                </a:moveTo>
                <a:cubicBezTo>
                  <a:pt x="126048" y="156917"/>
                  <a:pt x="121254" y="152123"/>
                  <a:pt x="121254" y="146218"/>
                </a:cubicBezTo>
                <a:cubicBezTo>
                  <a:pt x="121254" y="140314"/>
                  <a:pt x="126048" y="135520"/>
                  <a:pt x="131953" y="135520"/>
                </a:cubicBezTo>
                <a:cubicBezTo>
                  <a:pt x="137858" y="135520"/>
                  <a:pt x="142652" y="140314"/>
                  <a:pt x="142652" y="146218"/>
                </a:cubicBezTo>
                <a:cubicBezTo>
                  <a:pt x="142652" y="152123"/>
                  <a:pt x="137858" y="156917"/>
                  <a:pt x="131953" y="156917"/>
                </a:cubicBezTo>
                <a:close/>
                <a:moveTo>
                  <a:pt x="28530" y="189014"/>
                </a:moveTo>
                <a:cubicBezTo>
                  <a:pt x="28530" y="183085"/>
                  <a:pt x="33300" y="178315"/>
                  <a:pt x="39229" y="178315"/>
                </a:cubicBezTo>
                <a:lnTo>
                  <a:pt x="89158" y="178315"/>
                </a:lnTo>
                <a:cubicBezTo>
                  <a:pt x="95087" y="178315"/>
                  <a:pt x="99856" y="183085"/>
                  <a:pt x="99856" y="189014"/>
                </a:cubicBezTo>
                <a:cubicBezTo>
                  <a:pt x="99856" y="194943"/>
                  <a:pt x="95087" y="199713"/>
                  <a:pt x="89158" y="199713"/>
                </a:cubicBezTo>
                <a:lnTo>
                  <a:pt x="39229" y="199713"/>
                </a:lnTo>
                <a:cubicBezTo>
                  <a:pt x="33300" y="199713"/>
                  <a:pt x="28530" y="194943"/>
                  <a:pt x="28530" y="189014"/>
                </a:cubicBezTo>
                <a:close/>
                <a:moveTo>
                  <a:pt x="131953" y="178315"/>
                </a:moveTo>
                <a:cubicBezTo>
                  <a:pt x="137882" y="178315"/>
                  <a:pt x="142652" y="183085"/>
                  <a:pt x="142652" y="189014"/>
                </a:cubicBezTo>
                <a:cubicBezTo>
                  <a:pt x="142652" y="194943"/>
                  <a:pt x="137882" y="199713"/>
                  <a:pt x="131953" y="199713"/>
                </a:cubicBezTo>
                <a:cubicBezTo>
                  <a:pt x="126024" y="199713"/>
                  <a:pt x="121254" y="194943"/>
                  <a:pt x="121254" y="189014"/>
                </a:cubicBezTo>
                <a:cubicBezTo>
                  <a:pt x="121254" y="183085"/>
                  <a:pt x="126024" y="178315"/>
                  <a:pt x="131953" y="17831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93953" y="2914858"/>
            <a:ext cx="10841560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 de Apuração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649" y="3371345"/>
            <a:ext cx="5430290" cy="684730"/>
          </a:xfrm>
          <a:custGeom>
            <a:avLst/>
            <a:gdLst/>
            <a:ahLst/>
            <a:cxnLst/>
            <a:rect l="l" t="t" r="r" b="b"/>
            <a:pathLst>
              <a:path w="5430290" h="684730">
                <a:moveTo>
                  <a:pt x="76080" y="0"/>
                </a:moveTo>
                <a:lnTo>
                  <a:pt x="5354210" y="0"/>
                </a:lnTo>
                <a:cubicBezTo>
                  <a:pt x="5396228" y="0"/>
                  <a:pt x="5430290" y="34062"/>
                  <a:pt x="5430290" y="76080"/>
                </a:cubicBezTo>
                <a:lnTo>
                  <a:pt x="5430290" y="608650"/>
                </a:lnTo>
                <a:cubicBezTo>
                  <a:pt x="5430290" y="650668"/>
                  <a:pt x="5396228" y="684730"/>
                  <a:pt x="5354210" y="684730"/>
                </a:cubicBezTo>
                <a:lnTo>
                  <a:pt x="76080" y="684730"/>
                </a:lnTo>
                <a:cubicBezTo>
                  <a:pt x="34090" y="684730"/>
                  <a:pt x="0" y="650640"/>
                  <a:pt x="0" y="608650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22771" y="3523507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53684" y="3580568"/>
            <a:ext cx="10461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1217" y="3485466"/>
            <a:ext cx="4859682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Estabelecimentos com quantidade de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Disputas no mês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superior a </a:t>
            </a:r>
            <a:r>
              <a:rPr lang="en-US" sz="119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1,49%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comparado com transações de vendas aprovadas do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anterior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649" y="4132156"/>
            <a:ext cx="5430290" cy="570608"/>
          </a:xfrm>
          <a:custGeom>
            <a:avLst/>
            <a:gdLst/>
            <a:ahLst/>
            <a:cxnLst/>
            <a:rect l="l" t="t" r="r" b="b"/>
            <a:pathLst>
              <a:path w="5430290" h="570608">
                <a:moveTo>
                  <a:pt x="76079" y="0"/>
                </a:moveTo>
                <a:lnTo>
                  <a:pt x="5354211" y="0"/>
                </a:lnTo>
                <a:cubicBezTo>
                  <a:pt x="5396228" y="0"/>
                  <a:pt x="5430290" y="34062"/>
                  <a:pt x="5430290" y="76079"/>
                </a:cubicBezTo>
                <a:lnTo>
                  <a:pt x="5430290" y="494529"/>
                </a:lnTo>
                <a:cubicBezTo>
                  <a:pt x="5430290" y="536547"/>
                  <a:pt x="5396228" y="570608"/>
                  <a:pt x="5354211" y="570608"/>
                </a:cubicBezTo>
                <a:lnTo>
                  <a:pt x="76079" y="570608"/>
                </a:lnTo>
                <a:cubicBezTo>
                  <a:pt x="34090" y="570608"/>
                  <a:pt x="0" y="536518"/>
                  <a:pt x="0" y="494529"/>
                </a:cubicBezTo>
                <a:lnTo>
                  <a:pt x="0" y="76079"/>
                </a:lnTo>
                <a:cubicBezTo>
                  <a:pt x="0" y="34090"/>
                  <a:pt x="34090" y="0"/>
                  <a:pt x="7607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22771" y="4284318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40904" y="4341379"/>
            <a:ext cx="13314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1217" y="4246278"/>
            <a:ext cx="3594833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efeito de apuração será considerado o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CPF/CNPJ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649" y="4778846"/>
            <a:ext cx="5430290" cy="684730"/>
          </a:xfrm>
          <a:custGeom>
            <a:avLst/>
            <a:gdLst/>
            <a:ahLst/>
            <a:cxnLst/>
            <a:rect l="l" t="t" r="r" b="b"/>
            <a:pathLst>
              <a:path w="5430290" h="684730">
                <a:moveTo>
                  <a:pt x="76080" y="0"/>
                </a:moveTo>
                <a:lnTo>
                  <a:pt x="5354210" y="0"/>
                </a:lnTo>
                <a:cubicBezTo>
                  <a:pt x="5396228" y="0"/>
                  <a:pt x="5430290" y="34062"/>
                  <a:pt x="5430290" y="76080"/>
                </a:cubicBezTo>
                <a:lnTo>
                  <a:pt x="5430290" y="608650"/>
                </a:lnTo>
                <a:cubicBezTo>
                  <a:pt x="5430290" y="650668"/>
                  <a:pt x="5396228" y="684730"/>
                  <a:pt x="5354210" y="684730"/>
                </a:cubicBezTo>
                <a:lnTo>
                  <a:pt x="76080" y="684730"/>
                </a:lnTo>
                <a:cubicBezTo>
                  <a:pt x="34090" y="684730"/>
                  <a:pt x="0" y="650640"/>
                  <a:pt x="0" y="608650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22771" y="4931008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39270" y="4988069"/>
            <a:ext cx="14265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1217" y="4892967"/>
            <a:ext cx="4859682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Serão considerados ECs que tiveram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acima de 1.000 transações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aprovadas no mês anterior e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acima de 100 Disputas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mês de apuração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9913" y="3371345"/>
            <a:ext cx="5430290" cy="570608"/>
          </a:xfrm>
          <a:custGeom>
            <a:avLst/>
            <a:gdLst/>
            <a:ahLst/>
            <a:cxnLst/>
            <a:rect l="l" t="t" r="r" b="b"/>
            <a:pathLst>
              <a:path w="5430290" h="570608">
                <a:moveTo>
                  <a:pt x="76079" y="0"/>
                </a:moveTo>
                <a:lnTo>
                  <a:pt x="5354211" y="0"/>
                </a:lnTo>
                <a:cubicBezTo>
                  <a:pt x="5396228" y="0"/>
                  <a:pt x="5430290" y="34062"/>
                  <a:pt x="5430290" y="76079"/>
                </a:cubicBezTo>
                <a:lnTo>
                  <a:pt x="5430290" y="494529"/>
                </a:lnTo>
                <a:cubicBezTo>
                  <a:pt x="5430290" y="536547"/>
                  <a:pt x="5396228" y="570608"/>
                  <a:pt x="5354211" y="570608"/>
                </a:cubicBezTo>
                <a:lnTo>
                  <a:pt x="76079" y="570608"/>
                </a:lnTo>
                <a:cubicBezTo>
                  <a:pt x="34090" y="570608"/>
                  <a:pt x="0" y="536518"/>
                  <a:pt x="0" y="494529"/>
                </a:cubicBezTo>
                <a:lnTo>
                  <a:pt x="0" y="76079"/>
                </a:lnTo>
                <a:cubicBezTo>
                  <a:pt x="0" y="34090"/>
                  <a:pt x="34090" y="0"/>
                  <a:pt x="7607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304034" y="3523507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22317" y="3580568"/>
            <a:ext cx="13314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2480" y="3485466"/>
            <a:ext cx="377552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duas condições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devem ter ocorrido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simultaneamente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9913" y="4018034"/>
            <a:ext cx="5430290" cy="570608"/>
          </a:xfrm>
          <a:custGeom>
            <a:avLst/>
            <a:gdLst/>
            <a:ahLst/>
            <a:cxnLst/>
            <a:rect l="l" t="t" r="r" b="b"/>
            <a:pathLst>
              <a:path w="5430290" h="570608">
                <a:moveTo>
                  <a:pt x="76079" y="0"/>
                </a:moveTo>
                <a:lnTo>
                  <a:pt x="5354211" y="0"/>
                </a:lnTo>
                <a:cubicBezTo>
                  <a:pt x="5396228" y="0"/>
                  <a:pt x="5430290" y="34062"/>
                  <a:pt x="5430290" y="76079"/>
                </a:cubicBezTo>
                <a:lnTo>
                  <a:pt x="5430290" y="494529"/>
                </a:lnTo>
                <a:cubicBezTo>
                  <a:pt x="5430290" y="536547"/>
                  <a:pt x="5396228" y="570608"/>
                  <a:pt x="5354211" y="570608"/>
                </a:cubicBezTo>
                <a:lnTo>
                  <a:pt x="76079" y="570608"/>
                </a:lnTo>
                <a:cubicBezTo>
                  <a:pt x="34090" y="570608"/>
                  <a:pt x="0" y="536518"/>
                  <a:pt x="0" y="494529"/>
                </a:cubicBezTo>
                <a:lnTo>
                  <a:pt x="0" y="76079"/>
                </a:lnTo>
                <a:cubicBezTo>
                  <a:pt x="0" y="34090"/>
                  <a:pt x="34090" y="0"/>
                  <a:pt x="7607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304034" y="4170197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433610" y="4255788"/>
            <a:ext cx="49928" cy="133142"/>
          </a:xfrm>
          <a:custGeom>
            <a:avLst/>
            <a:gdLst/>
            <a:ahLst/>
            <a:cxnLst/>
            <a:rect l="l" t="t" r="r" b="b"/>
            <a:pathLst>
              <a:path w="49928" h="133142">
                <a:moveTo>
                  <a:pt x="12482" y="12482"/>
                </a:moveTo>
                <a:cubicBezTo>
                  <a:pt x="12482" y="5593"/>
                  <a:pt x="18075" y="0"/>
                  <a:pt x="24964" y="0"/>
                </a:cubicBezTo>
                <a:cubicBezTo>
                  <a:pt x="31853" y="0"/>
                  <a:pt x="37446" y="5593"/>
                  <a:pt x="37446" y="12482"/>
                </a:cubicBezTo>
                <a:cubicBezTo>
                  <a:pt x="37446" y="19371"/>
                  <a:pt x="31853" y="24964"/>
                  <a:pt x="24964" y="24964"/>
                </a:cubicBezTo>
                <a:cubicBezTo>
                  <a:pt x="18075" y="24964"/>
                  <a:pt x="12482" y="19371"/>
                  <a:pt x="12482" y="12482"/>
                </a:cubicBezTo>
                <a:close/>
                <a:moveTo>
                  <a:pt x="0" y="49928"/>
                </a:moveTo>
                <a:cubicBezTo>
                  <a:pt x="0" y="45325"/>
                  <a:pt x="3719" y="41607"/>
                  <a:pt x="8321" y="41607"/>
                </a:cubicBezTo>
                <a:lnTo>
                  <a:pt x="24964" y="41607"/>
                </a:lnTo>
                <a:cubicBezTo>
                  <a:pt x="29567" y="41607"/>
                  <a:pt x="33285" y="45325"/>
                  <a:pt x="33285" y="49928"/>
                </a:cubicBezTo>
                <a:lnTo>
                  <a:pt x="33285" y="116499"/>
                </a:lnTo>
                <a:lnTo>
                  <a:pt x="41607" y="116499"/>
                </a:lnTo>
                <a:cubicBezTo>
                  <a:pt x="46210" y="116499"/>
                  <a:pt x="49928" y="120218"/>
                  <a:pt x="49928" y="124821"/>
                </a:cubicBezTo>
                <a:cubicBezTo>
                  <a:pt x="49928" y="129423"/>
                  <a:pt x="46210" y="133142"/>
                  <a:pt x="41607" y="133142"/>
                </a:cubicBezTo>
                <a:lnTo>
                  <a:pt x="8321" y="133142"/>
                </a:lnTo>
                <a:cubicBezTo>
                  <a:pt x="3719" y="133142"/>
                  <a:pt x="0" y="129423"/>
                  <a:pt x="0" y="124821"/>
                </a:cubicBezTo>
                <a:cubicBezTo>
                  <a:pt x="0" y="120218"/>
                  <a:pt x="3719" y="116499"/>
                  <a:pt x="8321" y="116499"/>
                </a:cubicBezTo>
                <a:lnTo>
                  <a:pt x="16643" y="116499"/>
                </a:lnTo>
                <a:lnTo>
                  <a:pt x="16643" y="58250"/>
                </a:lnTo>
                <a:lnTo>
                  <a:pt x="8321" y="58250"/>
                </a:lnTo>
                <a:cubicBezTo>
                  <a:pt x="3719" y="58250"/>
                  <a:pt x="0" y="54531"/>
                  <a:pt x="0" y="49928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722480" y="4132156"/>
            <a:ext cx="446025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Compras parceladas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são consideradas como um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único chargeback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9913" y="4664724"/>
            <a:ext cx="5430290" cy="912973"/>
          </a:xfrm>
          <a:custGeom>
            <a:avLst/>
            <a:gdLst/>
            <a:ahLst/>
            <a:cxnLst/>
            <a:rect l="l" t="t" r="r" b="b"/>
            <a:pathLst>
              <a:path w="5430290" h="912973">
                <a:moveTo>
                  <a:pt x="76078" y="0"/>
                </a:moveTo>
                <a:lnTo>
                  <a:pt x="5354212" y="0"/>
                </a:lnTo>
                <a:cubicBezTo>
                  <a:pt x="5396229" y="0"/>
                  <a:pt x="5430290" y="34061"/>
                  <a:pt x="5430290" y="76078"/>
                </a:cubicBezTo>
                <a:lnTo>
                  <a:pt x="5430290" y="836895"/>
                </a:lnTo>
                <a:cubicBezTo>
                  <a:pt x="5430290" y="878912"/>
                  <a:pt x="5396229" y="912973"/>
                  <a:pt x="5354212" y="912973"/>
                </a:cubicBezTo>
                <a:lnTo>
                  <a:pt x="76078" y="912973"/>
                </a:lnTo>
                <a:cubicBezTo>
                  <a:pt x="34061" y="912973"/>
                  <a:pt x="0" y="878912"/>
                  <a:pt x="0" y="836895"/>
                </a:cubicBezTo>
                <a:lnTo>
                  <a:pt x="0" y="76078"/>
                </a:lnTo>
                <a:cubicBezTo>
                  <a:pt x="0" y="34089"/>
                  <a:pt x="34089" y="0"/>
                  <a:pt x="7607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304034" y="4816886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433610" y="4902477"/>
            <a:ext cx="49928" cy="133142"/>
          </a:xfrm>
          <a:custGeom>
            <a:avLst/>
            <a:gdLst/>
            <a:ahLst/>
            <a:cxnLst/>
            <a:rect l="l" t="t" r="r" b="b"/>
            <a:pathLst>
              <a:path w="49928" h="133142">
                <a:moveTo>
                  <a:pt x="12482" y="12482"/>
                </a:moveTo>
                <a:cubicBezTo>
                  <a:pt x="12482" y="5593"/>
                  <a:pt x="18075" y="0"/>
                  <a:pt x="24964" y="0"/>
                </a:cubicBezTo>
                <a:cubicBezTo>
                  <a:pt x="31853" y="0"/>
                  <a:pt x="37446" y="5593"/>
                  <a:pt x="37446" y="12482"/>
                </a:cubicBezTo>
                <a:cubicBezTo>
                  <a:pt x="37446" y="19371"/>
                  <a:pt x="31853" y="24964"/>
                  <a:pt x="24964" y="24964"/>
                </a:cubicBezTo>
                <a:cubicBezTo>
                  <a:pt x="18075" y="24964"/>
                  <a:pt x="12482" y="19371"/>
                  <a:pt x="12482" y="12482"/>
                </a:cubicBezTo>
                <a:close/>
                <a:moveTo>
                  <a:pt x="0" y="49928"/>
                </a:moveTo>
                <a:cubicBezTo>
                  <a:pt x="0" y="45325"/>
                  <a:pt x="3719" y="41607"/>
                  <a:pt x="8321" y="41607"/>
                </a:cubicBezTo>
                <a:lnTo>
                  <a:pt x="24964" y="41607"/>
                </a:lnTo>
                <a:cubicBezTo>
                  <a:pt x="29567" y="41607"/>
                  <a:pt x="33285" y="45325"/>
                  <a:pt x="33285" y="49928"/>
                </a:cubicBezTo>
                <a:lnTo>
                  <a:pt x="33285" y="116499"/>
                </a:lnTo>
                <a:lnTo>
                  <a:pt x="41607" y="116499"/>
                </a:lnTo>
                <a:cubicBezTo>
                  <a:pt x="46210" y="116499"/>
                  <a:pt x="49928" y="120218"/>
                  <a:pt x="49928" y="124821"/>
                </a:cubicBezTo>
                <a:cubicBezTo>
                  <a:pt x="49928" y="129423"/>
                  <a:pt x="46210" y="133142"/>
                  <a:pt x="41607" y="133142"/>
                </a:cubicBezTo>
                <a:lnTo>
                  <a:pt x="8321" y="133142"/>
                </a:lnTo>
                <a:cubicBezTo>
                  <a:pt x="3719" y="133142"/>
                  <a:pt x="0" y="129423"/>
                  <a:pt x="0" y="124821"/>
                </a:cubicBezTo>
                <a:cubicBezTo>
                  <a:pt x="0" y="120218"/>
                  <a:pt x="3719" y="116499"/>
                  <a:pt x="8321" y="116499"/>
                </a:cubicBezTo>
                <a:lnTo>
                  <a:pt x="16643" y="116499"/>
                </a:lnTo>
                <a:lnTo>
                  <a:pt x="16643" y="58250"/>
                </a:lnTo>
                <a:lnTo>
                  <a:pt x="8321" y="58250"/>
                </a:lnTo>
                <a:cubicBezTo>
                  <a:pt x="3719" y="58250"/>
                  <a:pt x="0" y="54531"/>
                  <a:pt x="0" y="49928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722480" y="4778846"/>
            <a:ext cx="4859682" cy="68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Reapresentações/Arbitragens deferidas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ao Credenciador e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Cancelamento da transação após o Chargeback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não invalidam a contabilização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0406" y="5915307"/>
            <a:ext cx="11412168" cy="765566"/>
          </a:xfrm>
          <a:custGeom>
            <a:avLst/>
            <a:gdLst/>
            <a:ahLst/>
            <a:cxnLst/>
            <a:rect l="l" t="t" r="r" b="b"/>
            <a:pathLst>
              <a:path w="11421679" h="922484">
                <a:moveTo>
                  <a:pt x="76077" y="0"/>
                </a:moveTo>
                <a:lnTo>
                  <a:pt x="11345601" y="0"/>
                </a:lnTo>
                <a:cubicBezTo>
                  <a:pt x="11387618" y="0"/>
                  <a:pt x="11421679" y="34061"/>
                  <a:pt x="11421679" y="76077"/>
                </a:cubicBezTo>
                <a:lnTo>
                  <a:pt x="11421679" y="846406"/>
                </a:lnTo>
                <a:cubicBezTo>
                  <a:pt x="11421679" y="888423"/>
                  <a:pt x="11387618" y="922484"/>
                  <a:pt x="11345601" y="922484"/>
                </a:cubicBezTo>
                <a:lnTo>
                  <a:pt x="76077" y="922484"/>
                </a:lnTo>
                <a:cubicBezTo>
                  <a:pt x="34061" y="922484"/>
                  <a:pt x="0" y="888423"/>
                  <a:pt x="0" y="846406"/>
                </a:cubicBezTo>
                <a:lnTo>
                  <a:pt x="0" y="76077"/>
                </a:lnTo>
                <a:cubicBezTo>
                  <a:pt x="0" y="34089"/>
                  <a:pt x="34089" y="0"/>
                  <a:pt x="7607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01516" y="6119775"/>
            <a:ext cx="118877" cy="190203"/>
          </a:xfrm>
          <a:custGeom>
            <a:avLst/>
            <a:gdLst/>
            <a:ahLst/>
            <a:cxnLst/>
            <a:rect l="l" t="t" r="r" b="b"/>
            <a:pathLst>
              <a:path w="118877" h="190203">
                <a:moveTo>
                  <a:pt x="50523" y="8916"/>
                </a:moveTo>
                <a:cubicBezTo>
                  <a:pt x="50523" y="3975"/>
                  <a:pt x="54498" y="0"/>
                  <a:pt x="59438" y="0"/>
                </a:cubicBezTo>
                <a:cubicBezTo>
                  <a:pt x="64379" y="0"/>
                  <a:pt x="68354" y="3975"/>
                  <a:pt x="68354" y="8916"/>
                </a:cubicBezTo>
                <a:lnTo>
                  <a:pt x="68354" y="23775"/>
                </a:lnTo>
                <a:lnTo>
                  <a:pt x="89158" y="23775"/>
                </a:lnTo>
                <a:cubicBezTo>
                  <a:pt x="95733" y="23775"/>
                  <a:pt x="101045" y="29088"/>
                  <a:pt x="101045" y="35663"/>
                </a:cubicBezTo>
                <a:cubicBezTo>
                  <a:pt x="101045" y="42238"/>
                  <a:pt x="95733" y="47551"/>
                  <a:pt x="89158" y="47551"/>
                </a:cubicBezTo>
                <a:lnTo>
                  <a:pt x="46473" y="47551"/>
                </a:lnTo>
                <a:cubicBezTo>
                  <a:pt x="37223" y="47551"/>
                  <a:pt x="29719" y="55055"/>
                  <a:pt x="29719" y="64305"/>
                </a:cubicBezTo>
                <a:cubicBezTo>
                  <a:pt x="29719" y="72663"/>
                  <a:pt x="35849" y="79722"/>
                  <a:pt x="44096" y="80910"/>
                </a:cubicBezTo>
                <a:lnTo>
                  <a:pt x="78124" y="85777"/>
                </a:lnTo>
                <a:cubicBezTo>
                  <a:pt x="98110" y="88637"/>
                  <a:pt x="112933" y="105726"/>
                  <a:pt x="112933" y="125898"/>
                </a:cubicBezTo>
                <a:cubicBezTo>
                  <a:pt x="112933" y="148299"/>
                  <a:pt x="94767" y="166427"/>
                  <a:pt x="72403" y="166427"/>
                </a:cubicBezTo>
                <a:lnTo>
                  <a:pt x="68354" y="166427"/>
                </a:lnTo>
                <a:lnTo>
                  <a:pt x="68354" y="181287"/>
                </a:lnTo>
                <a:cubicBezTo>
                  <a:pt x="68354" y="186228"/>
                  <a:pt x="64379" y="190203"/>
                  <a:pt x="59438" y="190203"/>
                </a:cubicBezTo>
                <a:cubicBezTo>
                  <a:pt x="54498" y="190203"/>
                  <a:pt x="50523" y="186228"/>
                  <a:pt x="50523" y="181287"/>
                </a:cubicBezTo>
                <a:lnTo>
                  <a:pt x="50523" y="166427"/>
                </a:lnTo>
                <a:lnTo>
                  <a:pt x="23775" y="166427"/>
                </a:lnTo>
                <a:cubicBezTo>
                  <a:pt x="17200" y="166427"/>
                  <a:pt x="11888" y="161115"/>
                  <a:pt x="11888" y="154540"/>
                </a:cubicBezTo>
                <a:cubicBezTo>
                  <a:pt x="11888" y="147964"/>
                  <a:pt x="17200" y="142652"/>
                  <a:pt x="23775" y="142652"/>
                </a:cubicBezTo>
                <a:lnTo>
                  <a:pt x="72403" y="142652"/>
                </a:lnTo>
                <a:cubicBezTo>
                  <a:pt x="81653" y="142652"/>
                  <a:pt x="89158" y="135148"/>
                  <a:pt x="89158" y="125898"/>
                </a:cubicBezTo>
                <a:cubicBezTo>
                  <a:pt x="89158" y="117539"/>
                  <a:pt x="83028" y="110481"/>
                  <a:pt x="74781" y="109292"/>
                </a:cubicBezTo>
                <a:lnTo>
                  <a:pt x="40752" y="104426"/>
                </a:lnTo>
                <a:cubicBezTo>
                  <a:pt x="20766" y="101602"/>
                  <a:pt x="5944" y="84477"/>
                  <a:pt x="5944" y="64305"/>
                </a:cubicBezTo>
                <a:cubicBezTo>
                  <a:pt x="5944" y="41941"/>
                  <a:pt x="24110" y="23775"/>
                  <a:pt x="46473" y="23775"/>
                </a:cubicBezTo>
                <a:lnTo>
                  <a:pt x="50523" y="23775"/>
                </a:lnTo>
                <a:lnTo>
                  <a:pt x="50523" y="891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79832" y="6081735"/>
            <a:ext cx="10965192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Multas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1588" y="6360251"/>
            <a:ext cx="11183925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 de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expresso em reais, que será cobrado pela Elo por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unidade de Disputa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considerada excessiva de acordo com os parâmetros estipulados.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kern="0" spc="55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ELO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894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PED - Multas e Plano de Ação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188" y="1125145"/>
            <a:ext cx="5652095" cy="4658803"/>
          </a:xfrm>
          <a:custGeom>
            <a:avLst/>
            <a:gdLst/>
            <a:ahLst/>
            <a:cxnLst/>
            <a:rect l="l" t="t" r="r" b="b"/>
            <a:pathLst>
              <a:path w="5652095" h="4658803">
                <a:moveTo>
                  <a:pt x="35161" y="0"/>
                </a:moveTo>
                <a:lnTo>
                  <a:pt x="5581794" y="0"/>
                </a:lnTo>
                <a:cubicBezTo>
                  <a:pt x="5620620" y="0"/>
                  <a:pt x="5652095" y="31475"/>
                  <a:pt x="5652095" y="70301"/>
                </a:cubicBezTo>
                <a:lnTo>
                  <a:pt x="5652095" y="4588502"/>
                </a:lnTo>
                <a:cubicBezTo>
                  <a:pt x="5652095" y="4627328"/>
                  <a:pt x="5620620" y="4658803"/>
                  <a:pt x="5581794" y="4658803"/>
                </a:cubicBezTo>
                <a:lnTo>
                  <a:pt x="35161" y="4658803"/>
                </a:lnTo>
                <a:cubicBezTo>
                  <a:pt x="15742" y="4658803"/>
                  <a:pt x="0" y="4643061"/>
                  <a:pt x="0" y="462364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9188" y="1125145"/>
            <a:ext cx="35161" cy="4658803"/>
          </a:xfrm>
          <a:custGeom>
            <a:avLst/>
            <a:gdLst/>
            <a:ahLst/>
            <a:cxnLst/>
            <a:rect l="l" t="t" r="r" b="b"/>
            <a:pathLst>
              <a:path w="35161" h="4658803">
                <a:moveTo>
                  <a:pt x="35161" y="0"/>
                </a:moveTo>
                <a:lnTo>
                  <a:pt x="35161" y="0"/>
                </a:lnTo>
                <a:lnTo>
                  <a:pt x="35161" y="4658803"/>
                </a:lnTo>
                <a:lnTo>
                  <a:pt x="35161" y="4658803"/>
                </a:lnTo>
                <a:cubicBezTo>
                  <a:pt x="15742" y="4658803"/>
                  <a:pt x="0" y="4643061"/>
                  <a:pt x="0" y="462364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28499" y="1336110"/>
            <a:ext cx="131853" cy="210965"/>
          </a:xfrm>
          <a:custGeom>
            <a:avLst/>
            <a:gdLst/>
            <a:ahLst/>
            <a:cxnLst/>
            <a:rect l="l" t="t" r="r" b="b"/>
            <a:pathLst>
              <a:path w="131853" h="210965">
                <a:moveTo>
                  <a:pt x="56037" y="9889"/>
                </a:moveTo>
                <a:cubicBezTo>
                  <a:pt x="56037" y="4409"/>
                  <a:pt x="60446" y="0"/>
                  <a:pt x="65926" y="0"/>
                </a:cubicBezTo>
                <a:cubicBezTo>
                  <a:pt x="71407" y="0"/>
                  <a:pt x="75815" y="4409"/>
                  <a:pt x="75815" y="9889"/>
                </a:cubicBezTo>
                <a:lnTo>
                  <a:pt x="75815" y="26371"/>
                </a:lnTo>
                <a:lnTo>
                  <a:pt x="98890" y="26371"/>
                </a:lnTo>
                <a:cubicBezTo>
                  <a:pt x="106183" y="26371"/>
                  <a:pt x="112075" y="32263"/>
                  <a:pt x="112075" y="39556"/>
                </a:cubicBezTo>
                <a:cubicBezTo>
                  <a:pt x="112075" y="46849"/>
                  <a:pt x="106183" y="52741"/>
                  <a:pt x="98890" y="52741"/>
                </a:cubicBezTo>
                <a:lnTo>
                  <a:pt x="51546" y="52741"/>
                </a:lnTo>
                <a:cubicBezTo>
                  <a:pt x="41286" y="52741"/>
                  <a:pt x="32963" y="61064"/>
                  <a:pt x="32963" y="71324"/>
                </a:cubicBezTo>
                <a:cubicBezTo>
                  <a:pt x="32963" y="80595"/>
                  <a:pt x="39762" y="88424"/>
                  <a:pt x="48909" y="89742"/>
                </a:cubicBezTo>
                <a:lnTo>
                  <a:pt x="86652" y="95140"/>
                </a:lnTo>
                <a:cubicBezTo>
                  <a:pt x="108820" y="98313"/>
                  <a:pt x="125260" y="117267"/>
                  <a:pt x="125260" y="139640"/>
                </a:cubicBezTo>
                <a:cubicBezTo>
                  <a:pt x="125260" y="164487"/>
                  <a:pt x="105111" y="184594"/>
                  <a:pt x="80307" y="184594"/>
                </a:cubicBezTo>
                <a:lnTo>
                  <a:pt x="75815" y="184594"/>
                </a:lnTo>
                <a:lnTo>
                  <a:pt x="75815" y="201076"/>
                </a:lnTo>
                <a:cubicBezTo>
                  <a:pt x="75815" y="206556"/>
                  <a:pt x="71407" y="210965"/>
                  <a:pt x="65926" y="210965"/>
                </a:cubicBezTo>
                <a:cubicBezTo>
                  <a:pt x="60446" y="210965"/>
                  <a:pt x="56037" y="206556"/>
                  <a:pt x="56037" y="201076"/>
                </a:cubicBezTo>
                <a:lnTo>
                  <a:pt x="56037" y="184594"/>
                </a:lnTo>
                <a:lnTo>
                  <a:pt x="26371" y="184594"/>
                </a:lnTo>
                <a:cubicBezTo>
                  <a:pt x="19077" y="184594"/>
                  <a:pt x="13185" y="178702"/>
                  <a:pt x="13185" y="171409"/>
                </a:cubicBezTo>
                <a:cubicBezTo>
                  <a:pt x="13185" y="164116"/>
                  <a:pt x="19077" y="158224"/>
                  <a:pt x="26371" y="158224"/>
                </a:cubicBezTo>
                <a:lnTo>
                  <a:pt x="80307" y="158224"/>
                </a:lnTo>
                <a:cubicBezTo>
                  <a:pt x="90566" y="158224"/>
                  <a:pt x="98890" y="149900"/>
                  <a:pt x="98890" y="139640"/>
                </a:cubicBezTo>
                <a:cubicBezTo>
                  <a:pt x="98890" y="130370"/>
                  <a:pt x="92091" y="122541"/>
                  <a:pt x="82944" y="121222"/>
                </a:cubicBezTo>
                <a:lnTo>
                  <a:pt x="45201" y="115825"/>
                </a:lnTo>
                <a:cubicBezTo>
                  <a:pt x="23033" y="112693"/>
                  <a:pt x="6593" y="93698"/>
                  <a:pt x="6593" y="71324"/>
                </a:cubicBezTo>
                <a:cubicBezTo>
                  <a:pt x="6593" y="46519"/>
                  <a:pt x="26741" y="26371"/>
                  <a:pt x="51546" y="26371"/>
                </a:cubicBezTo>
                <a:lnTo>
                  <a:pt x="56037" y="26371"/>
                </a:lnTo>
                <a:lnTo>
                  <a:pt x="56037" y="9889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6278" y="1300949"/>
            <a:ext cx="5124683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2572" y="1722878"/>
            <a:ext cx="5282907" cy="1555864"/>
          </a:xfrm>
          <a:custGeom>
            <a:avLst/>
            <a:gdLst/>
            <a:ahLst/>
            <a:cxnLst/>
            <a:rect l="l" t="t" r="r" b="b"/>
            <a:pathLst>
              <a:path w="5282907" h="1555864">
                <a:moveTo>
                  <a:pt x="70325" y="0"/>
                </a:moveTo>
                <a:lnTo>
                  <a:pt x="5212582" y="0"/>
                </a:lnTo>
                <a:cubicBezTo>
                  <a:pt x="5251421" y="0"/>
                  <a:pt x="5282907" y="31486"/>
                  <a:pt x="5282907" y="70325"/>
                </a:cubicBezTo>
                <a:lnTo>
                  <a:pt x="5282907" y="1485539"/>
                </a:lnTo>
                <a:cubicBezTo>
                  <a:pt x="5282907" y="1524379"/>
                  <a:pt x="5251421" y="1555864"/>
                  <a:pt x="5212582" y="1555864"/>
                </a:cubicBezTo>
                <a:lnTo>
                  <a:pt x="70325" y="1555864"/>
                </a:lnTo>
                <a:cubicBezTo>
                  <a:pt x="31486" y="1555864"/>
                  <a:pt x="0" y="1524379"/>
                  <a:pt x="0" y="1485539"/>
                </a:cubicBezTo>
                <a:lnTo>
                  <a:pt x="0" y="70325"/>
                </a:lnTo>
                <a:cubicBezTo>
                  <a:pt x="0" y="31512"/>
                  <a:pt x="31512" y="0"/>
                  <a:pt x="7032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03216" y="1863521"/>
            <a:ext cx="5080733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Estrutura de Penalidades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3216" y="2179968"/>
            <a:ext cx="507194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 de </a:t>
            </a:r>
            <a:r>
              <a:rPr lang="en-US" sz="1107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 em reais</a:t>
            </a: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unidade de disputa considerada excessiva: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3216" y="2782097"/>
            <a:ext cx="5001621" cy="8790"/>
          </a:xfrm>
          <a:custGeom>
            <a:avLst/>
            <a:gdLst/>
            <a:ahLst/>
            <a:cxnLst/>
            <a:rect l="l" t="t" r="r" b="b"/>
            <a:pathLst>
              <a:path w="5001621" h="8790">
                <a:moveTo>
                  <a:pt x="0" y="0"/>
                </a:moveTo>
                <a:lnTo>
                  <a:pt x="5001621" y="0"/>
                </a:lnTo>
                <a:lnTo>
                  <a:pt x="5001621" y="8790"/>
                </a:lnTo>
                <a:lnTo>
                  <a:pt x="0" y="879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03216" y="2531576"/>
            <a:ext cx="1283368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Disputas excessivas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56503" y="2531576"/>
            <a:ext cx="142401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 por unidade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3216" y="2891974"/>
            <a:ext cx="133611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Parâmetro Excessivo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50150" y="2891974"/>
            <a:ext cx="1125145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Cobrança mensal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572" y="3384225"/>
            <a:ext cx="5282907" cy="1019663"/>
          </a:xfrm>
          <a:custGeom>
            <a:avLst/>
            <a:gdLst/>
            <a:ahLst/>
            <a:cxnLst/>
            <a:rect l="l" t="t" r="r" b="b"/>
            <a:pathLst>
              <a:path w="5282907" h="1019663">
                <a:moveTo>
                  <a:pt x="70326" y="0"/>
                </a:moveTo>
                <a:lnTo>
                  <a:pt x="5212581" y="0"/>
                </a:lnTo>
                <a:cubicBezTo>
                  <a:pt x="5251421" y="0"/>
                  <a:pt x="5282907" y="31486"/>
                  <a:pt x="5282907" y="70326"/>
                </a:cubicBezTo>
                <a:lnTo>
                  <a:pt x="5282907" y="949336"/>
                </a:lnTo>
                <a:cubicBezTo>
                  <a:pt x="5282907" y="988177"/>
                  <a:pt x="5251421" y="1019663"/>
                  <a:pt x="5212581" y="1019663"/>
                </a:cubicBezTo>
                <a:lnTo>
                  <a:pt x="70326" y="1019663"/>
                </a:lnTo>
                <a:cubicBezTo>
                  <a:pt x="31486" y="1019663"/>
                  <a:pt x="0" y="988177"/>
                  <a:pt x="0" y="949336"/>
                </a:cubicBezTo>
                <a:lnTo>
                  <a:pt x="0" y="70326"/>
                </a:lnTo>
                <a:cubicBezTo>
                  <a:pt x="0" y="31512"/>
                  <a:pt x="31512" y="0"/>
                  <a:pt x="7032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03216" y="3524868"/>
            <a:ext cx="5080733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Publicação das Penalidades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3216" y="3841315"/>
            <a:ext cx="5071942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penalidades e cobranças serão </a:t>
            </a:r>
            <a:r>
              <a:rPr lang="en-US" sz="1107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publicadas no Portal de Serviços Elo</a:t>
            </a: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os casos que o parceiro se enquadre no </a:t>
            </a:r>
            <a:r>
              <a:rPr lang="en-US" sz="110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Parâmetro Excessivo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2391" y="1125145"/>
            <a:ext cx="5652095" cy="4658803"/>
          </a:xfrm>
          <a:custGeom>
            <a:avLst/>
            <a:gdLst/>
            <a:ahLst/>
            <a:cxnLst/>
            <a:rect l="l" t="t" r="r" b="b"/>
            <a:pathLst>
              <a:path w="5652095" h="4658803">
                <a:moveTo>
                  <a:pt x="35161" y="0"/>
                </a:moveTo>
                <a:lnTo>
                  <a:pt x="5581794" y="0"/>
                </a:lnTo>
                <a:cubicBezTo>
                  <a:pt x="5620620" y="0"/>
                  <a:pt x="5652095" y="31475"/>
                  <a:pt x="5652095" y="70301"/>
                </a:cubicBezTo>
                <a:lnTo>
                  <a:pt x="5652095" y="4588502"/>
                </a:lnTo>
                <a:cubicBezTo>
                  <a:pt x="5652095" y="4627328"/>
                  <a:pt x="5620620" y="4658803"/>
                  <a:pt x="5581794" y="4658803"/>
                </a:cubicBezTo>
                <a:lnTo>
                  <a:pt x="35161" y="4658803"/>
                </a:lnTo>
                <a:cubicBezTo>
                  <a:pt x="15742" y="4658803"/>
                  <a:pt x="0" y="4643061"/>
                  <a:pt x="0" y="462364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182391" y="1125145"/>
            <a:ext cx="35161" cy="4658803"/>
          </a:xfrm>
          <a:custGeom>
            <a:avLst/>
            <a:gdLst/>
            <a:ahLst/>
            <a:cxnLst/>
            <a:rect l="l" t="t" r="r" b="b"/>
            <a:pathLst>
              <a:path w="35161" h="4658803">
                <a:moveTo>
                  <a:pt x="35161" y="0"/>
                </a:moveTo>
                <a:lnTo>
                  <a:pt x="35161" y="0"/>
                </a:lnTo>
                <a:lnTo>
                  <a:pt x="35161" y="4658803"/>
                </a:lnTo>
                <a:lnTo>
                  <a:pt x="35161" y="4658803"/>
                </a:lnTo>
                <a:cubicBezTo>
                  <a:pt x="15742" y="4658803"/>
                  <a:pt x="0" y="4643061"/>
                  <a:pt x="0" y="462364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402146" y="1336110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55131" y="14957"/>
                </a:moveTo>
                <a:cubicBezTo>
                  <a:pt x="59622" y="18089"/>
                  <a:pt x="60694" y="24269"/>
                  <a:pt x="57562" y="28719"/>
                </a:cubicBezTo>
                <a:lnTo>
                  <a:pt x="34488" y="61682"/>
                </a:lnTo>
                <a:cubicBezTo>
                  <a:pt x="32798" y="64072"/>
                  <a:pt x="30161" y="65597"/>
                  <a:pt x="27236" y="65844"/>
                </a:cubicBezTo>
                <a:cubicBezTo>
                  <a:pt x="24310" y="66091"/>
                  <a:pt x="21426" y="65102"/>
                  <a:pt x="19366" y="63042"/>
                </a:cubicBezTo>
                <a:lnTo>
                  <a:pt x="2884" y="46561"/>
                </a:lnTo>
                <a:cubicBezTo>
                  <a:pt x="-948" y="42687"/>
                  <a:pt x="-948" y="36424"/>
                  <a:pt x="2884" y="32551"/>
                </a:cubicBezTo>
                <a:cubicBezTo>
                  <a:pt x="6716" y="28678"/>
                  <a:pt x="13020" y="28719"/>
                  <a:pt x="16894" y="32551"/>
                </a:cubicBezTo>
                <a:lnTo>
                  <a:pt x="25052" y="40710"/>
                </a:lnTo>
                <a:lnTo>
                  <a:pt x="41369" y="17388"/>
                </a:lnTo>
                <a:cubicBezTo>
                  <a:pt x="44500" y="12897"/>
                  <a:pt x="50681" y="11826"/>
                  <a:pt x="55131" y="14957"/>
                </a:cubicBezTo>
                <a:close/>
                <a:moveTo>
                  <a:pt x="55131" y="80884"/>
                </a:moveTo>
                <a:cubicBezTo>
                  <a:pt x="59622" y="84015"/>
                  <a:pt x="60694" y="90196"/>
                  <a:pt x="57562" y="94646"/>
                </a:cubicBezTo>
                <a:lnTo>
                  <a:pt x="34488" y="127609"/>
                </a:lnTo>
                <a:cubicBezTo>
                  <a:pt x="32798" y="129999"/>
                  <a:pt x="30161" y="131523"/>
                  <a:pt x="27236" y="131771"/>
                </a:cubicBezTo>
                <a:cubicBezTo>
                  <a:pt x="24310" y="132018"/>
                  <a:pt x="21426" y="131029"/>
                  <a:pt x="19366" y="128969"/>
                </a:cubicBezTo>
                <a:lnTo>
                  <a:pt x="2884" y="112487"/>
                </a:lnTo>
                <a:cubicBezTo>
                  <a:pt x="-989" y="108614"/>
                  <a:pt x="-989" y="102351"/>
                  <a:pt x="2884" y="98519"/>
                </a:cubicBezTo>
                <a:cubicBezTo>
                  <a:pt x="6757" y="94687"/>
                  <a:pt x="13020" y="94646"/>
                  <a:pt x="16852" y="98519"/>
                </a:cubicBezTo>
                <a:lnTo>
                  <a:pt x="25011" y="106677"/>
                </a:lnTo>
                <a:lnTo>
                  <a:pt x="41328" y="83356"/>
                </a:lnTo>
                <a:cubicBezTo>
                  <a:pt x="44459" y="78865"/>
                  <a:pt x="50640" y="77793"/>
                  <a:pt x="55090" y="80925"/>
                </a:cubicBezTo>
                <a:close/>
                <a:moveTo>
                  <a:pt x="92297" y="39556"/>
                </a:moveTo>
                <a:cubicBezTo>
                  <a:pt x="92297" y="32263"/>
                  <a:pt x="98189" y="26371"/>
                  <a:pt x="105482" y="26371"/>
                </a:cubicBezTo>
                <a:lnTo>
                  <a:pt x="197779" y="26371"/>
                </a:lnTo>
                <a:cubicBezTo>
                  <a:pt x="205072" y="26371"/>
                  <a:pt x="210965" y="32263"/>
                  <a:pt x="210965" y="39556"/>
                </a:cubicBezTo>
                <a:cubicBezTo>
                  <a:pt x="210965" y="46849"/>
                  <a:pt x="205072" y="52741"/>
                  <a:pt x="197779" y="52741"/>
                </a:cubicBezTo>
                <a:lnTo>
                  <a:pt x="105482" y="52741"/>
                </a:lnTo>
                <a:cubicBezTo>
                  <a:pt x="98189" y="52741"/>
                  <a:pt x="92297" y="46849"/>
                  <a:pt x="92297" y="39556"/>
                </a:cubicBezTo>
                <a:close/>
                <a:moveTo>
                  <a:pt x="92297" y="105482"/>
                </a:moveTo>
                <a:cubicBezTo>
                  <a:pt x="92297" y="98189"/>
                  <a:pt x="98189" y="92297"/>
                  <a:pt x="105482" y="92297"/>
                </a:cubicBezTo>
                <a:lnTo>
                  <a:pt x="197779" y="92297"/>
                </a:lnTo>
                <a:cubicBezTo>
                  <a:pt x="205072" y="92297"/>
                  <a:pt x="210965" y="98189"/>
                  <a:pt x="210965" y="105482"/>
                </a:cubicBezTo>
                <a:cubicBezTo>
                  <a:pt x="210965" y="112775"/>
                  <a:pt x="205072" y="118668"/>
                  <a:pt x="197779" y="118668"/>
                </a:cubicBezTo>
                <a:lnTo>
                  <a:pt x="105482" y="118668"/>
                </a:lnTo>
                <a:cubicBezTo>
                  <a:pt x="98189" y="118668"/>
                  <a:pt x="92297" y="112775"/>
                  <a:pt x="92297" y="105482"/>
                </a:cubicBezTo>
                <a:close/>
                <a:moveTo>
                  <a:pt x="65926" y="171409"/>
                </a:moveTo>
                <a:cubicBezTo>
                  <a:pt x="65926" y="164116"/>
                  <a:pt x="71819" y="158224"/>
                  <a:pt x="79112" y="158224"/>
                </a:cubicBezTo>
                <a:lnTo>
                  <a:pt x="197779" y="158224"/>
                </a:lnTo>
                <a:cubicBezTo>
                  <a:pt x="205072" y="158224"/>
                  <a:pt x="210965" y="164116"/>
                  <a:pt x="210965" y="171409"/>
                </a:cubicBezTo>
                <a:cubicBezTo>
                  <a:pt x="210965" y="178702"/>
                  <a:pt x="205072" y="184594"/>
                  <a:pt x="197779" y="184594"/>
                </a:cubicBezTo>
                <a:lnTo>
                  <a:pt x="79112" y="184594"/>
                </a:lnTo>
                <a:cubicBezTo>
                  <a:pt x="71819" y="184594"/>
                  <a:pt x="65926" y="178702"/>
                  <a:pt x="65926" y="171409"/>
                </a:cubicBezTo>
                <a:close/>
                <a:moveTo>
                  <a:pt x="26371" y="154927"/>
                </a:moveTo>
                <a:cubicBezTo>
                  <a:pt x="35467" y="154927"/>
                  <a:pt x="42852" y="162312"/>
                  <a:pt x="42852" y="171409"/>
                </a:cubicBezTo>
                <a:cubicBezTo>
                  <a:pt x="42852" y="180505"/>
                  <a:pt x="35467" y="187890"/>
                  <a:pt x="26371" y="187890"/>
                </a:cubicBezTo>
                <a:cubicBezTo>
                  <a:pt x="17274" y="187890"/>
                  <a:pt x="9889" y="180505"/>
                  <a:pt x="9889" y="171409"/>
                </a:cubicBezTo>
                <a:cubicBezTo>
                  <a:pt x="9889" y="162312"/>
                  <a:pt x="17274" y="154927"/>
                  <a:pt x="26371" y="15492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39481" y="1300949"/>
            <a:ext cx="5124683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Plano de Ação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5775" y="1722878"/>
            <a:ext cx="5282907" cy="914180"/>
          </a:xfrm>
          <a:custGeom>
            <a:avLst/>
            <a:gdLst/>
            <a:ahLst/>
            <a:cxnLst/>
            <a:rect l="l" t="t" r="r" b="b"/>
            <a:pathLst>
              <a:path w="5282907" h="914180">
                <a:moveTo>
                  <a:pt x="70319" y="0"/>
                </a:moveTo>
                <a:lnTo>
                  <a:pt x="5212588" y="0"/>
                </a:lnTo>
                <a:cubicBezTo>
                  <a:pt x="5251424" y="0"/>
                  <a:pt x="5282907" y="31483"/>
                  <a:pt x="5282907" y="70319"/>
                </a:cubicBezTo>
                <a:lnTo>
                  <a:pt x="5282907" y="843862"/>
                </a:lnTo>
                <a:cubicBezTo>
                  <a:pt x="5282907" y="882697"/>
                  <a:pt x="5251424" y="914180"/>
                  <a:pt x="5212588" y="914180"/>
                </a:cubicBezTo>
                <a:lnTo>
                  <a:pt x="70319" y="914180"/>
                </a:lnTo>
                <a:cubicBezTo>
                  <a:pt x="31483" y="914180"/>
                  <a:pt x="0" y="882697"/>
                  <a:pt x="0" y="843862"/>
                </a:cubicBezTo>
                <a:lnTo>
                  <a:pt x="0" y="70319"/>
                </a:lnTo>
                <a:cubicBezTo>
                  <a:pt x="0" y="31509"/>
                  <a:pt x="31509" y="0"/>
                  <a:pt x="7031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481258" y="1828360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175804" y="0"/>
                </a:moveTo>
                <a:lnTo>
                  <a:pt x="175804" y="0"/>
                </a:lnTo>
                <a:cubicBezTo>
                  <a:pt x="272833" y="0"/>
                  <a:pt x="351608" y="78775"/>
                  <a:pt x="351608" y="175804"/>
                </a:cubicBezTo>
                <a:lnTo>
                  <a:pt x="351608" y="175804"/>
                </a:lnTo>
                <a:cubicBezTo>
                  <a:pt x="351608" y="272833"/>
                  <a:pt x="272833" y="351608"/>
                  <a:pt x="175804" y="351608"/>
                </a:cubicBezTo>
                <a:lnTo>
                  <a:pt x="175804" y="351608"/>
                </a:lnTo>
                <a:cubicBezTo>
                  <a:pt x="78775" y="351608"/>
                  <a:pt x="0" y="272833"/>
                  <a:pt x="0" y="175804"/>
                </a:cubicBezTo>
                <a:lnTo>
                  <a:pt x="0" y="175804"/>
                </a:lnTo>
                <a:cubicBezTo>
                  <a:pt x="0" y="78775"/>
                  <a:pt x="78775" y="0"/>
                  <a:pt x="17580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31927" y="1881102"/>
            <a:ext cx="131853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38348" y="1828360"/>
            <a:ext cx="469396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Download do Template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8348" y="2109647"/>
            <a:ext cx="4685174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parceiro deverá baixar o template </a:t>
            </a:r>
            <a:r>
              <a:rPr lang="en-US" sz="1107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"Plano de Ação PEF e PED"</a:t>
            </a:r>
            <a:r>
              <a:rPr lang="en-US" sz="1107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preenchimento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5775" y="2742541"/>
            <a:ext cx="5282907" cy="914180"/>
          </a:xfrm>
          <a:custGeom>
            <a:avLst/>
            <a:gdLst/>
            <a:ahLst/>
            <a:cxnLst/>
            <a:rect l="l" t="t" r="r" b="b"/>
            <a:pathLst>
              <a:path w="5282907" h="914180">
                <a:moveTo>
                  <a:pt x="70319" y="0"/>
                </a:moveTo>
                <a:lnTo>
                  <a:pt x="5212588" y="0"/>
                </a:lnTo>
                <a:cubicBezTo>
                  <a:pt x="5251424" y="0"/>
                  <a:pt x="5282907" y="31483"/>
                  <a:pt x="5282907" y="70319"/>
                </a:cubicBezTo>
                <a:lnTo>
                  <a:pt x="5282907" y="843862"/>
                </a:lnTo>
                <a:cubicBezTo>
                  <a:pt x="5282907" y="882697"/>
                  <a:pt x="5251424" y="914180"/>
                  <a:pt x="5212588" y="914180"/>
                </a:cubicBezTo>
                <a:lnTo>
                  <a:pt x="70319" y="914180"/>
                </a:lnTo>
                <a:cubicBezTo>
                  <a:pt x="31483" y="914180"/>
                  <a:pt x="0" y="882697"/>
                  <a:pt x="0" y="843862"/>
                </a:cubicBezTo>
                <a:lnTo>
                  <a:pt x="0" y="70319"/>
                </a:lnTo>
                <a:cubicBezTo>
                  <a:pt x="0" y="31509"/>
                  <a:pt x="31509" y="0"/>
                  <a:pt x="7031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481258" y="2848023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175804" y="0"/>
                </a:moveTo>
                <a:lnTo>
                  <a:pt x="175804" y="0"/>
                </a:lnTo>
                <a:cubicBezTo>
                  <a:pt x="272833" y="0"/>
                  <a:pt x="351608" y="78775"/>
                  <a:pt x="351608" y="175804"/>
                </a:cubicBezTo>
                <a:lnTo>
                  <a:pt x="351608" y="175804"/>
                </a:lnTo>
                <a:cubicBezTo>
                  <a:pt x="351608" y="272833"/>
                  <a:pt x="272833" y="351608"/>
                  <a:pt x="175804" y="351608"/>
                </a:cubicBezTo>
                <a:lnTo>
                  <a:pt x="175804" y="351608"/>
                </a:lnTo>
                <a:cubicBezTo>
                  <a:pt x="78775" y="351608"/>
                  <a:pt x="0" y="272833"/>
                  <a:pt x="0" y="175804"/>
                </a:cubicBezTo>
                <a:lnTo>
                  <a:pt x="0" y="175804"/>
                </a:lnTo>
                <a:cubicBezTo>
                  <a:pt x="0" y="78775"/>
                  <a:pt x="78775" y="0"/>
                  <a:pt x="17580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616682" y="2900764"/>
            <a:ext cx="15822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38348" y="2848023"/>
            <a:ext cx="469396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Prazo de Envio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8348" y="3129309"/>
            <a:ext cx="4685174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plano deverá ser encaminhado para avaliação da Elo, </a:t>
            </a:r>
            <a:r>
              <a:rPr lang="en-US" sz="1107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 português</a:t>
            </a:r>
            <a:r>
              <a:rPr lang="en-US" sz="1107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em até </a:t>
            </a:r>
            <a:r>
              <a:rPr lang="en-US" sz="110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dias corridos</a:t>
            </a:r>
            <a:r>
              <a:rPr lang="en-US" sz="1107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partir da 1ª notificação no Portal de Serviços Elo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5775" y="3762203"/>
            <a:ext cx="5282907" cy="703216"/>
          </a:xfrm>
          <a:custGeom>
            <a:avLst/>
            <a:gdLst/>
            <a:ahLst/>
            <a:cxnLst/>
            <a:rect l="l" t="t" r="r" b="b"/>
            <a:pathLst>
              <a:path w="5282907" h="703216">
                <a:moveTo>
                  <a:pt x="70322" y="0"/>
                </a:moveTo>
                <a:lnTo>
                  <a:pt x="5212585" y="0"/>
                </a:lnTo>
                <a:cubicBezTo>
                  <a:pt x="5251423" y="0"/>
                  <a:pt x="5282907" y="31484"/>
                  <a:pt x="5282907" y="70322"/>
                </a:cubicBezTo>
                <a:lnTo>
                  <a:pt x="5282907" y="632894"/>
                </a:lnTo>
                <a:cubicBezTo>
                  <a:pt x="5282907" y="671732"/>
                  <a:pt x="5251423" y="703216"/>
                  <a:pt x="5212585" y="703216"/>
                </a:cubicBezTo>
                <a:lnTo>
                  <a:pt x="70322" y="703216"/>
                </a:lnTo>
                <a:cubicBezTo>
                  <a:pt x="31510" y="703216"/>
                  <a:pt x="0" y="671706"/>
                  <a:pt x="0" y="632894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481258" y="3867686"/>
            <a:ext cx="351608" cy="351608"/>
          </a:xfrm>
          <a:custGeom>
            <a:avLst/>
            <a:gdLst/>
            <a:ahLst/>
            <a:cxnLst/>
            <a:rect l="l" t="t" r="r" b="b"/>
            <a:pathLst>
              <a:path w="351608" h="351608">
                <a:moveTo>
                  <a:pt x="175804" y="0"/>
                </a:moveTo>
                <a:lnTo>
                  <a:pt x="175804" y="0"/>
                </a:lnTo>
                <a:cubicBezTo>
                  <a:pt x="272833" y="0"/>
                  <a:pt x="351608" y="78775"/>
                  <a:pt x="351608" y="175804"/>
                </a:cubicBezTo>
                <a:lnTo>
                  <a:pt x="351608" y="175804"/>
                </a:lnTo>
                <a:cubicBezTo>
                  <a:pt x="351608" y="272833"/>
                  <a:pt x="272833" y="351608"/>
                  <a:pt x="175804" y="351608"/>
                </a:cubicBezTo>
                <a:lnTo>
                  <a:pt x="175804" y="351608"/>
                </a:lnTo>
                <a:cubicBezTo>
                  <a:pt x="78775" y="351608"/>
                  <a:pt x="0" y="272833"/>
                  <a:pt x="0" y="175804"/>
                </a:cubicBezTo>
                <a:lnTo>
                  <a:pt x="0" y="175804"/>
                </a:lnTo>
                <a:cubicBezTo>
                  <a:pt x="0" y="78775"/>
                  <a:pt x="78775" y="0"/>
                  <a:pt x="17580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614621" y="3920427"/>
            <a:ext cx="16701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8348" y="3867686"/>
            <a:ext cx="434235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Canal de Envio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38348" y="4148972"/>
            <a:ext cx="433356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 planos devem ser enviados para: </a:t>
            </a:r>
            <a:r>
              <a:rPr lang="en-US" sz="1107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penalidades.disputas@elo.com.br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0171" y="4575296"/>
            <a:ext cx="5274117" cy="1028453"/>
          </a:xfrm>
          <a:custGeom>
            <a:avLst/>
            <a:gdLst/>
            <a:ahLst/>
            <a:cxnLst/>
            <a:rect l="l" t="t" r="r" b="b"/>
            <a:pathLst>
              <a:path w="5274117" h="1028453">
                <a:moveTo>
                  <a:pt x="70326" y="0"/>
                </a:moveTo>
                <a:lnTo>
                  <a:pt x="5203791" y="0"/>
                </a:lnTo>
                <a:cubicBezTo>
                  <a:pt x="5242631" y="0"/>
                  <a:pt x="5274117" y="31486"/>
                  <a:pt x="5274117" y="70326"/>
                </a:cubicBezTo>
                <a:lnTo>
                  <a:pt x="5274117" y="958127"/>
                </a:lnTo>
                <a:cubicBezTo>
                  <a:pt x="5274117" y="996967"/>
                  <a:pt x="5242631" y="1028453"/>
                  <a:pt x="5203791" y="1028453"/>
                </a:cubicBezTo>
                <a:lnTo>
                  <a:pt x="70326" y="1028453"/>
                </a:lnTo>
                <a:cubicBezTo>
                  <a:pt x="31486" y="1028453"/>
                  <a:pt x="0" y="996967"/>
                  <a:pt x="0" y="958127"/>
                </a:cubicBezTo>
                <a:lnTo>
                  <a:pt x="0" y="70326"/>
                </a:lnTo>
                <a:cubicBezTo>
                  <a:pt x="0" y="31486"/>
                  <a:pt x="31486" y="0"/>
                  <a:pt x="7032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547184" y="4764286"/>
            <a:ext cx="158224" cy="158224"/>
          </a:xfrm>
          <a:custGeom>
            <a:avLst/>
            <a:gdLst/>
            <a:ahLst/>
            <a:cxnLst/>
            <a:rect l="l" t="t" r="r" b="b"/>
            <a:pathLst>
              <a:path w="158224" h="158224">
                <a:moveTo>
                  <a:pt x="79112" y="0"/>
                </a:moveTo>
                <a:cubicBezTo>
                  <a:pt x="83654" y="0"/>
                  <a:pt x="87826" y="2503"/>
                  <a:pt x="89990" y="6490"/>
                </a:cubicBezTo>
                <a:lnTo>
                  <a:pt x="156740" y="130102"/>
                </a:lnTo>
                <a:cubicBezTo>
                  <a:pt x="158811" y="133934"/>
                  <a:pt x="158718" y="138569"/>
                  <a:pt x="156493" y="142308"/>
                </a:cubicBezTo>
                <a:cubicBezTo>
                  <a:pt x="154268" y="146048"/>
                  <a:pt x="150220" y="148335"/>
                  <a:pt x="145862" y="148335"/>
                </a:cubicBezTo>
                <a:lnTo>
                  <a:pt x="12361" y="148335"/>
                </a:lnTo>
                <a:cubicBezTo>
                  <a:pt x="8004" y="148335"/>
                  <a:pt x="3986" y="146048"/>
                  <a:pt x="1731" y="142308"/>
                </a:cubicBezTo>
                <a:cubicBezTo>
                  <a:pt x="-525" y="138569"/>
                  <a:pt x="-587" y="133934"/>
                  <a:pt x="1483" y="130102"/>
                </a:cubicBezTo>
                <a:lnTo>
                  <a:pt x="68234" y="6490"/>
                </a:lnTo>
                <a:cubicBezTo>
                  <a:pt x="70397" y="2503"/>
                  <a:pt x="74569" y="0"/>
                  <a:pt x="79112" y="0"/>
                </a:cubicBezTo>
                <a:close/>
                <a:moveTo>
                  <a:pt x="79112" y="51917"/>
                </a:moveTo>
                <a:cubicBezTo>
                  <a:pt x="75002" y="51917"/>
                  <a:pt x="71695" y="55224"/>
                  <a:pt x="71695" y="59334"/>
                </a:cubicBezTo>
                <a:lnTo>
                  <a:pt x="71695" y="93945"/>
                </a:lnTo>
                <a:cubicBezTo>
                  <a:pt x="71695" y="98055"/>
                  <a:pt x="75002" y="101362"/>
                  <a:pt x="79112" y="101362"/>
                </a:cubicBezTo>
                <a:cubicBezTo>
                  <a:pt x="83222" y="101362"/>
                  <a:pt x="86528" y="98055"/>
                  <a:pt x="86528" y="93945"/>
                </a:cubicBezTo>
                <a:lnTo>
                  <a:pt x="86528" y="59334"/>
                </a:lnTo>
                <a:cubicBezTo>
                  <a:pt x="86528" y="55224"/>
                  <a:pt x="83222" y="51917"/>
                  <a:pt x="79112" y="51917"/>
                </a:cubicBezTo>
                <a:close/>
                <a:moveTo>
                  <a:pt x="87363" y="118668"/>
                </a:moveTo>
                <a:cubicBezTo>
                  <a:pt x="87551" y="115605"/>
                  <a:pt x="86023" y="112691"/>
                  <a:pt x="83398" y="111103"/>
                </a:cubicBezTo>
                <a:cubicBezTo>
                  <a:pt x="80772" y="109515"/>
                  <a:pt x="77482" y="109515"/>
                  <a:pt x="74857" y="111103"/>
                </a:cubicBezTo>
                <a:cubicBezTo>
                  <a:pt x="72231" y="112691"/>
                  <a:pt x="70704" y="115605"/>
                  <a:pt x="70892" y="118668"/>
                </a:cubicBezTo>
                <a:cubicBezTo>
                  <a:pt x="70704" y="121730"/>
                  <a:pt x="72231" y="124644"/>
                  <a:pt x="74857" y="126232"/>
                </a:cubicBezTo>
                <a:cubicBezTo>
                  <a:pt x="77482" y="127820"/>
                  <a:pt x="80772" y="127820"/>
                  <a:pt x="83398" y="126232"/>
                </a:cubicBezTo>
                <a:cubicBezTo>
                  <a:pt x="86023" y="124644"/>
                  <a:pt x="87551" y="121730"/>
                  <a:pt x="87363" y="11866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727383" y="4720335"/>
            <a:ext cx="4860978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Consequência do Não Envio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25209" y="5036782"/>
            <a:ext cx="5054362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Decorrido o prazo, caso a Elo não tenha recebido o plano, a </a:t>
            </a:r>
            <a:r>
              <a:rPr lang="en-US" sz="1107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 e a cobrança serão publicadas</a:t>
            </a: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Portal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6003" y="5928986"/>
            <a:ext cx="11479994" cy="501041"/>
          </a:xfrm>
          <a:custGeom>
            <a:avLst/>
            <a:gdLst/>
            <a:ahLst/>
            <a:cxnLst/>
            <a:rect l="l" t="t" r="r" b="b"/>
            <a:pathLst>
              <a:path w="11479994" h="501041">
                <a:moveTo>
                  <a:pt x="70321" y="0"/>
                </a:moveTo>
                <a:lnTo>
                  <a:pt x="11409673" y="0"/>
                </a:lnTo>
                <a:cubicBezTo>
                  <a:pt x="11448510" y="0"/>
                  <a:pt x="11479994" y="31484"/>
                  <a:pt x="11479994" y="70321"/>
                </a:cubicBezTo>
                <a:lnTo>
                  <a:pt x="11479994" y="430720"/>
                </a:lnTo>
                <a:cubicBezTo>
                  <a:pt x="11479994" y="469557"/>
                  <a:pt x="11448510" y="501041"/>
                  <a:pt x="11409673" y="501041"/>
                </a:cubicBezTo>
                <a:lnTo>
                  <a:pt x="70321" y="501041"/>
                </a:lnTo>
                <a:cubicBezTo>
                  <a:pt x="31484" y="501041"/>
                  <a:pt x="0" y="469557"/>
                  <a:pt x="0" y="430720"/>
                </a:cubicBezTo>
                <a:lnTo>
                  <a:pt x="0" y="70321"/>
                </a:lnTo>
                <a:cubicBezTo>
                  <a:pt x="0" y="31510"/>
                  <a:pt x="31510" y="0"/>
                  <a:pt x="70321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536202" y="6109185"/>
            <a:ext cx="105482" cy="140643"/>
          </a:xfrm>
          <a:custGeom>
            <a:avLst/>
            <a:gdLst/>
            <a:ahLst/>
            <a:cxnLst/>
            <a:rect l="l" t="t" r="r" b="b"/>
            <a:pathLst>
              <a:path w="105482" h="140643">
                <a:moveTo>
                  <a:pt x="80458" y="105482"/>
                </a:moveTo>
                <a:cubicBezTo>
                  <a:pt x="82463" y="99357"/>
                  <a:pt x="86474" y="93808"/>
                  <a:pt x="91006" y="89028"/>
                </a:cubicBezTo>
                <a:cubicBezTo>
                  <a:pt x="99988" y="79579"/>
                  <a:pt x="105482" y="66805"/>
                  <a:pt x="105482" y="52741"/>
                </a:cubicBezTo>
                <a:cubicBezTo>
                  <a:pt x="105482" y="23624"/>
                  <a:pt x="81859" y="0"/>
                  <a:pt x="52741" y="0"/>
                </a:cubicBezTo>
                <a:cubicBezTo>
                  <a:pt x="23624" y="0"/>
                  <a:pt x="0" y="23624"/>
                  <a:pt x="0" y="52741"/>
                </a:cubicBezTo>
                <a:cubicBezTo>
                  <a:pt x="0" y="66805"/>
                  <a:pt x="5494" y="79579"/>
                  <a:pt x="14476" y="89028"/>
                </a:cubicBezTo>
                <a:cubicBezTo>
                  <a:pt x="19009" y="93808"/>
                  <a:pt x="23047" y="99357"/>
                  <a:pt x="25025" y="105482"/>
                </a:cubicBezTo>
                <a:lnTo>
                  <a:pt x="80430" y="105482"/>
                </a:lnTo>
                <a:close/>
                <a:moveTo>
                  <a:pt x="79112" y="118668"/>
                </a:moveTo>
                <a:lnTo>
                  <a:pt x="26371" y="118668"/>
                </a:lnTo>
                <a:lnTo>
                  <a:pt x="26371" y="123063"/>
                </a:lnTo>
                <a:cubicBezTo>
                  <a:pt x="26371" y="135204"/>
                  <a:pt x="36205" y="145038"/>
                  <a:pt x="48346" y="145038"/>
                </a:cubicBezTo>
                <a:lnTo>
                  <a:pt x="57136" y="145038"/>
                </a:lnTo>
                <a:cubicBezTo>
                  <a:pt x="69278" y="145038"/>
                  <a:pt x="79112" y="135204"/>
                  <a:pt x="79112" y="123063"/>
                </a:cubicBezTo>
                <a:lnTo>
                  <a:pt x="79112" y="118668"/>
                </a:lnTo>
                <a:close/>
                <a:moveTo>
                  <a:pt x="50544" y="30766"/>
                </a:moveTo>
                <a:cubicBezTo>
                  <a:pt x="39611" y="30766"/>
                  <a:pt x="30766" y="39611"/>
                  <a:pt x="30766" y="50544"/>
                </a:cubicBezTo>
                <a:cubicBezTo>
                  <a:pt x="30766" y="54197"/>
                  <a:pt x="27826" y="57136"/>
                  <a:pt x="24173" y="57136"/>
                </a:cubicBezTo>
                <a:cubicBezTo>
                  <a:pt x="20520" y="57136"/>
                  <a:pt x="17580" y="54197"/>
                  <a:pt x="17580" y="50544"/>
                </a:cubicBezTo>
                <a:cubicBezTo>
                  <a:pt x="17580" y="32331"/>
                  <a:pt x="32331" y="17580"/>
                  <a:pt x="50544" y="17580"/>
                </a:cubicBezTo>
                <a:cubicBezTo>
                  <a:pt x="54197" y="17580"/>
                  <a:pt x="57136" y="20520"/>
                  <a:pt x="57136" y="24173"/>
                </a:cubicBezTo>
                <a:cubicBezTo>
                  <a:pt x="57136" y="27826"/>
                  <a:pt x="54197" y="30766"/>
                  <a:pt x="50544" y="3076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25517" y="6074025"/>
            <a:ext cx="1103576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Dica:</a:t>
            </a:r>
            <a:r>
              <a:rPr lang="en-US" sz="110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plano de ação deve ser detalhado e conter medidas concretas para redução das disputas, incluindo prazos e responsáveis.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ECP - Excessive Chargeback Program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11541125" cy="1135063"/>
          </a:xfrm>
          <a:custGeom>
            <a:avLst/>
            <a:gdLst/>
            <a:ahLst/>
            <a:cxnLst/>
            <a:rect l="l" t="t" r="r" b="b"/>
            <a:pathLst>
              <a:path w="11541125" h="1135063">
                <a:moveTo>
                  <a:pt x="31750" y="0"/>
                </a:moveTo>
                <a:lnTo>
                  <a:pt x="11477630" y="0"/>
                </a:lnTo>
                <a:cubicBezTo>
                  <a:pt x="11512697" y="0"/>
                  <a:pt x="11541125" y="28428"/>
                  <a:pt x="11541125" y="63495"/>
                </a:cubicBezTo>
                <a:lnTo>
                  <a:pt x="11541125" y="1071567"/>
                </a:lnTo>
                <a:cubicBezTo>
                  <a:pt x="11541125" y="1106635"/>
                  <a:pt x="11512697" y="1135062"/>
                  <a:pt x="11477630" y="1135063"/>
                </a:cubicBezTo>
                <a:lnTo>
                  <a:pt x="31750" y="1135063"/>
                </a:lnTo>
                <a:cubicBezTo>
                  <a:pt x="14227" y="1135063"/>
                  <a:pt x="0" y="1120836"/>
                  <a:pt x="0" y="1103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1135063"/>
          </a:xfrm>
          <a:custGeom>
            <a:avLst/>
            <a:gdLst/>
            <a:ahLst/>
            <a:cxnLst/>
            <a:rect l="l" t="t" r="r" b="b"/>
            <a:pathLst>
              <a:path w="31750" h="1135063">
                <a:moveTo>
                  <a:pt x="31750" y="0"/>
                </a:moveTo>
                <a:lnTo>
                  <a:pt x="31750" y="0"/>
                </a:lnTo>
                <a:lnTo>
                  <a:pt x="31750" y="1135063"/>
                </a:lnTo>
                <a:lnTo>
                  <a:pt x="31750" y="1135063"/>
                </a:lnTo>
                <a:cubicBezTo>
                  <a:pt x="14227" y="1135063"/>
                  <a:pt x="0" y="1120836"/>
                  <a:pt x="0" y="1103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31813" y="120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6125" y="1174750"/>
            <a:ext cx="1106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ECP?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24000"/>
            <a:ext cx="11279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12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Chargeback Program (ECP)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um programa que </a:t>
            </a:r>
            <a:r>
              <a:rPr lang="en-US" sz="112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 a performance dos Estabelecimentos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 relação ao volume de disputas recebidas. Os estabelecimentos são identificados para o programa de volume excessivo (ECM) e alto (HECM) de Chargeback.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375" y="2274094"/>
            <a:ext cx="5699125" cy="2333625"/>
          </a:xfrm>
          <a:custGeom>
            <a:avLst/>
            <a:gdLst/>
            <a:ahLst/>
            <a:cxnLst/>
            <a:rect l="l" t="t" r="r" b="b"/>
            <a:pathLst>
              <a:path w="5699125" h="2333625">
                <a:moveTo>
                  <a:pt x="31750" y="0"/>
                </a:moveTo>
                <a:lnTo>
                  <a:pt x="5635627" y="0"/>
                </a:lnTo>
                <a:cubicBezTo>
                  <a:pt x="5670696" y="0"/>
                  <a:pt x="5699125" y="28429"/>
                  <a:pt x="5699125" y="63498"/>
                </a:cubicBezTo>
                <a:lnTo>
                  <a:pt x="5699125" y="2270127"/>
                </a:lnTo>
                <a:cubicBezTo>
                  <a:pt x="5699125" y="2305196"/>
                  <a:pt x="5670696" y="2333625"/>
                  <a:pt x="5635627" y="2333625"/>
                </a:cubicBezTo>
                <a:lnTo>
                  <a:pt x="31750" y="2333625"/>
                </a:lnTo>
                <a:cubicBezTo>
                  <a:pt x="14215" y="2333625"/>
                  <a:pt x="0" y="2319410"/>
                  <a:pt x="0" y="2301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33375" y="2274094"/>
            <a:ext cx="31750" cy="2333625"/>
          </a:xfrm>
          <a:custGeom>
            <a:avLst/>
            <a:gdLst/>
            <a:ahLst/>
            <a:cxnLst/>
            <a:rect l="l" t="t" r="r" b="b"/>
            <a:pathLst>
              <a:path w="31750" h="2333625">
                <a:moveTo>
                  <a:pt x="31750" y="0"/>
                </a:moveTo>
                <a:lnTo>
                  <a:pt x="31750" y="0"/>
                </a:lnTo>
                <a:lnTo>
                  <a:pt x="31750" y="2333625"/>
                </a:lnTo>
                <a:lnTo>
                  <a:pt x="31750" y="2333625"/>
                </a:lnTo>
                <a:cubicBezTo>
                  <a:pt x="14227" y="2333625"/>
                  <a:pt x="0" y="2319398"/>
                  <a:pt x="0" y="2301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08000" y="243284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34219" y="2567781"/>
            <a:ext cx="59531" cy="238125"/>
          </a:xfrm>
          <a:custGeom>
            <a:avLst/>
            <a:gdLst/>
            <a:ahLst/>
            <a:cxnLst/>
            <a:rect l="l" t="t" r="r" b="b"/>
            <a:pathLst>
              <a:path w="59531" h="238125">
                <a:moveTo>
                  <a:pt x="44648" y="14883"/>
                </a:moveTo>
                <a:cubicBezTo>
                  <a:pt x="44648" y="6651"/>
                  <a:pt x="37998" y="0"/>
                  <a:pt x="29766" y="0"/>
                </a:cubicBezTo>
                <a:cubicBezTo>
                  <a:pt x="21534" y="0"/>
                  <a:pt x="14883" y="6651"/>
                  <a:pt x="14883" y="14883"/>
                </a:cubicBezTo>
                <a:lnTo>
                  <a:pt x="14883" y="163711"/>
                </a:lnTo>
                <a:cubicBezTo>
                  <a:pt x="14883" y="171943"/>
                  <a:pt x="21534" y="178594"/>
                  <a:pt x="29766" y="178594"/>
                </a:cubicBezTo>
                <a:cubicBezTo>
                  <a:pt x="37998" y="178594"/>
                  <a:pt x="44648" y="171943"/>
                  <a:pt x="44648" y="163711"/>
                </a:cubicBezTo>
                <a:lnTo>
                  <a:pt x="44648" y="14883"/>
                </a:lnTo>
                <a:close/>
                <a:moveTo>
                  <a:pt x="29766" y="238125"/>
                </a:moveTo>
                <a:cubicBezTo>
                  <a:pt x="40044" y="238125"/>
                  <a:pt x="48369" y="229800"/>
                  <a:pt x="48369" y="219521"/>
                </a:cubicBezTo>
                <a:cubicBezTo>
                  <a:pt x="48369" y="209243"/>
                  <a:pt x="40044" y="200918"/>
                  <a:pt x="29766" y="200918"/>
                </a:cubicBezTo>
                <a:cubicBezTo>
                  <a:pt x="19487" y="200918"/>
                  <a:pt x="11162" y="209243"/>
                  <a:pt x="11162" y="219521"/>
                </a:cubicBezTo>
                <a:cubicBezTo>
                  <a:pt x="11162" y="229800"/>
                  <a:pt x="19487" y="238125"/>
                  <a:pt x="29766" y="23812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43000" y="2432844"/>
            <a:ext cx="2111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718594"/>
            <a:ext cx="206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Chargeback Merchant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3067844"/>
            <a:ext cx="5365750" cy="642938"/>
          </a:xfrm>
          <a:custGeom>
            <a:avLst/>
            <a:gdLst/>
            <a:ahLst/>
            <a:cxnLst/>
            <a:rect l="l" t="t" r="r" b="b"/>
            <a:pathLst>
              <a:path w="5365750" h="642938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579435"/>
                </a:lnTo>
                <a:cubicBezTo>
                  <a:pt x="5365750" y="614506"/>
                  <a:pt x="5337319" y="642938"/>
                  <a:pt x="5302247" y="642938"/>
                </a:cubicBezTo>
                <a:lnTo>
                  <a:pt x="63503" y="642938"/>
                </a:lnTo>
                <a:cubicBezTo>
                  <a:pt x="28431" y="642938"/>
                  <a:pt x="0" y="614506"/>
                  <a:pt x="0" y="57943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35000" y="3579813"/>
            <a:ext cx="5111750" cy="7938"/>
          </a:xfrm>
          <a:custGeom>
            <a:avLst/>
            <a:gdLst/>
            <a:ahLst/>
            <a:cxnLst/>
            <a:rect l="l" t="t" r="r" b="b"/>
            <a:pathLst>
              <a:path w="5111750" h="7938">
                <a:moveTo>
                  <a:pt x="0" y="0"/>
                </a:moveTo>
                <a:lnTo>
                  <a:pt x="5111750" y="0"/>
                </a:lnTo>
                <a:lnTo>
                  <a:pt x="5111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5000" y="3290094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mensal de chargebacks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87863" y="3258344"/>
            <a:ext cx="555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100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3806031"/>
            <a:ext cx="5365750" cy="642938"/>
          </a:xfrm>
          <a:custGeom>
            <a:avLst/>
            <a:gdLst/>
            <a:ahLst/>
            <a:cxnLst/>
            <a:rect l="l" t="t" r="r" b="b"/>
            <a:pathLst>
              <a:path w="5365750" h="642938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579435"/>
                </a:lnTo>
                <a:cubicBezTo>
                  <a:pt x="5365750" y="614506"/>
                  <a:pt x="5337319" y="642938"/>
                  <a:pt x="5302247" y="642938"/>
                </a:cubicBezTo>
                <a:lnTo>
                  <a:pt x="63503" y="642938"/>
                </a:lnTo>
                <a:cubicBezTo>
                  <a:pt x="28431" y="642938"/>
                  <a:pt x="0" y="614506"/>
                  <a:pt x="0" y="57943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35000" y="4318000"/>
            <a:ext cx="5111750" cy="7938"/>
          </a:xfrm>
          <a:custGeom>
            <a:avLst/>
            <a:gdLst/>
            <a:ahLst/>
            <a:cxnLst/>
            <a:rect l="l" t="t" r="r" b="b"/>
            <a:pathLst>
              <a:path w="5111750" h="7938">
                <a:moveTo>
                  <a:pt x="0" y="0"/>
                </a:moveTo>
                <a:lnTo>
                  <a:pt x="5111750" y="0"/>
                </a:lnTo>
                <a:lnTo>
                  <a:pt x="5111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5000" y="4028281"/>
            <a:ext cx="116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de base points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8947" y="3996531"/>
            <a:ext cx="531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150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5375" y="2274094"/>
            <a:ext cx="5699125" cy="2333625"/>
          </a:xfrm>
          <a:custGeom>
            <a:avLst/>
            <a:gdLst/>
            <a:ahLst/>
            <a:cxnLst/>
            <a:rect l="l" t="t" r="r" b="b"/>
            <a:pathLst>
              <a:path w="5699125" h="2333625">
                <a:moveTo>
                  <a:pt x="31750" y="0"/>
                </a:moveTo>
                <a:lnTo>
                  <a:pt x="5635627" y="0"/>
                </a:lnTo>
                <a:cubicBezTo>
                  <a:pt x="5670696" y="0"/>
                  <a:pt x="5699125" y="28429"/>
                  <a:pt x="5699125" y="63498"/>
                </a:cubicBezTo>
                <a:lnTo>
                  <a:pt x="5699125" y="2270127"/>
                </a:lnTo>
                <a:cubicBezTo>
                  <a:pt x="5699125" y="2305196"/>
                  <a:pt x="5670696" y="2333625"/>
                  <a:pt x="5635627" y="2333625"/>
                </a:cubicBezTo>
                <a:lnTo>
                  <a:pt x="31750" y="2333625"/>
                </a:lnTo>
                <a:cubicBezTo>
                  <a:pt x="14215" y="2333625"/>
                  <a:pt x="0" y="2319410"/>
                  <a:pt x="0" y="2301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175375" y="2274094"/>
            <a:ext cx="31750" cy="2333625"/>
          </a:xfrm>
          <a:custGeom>
            <a:avLst/>
            <a:gdLst/>
            <a:ahLst/>
            <a:cxnLst/>
            <a:rect l="l" t="t" r="r" b="b"/>
            <a:pathLst>
              <a:path w="31750" h="2333625">
                <a:moveTo>
                  <a:pt x="31750" y="0"/>
                </a:moveTo>
                <a:lnTo>
                  <a:pt x="31750" y="0"/>
                </a:lnTo>
                <a:lnTo>
                  <a:pt x="31750" y="2333625"/>
                </a:lnTo>
                <a:lnTo>
                  <a:pt x="31750" y="2333625"/>
                </a:lnTo>
                <a:cubicBezTo>
                  <a:pt x="14227" y="2333625"/>
                  <a:pt x="0" y="2319398"/>
                  <a:pt x="0" y="2301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350000" y="243284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86922" y="256778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25899" y="0"/>
                  <a:pt x="132178" y="3767"/>
                  <a:pt x="135434" y="9767"/>
                </a:cubicBezTo>
                <a:lnTo>
                  <a:pt x="235893" y="195802"/>
                </a:lnTo>
                <a:cubicBezTo>
                  <a:pt x="239009" y="201569"/>
                  <a:pt x="238869" y="208545"/>
                  <a:pt x="235521" y="214173"/>
                </a:cubicBezTo>
                <a:cubicBezTo>
                  <a:pt x="232172" y="219801"/>
                  <a:pt x="226079" y="223242"/>
                  <a:pt x="219521" y="223242"/>
                </a:cubicBezTo>
                <a:lnTo>
                  <a:pt x="18604" y="223242"/>
                </a:lnTo>
                <a:cubicBezTo>
                  <a:pt x="12046" y="223242"/>
                  <a:pt x="6000" y="219801"/>
                  <a:pt x="2604" y="214173"/>
                </a:cubicBezTo>
                <a:cubicBezTo>
                  <a:pt x="-791" y="208545"/>
                  <a:pt x="-884" y="201569"/>
                  <a:pt x="2232" y="195802"/>
                </a:cubicBezTo>
                <a:lnTo>
                  <a:pt x="102691" y="9767"/>
                </a:lnTo>
                <a:cubicBezTo>
                  <a:pt x="105947" y="3767"/>
                  <a:pt x="112226" y="0"/>
                  <a:pt x="119062" y="0"/>
                </a:cubicBezTo>
                <a:close/>
                <a:moveTo>
                  <a:pt x="119062" y="78135"/>
                </a:moveTo>
                <a:cubicBezTo>
                  <a:pt x="112877" y="78135"/>
                  <a:pt x="107900" y="83111"/>
                  <a:pt x="107900" y="89297"/>
                </a:cubicBezTo>
                <a:lnTo>
                  <a:pt x="107900" y="141387"/>
                </a:lnTo>
                <a:cubicBezTo>
                  <a:pt x="107900" y="147572"/>
                  <a:pt x="112877" y="152549"/>
                  <a:pt x="119062" y="152549"/>
                </a:cubicBezTo>
                <a:cubicBezTo>
                  <a:pt x="125248" y="152549"/>
                  <a:pt x="130225" y="147572"/>
                  <a:pt x="130225" y="141387"/>
                </a:cubicBezTo>
                <a:lnTo>
                  <a:pt x="130225" y="89297"/>
                </a:lnTo>
                <a:cubicBezTo>
                  <a:pt x="130225" y="83111"/>
                  <a:pt x="125248" y="78135"/>
                  <a:pt x="119062" y="78135"/>
                </a:cubicBezTo>
                <a:close/>
                <a:moveTo>
                  <a:pt x="131480" y="178594"/>
                </a:moveTo>
                <a:cubicBezTo>
                  <a:pt x="131763" y="173984"/>
                  <a:pt x="129464" y="169599"/>
                  <a:pt x="125513" y="167209"/>
                </a:cubicBezTo>
                <a:cubicBezTo>
                  <a:pt x="121561" y="164819"/>
                  <a:pt x="116610" y="164819"/>
                  <a:pt x="112659" y="167209"/>
                </a:cubicBezTo>
                <a:cubicBezTo>
                  <a:pt x="108707" y="169599"/>
                  <a:pt x="106409" y="173984"/>
                  <a:pt x="106691" y="178594"/>
                </a:cubicBezTo>
                <a:cubicBezTo>
                  <a:pt x="106409" y="183203"/>
                  <a:pt x="108707" y="187589"/>
                  <a:pt x="112659" y="189979"/>
                </a:cubicBezTo>
                <a:cubicBezTo>
                  <a:pt x="116610" y="192369"/>
                  <a:pt x="121561" y="192369"/>
                  <a:pt x="125513" y="189979"/>
                </a:cubicBezTo>
                <a:cubicBezTo>
                  <a:pt x="129464" y="187589"/>
                  <a:pt x="131763" y="183203"/>
                  <a:pt x="131480" y="178594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985000" y="2432844"/>
            <a:ext cx="2428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HECM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85000" y="2718594"/>
            <a:ext cx="238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Excessive Chargeback Merchant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0000" y="3067844"/>
            <a:ext cx="5365750" cy="642938"/>
          </a:xfrm>
          <a:custGeom>
            <a:avLst/>
            <a:gdLst/>
            <a:ahLst/>
            <a:cxnLst/>
            <a:rect l="l" t="t" r="r" b="b"/>
            <a:pathLst>
              <a:path w="5365750" h="642938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579435"/>
                </a:lnTo>
                <a:cubicBezTo>
                  <a:pt x="5365750" y="614506"/>
                  <a:pt x="5337319" y="642938"/>
                  <a:pt x="5302247" y="642938"/>
                </a:cubicBezTo>
                <a:lnTo>
                  <a:pt x="63503" y="642938"/>
                </a:lnTo>
                <a:cubicBezTo>
                  <a:pt x="28431" y="642938"/>
                  <a:pt x="0" y="614506"/>
                  <a:pt x="0" y="57943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477000" y="3579813"/>
            <a:ext cx="5111750" cy="7938"/>
          </a:xfrm>
          <a:custGeom>
            <a:avLst/>
            <a:gdLst/>
            <a:ahLst/>
            <a:cxnLst/>
            <a:rect l="l" t="t" r="r" b="b"/>
            <a:pathLst>
              <a:path w="5111750" h="7938">
                <a:moveTo>
                  <a:pt x="0" y="0"/>
                </a:moveTo>
                <a:lnTo>
                  <a:pt x="5111750" y="0"/>
                </a:lnTo>
                <a:lnTo>
                  <a:pt x="5111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477000" y="3290094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mensal de chargebacks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88315" y="3258344"/>
            <a:ext cx="595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300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0000" y="3806031"/>
            <a:ext cx="5365750" cy="642938"/>
          </a:xfrm>
          <a:custGeom>
            <a:avLst/>
            <a:gdLst/>
            <a:ahLst/>
            <a:cxnLst/>
            <a:rect l="l" t="t" r="r" b="b"/>
            <a:pathLst>
              <a:path w="5365750" h="642938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579435"/>
                </a:lnTo>
                <a:cubicBezTo>
                  <a:pt x="5365750" y="614506"/>
                  <a:pt x="5337319" y="642938"/>
                  <a:pt x="5302247" y="642938"/>
                </a:cubicBezTo>
                <a:lnTo>
                  <a:pt x="63503" y="642938"/>
                </a:lnTo>
                <a:cubicBezTo>
                  <a:pt x="28431" y="642938"/>
                  <a:pt x="0" y="614506"/>
                  <a:pt x="0" y="579435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477000" y="4318000"/>
            <a:ext cx="5111750" cy="7938"/>
          </a:xfrm>
          <a:custGeom>
            <a:avLst/>
            <a:gdLst/>
            <a:ahLst/>
            <a:cxnLst/>
            <a:rect l="l" t="t" r="r" b="b"/>
            <a:pathLst>
              <a:path w="5111750" h="7938">
                <a:moveTo>
                  <a:pt x="0" y="0"/>
                </a:moveTo>
                <a:lnTo>
                  <a:pt x="5111750" y="0"/>
                </a:lnTo>
                <a:lnTo>
                  <a:pt x="511175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77000" y="4028281"/>
            <a:ext cx="116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de base points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88315" y="3996531"/>
            <a:ext cx="595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300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1469" y="4738688"/>
            <a:ext cx="11549063" cy="1944688"/>
          </a:xfrm>
          <a:custGeom>
            <a:avLst/>
            <a:gdLst/>
            <a:ahLst/>
            <a:cxnLst/>
            <a:rect l="l" t="t" r="r" b="b"/>
            <a:pathLst>
              <a:path w="11549063" h="1944688">
                <a:moveTo>
                  <a:pt x="63494" y="0"/>
                </a:moveTo>
                <a:lnTo>
                  <a:pt x="11485568" y="0"/>
                </a:lnTo>
                <a:cubicBezTo>
                  <a:pt x="11520635" y="0"/>
                  <a:pt x="11549063" y="28427"/>
                  <a:pt x="11549063" y="63494"/>
                </a:cubicBezTo>
                <a:lnTo>
                  <a:pt x="11549063" y="1881193"/>
                </a:lnTo>
                <a:cubicBezTo>
                  <a:pt x="11549063" y="1916260"/>
                  <a:pt x="11520635" y="1944688"/>
                  <a:pt x="11485568" y="1944687"/>
                </a:cubicBezTo>
                <a:lnTo>
                  <a:pt x="63494" y="1944688"/>
                </a:lnTo>
                <a:cubicBezTo>
                  <a:pt x="28427" y="1944687"/>
                  <a:pt x="0" y="1916260"/>
                  <a:pt x="0" y="1881193"/>
                </a:cubicBezTo>
                <a:lnTo>
                  <a:pt x="0" y="63494"/>
                </a:lnTo>
                <a:cubicBezTo>
                  <a:pt x="0" y="28427"/>
                  <a:pt x="28427" y="0"/>
                  <a:pt x="6349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492125" y="490140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50875" y="4869656"/>
            <a:ext cx="1116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Points e Monitoramento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2438" y="5187156"/>
            <a:ext cx="5580063" cy="873125"/>
          </a:xfrm>
          <a:custGeom>
            <a:avLst/>
            <a:gdLst/>
            <a:ahLst/>
            <a:cxnLst/>
            <a:rect l="l" t="t" r="r" b="b"/>
            <a:pathLst>
              <a:path w="5580063" h="873125">
                <a:moveTo>
                  <a:pt x="63502" y="0"/>
                </a:moveTo>
                <a:lnTo>
                  <a:pt x="5516560" y="0"/>
                </a:lnTo>
                <a:cubicBezTo>
                  <a:pt x="5551632" y="0"/>
                  <a:pt x="5580062" y="28431"/>
                  <a:pt x="5580062" y="63502"/>
                </a:cubicBezTo>
                <a:lnTo>
                  <a:pt x="5580063" y="809623"/>
                </a:lnTo>
                <a:cubicBezTo>
                  <a:pt x="5580062" y="844694"/>
                  <a:pt x="5551632" y="873125"/>
                  <a:pt x="5516560" y="873125"/>
                </a:cubicBezTo>
                <a:lnTo>
                  <a:pt x="63502" y="873125"/>
                </a:lnTo>
                <a:cubicBezTo>
                  <a:pt x="28431" y="873125"/>
                  <a:pt x="0" y="844694"/>
                  <a:pt x="0" y="80962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547688" y="5282406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Cálculo dos Base Points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1656" y="5572125"/>
            <a:ext cx="5381625" cy="388938"/>
          </a:xfrm>
          <a:custGeom>
            <a:avLst/>
            <a:gdLst/>
            <a:ahLst/>
            <a:cxnLst/>
            <a:rect l="l" t="t" r="r" b="b"/>
            <a:pathLst>
              <a:path w="5381625" h="388938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325436"/>
                </a:lnTo>
                <a:cubicBezTo>
                  <a:pt x="5381625" y="360507"/>
                  <a:pt x="5353194" y="388938"/>
                  <a:pt x="5318123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19125" y="5671344"/>
            <a:ext cx="524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(Chargebacks ÷ Transações) × 10.000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59500" y="5187156"/>
            <a:ext cx="5580063" cy="873125"/>
          </a:xfrm>
          <a:custGeom>
            <a:avLst/>
            <a:gdLst/>
            <a:ahLst/>
            <a:cxnLst/>
            <a:rect l="l" t="t" r="r" b="b"/>
            <a:pathLst>
              <a:path w="5580063" h="873125">
                <a:moveTo>
                  <a:pt x="63502" y="0"/>
                </a:moveTo>
                <a:lnTo>
                  <a:pt x="5516560" y="0"/>
                </a:lnTo>
                <a:cubicBezTo>
                  <a:pt x="5551632" y="0"/>
                  <a:pt x="5580062" y="28431"/>
                  <a:pt x="5580062" y="63502"/>
                </a:cubicBezTo>
                <a:lnTo>
                  <a:pt x="5580063" y="809623"/>
                </a:lnTo>
                <a:cubicBezTo>
                  <a:pt x="5580062" y="844694"/>
                  <a:pt x="5551632" y="873125"/>
                  <a:pt x="5516560" y="873125"/>
                </a:cubicBezTo>
                <a:lnTo>
                  <a:pt x="63502" y="873125"/>
                </a:lnTo>
                <a:cubicBezTo>
                  <a:pt x="28431" y="873125"/>
                  <a:pt x="0" y="844694"/>
                  <a:pt x="0" y="80962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254750" y="5282406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54750" y="5568156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chargeback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ou mais transações liquidadas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MID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6406" y="6159500"/>
            <a:ext cx="11279188" cy="388938"/>
          </a:xfrm>
          <a:custGeom>
            <a:avLst/>
            <a:gdLst/>
            <a:ahLst/>
            <a:cxnLst/>
            <a:rect l="l" t="t" r="r" b="b"/>
            <a:pathLst>
              <a:path w="11279188" h="388938">
                <a:moveTo>
                  <a:pt x="63502" y="0"/>
                </a:moveTo>
                <a:lnTo>
                  <a:pt x="11215686" y="0"/>
                </a:lnTo>
                <a:cubicBezTo>
                  <a:pt x="11250757" y="0"/>
                  <a:pt x="11279188" y="28431"/>
                  <a:pt x="11279188" y="63502"/>
                </a:cubicBezTo>
                <a:lnTo>
                  <a:pt x="11279188" y="325436"/>
                </a:lnTo>
                <a:cubicBezTo>
                  <a:pt x="11279188" y="360507"/>
                  <a:pt x="11250757" y="388938"/>
                  <a:pt x="11215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571500" y="6290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754063" y="6258719"/>
            <a:ext cx="1094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Monitoramento: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Após identificação no ECM, o MID continua sendo monitorado até </a:t>
            </a: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meses consecutivos abaixo dos limites</a:t>
            </a:r>
            <a:r>
              <a:rPr lang="en-US" sz="10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Se permanecer 6 meses, Mastercard notifica para plano de ação.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512" y="361512"/>
            <a:ext cx="1154127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kern="0" spc="57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512" y="650722"/>
            <a:ext cx="11631656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ECP - Multas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88" y="1156839"/>
            <a:ext cx="11450900" cy="4455638"/>
          </a:xfrm>
          <a:custGeom>
            <a:avLst/>
            <a:gdLst/>
            <a:ahLst/>
            <a:cxnLst/>
            <a:rect l="l" t="t" r="r" b="b"/>
            <a:pathLst>
              <a:path w="11450900" h="4455638">
                <a:moveTo>
                  <a:pt x="36151" y="0"/>
                </a:moveTo>
                <a:lnTo>
                  <a:pt x="11378585" y="0"/>
                </a:lnTo>
                <a:cubicBezTo>
                  <a:pt x="11418523" y="0"/>
                  <a:pt x="11450900" y="32377"/>
                  <a:pt x="11450900" y="72315"/>
                </a:cubicBezTo>
                <a:lnTo>
                  <a:pt x="11450900" y="4383323"/>
                </a:lnTo>
                <a:cubicBezTo>
                  <a:pt x="11450900" y="4423262"/>
                  <a:pt x="11418523" y="4455638"/>
                  <a:pt x="11378585" y="4455638"/>
                </a:cubicBezTo>
                <a:lnTo>
                  <a:pt x="36151" y="4455638"/>
                </a:lnTo>
                <a:cubicBezTo>
                  <a:pt x="16185" y="4455638"/>
                  <a:pt x="0" y="4439453"/>
                  <a:pt x="0" y="4419487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79588" y="1156839"/>
            <a:ext cx="36151" cy="4455638"/>
          </a:xfrm>
          <a:custGeom>
            <a:avLst/>
            <a:gdLst/>
            <a:ahLst/>
            <a:cxnLst/>
            <a:rect l="l" t="t" r="r" b="b"/>
            <a:pathLst>
              <a:path w="36151" h="4455638">
                <a:moveTo>
                  <a:pt x="36151" y="0"/>
                </a:moveTo>
                <a:lnTo>
                  <a:pt x="36151" y="0"/>
                </a:lnTo>
                <a:lnTo>
                  <a:pt x="36151" y="4455638"/>
                </a:lnTo>
                <a:lnTo>
                  <a:pt x="36151" y="4455638"/>
                </a:lnTo>
                <a:cubicBezTo>
                  <a:pt x="16185" y="4455638"/>
                  <a:pt x="0" y="4439453"/>
                  <a:pt x="0" y="4419487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6203" y="1373746"/>
            <a:ext cx="135567" cy="216907"/>
          </a:xfrm>
          <a:custGeom>
            <a:avLst/>
            <a:gdLst/>
            <a:ahLst/>
            <a:cxnLst/>
            <a:rect l="l" t="t" r="r" b="b"/>
            <a:pathLst>
              <a:path w="135567" h="216907">
                <a:moveTo>
                  <a:pt x="57616" y="10168"/>
                </a:moveTo>
                <a:cubicBezTo>
                  <a:pt x="57616" y="4533"/>
                  <a:pt x="62149" y="0"/>
                  <a:pt x="67784" y="0"/>
                </a:cubicBezTo>
                <a:cubicBezTo>
                  <a:pt x="73418" y="0"/>
                  <a:pt x="77951" y="4533"/>
                  <a:pt x="77951" y="10168"/>
                </a:cubicBezTo>
                <a:lnTo>
                  <a:pt x="77951" y="27113"/>
                </a:lnTo>
                <a:lnTo>
                  <a:pt x="101675" y="27113"/>
                </a:lnTo>
                <a:cubicBezTo>
                  <a:pt x="109174" y="27113"/>
                  <a:pt x="115232" y="33172"/>
                  <a:pt x="115232" y="40670"/>
                </a:cubicBezTo>
                <a:cubicBezTo>
                  <a:pt x="115232" y="48169"/>
                  <a:pt x="109174" y="54227"/>
                  <a:pt x="101675" y="54227"/>
                </a:cubicBezTo>
                <a:lnTo>
                  <a:pt x="52998" y="54227"/>
                </a:lnTo>
                <a:cubicBezTo>
                  <a:pt x="42449" y="54227"/>
                  <a:pt x="33892" y="62785"/>
                  <a:pt x="33892" y="73333"/>
                </a:cubicBezTo>
                <a:cubicBezTo>
                  <a:pt x="33892" y="82865"/>
                  <a:pt x="40882" y="90915"/>
                  <a:pt x="50287" y="92270"/>
                </a:cubicBezTo>
                <a:lnTo>
                  <a:pt x="89093" y="97820"/>
                </a:lnTo>
                <a:cubicBezTo>
                  <a:pt x="111885" y="101082"/>
                  <a:pt x="128789" y="120570"/>
                  <a:pt x="128789" y="143574"/>
                </a:cubicBezTo>
                <a:cubicBezTo>
                  <a:pt x="128789" y="169120"/>
                  <a:pt x="108072" y="189794"/>
                  <a:pt x="82569" y="189794"/>
                </a:cubicBezTo>
                <a:lnTo>
                  <a:pt x="77951" y="189794"/>
                </a:lnTo>
                <a:lnTo>
                  <a:pt x="77951" y="206740"/>
                </a:lnTo>
                <a:cubicBezTo>
                  <a:pt x="77951" y="212374"/>
                  <a:pt x="73418" y="216907"/>
                  <a:pt x="67784" y="216907"/>
                </a:cubicBezTo>
                <a:cubicBezTo>
                  <a:pt x="62149" y="216907"/>
                  <a:pt x="57616" y="212374"/>
                  <a:pt x="57616" y="206740"/>
                </a:cubicBezTo>
                <a:lnTo>
                  <a:pt x="57616" y="189794"/>
                </a:lnTo>
                <a:lnTo>
                  <a:pt x="27113" y="189794"/>
                </a:lnTo>
                <a:cubicBezTo>
                  <a:pt x="19615" y="189794"/>
                  <a:pt x="13557" y="183736"/>
                  <a:pt x="13557" y="176237"/>
                </a:cubicBezTo>
                <a:cubicBezTo>
                  <a:pt x="13557" y="168739"/>
                  <a:pt x="19615" y="162681"/>
                  <a:pt x="27113" y="162681"/>
                </a:cubicBezTo>
                <a:lnTo>
                  <a:pt x="82569" y="162681"/>
                </a:lnTo>
                <a:cubicBezTo>
                  <a:pt x="93118" y="162681"/>
                  <a:pt x="101675" y="154123"/>
                  <a:pt x="101675" y="143574"/>
                </a:cubicBezTo>
                <a:cubicBezTo>
                  <a:pt x="101675" y="134042"/>
                  <a:pt x="94685" y="125993"/>
                  <a:pt x="85280" y="124637"/>
                </a:cubicBezTo>
                <a:lnTo>
                  <a:pt x="46474" y="119087"/>
                </a:lnTo>
                <a:cubicBezTo>
                  <a:pt x="23682" y="115867"/>
                  <a:pt x="6778" y="96337"/>
                  <a:pt x="6778" y="73333"/>
                </a:cubicBezTo>
                <a:cubicBezTo>
                  <a:pt x="6778" y="47830"/>
                  <a:pt x="27495" y="27113"/>
                  <a:pt x="52998" y="27113"/>
                </a:cubicBezTo>
                <a:lnTo>
                  <a:pt x="57616" y="27113"/>
                </a:lnTo>
                <a:lnTo>
                  <a:pt x="57616" y="10168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9554" y="1337595"/>
            <a:ext cx="1090863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Estrutura de Multas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8420" y="1771410"/>
            <a:ext cx="1115265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multas do ECP variam conforme o </a:t>
            </a:r>
            <a:r>
              <a:rPr lang="en-US" sz="128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nível de identificação</a:t>
            </a:r>
            <a:r>
              <a:rPr lang="en-US" sz="128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(ECM ou HECM) e o </a:t>
            </a:r>
            <a:r>
              <a:rPr lang="en-US" sz="128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 de permanência</a:t>
            </a:r>
            <a:r>
              <a:rPr lang="en-US" sz="128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programa: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8420" y="2169073"/>
            <a:ext cx="5467872" cy="3262648"/>
          </a:xfrm>
          <a:custGeom>
            <a:avLst/>
            <a:gdLst/>
            <a:ahLst/>
            <a:cxnLst/>
            <a:rect l="l" t="t" r="r" b="b"/>
            <a:pathLst>
              <a:path w="5467872" h="3262648">
                <a:moveTo>
                  <a:pt x="72300" y="0"/>
                </a:moveTo>
                <a:lnTo>
                  <a:pt x="5395572" y="0"/>
                </a:lnTo>
                <a:cubicBezTo>
                  <a:pt x="5435503" y="0"/>
                  <a:pt x="5467872" y="32370"/>
                  <a:pt x="5467872" y="72300"/>
                </a:cubicBezTo>
                <a:lnTo>
                  <a:pt x="5467872" y="3190348"/>
                </a:lnTo>
                <a:cubicBezTo>
                  <a:pt x="5467872" y="3230278"/>
                  <a:pt x="5435503" y="3262648"/>
                  <a:pt x="5395572" y="3262648"/>
                </a:cubicBezTo>
                <a:lnTo>
                  <a:pt x="72300" y="3262648"/>
                </a:lnTo>
                <a:cubicBezTo>
                  <a:pt x="32370" y="3262648"/>
                  <a:pt x="0" y="3230278"/>
                  <a:pt x="0" y="3190348"/>
                </a:cubicBezTo>
                <a:lnTo>
                  <a:pt x="0" y="72300"/>
                </a:lnTo>
                <a:cubicBezTo>
                  <a:pt x="0" y="32370"/>
                  <a:pt x="32370" y="0"/>
                  <a:pt x="723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7835" y="2313678"/>
            <a:ext cx="5269041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ECM - Excessive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3024" y="3041222"/>
            <a:ext cx="5178663" cy="9038"/>
          </a:xfrm>
          <a:custGeom>
            <a:avLst/>
            <a:gdLst/>
            <a:ahLst/>
            <a:cxnLst/>
            <a:rect l="l" t="t" r="r" b="b"/>
            <a:pathLst>
              <a:path w="5178663" h="9038">
                <a:moveTo>
                  <a:pt x="0" y="0"/>
                </a:moveTo>
                <a:lnTo>
                  <a:pt x="5178663" y="0"/>
                </a:lnTo>
                <a:lnTo>
                  <a:pt x="5178663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23024" y="2747493"/>
            <a:ext cx="41573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20745" y="2747493"/>
            <a:ext cx="75013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1.000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3024" y="3484074"/>
            <a:ext cx="5178663" cy="9038"/>
          </a:xfrm>
          <a:custGeom>
            <a:avLst/>
            <a:gdLst/>
            <a:ahLst/>
            <a:cxnLst/>
            <a:rect l="l" t="t" r="r" b="b"/>
            <a:pathLst>
              <a:path w="5178663" h="9038">
                <a:moveTo>
                  <a:pt x="0" y="0"/>
                </a:moveTo>
                <a:lnTo>
                  <a:pt x="5178663" y="0"/>
                </a:lnTo>
                <a:lnTo>
                  <a:pt x="5178663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23024" y="3190345"/>
            <a:ext cx="44285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92926" y="3190345"/>
            <a:ext cx="77725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2.000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3024" y="3926927"/>
            <a:ext cx="5178663" cy="9038"/>
          </a:xfrm>
          <a:custGeom>
            <a:avLst/>
            <a:gdLst/>
            <a:ahLst/>
            <a:cxnLst/>
            <a:rect l="l" t="t" r="r" b="b"/>
            <a:pathLst>
              <a:path w="5178663" h="9038">
                <a:moveTo>
                  <a:pt x="0" y="0"/>
                </a:moveTo>
                <a:lnTo>
                  <a:pt x="5178663" y="0"/>
                </a:lnTo>
                <a:lnTo>
                  <a:pt x="5178663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23024" y="3633198"/>
            <a:ext cx="44285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3067" y="3633198"/>
            <a:ext cx="77725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4.000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3024" y="4369779"/>
            <a:ext cx="5178663" cy="9038"/>
          </a:xfrm>
          <a:custGeom>
            <a:avLst/>
            <a:gdLst/>
            <a:ahLst/>
            <a:cxnLst/>
            <a:rect l="l" t="t" r="r" b="b"/>
            <a:pathLst>
              <a:path w="5178663" h="9038">
                <a:moveTo>
                  <a:pt x="0" y="0"/>
                </a:moveTo>
                <a:lnTo>
                  <a:pt x="5178663" y="0"/>
                </a:lnTo>
                <a:lnTo>
                  <a:pt x="5178663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23024" y="4076050"/>
            <a:ext cx="44285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86853" y="4076050"/>
            <a:ext cx="78628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6.000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3024" y="4812632"/>
            <a:ext cx="5178663" cy="9038"/>
          </a:xfrm>
          <a:custGeom>
            <a:avLst/>
            <a:gdLst/>
            <a:ahLst/>
            <a:cxnLst/>
            <a:rect l="l" t="t" r="r" b="b"/>
            <a:pathLst>
              <a:path w="5178663" h="9038">
                <a:moveTo>
                  <a:pt x="0" y="0"/>
                </a:moveTo>
                <a:lnTo>
                  <a:pt x="5178663" y="0"/>
                </a:lnTo>
                <a:lnTo>
                  <a:pt x="5178663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23024" y="4518903"/>
            <a:ext cx="44285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85865" y="4518903"/>
            <a:ext cx="78628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8.000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024" y="4961755"/>
            <a:ext cx="52419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6+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6837" y="4961755"/>
            <a:ext cx="840516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10.000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828" y="2178111"/>
            <a:ext cx="5449797" cy="3244572"/>
          </a:xfrm>
          <a:custGeom>
            <a:avLst/>
            <a:gdLst/>
            <a:ahLst/>
            <a:cxnLst/>
            <a:rect l="l" t="t" r="r" b="b"/>
            <a:pathLst>
              <a:path w="5449797" h="3244572">
                <a:moveTo>
                  <a:pt x="72289" y="0"/>
                </a:moveTo>
                <a:lnTo>
                  <a:pt x="5377508" y="0"/>
                </a:lnTo>
                <a:cubicBezTo>
                  <a:pt x="5417432" y="0"/>
                  <a:pt x="5449797" y="32365"/>
                  <a:pt x="5449797" y="72289"/>
                </a:cubicBezTo>
                <a:lnTo>
                  <a:pt x="5449797" y="3172283"/>
                </a:lnTo>
                <a:cubicBezTo>
                  <a:pt x="5449797" y="3212207"/>
                  <a:pt x="5417432" y="3244572"/>
                  <a:pt x="5377508" y="3244572"/>
                </a:cubicBezTo>
                <a:lnTo>
                  <a:pt x="72289" y="3244572"/>
                </a:lnTo>
                <a:cubicBezTo>
                  <a:pt x="32365" y="3244572"/>
                  <a:pt x="0" y="3212207"/>
                  <a:pt x="0" y="3172283"/>
                </a:cubicBezTo>
                <a:lnTo>
                  <a:pt x="0" y="72289"/>
                </a:lnTo>
                <a:cubicBezTo>
                  <a:pt x="0" y="32392"/>
                  <a:pt x="32392" y="0"/>
                  <a:pt x="7228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25400">
            <a:solidFill>
              <a:srgbClr val="FB2C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305282" y="2331754"/>
            <a:ext cx="523289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HECM - High Excessive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0471" y="3059297"/>
            <a:ext cx="5142511" cy="9038"/>
          </a:xfrm>
          <a:custGeom>
            <a:avLst/>
            <a:gdLst/>
            <a:ahLst/>
            <a:cxnLst/>
            <a:rect l="l" t="t" r="r" b="b"/>
            <a:pathLst>
              <a:path w="5142511" h="9038">
                <a:moveTo>
                  <a:pt x="0" y="0"/>
                </a:moveTo>
                <a:lnTo>
                  <a:pt x="5142511" y="0"/>
                </a:lnTo>
                <a:lnTo>
                  <a:pt x="5142511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350471" y="2765569"/>
            <a:ext cx="41573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84362" y="2765569"/>
            <a:ext cx="77725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2.000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0471" y="3502150"/>
            <a:ext cx="5142511" cy="9038"/>
          </a:xfrm>
          <a:custGeom>
            <a:avLst/>
            <a:gdLst/>
            <a:ahLst/>
            <a:cxnLst/>
            <a:rect l="l" t="t" r="r" b="b"/>
            <a:pathLst>
              <a:path w="5142511" h="9038">
                <a:moveTo>
                  <a:pt x="0" y="0"/>
                </a:moveTo>
                <a:lnTo>
                  <a:pt x="5142511" y="0"/>
                </a:lnTo>
                <a:lnTo>
                  <a:pt x="5142511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350471" y="3208421"/>
            <a:ext cx="44285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84503" y="3208421"/>
            <a:ext cx="77725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4.000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0471" y="3945002"/>
            <a:ext cx="5142511" cy="9038"/>
          </a:xfrm>
          <a:custGeom>
            <a:avLst/>
            <a:gdLst/>
            <a:ahLst/>
            <a:cxnLst/>
            <a:rect l="l" t="t" r="r" b="b"/>
            <a:pathLst>
              <a:path w="5142511" h="9038">
                <a:moveTo>
                  <a:pt x="0" y="0"/>
                </a:moveTo>
                <a:lnTo>
                  <a:pt x="5142511" y="0"/>
                </a:lnTo>
                <a:lnTo>
                  <a:pt x="5142511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350471" y="3651274"/>
            <a:ext cx="44285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77301" y="3651274"/>
            <a:ext cx="78628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8.000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0471" y="4387855"/>
            <a:ext cx="5142511" cy="9038"/>
          </a:xfrm>
          <a:custGeom>
            <a:avLst/>
            <a:gdLst/>
            <a:ahLst/>
            <a:cxnLst/>
            <a:rect l="l" t="t" r="r" b="b"/>
            <a:pathLst>
              <a:path w="5142511" h="9038">
                <a:moveTo>
                  <a:pt x="0" y="0"/>
                </a:moveTo>
                <a:lnTo>
                  <a:pt x="5142511" y="0"/>
                </a:lnTo>
                <a:lnTo>
                  <a:pt x="5142511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350471" y="4094126"/>
            <a:ext cx="44285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38608" y="4094126"/>
            <a:ext cx="82244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12.000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0471" y="4830707"/>
            <a:ext cx="5142511" cy="9038"/>
          </a:xfrm>
          <a:custGeom>
            <a:avLst/>
            <a:gdLst/>
            <a:ahLst/>
            <a:cxnLst/>
            <a:rect l="l" t="t" r="r" b="b"/>
            <a:pathLst>
              <a:path w="5142511" h="9038">
                <a:moveTo>
                  <a:pt x="0" y="0"/>
                </a:moveTo>
                <a:lnTo>
                  <a:pt x="5142511" y="0"/>
                </a:lnTo>
                <a:lnTo>
                  <a:pt x="5142511" y="9038"/>
                </a:lnTo>
                <a:lnTo>
                  <a:pt x="0" y="903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350471" y="4536979"/>
            <a:ext cx="44285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732536" y="4536979"/>
            <a:ext cx="83147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16.000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0471" y="4979831"/>
            <a:ext cx="524193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6+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690595" y="4979831"/>
            <a:ext cx="86762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20.000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66031" y="5761601"/>
            <a:ext cx="5657666" cy="1093574"/>
          </a:xfrm>
          <a:custGeom>
            <a:avLst/>
            <a:gdLst/>
            <a:ahLst/>
            <a:cxnLst/>
            <a:rect l="l" t="t" r="r" b="b"/>
            <a:pathLst>
              <a:path w="5657666" h="1093574">
                <a:moveTo>
                  <a:pt x="72307" y="0"/>
                </a:moveTo>
                <a:lnTo>
                  <a:pt x="5585359" y="0"/>
                </a:lnTo>
                <a:cubicBezTo>
                  <a:pt x="5625293" y="0"/>
                  <a:pt x="5657666" y="32373"/>
                  <a:pt x="5657666" y="72307"/>
                </a:cubicBezTo>
                <a:lnTo>
                  <a:pt x="5657666" y="1021267"/>
                </a:lnTo>
                <a:cubicBezTo>
                  <a:pt x="5657666" y="1061201"/>
                  <a:pt x="5625293" y="1093574"/>
                  <a:pt x="5585359" y="1093574"/>
                </a:cubicBezTo>
                <a:lnTo>
                  <a:pt x="72307" y="1093574"/>
                </a:lnTo>
                <a:cubicBezTo>
                  <a:pt x="32373" y="1093574"/>
                  <a:pt x="0" y="1061201"/>
                  <a:pt x="0" y="1021267"/>
                </a:cubicBezTo>
                <a:lnTo>
                  <a:pt x="0" y="72307"/>
                </a:lnTo>
                <a:cubicBezTo>
                  <a:pt x="0" y="32373"/>
                  <a:pt x="32373" y="0"/>
                  <a:pt x="7230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549047" y="5946876"/>
            <a:ext cx="158162" cy="180756"/>
          </a:xfrm>
          <a:custGeom>
            <a:avLst/>
            <a:gdLst/>
            <a:ahLst/>
            <a:cxnLst/>
            <a:rect l="l" t="t" r="r" b="b"/>
            <a:pathLst>
              <a:path w="158162" h="180756">
                <a:moveTo>
                  <a:pt x="79081" y="87554"/>
                </a:moveTo>
                <a:cubicBezTo>
                  <a:pt x="55699" y="87554"/>
                  <a:pt x="36716" y="68571"/>
                  <a:pt x="36716" y="45189"/>
                </a:cubicBezTo>
                <a:cubicBezTo>
                  <a:pt x="36716" y="21807"/>
                  <a:pt x="55699" y="2824"/>
                  <a:pt x="79081" y="2824"/>
                </a:cubicBezTo>
                <a:cubicBezTo>
                  <a:pt x="102463" y="2824"/>
                  <a:pt x="121446" y="21807"/>
                  <a:pt x="121446" y="45189"/>
                </a:cubicBezTo>
                <a:cubicBezTo>
                  <a:pt x="121446" y="68571"/>
                  <a:pt x="102463" y="87554"/>
                  <a:pt x="79081" y="87554"/>
                </a:cubicBezTo>
                <a:close/>
                <a:moveTo>
                  <a:pt x="68313" y="107324"/>
                </a:moveTo>
                <a:lnTo>
                  <a:pt x="89848" y="107324"/>
                </a:lnTo>
                <a:cubicBezTo>
                  <a:pt x="93273" y="107324"/>
                  <a:pt x="96027" y="110078"/>
                  <a:pt x="96027" y="113502"/>
                </a:cubicBezTo>
                <a:cubicBezTo>
                  <a:pt x="96027" y="114985"/>
                  <a:pt x="95497" y="116397"/>
                  <a:pt x="94544" y="117527"/>
                </a:cubicBezTo>
                <a:lnTo>
                  <a:pt x="84871" y="128824"/>
                </a:lnTo>
                <a:lnTo>
                  <a:pt x="95815" y="169459"/>
                </a:lnTo>
                <a:lnTo>
                  <a:pt x="96027" y="169459"/>
                </a:lnTo>
                <a:lnTo>
                  <a:pt x="108242" y="120563"/>
                </a:lnTo>
                <a:cubicBezTo>
                  <a:pt x="109019" y="117491"/>
                  <a:pt x="112161" y="115620"/>
                  <a:pt x="115126" y="116750"/>
                </a:cubicBezTo>
                <a:cubicBezTo>
                  <a:pt x="136979" y="125082"/>
                  <a:pt x="152513" y="146264"/>
                  <a:pt x="152513" y="171048"/>
                </a:cubicBezTo>
                <a:cubicBezTo>
                  <a:pt x="152513" y="176378"/>
                  <a:pt x="148171" y="180721"/>
                  <a:pt x="142840" y="180721"/>
                </a:cubicBezTo>
                <a:lnTo>
                  <a:pt x="15322" y="180756"/>
                </a:lnTo>
                <a:cubicBezTo>
                  <a:pt x="9991" y="180756"/>
                  <a:pt x="5649" y="176414"/>
                  <a:pt x="5649" y="171083"/>
                </a:cubicBezTo>
                <a:cubicBezTo>
                  <a:pt x="5649" y="146299"/>
                  <a:pt x="21182" y="125117"/>
                  <a:pt x="43035" y="116785"/>
                </a:cubicBezTo>
                <a:cubicBezTo>
                  <a:pt x="46001" y="115656"/>
                  <a:pt x="49143" y="117527"/>
                  <a:pt x="49920" y="120598"/>
                </a:cubicBezTo>
                <a:lnTo>
                  <a:pt x="62135" y="169494"/>
                </a:lnTo>
                <a:lnTo>
                  <a:pt x="62347" y="169494"/>
                </a:lnTo>
                <a:lnTo>
                  <a:pt x="73291" y="128859"/>
                </a:lnTo>
                <a:lnTo>
                  <a:pt x="63618" y="117562"/>
                </a:lnTo>
                <a:cubicBezTo>
                  <a:pt x="62664" y="116432"/>
                  <a:pt x="62135" y="115020"/>
                  <a:pt x="62135" y="113537"/>
                </a:cubicBezTo>
                <a:cubicBezTo>
                  <a:pt x="62135" y="110113"/>
                  <a:pt x="64889" y="107359"/>
                  <a:pt x="68313" y="10735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741100" y="5910725"/>
            <a:ext cx="522385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Responsabilidade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5155" y="6272237"/>
            <a:ext cx="5431721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13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adquirente é responsável</a:t>
            </a: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pelo pagamento das multas relacionadas aos seus estabelecimentos que excederem os limites estabelecidos.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4234" y="5761601"/>
            <a:ext cx="5657666" cy="1093574"/>
          </a:xfrm>
          <a:custGeom>
            <a:avLst/>
            <a:gdLst/>
            <a:ahLst/>
            <a:cxnLst/>
            <a:rect l="l" t="t" r="r" b="b"/>
            <a:pathLst>
              <a:path w="5657666" h="1093574">
                <a:moveTo>
                  <a:pt x="72307" y="0"/>
                </a:moveTo>
                <a:lnTo>
                  <a:pt x="5585359" y="0"/>
                </a:lnTo>
                <a:cubicBezTo>
                  <a:pt x="5625293" y="0"/>
                  <a:pt x="5657666" y="32373"/>
                  <a:pt x="5657666" y="72307"/>
                </a:cubicBezTo>
                <a:lnTo>
                  <a:pt x="5657666" y="1021267"/>
                </a:lnTo>
                <a:cubicBezTo>
                  <a:pt x="5657666" y="1061201"/>
                  <a:pt x="5625293" y="1093574"/>
                  <a:pt x="5585359" y="1093574"/>
                </a:cubicBezTo>
                <a:lnTo>
                  <a:pt x="72307" y="1093574"/>
                </a:lnTo>
                <a:cubicBezTo>
                  <a:pt x="32373" y="1093574"/>
                  <a:pt x="0" y="1061201"/>
                  <a:pt x="0" y="1021267"/>
                </a:cubicBezTo>
                <a:lnTo>
                  <a:pt x="0" y="72307"/>
                </a:lnTo>
                <a:cubicBezTo>
                  <a:pt x="0" y="32373"/>
                  <a:pt x="32373" y="0"/>
                  <a:pt x="72307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6368546" y="5946876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103405" y="135567"/>
                </a:moveTo>
                <a:cubicBezTo>
                  <a:pt x="105982" y="127694"/>
                  <a:pt x="111137" y="120563"/>
                  <a:pt x="116962" y="114420"/>
                </a:cubicBezTo>
                <a:cubicBezTo>
                  <a:pt x="128506" y="102275"/>
                  <a:pt x="135567" y="85859"/>
                  <a:pt x="135567" y="67784"/>
                </a:cubicBezTo>
                <a:cubicBezTo>
                  <a:pt x="135567" y="30361"/>
                  <a:pt x="105206" y="0"/>
                  <a:pt x="67784" y="0"/>
                </a:cubicBezTo>
                <a:cubicBezTo>
                  <a:pt x="30361" y="0"/>
                  <a:pt x="0" y="30361"/>
                  <a:pt x="0" y="67784"/>
                </a:cubicBezTo>
                <a:cubicBezTo>
                  <a:pt x="0" y="85859"/>
                  <a:pt x="7061" y="102275"/>
                  <a:pt x="18605" y="114420"/>
                </a:cubicBezTo>
                <a:cubicBezTo>
                  <a:pt x="24430" y="120563"/>
                  <a:pt x="29620" y="127694"/>
                  <a:pt x="32162" y="135567"/>
                </a:cubicBezTo>
                <a:lnTo>
                  <a:pt x="103370" y="135567"/>
                </a:lnTo>
                <a:close/>
                <a:moveTo>
                  <a:pt x="101675" y="152513"/>
                </a:moveTo>
                <a:lnTo>
                  <a:pt x="33892" y="152513"/>
                </a:lnTo>
                <a:lnTo>
                  <a:pt x="33892" y="158162"/>
                </a:lnTo>
                <a:cubicBezTo>
                  <a:pt x="33892" y="173766"/>
                  <a:pt x="46531" y="186405"/>
                  <a:pt x="62135" y="186405"/>
                </a:cubicBezTo>
                <a:lnTo>
                  <a:pt x="73432" y="186405"/>
                </a:lnTo>
                <a:cubicBezTo>
                  <a:pt x="89037" y="186405"/>
                  <a:pt x="101675" y="173766"/>
                  <a:pt x="101675" y="158162"/>
                </a:cubicBezTo>
                <a:lnTo>
                  <a:pt x="101675" y="152513"/>
                </a:lnTo>
                <a:close/>
                <a:moveTo>
                  <a:pt x="64959" y="39540"/>
                </a:moveTo>
                <a:cubicBezTo>
                  <a:pt x="50908" y="39540"/>
                  <a:pt x="39540" y="50908"/>
                  <a:pt x="39540" y="64959"/>
                </a:cubicBezTo>
                <a:cubicBezTo>
                  <a:pt x="39540" y="69655"/>
                  <a:pt x="35763" y="73432"/>
                  <a:pt x="31067" y="73432"/>
                </a:cubicBezTo>
                <a:cubicBezTo>
                  <a:pt x="26372" y="73432"/>
                  <a:pt x="22595" y="69655"/>
                  <a:pt x="22595" y="64959"/>
                </a:cubicBezTo>
                <a:cubicBezTo>
                  <a:pt x="22595" y="41553"/>
                  <a:pt x="41553" y="22595"/>
                  <a:pt x="64959" y="22595"/>
                </a:cubicBezTo>
                <a:cubicBezTo>
                  <a:pt x="69655" y="22595"/>
                  <a:pt x="73432" y="26372"/>
                  <a:pt x="73432" y="31067"/>
                </a:cubicBezTo>
                <a:cubicBezTo>
                  <a:pt x="73432" y="35763"/>
                  <a:pt x="69655" y="39540"/>
                  <a:pt x="64959" y="3954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6549302" y="5910725"/>
            <a:ext cx="522385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Prevenção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23357" y="6272237"/>
            <a:ext cx="5431721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adquirente deve </a:t>
            </a:r>
            <a:r>
              <a:rPr lang="en-US" sz="113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monitorar proativamente</a:t>
            </a:r>
            <a:r>
              <a:rPr lang="en-US" sz="113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seus estabelecimentos para evitar a identificação no programa e as penalidades associadas.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inancialcrimeacademy.org/5545de51c8d56d06f5a80d62cdb38e72c7566415.jp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381000" y="1138238"/>
            <a:ext cx="2072729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8B2AC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728913"/>
            <a:ext cx="6381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Programas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Monitoria de Fraude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748213"/>
            <a:ext cx="61531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PEF (Elo) e EFM (Mastercard)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576888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406" y="380406"/>
            <a:ext cx="1150727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ELO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406" y="684730"/>
            <a:ext cx="11602371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PEF - Programa Excesso de Fraude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426" y="1217298"/>
            <a:ext cx="11412168" cy="1359950"/>
          </a:xfrm>
          <a:custGeom>
            <a:avLst/>
            <a:gdLst/>
            <a:ahLst/>
            <a:cxnLst/>
            <a:rect l="l" t="t" r="r" b="b"/>
            <a:pathLst>
              <a:path w="11412168" h="1359950">
                <a:moveTo>
                  <a:pt x="38041" y="0"/>
                </a:moveTo>
                <a:lnTo>
                  <a:pt x="11336093" y="0"/>
                </a:lnTo>
                <a:cubicBezTo>
                  <a:pt x="11378080" y="0"/>
                  <a:pt x="11412168" y="34088"/>
                  <a:pt x="11412168" y="76076"/>
                </a:cubicBezTo>
                <a:lnTo>
                  <a:pt x="11412168" y="1283874"/>
                </a:lnTo>
                <a:cubicBezTo>
                  <a:pt x="11412168" y="1325862"/>
                  <a:pt x="11378080" y="1359950"/>
                  <a:pt x="11336093" y="1359950"/>
                </a:cubicBezTo>
                <a:lnTo>
                  <a:pt x="38041" y="1359950"/>
                </a:lnTo>
                <a:cubicBezTo>
                  <a:pt x="17031" y="1359950"/>
                  <a:pt x="0" y="1342919"/>
                  <a:pt x="0" y="1321910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9426" y="1217298"/>
            <a:ext cx="38041" cy="1359950"/>
          </a:xfrm>
          <a:custGeom>
            <a:avLst/>
            <a:gdLst/>
            <a:ahLst/>
            <a:cxnLst/>
            <a:rect l="l" t="t" r="r" b="b"/>
            <a:pathLst>
              <a:path w="38041" h="1359950">
                <a:moveTo>
                  <a:pt x="38041" y="0"/>
                </a:moveTo>
                <a:lnTo>
                  <a:pt x="38041" y="0"/>
                </a:lnTo>
                <a:lnTo>
                  <a:pt x="38041" y="1359950"/>
                </a:lnTo>
                <a:lnTo>
                  <a:pt x="38041" y="1359950"/>
                </a:lnTo>
                <a:cubicBezTo>
                  <a:pt x="17031" y="1359950"/>
                  <a:pt x="0" y="1342919"/>
                  <a:pt x="0" y="1321910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1445" y="1445541"/>
            <a:ext cx="199713" cy="228243"/>
          </a:xfrm>
          <a:custGeom>
            <a:avLst/>
            <a:gdLst/>
            <a:ahLst/>
            <a:cxnLst/>
            <a:rect l="l" t="t" r="r" b="b"/>
            <a:pathLst>
              <a:path w="199713" h="228243">
                <a:moveTo>
                  <a:pt x="76230" y="-7133"/>
                </a:moveTo>
                <a:cubicBezTo>
                  <a:pt x="60003" y="-7133"/>
                  <a:pt x="50463" y="18857"/>
                  <a:pt x="45782" y="42796"/>
                </a:cubicBezTo>
                <a:lnTo>
                  <a:pt x="32097" y="42796"/>
                </a:lnTo>
                <a:cubicBezTo>
                  <a:pt x="26168" y="42796"/>
                  <a:pt x="21398" y="47566"/>
                  <a:pt x="21398" y="53495"/>
                </a:cubicBezTo>
                <a:cubicBezTo>
                  <a:pt x="21398" y="59424"/>
                  <a:pt x="26168" y="64193"/>
                  <a:pt x="32097" y="64193"/>
                </a:cubicBezTo>
                <a:lnTo>
                  <a:pt x="42796" y="64193"/>
                </a:lnTo>
                <a:lnTo>
                  <a:pt x="42796" y="78459"/>
                </a:lnTo>
                <a:cubicBezTo>
                  <a:pt x="42796" y="86037"/>
                  <a:pt x="44267" y="93259"/>
                  <a:pt x="46941" y="99856"/>
                </a:cubicBezTo>
                <a:lnTo>
                  <a:pt x="42796" y="99856"/>
                </a:lnTo>
                <a:lnTo>
                  <a:pt x="42796" y="99856"/>
                </a:lnTo>
                <a:lnTo>
                  <a:pt x="33657" y="99856"/>
                </a:lnTo>
                <a:cubicBezTo>
                  <a:pt x="26881" y="99856"/>
                  <a:pt x="21398" y="105340"/>
                  <a:pt x="21398" y="112116"/>
                </a:cubicBezTo>
                <a:cubicBezTo>
                  <a:pt x="21398" y="113453"/>
                  <a:pt x="21621" y="114746"/>
                  <a:pt x="22022" y="115994"/>
                </a:cubicBezTo>
                <a:lnTo>
                  <a:pt x="34905" y="154599"/>
                </a:lnTo>
                <a:cubicBezTo>
                  <a:pt x="17921" y="169221"/>
                  <a:pt x="7133" y="190842"/>
                  <a:pt x="7133" y="215003"/>
                </a:cubicBezTo>
                <a:cubicBezTo>
                  <a:pt x="7133" y="222314"/>
                  <a:pt x="13062" y="228243"/>
                  <a:pt x="20373" y="228243"/>
                </a:cubicBezTo>
                <a:lnTo>
                  <a:pt x="179340" y="228243"/>
                </a:lnTo>
                <a:cubicBezTo>
                  <a:pt x="186651" y="228243"/>
                  <a:pt x="192580" y="222314"/>
                  <a:pt x="192580" y="215003"/>
                </a:cubicBezTo>
                <a:cubicBezTo>
                  <a:pt x="192580" y="190842"/>
                  <a:pt x="181792" y="169221"/>
                  <a:pt x="164808" y="154644"/>
                </a:cubicBezTo>
                <a:lnTo>
                  <a:pt x="177691" y="116039"/>
                </a:lnTo>
                <a:cubicBezTo>
                  <a:pt x="178092" y="114790"/>
                  <a:pt x="178315" y="113498"/>
                  <a:pt x="178315" y="112160"/>
                </a:cubicBezTo>
                <a:cubicBezTo>
                  <a:pt x="178315" y="105384"/>
                  <a:pt x="172832" y="99901"/>
                  <a:pt x="166056" y="99901"/>
                </a:cubicBezTo>
                <a:lnTo>
                  <a:pt x="156917" y="99901"/>
                </a:lnTo>
                <a:lnTo>
                  <a:pt x="156917" y="99901"/>
                </a:lnTo>
                <a:lnTo>
                  <a:pt x="152771" y="99901"/>
                </a:lnTo>
                <a:cubicBezTo>
                  <a:pt x="155446" y="93303"/>
                  <a:pt x="156917" y="86082"/>
                  <a:pt x="156917" y="78503"/>
                </a:cubicBezTo>
                <a:lnTo>
                  <a:pt x="156917" y="64238"/>
                </a:lnTo>
                <a:lnTo>
                  <a:pt x="167616" y="64238"/>
                </a:lnTo>
                <a:cubicBezTo>
                  <a:pt x="173545" y="64238"/>
                  <a:pt x="178315" y="59468"/>
                  <a:pt x="178315" y="53539"/>
                </a:cubicBezTo>
                <a:cubicBezTo>
                  <a:pt x="178315" y="47610"/>
                  <a:pt x="173545" y="42840"/>
                  <a:pt x="167616" y="42840"/>
                </a:cubicBezTo>
                <a:lnTo>
                  <a:pt x="153931" y="42840"/>
                </a:lnTo>
                <a:cubicBezTo>
                  <a:pt x="149294" y="18901"/>
                  <a:pt x="139710" y="-7088"/>
                  <a:pt x="123483" y="-7088"/>
                </a:cubicBezTo>
                <a:cubicBezTo>
                  <a:pt x="119204" y="-7088"/>
                  <a:pt x="115013" y="-5349"/>
                  <a:pt x="111224" y="-3433"/>
                </a:cubicBezTo>
                <a:cubicBezTo>
                  <a:pt x="107569" y="-1605"/>
                  <a:pt x="103022" y="45"/>
                  <a:pt x="99856" y="45"/>
                </a:cubicBezTo>
                <a:cubicBezTo>
                  <a:pt x="96691" y="45"/>
                  <a:pt x="92144" y="-1605"/>
                  <a:pt x="88489" y="-3433"/>
                </a:cubicBezTo>
                <a:cubicBezTo>
                  <a:pt x="84700" y="-5394"/>
                  <a:pt x="80509" y="-7133"/>
                  <a:pt x="76230" y="-7133"/>
                </a:cubicBezTo>
                <a:close/>
                <a:moveTo>
                  <a:pt x="118000" y="208807"/>
                </a:moveTo>
                <a:lnTo>
                  <a:pt x="106945" y="177201"/>
                </a:lnTo>
                <a:lnTo>
                  <a:pt x="119382" y="162713"/>
                </a:lnTo>
                <a:cubicBezTo>
                  <a:pt x="120586" y="161286"/>
                  <a:pt x="121254" y="159503"/>
                  <a:pt x="121254" y="157631"/>
                </a:cubicBezTo>
                <a:cubicBezTo>
                  <a:pt x="121254" y="153306"/>
                  <a:pt x="117777" y="149829"/>
                  <a:pt x="113453" y="149829"/>
                </a:cubicBezTo>
                <a:lnTo>
                  <a:pt x="86260" y="149829"/>
                </a:lnTo>
                <a:cubicBezTo>
                  <a:pt x="81936" y="149829"/>
                  <a:pt x="78459" y="153306"/>
                  <a:pt x="78459" y="157631"/>
                </a:cubicBezTo>
                <a:cubicBezTo>
                  <a:pt x="78459" y="159503"/>
                  <a:pt x="79127" y="161286"/>
                  <a:pt x="80331" y="162713"/>
                </a:cubicBezTo>
                <a:lnTo>
                  <a:pt x="92768" y="177201"/>
                </a:lnTo>
                <a:lnTo>
                  <a:pt x="81713" y="208807"/>
                </a:lnTo>
                <a:lnTo>
                  <a:pt x="56303" y="128387"/>
                </a:lnTo>
                <a:lnTo>
                  <a:pt x="72218" y="128387"/>
                </a:lnTo>
                <a:cubicBezTo>
                  <a:pt x="80420" y="132934"/>
                  <a:pt x="89826" y="135520"/>
                  <a:pt x="99856" y="135520"/>
                </a:cubicBezTo>
                <a:cubicBezTo>
                  <a:pt x="109887" y="135520"/>
                  <a:pt x="119293" y="132934"/>
                  <a:pt x="127495" y="128387"/>
                </a:cubicBezTo>
                <a:lnTo>
                  <a:pt x="143410" y="128387"/>
                </a:lnTo>
                <a:lnTo>
                  <a:pt x="118000" y="208807"/>
                </a:lnTo>
                <a:close/>
                <a:moveTo>
                  <a:pt x="99856" y="114122"/>
                </a:moveTo>
                <a:cubicBezTo>
                  <a:pt x="84388" y="114122"/>
                  <a:pt x="71237" y="104270"/>
                  <a:pt x="66289" y="90495"/>
                </a:cubicBezTo>
                <a:cubicBezTo>
                  <a:pt x="68830" y="91921"/>
                  <a:pt x="71772" y="92724"/>
                  <a:pt x="74892" y="92724"/>
                </a:cubicBezTo>
                <a:lnTo>
                  <a:pt x="80420" y="92724"/>
                </a:lnTo>
                <a:cubicBezTo>
                  <a:pt x="87776" y="92724"/>
                  <a:pt x="94284" y="87999"/>
                  <a:pt x="96602" y="81044"/>
                </a:cubicBezTo>
                <a:cubicBezTo>
                  <a:pt x="97628" y="77924"/>
                  <a:pt x="102041" y="77924"/>
                  <a:pt x="103066" y="81044"/>
                </a:cubicBezTo>
                <a:cubicBezTo>
                  <a:pt x="105384" y="87999"/>
                  <a:pt x="111937" y="92724"/>
                  <a:pt x="119248" y="92724"/>
                </a:cubicBezTo>
                <a:lnTo>
                  <a:pt x="124776" y="92724"/>
                </a:lnTo>
                <a:cubicBezTo>
                  <a:pt x="127897" y="92724"/>
                  <a:pt x="130839" y="91921"/>
                  <a:pt x="133380" y="90495"/>
                </a:cubicBezTo>
                <a:cubicBezTo>
                  <a:pt x="128431" y="104270"/>
                  <a:pt x="115281" y="114122"/>
                  <a:pt x="99812" y="11412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3953" y="1407501"/>
            <a:ext cx="10841560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PEF?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8649" y="1825947"/>
            <a:ext cx="11098334" cy="561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34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Excesso de Fraude (PEF)</a:t>
            </a:r>
            <a:r>
              <a:rPr lang="en-US" sz="13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inclui participantes que estiverem com </a:t>
            </a:r>
            <a:r>
              <a:rPr lang="en-US" sz="134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dois indicadores acima dos parâmetros máximos</a:t>
            </a:r>
            <a:r>
              <a:rPr lang="en-US" sz="134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estipulados pela Elo. O programa visa monitorar e controlar o excesso de fraude no ecossistema de pagamentos.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9426" y="2724655"/>
            <a:ext cx="5620493" cy="3423651"/>
          </a:xfrm>
          <a:custGeom>
            <a:avLst/>
            <a:gdLst/>
            <a:ahLst/>
            <a:cxnLst/>
            <a:rect l="l" t="t" r="r" b="b"/>
            <a:pathLst>
              <a:path w="5620493" h="3423651">
                <a:moveTo>
                  <a:pt x="38041" y="0"/>
                </a:moveTo>
                <a:lnTo>
                  <a:pt x="5544419" y="0"/>
                </a:lnTo>
                <a:cubicBezTo>
                  <a:pt x="5586434" y="0"/>
                  <a:pt x="5620493" y="34059"/>
                  <a:pt x="5620493" y="76074"/>
                </a:cubicBezTo>
                <a:lnTo>
                  <a:pt x="5620493" y="3347577"/>
                </a:lnTo>
                <a:cubicBezTo>
                  <a:pt x="5620493" y="3389591"/>
                  <a:pt x="5586434" y="3423651"/>
                  <a:pt x="5544419" y="3423651"/>
                </a:cubicBezTo>
                <a:lnTo>
                  <a:pt x="38041" y="3423651"/>
                </a:lnTo>
                <a:cubicBezTo>
                  <a:pt x="17031" y="3423651"/>
                  <a:pt x="0" y="3406619"/>
                  <a:pt x="0" y="3385610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99426" y="2724655"/>
            <a:ext cx="38041" cy="3423651"/>
          </a:xfrm>
          <a:custGeom>
            <a:avLst/>
            <a:gdLst/>
            <a:ahLst/>
            <a:cxnLst/>
            <a:rect l="l" t="t" r="r" b="b"/>
            <a:pathLst>
              <a:path w="38041" h="3423651">
                <a:moveTo>
                  <a:pt x="38041" y="0"/>
                </a:moveTo>
                <a:lnTo>
                  <a:pt x="38041" y="0"/>
                </a:lnTo>
                <a:lnTo>
                  <a:pt x="38041" y="3423651"/>
                </a:lnTo>
                <a:lnTo>
                  <a:pt x="38041" y="3423651"/>
                </a:lnTo>
                <a:cubicBezTo>
                  <a:pt x="17031" y="3423651"/>
                  <a:pt x="0" y="3406619"/>
                  <a:pt x="0" y="3385610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56200" y="2952899"/>
            <a:ext cx="142652" cy="190203"/>
          </a:xfrm>
          <a:custGeom>
            <a:avLst/>
            <a:gdLst/>
            <a:ahLst/>
            <a:cxnLst/>
            <a:rect l="l" t="t" r="r" b="b"/>
            <a:pathLst>
              <a:path w="142652" h="190203">
                <a:moveTo>
                  <a:pt x="23775" y="0"/>
                </a:moveTo>
                <a:cubicBezTo>
                  <a:pt x="10662" y="0"/>
                  <a:pt x="0" y="10662"/>
                  <a:pt x="0" y="23775"/>
                </a:cubicBezTo>
                <a:lnTo>
                  <a:pt x="0" y="166427"/>
                </a:lnTo>
                <a:cubicBezTo>
                  <a:pt x="0" y="179541"/>
                  <a:pt x="10662" y="190203"/>
                  <a:pt x="23775" y="190203"/>
                </a:cubicBezTo>
                <a:lnTo>
                  <a:pt x="118877" y="190203"/>
                </a:lnTo>
                <a:cubicBezTo>
                  <a:pt x="131990" y="190203"/>
                  <a:pt x="142652" y="179541"/>
                  <a:pt x="142652" y="166427"/>
                </a:cubicBezTo>
                <a:lnTo>
                  <a:pt x="142652" y="23775"/>
                </a:lnTo>
                <a:cubicBezTo>
                  <a:pt x="142652" y="10662"/>
                  <a:pt x="131990" y="0"/>
                  <a:pt x="118877" y="0"/>
                </a:cubicBezTo>
                <a:lnTo>
                  <a:pt x="23775" y="0"/>
                </a:lnTo>
                <a:close/>
                <a:moveTo>
                  <a:pt x="35663" y="23775"/>
                </a:moveTo>
                <a:lnTo>
                  <a:pt x="106989" y="23775"/>
                </a:lnTo>
                <a:cubicBezTo>
                  <a:pt x="113564" y="23775"/>
                  <a:pt x="118877" y="29088"/>
                  <a:pt x="118877" y="35663"/>
                </a:cubicBezTo>
                <a:lnTo>
                  <a:pt x="118877" y="47551"/>
                </a:lnTo>
                <a:cubicBezTo>
                  <a:pt x="118877" y="54126"/>
                  <a:pt x="113564" y="59438"/>
                  <a:pt x="106989" y="59438"/>
                </a:cubicBezTo>
                <a:lnTo>
                  <a:pt x="35663" y="59438"/>
                </a:lnTo>
                <a:cubicBezTo>
                  <a:pt x="29088" y="59438"/>
                  <a:pt x="23775" y="54126"/>
                  <a:pt x="23775" y="47551"/>
                </a:cubicBezTo>
                <a:lnTo>
                  <a:pt x="23775" y="35663"/>
                </a:lnTo>
                <a:cubicBezTo>
                  <a:pt x="23775" y="29088"/>
                  <a:pt x="29088" y="23775"/>
                  <a:pt x="35663" y="23775"/>
                </a:cubicBezTo>
                <a:close/>
                <a:moveTo>
                  <a:pt x="41607" y="86186"/>
                </a:moveTo>
                <a:cubicBezTo>
                  <a:pt x="41607" y="91106"/>
                  <a:pt x="37612" y="95101"/>
                  <a:pt x="32691" y="95101"/>
                </a:cubicBezTo>
                <a:cubicBezTo>
                  <a:pt x="27770" y="95101"/>
                  <a:pt x="23775" y="91106"/>
                  <a:pt x="23775" y="86186"/>
                </a:cubicBezTo>
                <a:cubicBezTo>
                  <a:pt x="23775" y="81265"/>
                  <a:pt x="27770" y="77270"/>
                  <a:pt x="32691" y="77270"/>
                </a:cubicBezTo>
                <a:cubicBezTo>
                  <a:pt x="37612" y="77270"/>
                  <a:pt x="41607" y="81265"/>
                  <a:pt x="41607" y="86186"/>
                </a:cubicBezTo>
                <a:close/>
                <a:moveTo>
                  <a:pt x="71326" y="95101"/>
                </a:moveTo>
                <a:cubicBezTo>
                  <a:pt x="66405" y="95101"/>
                  <a:pt x="62410" y="91106"/>
                  <a:pt x="62410" y="86186"/>
                </a:cubicBezTo>
                <a:cubicBezTo>
                  <a:pt x="62410" y="81265"/>
                  <a:pt x="66405" y="77270"/>
                  <a:pt x="71326" y="77270"/>
                </a:cubicBezTo>
                <a:cubicBezTo>
                  <a:pt x="76247" y="77270"/>
                  <a:pt x="80242" y="81265"/>
                  <a:pt x="80242" y="86186"/>
                </a:cubicBezTo>
                <a:cubicBezTo>
                  <a:pt x="80242" y="91106"/>
                  <a:pt x="76247" y="95101"/>
                  <a:pt x="71326" y="95101"/>
                </a:cubicBezTo>
                <a:close/>
                <a:moveTo>
                  <a:pt x="118877" y="86186"/>
                </a:moveTo>
                <a:cubicBezTo>
                  <a:pt x="118877" y="91106"/>
                  <a:pt x="114882" y="95101"/>
                  <a:pt x="109961" y="95101"/>
                </a:cubicBezTo>
                <a:cubicBezTo>
                  <a:pt x="105040" y="95101"/>
                  <a:pt x="101045" y="91106"/>
                  <a:pt x="101045" y="86186"/>
                </a:cubicBezTo>
                <a:cubicBezTo>
                  <a:pt x="101045" y="81265"/>
                  <a:pt x="105040" y="77270"/>
                  <a:pt x="109961" y="77270"/>
                </a:cubicBezTo>
                <a:cubicBezTo>
                  <a:pt x="114882" y="77270"/>
                  <a:pt x="118877" y="81265"/>
                  <a:pt x="118877" y="86186"/>
                </a:cubicBezTo>
                <a:close/>
                <a:moveTo>
                  <a:pt x="32691" y="130764"/>
                </a:moveTo>
                <a:cubicBezTo>
                  <a:pt x="27770" y="130764"/>
                  <a:pt x="23775" y="126769"/>
                  <a:pt x="23775" y="121849"/>
                </a:cubicBezTo>
                <a:cubicBezTo>
                  <a:pt x="23775" y="116928"/>
                  <a:pt x="27770" y="112933"/>
                  <a:pt x="32691" y="112933"/>
                </a:cubicBezTo>
                <a:cubicBezTo>
                  <a:pt x="37612" y="112933"/>
                  <a:pt x="41607" y="116928"/>
                  <a:pt x="41607" y="121849"/>
                </a:cubicBezTo>
                <a:cubicBezTo>
                  <a:pt x="41607" y="126769"/>
                  <a:pt x="37612" y="130764"/>
                  <a:pt x="32691" y="130764"/>
                </a:cubicBezTo>
                <a:close/>
                <a:moveTo>
                  <a:pt x="80242" y="121849"/>
                </a:moveTo>
                <a:cubicBezTo>
                  <a:pt x="80242" y="126769"/>
                  <a:pt x="76247" y="130764"/>
                  <a:pt x="71326" y="130764"/>
                </a:cubicBezTo>
                <a:cubicBezTo>
                  <a:pt x="66405" y="130764"/>
                  <a:pt x="62410" y="126769"/>
                  <a:pt x="62410" y="121849"/>
                </a:cubicBezTo>
                <a:cubicBezTo>
                  <a:pt x="62410" y="116928"/>
                  <a:pt x="66405" y="112933"/>
                  <a:pt x="71326" y="112933"/>
                </a:cubicBezTo>
                <a:cubicBezTo>
                  <a:pt x="76247" y="112933"/>
                  <a:pt x="80242" y="116928"/>
                  <a:pt x="80242" y="121849"/>
                </a:cubicBezTo>
                <a:close/>
                <a:moveTo>
                  <a:pt x="109961" y="130764"/>
                </a:moveTo>
                <a:cubicBezTo>
                  <a:pt x="105040" y="130764"/>
                  <a:pt x="101045" y="126769"/>
                  <a:pt x="101045" y="121849"/>
                </a:cubicBezTo>
                <a:cubicBezTo>
                  <a:pt x="101045" y="116928"/>
                  <a:pt x="105040" y="112933"/>
                  <a:pt x="109961" y="112933"/>
                </a:cubicBezTo>
                <a:cubicBezTo>
                  <a:pt x="114882" y="112933"/>
                  <a:pt x="118877" y="116928"/>
                  <a:pt x="118877" y="121849"/>
                </a:cubicBezTo>
                <a:cubicBezTo>
                  <a:pt x="118877" y="126769"/>
                  <a:pt x="114882" y="130764"/>
                  <a:pt x="109961" y="130764"/>
                </a:cubicBezTo>
                <a:close/>
                <a:moveTo>
                  <a:pt x="23775" y="157512"/>
                </a:moveTo>
                <a:cubicBezTo>
                  <a:pt x="23775" y="152571"/>
                  <a:pt x="27750" y="148596"/>
                  <a:pt x="32691" y="148596"/>
                </a:cubicBezTo>
                <a:lnTo>
                  <a:pt x="74298" y="148596"/>
                </a:lnTo>
                <a:cubicBezTo>
                  <a:pt x="79239" y="148596"/>
                  <a:pt x="83214" y="152571"/>
                  <a:pt x="83214" y="157512"/>
                </a:cubicBezTo>
                <a:cubicBezTo>
                  <a:pt x="83214" y="162453"/>
                  <a:pt x="79239" y="166427"/>
                  <a:pt x="74298" y="166427"/>
                </a:cubicBezTo>
                <a:lnTo>
                  <a:pt x="32691" y="166427"/>
                </a:lnTo>
                <a:cubicBezTo>
                  <a:pt x="27750" y="166427"/>
                  <a:pt x="23775" y="162453"/>
                  <a:pt x="23775" y="157512"/>
                </a:cubicBezTo>
                <a:close/>
                <a:moveTo>
                  <a:pt x="109961" y="148596"/>
                </a:moveTo>
                <a:cubicBezTo>
                  <a:pt x="114902" y="148596"/>
                  <a:pt x="118877" y="152571"/>
                  <a:pt x="118877" y="157512"/>
                </a:cubicBezTo>
                <a:cubicBezTo>
                  <a:pt x="118877" y="162453"/>
                  <a:pt x="114902" y="166427"/>
                  <a:pt x="109961" y="166427"/>
                </a:cubicBezTo>
                <a:cubicBezTo>
                  <a:pt x="105020" y="166427"/>
                  <a:pt x="101045" y="162453"/>
                  <a:pt x="101045" y="157512"/>
                </a:cubicBezTo>
                <a:cubicBezTo>
                  <a:pt x="101045" y="152571"/>
                  <a:pt x="105020" y="148596"/>
                  <a:pt x="109961" y="14859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46402" y="2914858"/>
            <a:ext cx="5078415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Cálculo do Basis Points (bp)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649" y="3295264"/>
            <a:ext cx="5221067" cy="2662839"/>
          </a:xfrm>
          <a:custGeom>
            <a:avLst/>
            <a:gdLst/>
            <a:ahLst/>
            <a:cxnLst/>
            <a:rect l="l" t="t" r="r" b="b"/>
            <a:pathLst>
              <a:path w="5221067" h="2662839">
                <a:moveTo>
                  <a:pt x="76077" y="0"/>
                </a:moveTo>
                <a:lnTo>
                  <a:pt x="5144990" y="0"/>
                </a:lnTo>
                <a:cubicBezTo>
                  <a:pt x="5187006" y="0"/>
                  <a:pt x="5221067" y="34061"/>
                  <a:pt x="5221067" y="76077"/>
                </a:cubicBezTo>
                <a:lnTo>
                  <a:pt x="5221067" y="2586762"/>
                </a:lnTo>
                <a:cubicBezTo>
                  <a:pt x="5221067" y="2628778"/>
                  <a:pt x="5187006" y="2662839"/>
                  <a:pt x="5144990" y="2662839"/>
                </a:cubicBezTo>
                <a:lnTo>
                  <a:pt x="76077" y="2662839"/>
                </a:lnTo>
                <a:cubicBezTo>
                  <a:pt x="34061" y="2662839"/>
                  <a:pt x="0" y="2628778"/>
                  <a:pt x="0" y="2586762"/>
                </a:cubicBezTo>
                <a:lnTo>
                  <a:pt x="0" y="76077"/>
                </a:lnTo>
                <a:cubicBezTo>
                  <a:pt x="0" y="34089"/>
                  <a:pt x="34089" y="0"/>
                  <a:pt x="7607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65566" y="3452181"/>
            <a:ext cx="4907232" cy="542078"/>
          </a:xfrm>
          <a:custGeom>
            <a:avLst/>
            <a:gdLst/>
            <a:ahLst/>
            <a:cxnLst/>
            <a:rect l="l" t="t" r="r" b="b"/>
            <a:pathLst>
              <a:path w="4907232" h="542078">
                <a:moveTo>
                  <a:pt x="76081" y="0"/>
                </a:moveTo>
                <a:lnTo>
                  <a:pt x="4831152" y="0"/>
                </a:lnTo>
                <a:cubicBezTo>
                  <a:pt x="4873170" y="0"/>
                  <a:pt x="4907232" y="34062"/>
                  <a:pt x="4907232" y="76081"/>
                </a:cubicBezTo>
                <a:lnTo>
                  <a:pt x="4907232" y="465997"/>
                </a:lnTo>
                <a:cubicBezTo>
                  <a:pt x="4907232" y="508016"/>
                  <a:pt x="4873170" y="542078"/>
                  <a:pt x="4831152" y="542078"/>
                </a:cubicBezTo>
                <a:lnTo>
                  <a:pt x="76081" y="542078"/>
                </a:lnTo>
                <a:cubicBezTo>
                  <a:pt x="34062" y="542078"/>
                  <a:pt x="0" y="508016"/>
                  <a:pt x="0" y="465997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84443" y="3609098"/>
            <a:ext cx="466947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bp = (Valor Fraude ÷ Valor Transações) × 10.000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0811" y="4113136"/>
            <a:ext cx="4992824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cálculo é obtido utilizando o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total de fraudes reportadas no mês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sobre o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total de transações autorizadas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multiplicados por 10.000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5647" y="2729410"/>
            <a:ext cx="5630003" cy="3414140"/>
          </a:xfrm>
          <a:custGeom>
            <a:avLst/>
            <a:gdLst/>
            <a:ahLst/>
            <a:cxnLst/>
            <a:rect l="l" t="t" r="r" b="b"/>
            <a:pathLst>
              <a:path w="5630003" h="3414140">
                <a:moveTo>
                  <a:pt x="76067" y="0"/>
                </a:moveTo>
                <a:lnTo>
                  <a:pt x="5553936" y="0"/>
                </a:lnTo>
                <a:cubicBezTo>
                  <a:pt x="5595947" y="0"/>
                  <a:pt x="5630003" y="34056"/>
                  <a:pt x="5630003" y="76067"/>
                </a:cubicBezTo>
                <a:lnTo>
                  <a:pt x="5630003" y="3338073"/>
                </a:lnTo>
                <a:cubicBezTo>
                  <a:pt x="5630003" y="3380084"/>
                  <a:pt x="5595947" y="3414140"/>
                  <a:pt x="5553936" y="3414140"/>
                </a:cubicBezTo>
                <a:lnTo>
                  <a:pt x="76067" y="3414140"/>
                </a:lnTo>
                <a:cubicBezTo>
                  <a:pt x="34056" y="3414140"/>
                  <a:pt x="0" y="3380084"/>
                  <a:pt x="0" y="3338073"/>
                </a:cubicBezTo>
                <a:lnTo>
                  <a:pt x="0" y="76067"/>
                </a:lnTo>
                <a:cubicBezTo>
                  <a:pt x="0" y="34056"/>
                  <a:pt x="34056" y="0"/>
                  <a:pt x="760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18156" y="2962409"/>
            <a:ext cx="142652" cy="190203"/>
          </a:xfrm>
          <a:custGeom>
            <a:avLst/>
            <a:gdLst/>
            <a:ahLst/>
            <a:cxnLst/>
            <a:rect l="l" t="t" r="r" b="b"/>
            <a:pathLst>
              <a:path w="142652" h="190203">
                <a:moveTo>
                  <a:pt x="115682" y="11888"/>
                </a:moveTo>
                <a:lnTo>
                  <a:pt x="118877" y="11888"/>
                </a:lnTo>
                <a:cubicBezTo>
                  <a:pt x="131990" y="11888"/>
                  <a:pt x="142652" y="22549"/>
                  <a:pt x="142652" y="35663"/>
                </a:cubicBezTo>
                <a:lnTo>
                  <a:pt x="142652" y="166427"/>
                </a:lnTo>
                <a:cubicBezTo>
                  <a:pt x="142652" y="179541"/>
                  <a:pt x="131990" y="190203"/>
                  <a:pt x="118877" y="190203"/>
                </a:cubicBezTo>
                <a:lnTo>
                  <a:pt x="23775" y="190203"/>
                </a:lnTo>
                <a:cubicBezTo>
                  <a:pt x="10662" y="190203"/>
                  <a:pt x="0" y="179541"/>
                  <a:pt x="0" y="166427"/>
                </a:cubicBezTo>
                <a:lnTo>
                  <a:pt x="0" y="35663"/>
                </a:lnTo>
                <a:cubicBezTo>
                  <a:pt x="0" y="22549"/>
                  <a:pt x="10662" y="11888"/>
                  <a:pt x="23775" y="11888"/>
                </a:cubicBezTo>
                <a:lnTo>
                  <a:pt x="26970" y="11888"/>
                </a:lnTo>
                <a:cubicBezTo>
                  <a:pt x="31057" y="4792"/>
                  <a:pt x="38746" y="0"/>
                  <a:pt x="47551" y="0"/>
                </a:cubicBezTo>
                <a:lnTo>
                  <a:pt x="95101" y="0"/>
                </a:lnTo>
                <a:cubicBezTo>
                  <a:pt x="103906" y="0"/>
                  <a:pt x="111596" y="4792"/>
                  <a:pt x="115682" y="11888"/>
                </a:cubicBezTo>
                <a:close/>
                <a:moveTo>
                  <a:pt x="92129" y="41607"/>
                </a:moveTo>
                <a:cubicBezTo>
                  <a:pt x="97070" y="41607"/>
                  <a:pt x="101045" y="37632"/>
                  <a:pt x="101045" y="32691"/>
                </a:cubicBezTo>
                <a:cubicBezTo>
                  <a:pt x="101045" y="27750"/>
                  <a:pt x="97070" y="23775"/>
                  <a:pt x="92129" y="23775"/>
                </a:cubicBezTo>
                <a:lnTo>
                  <a:pt x="50523" y="23775"/>
                </a:lnTo>
                <a:cubicBezTo>
                  <a:pt x="45582" y="23775"/>
                  <a:pt x="41607" y="27750"/>
                  <a:pt x="41607" y="32691"/>
                </a:cubicBezTo>
                <a:cubicBezTo>
                  <a:pt x="41607" y="37632"/>
                  <a:pt x="45582" y="41607"/>
                  <a:pt x="50523" y="41607"/>
                </a:cubicBezTo>
                <a:lnTo>
                  <a:pt x="92129" y="41607"/>
                </a:lnTo>
                <a:close/>
                <a:moveTo>
                  <a:pt x="47551" y="95101"/>
                </a:moveTo>
                <a:cubicBezTo>
                  <a:pt x="47551" y="88540"/>
                  <a:pt x="42224" y="83214"/>
                  <a:pt x="35663" y="83214"/>
                </a:cubicBezTo>
                <a:cubicBezTo>
                  <a:pt x="29102" y="83214"/>
                  <a:pt x="23775" y="88540"/>
                  <a:pt x="23775" y="95101"/>
                </a:cubicBezTo>
                <a:cubicBezTo>
                  <a:pt x="23775" y="101662"/>
                  <a:pt x="29102" y="106989"/>
                  <a:pt x="35663" y="106989"/>
                </a:cubicBezTo>
                <a:cubicBezTo>
                  <a:pt x="42224" y="106989"/>
                  <a:pt x="47551" y="101662"/>
                  <a:pt x="47551" y="95101"/>
                </a:cubicBezTo>
                <a:close/>
                <a:moveTo>
                  <a:pt x="59438" y="95101"/>
                </a:moveTo>
                <a:cubicBezTo>
                  <a:pt x="59438" y="100042"/>
                  <a:pt x="63413" y="104017"/>
                  <a:pt x="68354" y="104017"/>
                </a:cubicBezTo>
                <a:lnTo>
                  <a:pt x="109961" y="104017"/>
                </a:lnTo>
                <a:cubicBezTo>
                  <a:pt x="114902" y="104017"/>
                  <a:pt x="118877" y="100042"/>
                  <a:pt x="118877" y="95101"/>
                </a:cubicBezTo>
                <a:cubicBezTo>
                  <a:pt x="118877" y="90161"/>
                  <a:pt x="114902" y="86186"/>
                  <a:pt x="109961" y="86186"/>
                </a:cubicBezTo>
                <a:lnTo>
                  <a:pt x="68354" y="86186"/>
                </a:lnTo>
                <a:cubicBezTo>
                  <a:pt x="63413" y="86186"/>
                  <a:pt x="59438" y="90161"/>
                  <a:pt x="59438" y="95101"/>
                </a:cubicBezTo>
                <a:close/>
                <a:moveTo>
                  <a:pt x="59438" y="142652"/>
                </a:moveTo>
                <a:cubicBezTo>
                  <a:pt x="59438" y="147593"/>
                  <a:pt x="63413" y="151568"/>
                  <a:pt x="68354" y="151568"/>
                </a:cubicBezTo>
                <a:lnTo>
                  <a:pt x="109961" y="151568"/>
                </a:lnTo>
                <a:cubicBezTo>
                  <a:pt x="114902" y="151568"/>
                  <a:pt x="118877" y="147593"/>
                  <a:pt x="118877" y="142652"/>
                </a:cubicBezTo>
                <a:cubicBezTo>
                  <a:pt x="118877" y="137711"/>
                  <a:pt x="114902" y="133736"/>
                  <a:pt x="109961" y="133736"/>
                </a:cubicBezTo>
                <a:lnTo>
                  <a:pt x="68354" y="133736"/>
                </a:lnTo>
                <a:cubicBezTo>
                  <a:pt x="63413" y="133736"/>
                  <a:pt x="59438" y="137711"/>
                  <a:pt x="59438" y="142652"/>
                </a:cubicBezTo>
                <a:close/>
                <a:moveTo>
                  <a:pt x="35663" y="154540"/>
                </a:moveTo>
                <a:cubicBezTo>
                  <a:pt x="42224" y="154540"/>
                  <a:pt x="47551" y="149213"/>
                  <a:pt x="47551" y="142652"/>
                </a:cubicBezTo>
                <a:cubicBezTo>
                  <a:pt x="47551" y="136091"/>
                  <a:pt x="42224" y="130764"/>
                  <a:pt x="35663" y="130764"/>
                </a:cubicBezTo>
                <a:cubicBezTo>
                  <a:pt x="29102" y="130764"/>
                  <a:pt x="23775" y="136091"/>
                  <a:pt x="23775" y="142652"/>
                </a:cubicBezTo>
                <a:cubicBezTo>
                  <a:pt x="23775" y="149213"/>
                  <a:pt x="29102" y="154540"/>
                  <a:pt x="35663" y="15454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608359" y="2924368"/>
            <a:ext cx="5097435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Parâmetros de Fraudes Excessivas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70605" y="3304774"/>
            <a:ext cx="5240087" cy="684730"/>
          </a:xfrm>
          <a:custGeom>
            <a:avLst/>
            <a:gdLst/>
            <a:ahLst/>
            <a:cxnLst/>
            <a:rect l="l" t="t" r="r" b="b"/>
            <a:pathLst>
              <a:path w="5240087" h="684730">
                <a:moveTo>
                  <a:pt x="76080" y="0"/>
                </a:moveTo>
                <a:lnTo>
                  <a:pt x="5164007" y="0"/>
                </a:lnTo>
                <a:cubicBezTo>
                  <a:pt x="5206025" y="0"/>
                  <a:pt x="5240087" y="34062"/>
                  <a:pt x="5240087" y="76080"/>
                </a:cubicBezTo>
                <a:lnTo>
                  <a:pt x="5240087" y="608650"/>
                </a:lnTo>
                <a:cubicBezTo>
                  <a:pt x="5240087" y="650668"/>
                  <a:pt x="5206025" y="684730"/>
                  <a:pt x="5164007" y="684730"/>
                </a:cubicBezTo>
                <a:lnTo>
                  <a:pt x="76080" y="684730"/>
                </a:lnTo>
                <a:cubicBezTo>
                  <a:pt x="34090" y="684730"/>
                  <a:pt x="0" y="650640"/>
                  <a:pt x="0" y="608650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484727" y="3456936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15640" y="3513997"/>
            <a:ext cx="10461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173" y="3418895"/>
            <a:ext cx="4669479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total em dólar de chargebacks relacionados à fraude é </a:t>
            </a:r>
            <a:r>
              <a:rPr lang="en-US" sz="119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maior ou igual a USD 50.000,00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70605" y="4065585"/>
            <a:ext cx="5240087" cy="570608"/>
          </a:xfrm>
          <a:custGeom>
            <a:avLst/>
            <a:gdLst/>
            <a:ahLst/>
            <a:cxnLst/>
            <a:rect l="l" t="t" r="r" b="b"/>
            <a:pathLst>
              <a:path w="5240087" h="570608">
                <a:moveTo>
                  <a:pt x="76079" y="0"/>
                </a:moveTo>
                <a:lnTo>
                  <a:pt x="5164008" y="0"/>
                </a:lnTo>
                <a:cubicBezTo>
                  <a:pt x="5206026" y="0"/>
                  <a:pt x="5240087" y="34062"/>
                  <a:pt x="5240087" y="76079"/>
                </a:cubicBezTo>
                <a:lnTo>
                  <a:pt x="5240087" y="494529"/>
                </a:lnTo>
                <a:cubicBezTo>
                  <a:pt x="5240087" y="536547"/>
                  <a:pt x="5206026" y="570608"/>
                  <a:pt x="5164008" y="570608"/>
                </a:cubicBezTo>
                <a:lnTo>
                  <a:pt x="76079" y="570608"/>
                </a:lnTo>
                <a:cubicBezTo>
                  <a:pt x="34090" y="570608"/>
                  <a:pt x="0" y="536518"/>
                  <a:pt x="0" y="494529"/>
                </a:cubicBezTo>
                <a:lnTo>
                  <a:pt x="0" y="76079"/>
                </a:lnTo>
                <a:cubicBezTo>
                  <a:pt x="0" y="34090"/>
                  <a:pt x="34090" y="0"/>
                  <a:pt x="7607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484727" y="4217747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602861" y="4274808"/>
            <a:ext cx="13314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173" y="4179707"/>
            <a:ext cx="4422215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de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basis point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chargeback de fraude é </a:t>
            </a:r>
            <a:r>
              <a:rPr lang="en-US" sz="119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maior ou igual a 50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0605" y="4712275"/>
            <a:ext cx="5240087" cy="684730"/>
          </a:xfrm>
          <a:custGeom>
            <a:avLst/>
            <a:gdLst/>
            <a:ahLst/>
            <a:cxnLst/>
            <a:rect l="l" t="t" r="r" b="b"/>
            <a:pathLst>
              <a:path w="5240087" h="684730">
                <a:moveTo>
                  <a:pt x="76080" y="0"/>
                </a:moveTo>
                <a:lnTo>
                  <a:pt x="5164007" y="0"/>
                </a:lnTo>
                <a:cubicBezTo>
                  <a:pt x="5206025" y="0"/>
                  <a:pt x="5240087" y="34062"/>
                  <a:pt x="5240087" y="76080"/>
                </a:cubicBezTo>
                <a:lnTo>
                  <a:pt x="5240087" y="608650"/>
                </a:lnTo>
                <a:cubicBezTo>
                  <a:pt x="5240087" y="650668"/>
                  <a:pt x="5206025" y="684730"/>
                  <a:pt x="5164007" y="684730"/>
                </a:cubicBezTo>
                <a:lnTo>
                  <a:pt x="76080" y="684730"/>
                </a:lnTo>
                <a:cubicBezTo>
                  <a:pt x="34090" y="684730"/>
                  <a:pt x="0" y="650640"/>
                  <a:pt x="0" y="608650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484727" y="4864437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601226" y="4921498"/>
            <a:ext cx="14265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173" y="4826396"/>
            <a:ext cx="4669479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Percentual mensal de volume processado usando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3DS ou DSRP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</a:t>
            </a:r>
            <a:r>
              <a:rPr lang="en-US" sz="1198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menor que 10%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 países não regulamentados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5360" y="5477841"/>
            <a:ext cx="5230577" cy="465997"/>
          </a:xfrm>
          <a:custGeom>
            <a:avLst/>
            <a:gdLst/>
            <a:ahLst/>
            <a:cxnLst/>
            <a:rect l="l" t="t" r="r" b="b"/>
            <a:pathLst>
              <a:path w="5230577" h="465997">
                <a:moveTo>
                  <a:pt x="76083" y="0"/>
                </a:moveTo>
                <a:lnTo>
                  <a:pt x="5154494" y="0"/>
                </a:lnTo>
                <a:cubicBezTo>
                  <a:pt x="5196514" y="0"/>
                  <a:pt x="5230577" y="34064"/>
                  <a:pt x="5230577" y="76083"/>
                </a:cubicBezTo>
                <a:lnTo>
                  <a:pt x="5230577" y="389914"/>
                </a:lnTo>
                <a:cubicBezTo>
                  <a:pt x="5230577" y="431933"/>
                  <a:pt x="5196514" y="465997"/>
                  <a:pt x="5154494" y="465997"/>
                </a:cubicBezTo>
                <a:lnTo>
                  <a:pt x="76083" y="465997"/>
                </a:lnTo>
                <a:cubicBezTo>
                  <a:pt x="34092" y="465997"/>
                  <a:pt x="0" y="431905"/>
                  <a:pt x="0" y="389914"/>
                </a:cubicBezTo>
                <a:lnTo>
                  <a:pt x="0" y="76083"/>
                </a:lnTo>
                <a:cubicBezTo>
                  <a:pt x="0" y="34092"/>
                  <a:pt x="34092" y="0"/>
                  <a:pt x="76083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513257" y="5634758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152162"/>
                </a:moveTo>
                <a:cubicBezTo>
                  <a:pt x="118071" y="152162"/>
                  <a:pt x="152162" y="118071"/>
                  <a:pt x="152162" y="76081"/>
                </a:cubicBezTo>
                <a:cubicBezTo>
                  <a:pt x="152162" y="34091"/>
                  <a:pt x="118071" y="0"/>
                  <a:pt x="76081" y="0"/>
                </a:cubicBezTo>
                <a:cubicBezTo>
                  <a:pt x="34091" y="0"/>
                  <a:pt x="0" y="34091"/>
                  <a:pt x="0" y="76081"/>
                </a:cubicBezTo>
                <a:cubicBezTo>
                  <a:pt x="0" y="118071"/>
                  <a:pt x="34091" y="152162"/>
                  <a:pt x="76081" y="152162"/>
                </a:cubicBezTo>
                <a:close/>
                <a:moveTo>
                  <a:pt x="66571" y="47551"/>
                </a:moveTo>
                <a:cubicBezTo>
                  <a:pt x="66571" y="42302"/>
                  <a:pt x="70832" y="38041"/>
                  <a:pt x="76081" y="38041"/>
                </a:cubicBezTo>
                <a:cubicBezTo>
                  <a:pt x="81330" y="38041"/>
                  <a:pt x="85591" y="42302"/>
                  <a:pt x="85591" y="47551"/>
                </a:cubicBezTo>
                <a:cubicBezTo>
                  <a:pt x="85591" y="52799"/>
                  <a:pt x="81330" y="57061"/>
                  <a:pt x="76081" y="57061"/>
                </a:cubicBezTo>
                <a:cubicBezTo>
                  <a:pt x="70832" y="57061"/>
                  <a:pt x="66571" y="52799"/>
                  <a:pt x="66571" y="47551"/>
                </a:cubicBezTo>
                <a:close/>
                <a:moveTo>
                  <a:pt x="64193" y="66571"/>
                </a:moveTo>
                <a:lnTo>
                  <a:pt x="78459" y="66571"/>
                </a:lnTo>
                <a:cubicBezTo>
                  <a:pt x="82411" y="66571"/>
                  <a:pt x="85591" y="69751"/>
                  <a:pt x="85591" y="73704"/>
                </a:cubicBezTo>
                <a:lnTo>
                  <a:pt x="85591" y="99856"/>
                </a:lnTo>
                <a:lnTo>
                  <a:pt x="87969" y="99856"/>
                </a:lnTo>
                <a:cubicBezTo>
                  <a:pt x="91921" y="99856"/>
                  <a:pt x="95101" y="103036"/>
                  <a:pt x="95101" y="106989"/>
                </a:cubicBezTo>
                <a:cubicBezTo>
                  <a:pt x="95101" y="110942"/>
                  <a:pt x="91921" y="114122"/>
                  <a:pt x="87969" y="114122"/>
                </a:cubicBezTo>
                <a:lnTo>
                  <a:pt x="64193" y="114122"/>
                </a:lnTo>
                <a:cubicBezTo>
                  <a:pt x="60241" y="114122"/>
                  <a:pt x="57061" y="110942"/>
                  <a:pt x="57061" y="106989"/>
                </a:cubicBezTo>
                <a:cubicBezTo>
                  <a:pt x="57061" y="103036"/>
                  <a:pt x="60241" y="99856"/>
                  <a:pt x="64193" y="99856"/>
                </a:cubicBezTo>
                <a:lnTo>
                  <a:pt x="71326" y="99856"/>
                </a:lnTo>
                <a:lnTo>
                  <a:pt x="71326" y="80836"/>
                </a:lnTo>
                <a:lnTo>
                  <a:pt x="64193" y="80836"/>
                </a:lnTo>
                <a:cubicBezTo>
                  <a:pt x="60241" y="80836"/>
                  <a:pt x="57061" y="77656"/>
                  <a:pt x="57061" y="73704"/>
                </a:cubicBezTo>
                <a:cubicBezTo>
                  <a:pt x="57061" y="69751"/>
                  <a:pt x="60241" y="66571"/>
                  <a:pt x="64193" y="6657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741412" y="5596718"/>
            <a:ext cx="482173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Baseline: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1.000 transações e-commerce por MID no Clearing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161" y="6305223"/>
            <a:ext cx="11421679" cy="542078"/>
          </a:xfrm>
          <a:custGeom>
            <a:avLst/>
            <a:gdLst/>
            <a:ahLst/>
            <a:cxnLst/>
            <a:rect l="l" t="t" r="r" b="b"/>
            <a:pathLst>
              <a:path w="11421679" h="542078">
                <a:moveTo>
                  <a:pt x="76081" y="0"/>
                </a:moveTo>
                <a:lnTo>
                  <a:pt x="11345598" y="0"/>
                </a:lnTo>
                <a:cubicBezTo>
                  <a:pt x="11387616" y="0"/>
                  <a:pt x="11421679" y="34062"/>
                  <a:pt x="11421679" y="76081"/>
                </a:cubicBezTo>
                <a:lnTo>
                  <a:pt x="11421679" y="465997"/>
                </a:lnTo>
                <a:cubicBezTo>
                  <a:pt x="11421679" y="508016"/>
                  <a:pt x="11387616" y="542078"/>
                  <a:pt x="11345598" y="542078"/>
                </a:cubicBezTo>
                <a:lnTo>
                  <a:pt x="76081" y="542078"/>
                </a:lnTo>
                <a:cubicBezTo>
                  <a:pt x="34062" y="542078"/>
                  <a:pt x="0" y="508016"/>
                  <a:pt x="0" y="465997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61098" y="6500181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16554" y="59349"/>
                </a:moveTo>
                <a:lnTo>
                  <a:pt x="25737" y="68532"/>
                </a:lnTo>
                <a:cubicBezTo>
                  <a:pt x="27520" y="70316"/>
                  <a:pt x="29927" y="71326"/>
                  <a:pt x="32453" y="71326"/>
                </a:cubicBezTo>
                <a:lnTo>
                  <a:pt x="38843" y="71326"/>
                </a:lnTo>
                <a:cubicBezTo>
                  <a:pt x="41369" y="71326"/>
                  <a:pt x="43776" y="72337"/>
                  <a:pt x="45560" y="74120"/>
                </a:cubicBezTo>
                <a:lnTo>
                  <a:pt x="54267" y="82827"/>
                </a:lnTo>
                <a:cubicBezTo>
                  <a:pt x="56050" y="84611"/>
                  <a:pt x="57061" y="87018"/>
                  <a:pt x="57061" y="89544"/>
                </a:cubicBezTo>
                <a:lnTo>
                  <a:pt x="57061" y="100689"/>
                </a:lnTo>
                <a:cubicBezTo>
                  <a:pt x="57061" y="103215"/>
                  <a:pt x="58071" y="105622"/>
                  <a:pt x="59854" y="107405"/>
                </a:cubicBezTo>
                <a:lnTo>
                  <a:pt x="63807" y="111358"/>
                </a:lnTo>
                <a:cubicBezTo>
                  <a:pt x="65590" y="113141"/>
                  <a:pt x="66601" y="115548"/>
                  <a:pt x="66601" y="118074"/>
                </a:cubicBezTo>
                <a:lnTo>
                  <a:pt x="66601" y="123632"/>
                </a:lnTo>
                <a:cubicBezTo>
                  <a:pt x="66601" y="128892"/>
                  <a:pt x="70851" y="133142"/>
                  <a:pt x="76111" y="133142"/>
                </a:cubicBezTo>
                <a:cubicBezTo>
                  <a:pt x="81371" y="133142"/>
                  <a:pt x="85621" y="128892"/>
                  <a:pt x="85621" y="123632"/>
                </a:cubicBezTo>
                <a:lnTo>
                  <a:pt x="85621" y="122829"/>
                </a:lnTo>
                <a:cubicBezTo>
                  <a:pt x="85621" y="120303"/>
                  <a:pt x="86631" y="117896"/>
                  <a:pt x="88415" y="116113"/>
                </a:cubicBezTo>
                <a:lnTo>
                  <a:pt x="101877" y="102650"/>
                </a:lnTo>
                <a:cubicBezTo>
                  <a:pt x="103661" y="100867"/>
                  <a:pt x="104671" y="98460"/>
                  <a:pt x="104671" y="95934"/>
                </a:cubicBezTo>
                <a:lnTo>
                  <a:pt x="104671" y="85621"/>
                </a:lnTo>
                <a:cubicBezTo>
                  <a:pt x="104671" y="80361"/>
                  <a:pt x="100421" y="76111"/>
                  <a:pt x="95161" y="76111"/>
                </a:cubicBezTo>
                <a:lnTo>
                  <a:pt x="70583" y="76111"/>
                </a:lnTo>
                <a:cubicBezTo>
                  <a:pt x="68057" y="76111"/>
                  <a:pt x="65650" y="75100"/>
                  <a:pt x="63867" y="73317"/>
                </a:cubicBezTo>
                <a:lnTo>
                  <a:pt x="59111" y="68562"/>
                </a:lnTo>
                <a:cubicBezTo>
                  <a:pt x="57863" y="67314"/>
                  <a:pt x="57150" y="65590"/>
                  <a:pt x="57150" y="63807"/>
                </a:cubicBezTo>
                <a:cubicBezTo>
                  <a:pt x="57150" y="60092"/>
                  <a:pt x="60152" y="57091"/>
                  <a:pt x="63867" y="57091"/>
                </a:cubicBezTo>
                <a:lnTo>
                  <a:pt x="74179" y="57091"/>
                </a:lnTo>
                <a:cubicBezTo>
                  <a:pt x="77894" y="57091"/>
                  <a:pt x="80896" y="54089"/>
                  <a:pt x="80896" y="50374"/>
                </a:cubicBezTo>
                <a:cubicBezTo>
                  <a:pt x="80896" y="48591"/>
                  <a:pt x="80182" y="46867"/>
                  <a:pt x="78934" y="45619"/>
                </a:cubicBezTo>
                <a:lnTo>
                  <a:pt x="73079" y="39764"/>
                </a:lnTo>
                <a:cubicBezTo>
                  <a:pt x="71920" y="38635"/>
                  <a:pt x="71326" y="37179"/>
                  <a:pt x="71326" y="35663"/>
                </a:cubicBezTo>
                <a:cubicBezTo>
                  <a:pt x="71326" y="34147"/>
                  <a:pt x="71920" y="32691"/>
                  <a:pt x="73020" y="31591"/>
                </a:cubicBezTo>
                <a:lnTo>
                  <a:pt x="78161" y="26450"/>
                </a:lnTo>
                <a:cubicBezTo>
                  <a:pt x="79885" y="24726"/>
                  <a:pt x="80866" y="22379"/>
                  <a:pt x="80866" y="19942"/>
                </a:cubicBezTo>
                <a:cubicBezTo>
                  <a:pt x="80866" y="17802"/>
                  <a:pt x="80153" y="15870"/>
                  <a:pt x="78964" y="14325"/>
                </a:cubicBezTo>
                <a:cubicBezTo>
                  <a:pt x="78013" y="14295"/>
                  <a:pt x="77062" y="14265"/>
                  <a:pt x="76111" y="14265"/>
                </a:cubicBezTo>
                <a:cubicBezTo>
                  <a:pt x="47759" y="14265"/>
                  <a:pt x="23894" y="33345"/>
                  <a:pt x="16583" y="59349"/>
                </a:cubicBezTo>
                <a:close/>
                <a:moveTo>
                  <a:pt x="137897" y="76081"/>
                </a:moveTo>
                <a:cubicBezTo>
                  <a:pt x="137897" y="65798"/>
                  <a:pt x="135401" y="56110"/>
                  <a:pt x="130943" y="47610"/>
                </a:cubicBezTo>
                <a:cubicBezTo>
                  <a:pt x="129041" y="47878"/>
                  <a:pt x="127168" y="48769"/>
                  <a:pt x="125623" y="50315"/>
                </a:cubicBezTo>
                <a:lnTo>
                  <a:pt x="121641" y="54297"/>
                </a:lnTo>
                <a:cubicBezTo>
                  <a:pt x="119857" y="56080"/>
                  <a:pt x="118847" y="58487"/>
                  <a:pt x="118847" y="61013"/>
                </a:cubicBezTo>
                <a:lnTo>
                  <a:pt x="118847" y="71326"/>
                </a:lnTo>
                <a:cubicBezTo>
                  <a:pt x="118847" y="76586"/>
                  <a:pt x="123097" y="80836"/>
                  <a:pt x="128357" y="80836"/>
                </a:cubicBezTo>
                <a:lnTo>
                  <a:pt x="135520" y="80836"/>
                </a:lnTo>
                <a:cubicBezTo>
                  <a:pt x="136262" y="80836"/>
                  <a:pt x="137005" y="80747"/>
                  <a:pt x="137689" y="80598"/>
                </a:cubicBezTo>
                <a:cubicBezTo>
                  <a:pt x="137808" y="79112"/>
                  <a:pt x="137838" y="77597"/>
                  <a:pt x="137838" y="76081"/>
                </a:cubicBezTo>
                <a:close/>
                <a:moveTo>
                  <a:pt x="0" y="76081"/>
                </a:moveTo>
                <a:cubicBezTo>
                  <a:pt x="0" y="34091"/>
                  <a:pt x="34091" y="0"/>
                  <a:pt x="76081" y="0"/>
                </a:cubicBezTo>
                <a:cubicBezTo>
                  <a:pt x="118071" y="0"/>
                  <a:pt x="152162" y="34091"/>
                  <a:pt x="152162" y="76081"/>
                </a:cubicBezTo>
                <a:cubicBezTo>
                  <a:pt x="152162" y="118071"/>
                  <a:pt x="118071" y="152162"/>
                  <a:pt x="76081" y="152162"/>
                </a:cubicBezTo>
                <a:cubicBezTo>
                  <a:pt x="34091" y="152162"/>
                  <a:pt x="0" y="118071"/>
                  <a:pt x="0" y="7608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89253" y="6462140"/>
            <a:ext cx="1093675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Nota: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Todos os países da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América Latina (LAC)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são considerados </a:t>
            </a:r>
            <a:r>
              <a:rPr lang="en-US" sz="1198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regulamentados</a:t>
            </a:r>
            <a:r>
              <a:rPr lang="en-US" sz="1198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fins de 3DS/DSRP.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2849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kern="0" spc="5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ELO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663510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PEF - Multas e Plano de Ação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7048" y="1179574"/>
            <a:ext cx="5630621" cy="4994757"/>
          </a:xfrm>
          <a:custGeom>
            <a:avLst/>
            <a:gdLst/>
            <a:ahLst/>
            <a:cxnLst/>
            <a:rect l="l" t="t" r="r" b="b"/>
            <a:pathLst>
              <a:path w="5630621" h="4994757">
                <a:moveTo>
                  <a:pt x="36862" y="0"/>
                </a:moveTo>
                <a:lnTo>
                  <a:pt x="5556899" y="0"/>
                </a:lnTo>
                <a:cubicBezTo>
                  <a:pt x="5597615" y="0"/>
                  <a:pt x="5630621" y="33007"/>
                  <a:pt x="5630621" y="73723"/>
                </a:cubicBezTo>
                <a:lnTo>
                  <a:pt x="5630621" y="4921035"/>
                </a:lnTo>
                <a:cubicBezTo>
                  <a:pt x="5630621" y="4961751"/>
                  <a:pt x="5597615" y="4994757"/>
                  <a:pt x="5556899" y="4994757"/>
                </a:cubicBezTo>
                <a:lnTo>
                  <a:pt x="36862" y="4994757"/>
                </a:lnTo>
                <a:cubicBezTo>
                  <a:pt x="16504" y="4994757"/>
                  <a:pt x="0" y="4978254"/>
                  <a:pt x="0" y="495789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87048" y="1179574"/>
            <a:ext cx="36862" cy="4994757"/>
          </a:xfrm>
          <a:custGeom>
            <a:avLst/>
            <a:gdLst/>
            <a:ahLst/>
            <a:cxnLst/>
            <a:rect l="l" t="t" r="r" b="b"/>
            <a:pathLst>
              <a:path w="36862" h="4994757">
                <a:moveTo>
                  <a:pt x="36862" y="0"/>
                </a:moveTo>
                <a:lnTo>
                  <a:pt x="36862" y="0"/>
                </a:lnTo>
                <a:lnTo>
                  <a:pt x="36862" y="4994757"/>
                </a:lnTo>
                <a:lnTo>
                  <a:pt x="36862" y="4994757"/>
                </a:lnTo>
                <a:cubicBezTo>
                  <a:pt x="16504" y="4994757"/>
                  <a:pt x="0" y="4978254"/>
                  <a:pt x="0" y="495789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8902" y="1400744"/>
            <a:ext cx="138231" cy="221170"/>
          </a:xfrm>
          <a:custGeom>
            <a:avLst/>
            <a:gdLst/>
            <a:ahLst/>
            <a:cxnLst/>
            <a:rect l="l" t="t" r="r" b="b"/>
            <a:pathLst>
              <a:path w="138231" h="221170">
                <a:moveTo>
                  <a:pt x="58748" y="10367"/>
                </a:moveTo>
                <a:cubicBezTo>
                  <a:pt x="58748" y="4622"/>
                  <a:pt x="63370" y="0"/>
                  <a:pt x="69116" y="0"/>
                </a:cubicBezTo>
                <a:cubicBezTo>
                  <a:pt x="74861" y="0"/>
                  <a:pt x="79483" y="4622"/>
                  <a:pt x="79483" y="10367"/>
                </a:cubicBezTo>
                <a:lnTo>
                  <a:pt x="79483" y="27646"/>
                </a:lnTo>
                <a:lnTo>
                  <a:pt x="103673" y="27646"/>
                </a:lnTo>
                <a:cubicBezTo>
                  <a:pt x="111319" y="27646"/>
                  <a:pt x="117497" y="33823"/>
                  <a:pt x="117497" y="41469"/>
                </a:cubicBezTo>
                <a:cubicBezTo>
                  <a:pt x="117497" y="49115"/>
                  <a:pt x="111319" y="55293"/>
                  <a:pt x="103673" y="55293"/>
                </a:cubicBezTo>
                <a:lnTo>
                  <a:pt x="54040" y="55293"/>
                </a:lnTo>
                <a:cubicBezTo>
                  <a:pt x="43284" y="55293"/>
                  <a:pt x="34558" y="64018"/>
                  <a:pt x="34558" y="74774"/>
                </a:cubicBezTo>
                <a:cubicBezTo>
                  <a:pt x="34558" y="84494"/>
                  <a:pt x="41685" y="92701"/>
                  <a:pt x="51275" y="94084"/>
                </a:cubicBezTo>
                <a:lnTo>
                  <a:pt x="90844" y="99743"/>
                </a:lnTo>
                <a:cubicBezTo>
                  <a:pt x="114084" y="103069"/>
                  <a:pt x="131320" y="122939"/>
                  <a:pt x="131320" y="146396"/>
                </a:cubicBezTo>
                <a:cubicBezTo>
                  <a:pt x="131320" y="172444"/>
                  <a:pt x="110196" y="193524"/>
                  <a:pt x="84191" y="193524"/>
                </a:cubicBezTo>
                <a:lnTo>
                  <a:pt x="79483" y="193524"/>
                </a:lnTo>
                <a:lnTo>
                  <a:pt x="79483" y="210803"/>
                </a:lnTo>
                <a:cubicBezTo>
                  <a:pt x="79483" y="216548"/>
                  <a:pt x="74861" y="221170"/>
                  <a:pt x="69116" y="221170"/>
                </a:cubicBezTo>
                <a:cubicBezTo>
                  <a:pt x="63370" y="221170"/>
                  <a:pt x="58748" y="216548"/>
                  <a:pt x="58748" y="210803"/>
                </a:cubicBezTo>
                <a:lnTo>
                  <a:pt x="58748" y="193524"/>
                </a:lnTo>
                <a:lnTo>
                  <a:pt x="27646" y="193524"/>
                </a:lnTo>
                <a:cubicBezTo>
                  <a:pt x="20000" y="193524"/>
                  <a:pt x="13823" y="187347"/>
                  <a:pt x="13823" y="179701"/>
                </a:cubicBezTo>
                <a:cubicBezTo>
                  <a:pt x="13823" y="172055"/>
                  <a:pt x="20000" y="165878"/>
                  <a:pt x="27646" y="165878"/>
                </a:cubicBezTo>
                <a:lnTo>
                  <a:pt x="84191" y="165878"/>
                </a:lnTo>
                <a:cubicBezTo>
                  <a:pt x="94948" y="165878"/>
                  <a:pt x="103673" y="157152"/>
                  <a:pt x="103673" y="146396"/>
                </a:cubicBezTo>
                <a:cubicBezTo>
                  <a:pt x="103673" y="136676"/>
                  <a:pt x="96546" y="128469"/>
                  <a:pt x="86956" y="127086"/>
                </a:cubicBezTo>
                <a:lnTo>
                  <a:pt x="47387" y="121428"/>
                </a:lnTo>
                <a:cubicBezTo>
                  <a:pt x="24147" y="118145"/>
                  <a:pt x="6912" y="98231"/>
                  <a:pt x="6912" y="74774"/>
                </a:cubicBezTo>
                <a:cubicBezTo>
                  <a:pt x="6912" y="48770"/>
                  <a:pt x="28035" y="27646"/>
                  <a:pt x="54040" y="27646"/>
                </a:cubicBezTo>
                <a:lnTo>
                  <a:pt x="58748" y="27646"/>
                </a:lnTo>
                <a:lnTo>
                  <a:pt x="58748" y="10367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6249" y="1363882"/>
            <a:ext cx="507769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9787" y="1806222"/>
            <a:ext cx="5243574" cy="2008961"/>
          </a:xfrm>
          <a:custGeom>
            <a:avLst/>
            <a:gdLst/>
            <a:ahLst/>
            <a:cxnLst/>
            <a:rect l="l" t="t" r="r" b="b"/>
            <a:pathLst>
              <a:path w="5243574" h="2008961">
                <a:moveTo>
                  <a:pt x="73729" y="0"/>
                </a:moveTo>
                <a:lnTo>
                  <a:pt x="5169845" y="0"/>
                </a:lnTo>
                <a:cubicBezTo>
                  <a:pt x="5210564" y="0"/>
                  <a:pt x="5243574" y="33010"/>
                  <a:pt x="5243574" y="73729"/>
                </a:cubicBezTo>
                <a:lnTo>
                  <a:pt x="5243574" y="1935233"/>
                </a:lnTo>
                <a:cubicBezTo>
                  <a:pt x="5243574" y="1975952"/>
                  <a:pt x="5210564" y="2008961"/>
                  <a:pt x="5169845" y="2008961"/>
                </a:cubicBezTo>
                <a:lnTo>
                  <a:pt x="73729" y="2008961"/>
                </a:lnTo>
                <a:cubicBezTo>
                  <a:pt x="33010" y="2008961"/>
                  <a:pt x="0" y="1975952"/>
                  <a:pt x="0" y="1935233"/>
                </a:cubicBezTo>
                <a:lnTo>
                  <a:pt x="0" y="73729"/>
                </a:lnTo>
                <a:cubicBezTo>
                  <a:pt x="0" y="33037"/>
                  <a:pt x="33037" y="0"/>
                  <a:pt x="7372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7234" y="1953669"/>
            <a:ext cx="503161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Parâmetros para Penalização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7234" y="2285424"/>
            <a:ext cx="502240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multas são aplicadas com base na faixa de basis points: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7234" y="2916680"/>
            <a:ext cx="4948680" cy="9215"/>
          </a:xfrm>
          <a:custGeom>
            <a:avLst/>
            <a:gdLst/>
            <a:ahLst/>
            <a:cxnLst/>
            <a:rect l="l" t="t" r="r" b="b"/>
            <a:pathLst>
              <a:path w="4948680" h="9215">
                <a:moveTo>
                  <a:pt x="0" y="0"/>
                </a:moveTo>
                <a:lnTo>
                  <a:pt x="4948680" y="0"/>
                </a:lnTo>
                <a:lnTo>
                  <a:pt x="4948680" y="9215"/>
                </a:lnTo>
                <a:lnTo>
                  <a:pt x="0" y="921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37234" y="2654041"/>
            <a:ext cx="6911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50-99 bp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7840" y="2654041"/>
            <a:ext cx="68194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7234" y="3294512"/>
            <a:ext cx="4948680" cy="9215"/>
          </a:xfrm>
          <a:custGeom>
            <a:avLst/>
            <a:gdLst/>
            <a:ahLst/>
            <a:cxnLst/>
            <a:rect l="l" t="t" r="r" b="b"/>
            <a:pathLst>
              <a:path w="4948680" h="9215">
                <a:moveTo>
                  <a:pt x="0" y="0"/>
                </a:moveTo>
                <a:lnTo>
                  <a:pt x="4948680" y="0"/>
                </a:lnTo>
                <a:lnTo>
                  <a:pt x="4948680" y="9215"/>
                </a:lnTo>
                <a:lnTo>
                  <a:pt x="0" y="921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7234" y="3031873"/>
            <a:ext cx="79252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100-149 bp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7840" y="3031873"/>
            <a:ext cx="68194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7234" y="3409705"/>
            <a:ext cx="5713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150+ bp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7840" y="3409705"/>
            <a:ext cx="68194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9787" y="3925769"/>
            <a:ext cx="5243574" cy="1068989"/>
          </a:xfrm>
          <a:custGeom>
            <a:avLst/>
            <a:gdLst/>
            <a:ahLst/>
            <a:cxnLst/>
            <a:rect l="l" t="t" r="r" b="b"/>
            <a:pathLst>
              <a:path w="5243574" h="1068989">
                <a:moveTo>
                  <a:pt x="73728" y="0"/>
                </a:moveTo>
                <a:lnTo>
                  <a:pt x="5169846" y="0"/>
                </a:lnTo>
                <a:cubicBezTo>
                  <a:pt x="5210564" y="0"/>
                  <a:pt x="5243574" y="33009"/>
                  <a:pt x="5243574" y="73728"/>
                </a:cubicBezTo>
                <a:lnTo>
                  <a:pt x="5243574" y="995261"/>
                </a:lnTo>
                <a:cubicBezTo>
                  <a:pt x="5243574" y="1035979"/>
                  <a:pt x="5210564" y="1068989"/>
                  <a:pt x="5169846" y="1068989"/>
                </a:cubicBezTo>
                <a:lnTo>
                  <a:pt x="73728" y="1068989"/>
                </a:lnTo>
                <a:cubicBezTo>
                  <a:pt x="33009" y="1068989"/>
                  <a:pt x="0" y="1035979"/>
                  <a:pt x="0" y="995261"/>
                </a:cubicBezTo>
                <a:lnTo>
                  <a:pt x="0" y="73728"/>
                </a:lnTo>
                <a:cubicBezTo>
                  <a:pt x="0" y="33036"/>
                  <a:pt x="33036" y="0"/>
                  <a:pt x="7372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7234" y="4073215"/>
            <a:ext cx="503161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Cobrança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7234" y="4404971"/>
            <a:ext cx="5022404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penalidades e cobranças serão </a:t>
            </a:r>
            <a:r>
              <a:rPr lang="en-US" sz="116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publicadas no Portal de Serviços Elo</a:t>
            </a: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casos no </a:t>
            </a:r>
            <a:r>
              <a:rPr lang="en-US" sz="116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Parâmetro Excessivo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6570" y="1179574"/>
            <a:ext cx="5630621" cy="4994757"/>
          </a:xfrm>
          <a:custGeom>
            <a:avLst/>
            <a:gdLst/>
            <a:ahLst/>
            <a:cxnLst/>
            <a:rect l="l" t="t" r="r" b="b"/>
            <a:pathLst>
              <a:path w="5630621" h="4994757">
                <a:moveTo>
                  <a:pt x="36862" y="0"/>
                </a:moveTo>
                <a:lnTo>
                  <a:pt x="5556899" y="0"/>
                </a:lnTo>
                <a:cubicBezTo>
                  <a:pt x="5597615" y="0"/>
                  <a:pt x="5630621" y="33007"/>
                  <a:pt x="5630621" y="73723"/>
                </a:cubicBezTo>
                <a:lnTo>
                  <a:pt x="5630621" y="4921035"/>
                </a:lnTo>
                <a:cubicBezTo>
                  <a:pt x="5630621" y="4961751"/>
                  <a:pt x="5597615" y="4994757"/>
                  <a:pt x="5556899" y="4994757"/>
                </a:cubicBezTo>
                <a:lnTo>
                  <a:pt x="36862" y="4994757"/>
                </a:lnTo>
                <a:cubicBezTo>
                  <a:pt x="16504" y="4994757"/>
                  <a:pt x="0" y="4978254"/>
                  <a:pt x="0" y="495789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186570" y="1179574"/>
            <a:ext cx="36862" cy="4994757"/>
          </a:xfrm>
          <a:custGeom>
            <a:avLst/>
            <a:gdLst/>
            <a:ahLst/>
            <a:cxnLst/>
            <a:rect l="l" t="t" r="r" b="b"/>
            <a:pathLst>
              <a:path w="36862" h="4994757">
                <a:moveTo>
                  <a:pt x="36862" y="0"/>
                </a:moveTo>
                <a:lnTo>
                  <a:pt x="36862" y="0"/>
                </a:lnTo>
                <a:lnTo>
                  <a:pt x="36862" y="4994757"/>
                </a:lnTo>
                <a:lnTo>
                  <a:pt x="36862" y="4994757"/>
                </a:lnTo>
                <a:cubicBezTo>
                  <a:pt x="16504" y="4994757"/>
                  <a:pt x="0" y="4978254"/>
                  <a:pt x="0" y="495789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416956" y="1400744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57798" y="15681"/>
                </a:moveTo>
                <a:cubicBezTo>
                  <a:pt x="62506" y="18964"/>
                  <a:pt x="63630" y="25443"/>
                  <a:pt x="60347" y="30109"/>
                </a:cubicBezTo>
                <a:lnTo>
                  <a:pt x="36156" y="64666"/>
                </a:lnTo>
                <a:cubicBezTo>
                  <a:pt x="34385" y="67172"/>
                  <a:pt x="31620" y="68770"/>
                  <a:pt x="28553" y="69029"/>
                </a:cubicBezTo>
                <a:cubicBezTo>
                  <a:pt x="25486" y="69288"/>
                  <a:pt x="22463" y="68252"/>
                  <a:pt x="20303" y="66092"/>
                </a:cubicBezTo>
                <a:lnTo>
                  <a:pt x="3024" y="48813"/>
                </a:lnTo>
                <a:cubicBezTo>
                  <a:pt x="-994" y="44752"/>
                  <a:pt x="-994" y="38186"/>
                  <a:pt x="3024" y="34126"/>
                </a:cubicBezTo>
                <a:cubicBezTo>
                  <a:pt x="7041" y="30065"/>
                  <a:pt x="13650" y="30109"/>
                  <a:pt x="17711" y="34126"/>
                </a:cubicBezTo>
                <a:lnTo>
                  <a:pt x="26264" y="42679"/>
                </a:lnTo>
                <a:lnTo>
                  <a:pt x="43370" y="18229"/>
                </a:lnTo>
                <a:cubicBezTo>
                  <a:pt x="46653" y="13521"/>
                  <a:pt x="53133" y="12398"/>
                  <a:pt x="57798" y="15681"/>
                </a:cubicBezTo>
                <a:close/>
                <a:moveTo>
                  <a:pt x="57798" y="84796"/>
                </a:moveTo>
                <a:cubicBezTo>
                  <a:pt x="62506" y="88079"/>
                  <a:pt x="63630" y="94559"/>
                  <a:pt x="60347" y="99224"/>
                </a:cubicBezTo>
                <a:lnTo>
                  <a:pt x="36156" y="133782"/>
                </a:lnTo>
                <a:cubicBezTo>
                  <a:pt x="34385" y="136287"/>
                  <a:pt x="31620" y="137886"/>
                  <a:pt x="28553" y="138145"/>
                </a:cubicBezTo>
                <a:cubicBezTo>
                  <a:pt x="25486" y="138404"/>
                  <a:pt x="22463" y="137367"/>
                  <a:pt x="20303" y="135207"/>
                </a:cubicBezTo>
                <a:lnTo>
                  <a:pt x="3024" y="117929"/>
                </a:lnTo>
                <a:cubicBezTo>
                  <a:pt x="-1037" y="113868"/>
                  <a:pt x="-1037" y="107302"/>
                  <a:pt x="3024" y="103285"/>
                </a:cubicBezTo>
                <a:cubicBezTo>
                  <a:pt x="7084" y="99267"/>
                  <a:pt x="13650" y="99224"/>
                  <a:pt x="17668" y="103285"/>
                </a:cubicBezTo>
                <a:lnTo>
                  <a:pt x="26221" y="111838"/>
                </a:lnTo>
                <a:lnTo>
                  <a:pt x="43327" y="87388"/>
                </a:lnTo>
                <a:cubicBezTo>
                  <a:pt x="46610" y="82680"/>
                  <a:pt x="53089" y="81556"/>
                  <a:pt x="57755" y="84839"/>
                </a:cubicBezTo>
                <a:close/>
                <a:moveTo>
                  <a:pt x="96762" y="41469"/>
                </a:moveTo>
                <a:cubicBezTo>
                  <a:pt x="96762" y="33823"/>
                  <a:pt x="102939" y="27646"/>
                  <a:pt x="110585" y="27646"/>
                </a:cubicBezTo>
                <a:lnTo>
                  <a:pt x="207347" y="27646"/>
                </a:lnTo>
                <a:cubicBezTo>
                  <a:pt x="214993" y="27646"/>
                  <a:pt x="221170" y="33823"/>
                  <a:pt x="221170" y="41469"/>
                </a:cubicBezTo>
                <a:cubicBezTo>
                  <a:pt x="221170" y="49115"/>
                  <a:pt x="214993" y="55293"/>
                  <a:pt x="207347" y="55293"/>
                </a:cubicBezTo>
                <a:lnTo>
                  <a:pt x="110585" y="55293"/>
                </a:lnTo>
                <a:cubicBezTo>
                  <a:pt x="102939" y="55293"/>
                  <a:pt x="96762" y="49115"/>
                  <a:pt x="96762" y="41469"/>
                </a:cubicBezTo>
                <a:close/>
                <a:moveTo>
                  <a:pt x="96762" y="110585"/>
                </a:moveTo>
                <a:cubicBezTo>
                  <a:pt x="96762" y="102939"/>
                  <a:pt x="102939" y="96762"/>
                  <a:pt x="110585" y="96762"/>
                </a:cubicBezTo>
                <a:lnTo>
                  <a:pt x="207347" y="96762"/>
                </a:lnTo>
                <a:cubicBezTo>
                  <a:pt x="214993" y="96762"/>
                  <a:pt x="221170" y="102939"/>
                  <a:pt x="221170" y="110585"/>
                </a:cubicBezTo>
                <a:cubicBezTo>
                  <a:pt x="221170" y="118231"/>
                  <a:pt x="214993" y="124408"/>
                  <a:pt x="207347" y="124408"/>
                </a:cubicBezTo>
                <a:lnTo>
                  <a:pt x="110585" y="124408"/>
                </a:lnTo>
                <a:cubicBezTo>
                  <a:pt x="102939" y="124408"/>
                  <a:pt x="96762" y="118231"/>
                  <a:pt x="96762" y="110585"/>
                </a:cubicBezTo>
                <a:close/>
                <a:moveTo>
                  <a:pt x="69116" y="179701"/>
                </a:moveTo>
                <a:cubicBezTo>
                  <a:pt x="69116" y="172055"/>
                  <a:pt x="75293" y="165878"/>
                  <a:pt x="82939" y="165878"/>
                </a:cubicBezTo>
                <a:lnTo>
                  <a:pt x="207347" y="165878"/>
                </a:lnTo>
                <a:cubicBezTo>
                  <a:pt x="214993" y="165878"/>
                  <a:pt x="221170" y="172055"/>
                  <a:pt x="221170" y="179701"/>
                </a:cubicBezTo>
                <a:cubicBezTo>
                  <a:pt x="221170" y="187347"/>
                  <a:pt x="214993" y="193524"/>
                  <a:pt x="207347" y="193524"/>
                </a:cubicBezTo>
                <a:lnTo>
                  <a:pt x="82939" y="193524"/>
                </a:lnTo>
                <a:cubicBezTo>
                  <a:pt x="75293" y="193524"/>
                  <a:pt x="69116" y="187347"/>
                  <a:pt x="69116" y="179701"/>
                </a:cubicBezTo>
                <a:close/>
                <a:moveTo>
                  <a:pt x="27646" y="162422"/>
                </a:moveTo>
                <a:cubicBezTo>
                  <a:pt x="37183" y="162422"/>
                  <a:pt x="44925" y="170164"/>
                  <a:pt x="44925" y="179701"/>
                </a:cubicBezTo>
                <a:cubicBezTo>
                  <a:pt x="44925" y="189237"/>
                  <a:pt x="37183" y="196980"/>
                  <a:pt x="27646" y="196980"/>
                </a:cubicBezTo>
                <a:cubicBezTo>
                  <a:pt x="18110" y="196980"/>
                  <a:pt x="10367" y="189237"/>
                  <a:pt x="10367" y="179701"/>
                </a:cubicBezTo>
                <a:cubicBezTo>
                  <a:pt x="10367" y="170164"/>
                  <a:pt x="18110" y="162422"/>
                  <a:pt x="27646" y="16242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65772" y="1363882"/>
            <a:ext cx="507769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Plano de Ação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93917" y="1810830"/>
            <a:ext cx="5234358" cy="1078204"/>
          </a:xfrm>
          <a:custGeom>
            <a:avLst/>
            <a:gdLst/>
            <a:ahLst/>
            <a:cxnLst/>
            <a:rect l="l" t="t" r="r" b="b"/>
            <a:pathLst>
              <a:path w="5234358" h="1078204">
                <a:moveTo>
                  <a:pt x="73728" y="0"/>
                </a:moveTo>
                <a:lnTo>
                  <a:pt x="5160631" y="0"/>
                </a:lnTo>
                <a:cubicBezTo>
                  <a:pt x="5201349" y="0"/>
                  <a:pt x="5234358" y="33009"/>
                  <a:pt x="5234358" y="73728"/>
                </a:cubicBezTo>
                <a:lnTo>
                  <a:pt x="5234358" y="1004476"/>
                </a:lnTo>
                <a:cubicBezTo>
                  <a:pt x="5234358" y="1045195"/>
                  <a:pt x="5201349" y="1078204"/>
                  <a:pt x="5160631" y="1078204"/>
                </a:cubicBezTo>
                <a:lnTo>
                  <a:pt x="73728" y="1078204"/>
                </a:lnTo>
                <a:cubicBezTo>
                  <a:pt x="33009" y="1078204"/>
                  <a:pt x="0" y="1045195"/>
                  <a:pt x="0" y="1004476"/>
                </a:cubicBezTo>
                <a:lnTo>
                  <a:pt x="0" y="73728"/>
                </a:lnTo>
                <a:cubicBezTo>
                  <a:pt x="0" y="33036"/>
                  <a:pt x="33036" y="0"/>
                  <a:pt x="73728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579378" y="2008961"/>
            <a:ext cx="145143" cy="165878"/>
          </a:xfrm>
          <a:custGeom>
            <a:avLst/>
            <a:gdLst/>
            <a:ahLst/>
            <a:cxnLst/>
            <a:rect l="l" t="t" r="r" b="b"/>
            <a:pathLst>
              <a:path w="145143" h="165878">
                <a:moveTo>
                  <a:pt x="41469" y="0"/>
                </a:moveTo>
                <a:cubicBezTo>
                  <a:pt x="47204" y="0"/>
                  <a:pt x="51837" y="4633"/>
                  <a:pt x="51837" y="10367"/>
                </a:cubicBezTo>
                <a:lnTo>
                  <a:pt x="51837" y="20735"/>
                </a:lnTo>
                <a:lnTo>
                  <a:pt x="93306" y="20735"/>
                </a:lnTo>
                <a:lnTo>
                  <a:pt x="93306" y="10367"/>
                </a:lnTo>
                <a:cubicBezTo>
                  <a:pt x="93306" y="4633"/>
                  <a:pt x="97939" y="0"/>
                  <a:pt x="103673" y="0"/>
                </a:cubicBezTo>
                <a:cubicBezTo>
                  <a:pt x="109408" y="0"/>
                  <a:pt x="114041" y="4633"/>
                  <a:pt x="114041" y="10367"/>
                </a:cubicBezTo>
                <a:lnTo>
                  <a:pt x="114041" y="20735"/>
                </a:lnTo>
                <a:lnTo>
                  <a:pt x="124408" y="20735"/>
                </a:lnTo>
                <a:cubicBezTo>
                  <a:pt x="135845" y="20735"/>
                  <a:pt x="145143" y="30033"/>
                  <a:pt x="145143" y="41469"/>
                </a:cubicBezTo>
                <a:lnTo>
                  <a:pt x="145143" y="134776"/>
                </a:lnTo>
                <a:cubicBezTo>
                  <a:pt x="145143" y="146212"/>
                  <a:pt x="135845" y="155510"/>
                  <a:pt x="124408" y="155510"/>
                </a:cubicBezTo>
                <a:lnTo>
                  <a:pt x="20735" y="155510"/>
                </a:lnTo>
                <a:cubicBezTo>
                  <a:pt x="9298" y="155510"/>
                  <a:pt x="0" y="146212"/>
                  <a:pt x="0" y="134776"/>
                </a:cubicBezTo>
                <a:lnTo>
                  <a:pt x="0" y="41469"/>
                </a:lnTo>
                <a:cubicBezTo>
                  <a:pt x="0" y="30033"/>
                  <a:pt x="9298" y="20735"/>
                  <a:pt x="20735" y="20735"/>
                </a:cubicBezTo>
                <a:lnTo>
                  <a:pt x="31102" y="20735"/>
                </a:lnTo>
                <a:lnTo>
                  <a:pt x="31102" y="10367"/>
                </a:lnTo>
                <a:cubicBezTo>
                  <a:pt x="31102" y="4633"/>
                  <a:pt x="35735" y="0"/>
                  <a:pt x="41469" y="0"/>
                </a:cubicBezTo>
                <a:close/>
                <a:moveTo>
                  <a:pt x="20735" y="77755"/>
                </a:moveTo>
                <a:lnTo>
                  <a:pt x="20735" y="88122"/>
                </a:lnTo>
                <a:cubicBezTo>
                  <a:pt x="20735" y="90973"/>
                  <a:pt x="23067" y="93306"/>
                  <a:pt x="25918" y="93306"/>
                </a:cubicBezTo>
                <a:lnTo>
                  <a:pt x="36286" y="93306"/>
                </a:lnTo>
                <a:cubicBezTo>
                  <a:pt x="39137" y="93306"/>
                  <a:pt x="41469" y="90973"/>
                  <a:pt x="41469" y="88122"/>
                </a:cubicBezTo>
                <a:lnTo>
                  <a:pt x="41469" y="77755"/>
                </a:lnTo>
                <a:cubicBezTo>
                  <a:pt x="41469" y="74904"/>
                  <a:pt x="39137" y="72571"/>
                  <a:pt x="36286" y="72571"/>
                </a:cubicBezTo>
                <a:lnTo>
                  <a:pt x="25918" y="72571"/>
                </a:lnTo>
                <a:cubicBezTo>
                  <a:pt x="23067" y="72571"/>
                  <a:pt x="20735" y="74904"/>
                  <a:pt x="20735" y="77755"/>
                </a:cubicBezTo>
                <a:close/>
                <a:moveTo>
                  <a:pt x="62204" y="77755"/>
                </a:moveTo>
                <a:lnTo>
                  <a:pt x="62204" y="88122"/>
                </a:lnTo>
                <a:cubicBezTo>
                  <a:pt x="62204" y="90973"/>
                  <a:pt x="64537" y="93306"/>
                  <a:pt x="67388" y="93306"/>
                </a:cubicBezTo>
                <a:lnTo>
                  <a:pt x="77755" y="93306"/>
                </a:lnTo>
                <a:cubicBezTo>
                  <a:pt x="80606" y="93306"/>
                  <a:pt x="82939" y="90973"/>
                  <a:pt x="82939" y="88122"/>
                </a:cubicBezTo>
                <a:lnTo>
                  <a:pt x="82939" y="77755"/>
                </a:lnTo>
                <a:cubicBezTo>
                  <a:pt x="82939" y="74904"/>
                  <a:pt x="80606" y="72571"/>
                  <a:pt x="77755" y="72571"/>
                </a:cubicBezTo>
                <a:lnTo>
                  <a:pt x="67388" y="72571"/>
                </a:lnTo>
                <a:cubicBezTo>
                  <a:pt x="64537" y="72571"/>
                  <a:pt x="62204" y="74904"/>
                  <a:pt x="62204" y="77755"/>
                </a:cubicBezTo>
                <a:close/>
                <a:moveTo>
                  <a:pt x="108857" y="72571"/>
                </a:moveTo>
                <a:cubicBezTo>
                  <a:pt x="106006" y="72571"/>
                  <a:pt x="103673" y="74904"/>
                  <a:pt x="103673" y="77755"/>
                </a:cubicBezTo>
                <a:lnTo>
                  <a:pt x="103673" y="88122"/>
                </a:lnTo>
                <a:cubicBezTo>
                  <a:pt x="103673" y="90973"/>
                  <a:pt x="106006" y="93306"/>
                  <a:pt x="108857" y="93306"/>
                </a:cubicBezTo>
                <a:lnTo>
                  <a:pt x="119224" y="93306"/>
                </a:lnTo>
                <a:cubicBezTo>
                  <a:pt x="122076" y="93306"/>
                  <a:pt x="124408" y="90973"/>
                  <a:pt x="124408" y="88122"/>
                </a:cubicBezTo>
                <a:lnTo>
                  <a:pt x="124408" y="77755"/>
                </a:lnTo>
                <a:cubicBezTo>
                  <a:pt x="124408" y="74904"/>
                  <a:pt x="122076" y="72571"/>
                  <a:pt x="119224" y="72571"/>
                </a:cubicBezTo>
                <a:lnTo>
                  <a:pt x="108857" y="72571"/>
                </a:lnTo>
                <a:close/>
                <a:moveTo>
                  <a:pt x="20735" y="119224"/>
                </a:moveTo>
                <a:lnTo>
                  <a:pt x="20735" y="129592"/>
                </a:lnTo>
                <a:cubicBezTo>
                  <a:pt x="20735" y="132443"/>
                  <a:pt x="23067" y="134776"/>
                  <a:pt x="25918" y="134776"/>
                </a:cubicBezTo>
                <a:lnTo>
                  <a:pt x="36286" y="134776"/>
                </a:lnTo>
                <a:cubicBezTo>
                  <a:pt x="39137" y="134776"/>
                  <a:pt x="41469" y="132443"/>
                  <a:pt x="41469" y="129592"/>
                </a:cubicBezTo>
                <a:lnTo>
                  <a:pt x="41469" y="119224"/>
                </a:lnTo>
                <a:cubicBezTo>
                  <a:pt x="41469" y="116373"/>
                  <a:pt x="39137" y="114041"/>
                  <a:pt x="36286" y="114041"/>
                </a:cubicBezTo>
                <a:lnTo>
                  <a:pt x="25918" y="114041"/>
                </a:lnTo>
                <a:cubicBezTo>
                  <a:pt x="23067" y="114041"/>
                  <a:pt x="20735" y="116373"/>
                  <a:pt x="20735" y="119224"/>
                </a:cubicBezTo>
                <a:close/>
                <a:moveTo>
                  <a:pt x="67388" y="114041"/>
                </a:moveTo>
                <a:cubicBezTo>
                  <a:pt x="64537" y="114041"/>
                  <a:pt x="62204" y="116373"/>
                  <a:pt x="62204" y="119224"/>
                </a:cubicBezTo>
                <a:lnTo>
                  <a:pt x="62204" y="129592"/>
                </a:lnTo>
                <a:cubicBezTo>
                  <a:pt x="62204" y="132443"/>
                  <a:pt x="64537" y="134776"/>
                  <a:pt x="67388" y="134776"/>
                </a:cubicBezTo>
                <a:lnTo>
                  <a:pt x="77755" y="134776"/>
                </a:lnTo>
                <a:cubicBezTo>
                  <a:pt x="80606" y="134776"/>
                  <a:pt x="82939" y="132443"/>
                  <a:pt x="82939" y="129592"/>
                </a:cubicBezTo>
                <a:lnTo>
                  <a:pt x="82939" y="119224"/>
                </a:lnTo>
                <a:cubicBezTo>
                  <a:pt x="82939" y="116373"/>
                  <a:pt x="80606" y="114041"/>
                  <a:pt x="77755" y="114041"/>
                </a:cubicBezTo>
                <a:lnTo>
                  <a:pt x="67388" y="114041"/>
                </a:lnTo>
                <a:close/>
                <a:moveTo>
                  <a:pt x="103673" y="119224"/>
                </a:moveTo>
                <a:lnTo>
                  <a:pt x="103673" y="129592"/>
                </a:lnTo>
                <a:cubicBezTo>
                  <a:pt x="103673" y="132443"/>
                  <a:pt x="106006" y="134776"/>
                  <a:pt x="108857" y="134776"/>
                </a:cubicBezTo>
                <a:lnTo>
                  <a:pt x="119224" y="134776"/>
                </a:lnTo>
                <a:cubicBezTo>
                  <a:pt x="122076" y="134776"/>
                  <a:pt x="124408" y="132443"/>
                  <a:pt x="124408" y="129592"/>
                </a:cubicBezTo>
                <a:lnTo>
                  <a:pt x="124408" y="119224"/>
                </a:lnTo>
                <a:cubicBezTo>
                  <a:pt x="124408" y="116373"/>
                  <a:pt x="122076" y="114041"/>
                  <a:pt x="119224" y="114041"/>
                </a:cubicBezTo>
                <a:lnTo>
                  <a:pt x="108857" y="114041"/>
                </a:lnTo>
                <a:cubicBezTo>
                  <a:pt x="106006" y="114041"/>
                  <a:pt x="103673" y="116373"/>
                  <a:pt x="103673" y="11922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757926" y="1962884"/>
            <a:ext cx="480123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Período de Isenção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45972" y="2294639"/>
            <a:ext cx="5003973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Elo poderá conceder até </a:t>
            </a:r>
            <a:r>
              <a:rPr lang="en-US" sz="116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dias</a:t>
            </a: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isenção caso o participante apresente um </a:t>
            </a:r>
            <a:r>
              <a:rPr lang="en-US" sz="116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plano de ação consistente</a:t>
            </a: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devidamente aprovado pela Elo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9310" y="3004227"/>
            <a:ext cx="5243574" cy="737234"/>
          </a:xfrm>
          <a:custGeom>
            <a:avLst/>
            <a:gdLst/>
            <a:ahLst/>
            <a:cxnLst/>
            <a:rect l="l" t="t" r="r" b="b"/>
            <a:pathLst>
              <a:path w="5243574" h="737234">
                <a:moveTo>
                  <a:pt x="73723" y="0"/>
                </a:moveTo>
                <a:lnTo>
                  <a:pt x="5169850" y="0"/>
                </a:lnTo>
                <a:cubicBezTo>
                  <a:pt x="5210567" y="0"/>
                  <a:pt x="5243574" y="33007"/>
                  <a:pt x="5243574" y="73723"/>
                </a:cubicBezTo>
                <a:lnTo>
                  <a:pt x="5243574" y="663510"/>
                </a:lnTo>
                <a:cubicBezTo>
                  <a:pt x="5243574" y="704226"/>
                  <a:pt x="5210567" y="737234"/>
                  <a:pt x="5169850" y="737234"/>
                </a:cubicBezTo>
                <a:lnTo>
                  <a:pt x="73723" y="737234"/>
                </a:lnTo>
                <a:cubicBezTo>
                  <a:pt x="33007" y="737234"/>
                  <a:pt x="0" y="704226"/>
                  <a:pt x="0" y="663510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499895" y="3114812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184308" y="0"/>
                </a:moveTo>
                <a:lnTo>
                  <a:pt x="184308" y="0"/>
                </a:lnTo>
                <a:cubicBezTo>
                  <a:pt x="286031" y="0"/>
                  <a:pt x="368617" y="82586"/>
                  <a:pt x="368617" y="184308"/>
                </a:cubicBezTo>
                <a:lnTo>
                  <a:pt x="368617" y="184308"/>
                </a:lnTo>
                <a:cubicBezTo>
                  <a:pt x="368617" y="286031"/>
                  <a:pt x="286031" y="368617"/>
                  <a:pt x="184308" y="368617"/>
                </a:cubicBezTo>
                <a:lnTo>
                  <a:pt x="184308" y="368617"/>
                </a:lnTo>
                <a:cubicBezTo>
                  <a:pt x="82586" y="368617"/>
                  <a:pt x="0" y="286031"/>
                  <a:pt x="0" y="184308"/>
                </a:cubicBezTo>
                <a:lnTo>
                  <a:pt x="0" y="184308"/>
                </a:lnTo>
                <a:cubicBezTo>
                  <a:pt x="0" y="82586"/>
                  <a:pt x="82586" y="0"/>
                  <a:pt x="18430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657853" y="3170104"/>
            <a:ext cx="13823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79096" y="3114812"/>
            <a:ext cx="278305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Download do Template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79096" y="3409705"/>
            <a:ext cx="277384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Baixar template </a:t>
            </a:r>
            <a:r>
              <a:rPr lang="en-US" sz="1161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"Plano de Ação PEF e PED"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9310" y="3852045"/>
            <a:ext cx="5243574" cy="737234"/>
          </a:xfrm>
          <a:custGeom>
            <a:avLst/>
            <a:gdLst/>
            <a:ahLst/>
            <a:cxnLst/>
            <a:rect l="l" t="t" r="r" b="b"/>
            <a:pathLst>
              <a:path w="5243574" h="737234">
                <a:moveTo>
                  <a:pt x="73723" y="0"/>
                </a:moveTo>
                <a:lnTo>
                  <a:pt x="5169850" y="0"/>
                </a:lnTo>
                <a:cubicBezTo>
                  <a:pt x="5210567" y="0"/>
                  <a:pt x="5243574" y="33007"/>
                  <a:pt x="5243574" y="73723"/>
                </a:cubicBezTo>
                <a:lnTo>
                  <a:pt x="5243574" y="663510"/>
                </a:lnTo>
                <a:cubicBezTo>
                  <a:pt x="5243574" y="704226"/>
                  <a:pt x="5210567" y="737234"/>
                  <a:pt x="5169850" y="737234"/>
                </a:cubicBezTo>
                <a:lnTo>
                  <a:pt x="73723" y="737234"/>
                </a:lnTo>
                <a:cubicBezTo>
                  <a:pt x="33007" y="737234"/>
                  <a:pt x="0" y="704226"/>
                  <a:pt x="0" y="663510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499895" y="3962630"/>
            <a:ext cx="368617" cy="368617"/>
          </a:xfrm>
          <a:custGeom>
            <a:avLst/>
            <a:gdLst/>
            <a:ahLst/>
            <a:cxnLst/>
            <a:rect l="l" t="t" r="r" b="b"/>
            <a:pathLst>
              <a:path w="368617" h="368617">
                <a:moveTo>
                  <a:pt x="184308" y="0"/>
                </a:moveTo>
                <a:lnTo>
                  <a:pt x="184308" y="0"/>
                </a:lnTo>
                <a:cubicBezTo>
                  <a:pt x="286031" y="0"/>
                  <a:pt x="368617" y="82586"/>
                  <a:pt x="368617" y="184308"/>
                </a:cubicBezTo>
                <a:lnTo>
                  <a:pt x="368617" y="184308"/>
                </a:lnTo>
                <a:cubicBezTo>
                  <a:pt x="368617" y="286031"/>
                  <a:pt x="286031" y="368617"/>
                  <a:pt x="184308" y="368617"/>
                </a:cubicBezTo>
                <a:lnTo>
                  <a:pt x="184308" y="368617"/>
                </a:lnTo>
                <a:cubicBezTo>
                  <a:pt x="82586" y="368617"/>
                  <a:pt x="0" y="286031"/>
                  <a:pt x="0" y="184308"/>
                </a:cubicBezTo>
                <a:lnTo>
                  <a:pt x="0" y="184308"/>
                </a:lnTo>
                <a:cubicBezTo>
                  <a:pt x="0" y="82586"/>
                  <a:pt x="82586" y="0"/>
                  <a:pt x="18430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641870" y="4017923"/>
            <a:ext cx="165878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79096" y="3962630"/>
            <a:ext cx="356636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Prazo de Envio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79096" y="4257524"/>
            <a:ext cx="3557152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Enviar em até </a:t>
            </a:r>
            <a:r>
              <a:rPr lang="en-US" sz="116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dias corridos</a:t>
            </a:r>
            <a:r>
              <a:rPr lang="en-US" sz="116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partir da 1ª notificação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9310" y="4699864"/>
            <a:ext cx="5243574" cy="1290159"/>
          </a:xfrm>
          <a:custGeom>
            <a:avLst/>
            <a:gdLst/>
            <a:ahLst/>
            <a:cxnLst/>
            <a:rect l="l" t="t" r="r" b="b"/>
            <a:pathLst>
              <a:path w="5243574" h="1290159">
                <a:moveTo>
                  <a:pt x="73720" y="0"/>
                </a:moveTo>
                <a:lnTo>
                  <a:pt x="5169854" y="0"/>
                </a:lnTo>
                <a:cubicBezTo>
                  <a:pt x="5210568" y="0"/>
                  <a:pt x="5243574" y="33005"/>
                  <a:pt x="5243574" y="73720"/>
                </a:cubicBezTo>
                <a:lnTo>
                  <a:pt x="5243574" y="1216439"/>
                </a:lnTo>
                <a:cubicBezTo>
                  <a:pt x="5243574" y="1257153"/>
                  <a:pt x="5210568" y="1290159"/>
                  <a:pt x="5169854" y="1290159"/>
                </a:cubicBezTo>
                <a:lnTo>
                  <a:pt x="73720" y="1290159"/>
                </a:lnTo>
                <a:cubicBezTo>
                  <a:pt x="33005" y="1290159"/>
                  <a:pt x="0" y="1257153"/>
                  <a:pt x="0" y="1216439"/>
                </a:cubicBezTo>
                <a:lnTo>
                  <a:pt x="0" y="73720"/>
                </a:lnTo>
                <a:cubicBezTo>
                  <a:pt x="0" y="33033"/>
                  <a:pt x="33033" y="0"/>
                  <a:pt x="7372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499895" y="4810449"/>
            <a:ext cx="5105342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Condições do Período de Isenção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27541" y="5179066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125215" y="20188"/>
                </a:moveTo>
                <a:cubicBezTo>
                  <a:pt x="129333" y="23183"/>
                  <a:pt x="130254" y="28942"/>
                  <a:pt x="127259" y="33060"/>
                </a:cubicBezTo>
                <a:lnTo>
                  <a:pt x="53536" y="134430"/>
                </a:lnTo>
                <a:cubicBezTo>
                  <a:pt x="51952" y="136619"/>
                  <a:pt x="49504" y="137972"/>
                  <a:pt x="46797" y="138202"/>
                </a:cubicBezTo>
                <a:cubicBezTo>
                  <a:pt x="44090" y="138433"/>
                  <a:pt x="41469" y="137425"/>
                  <a:pt x="39569" y="135524"/>
                </a:cubicBezTo>
                <a:lnTo>
                  <a:pt x="2707" y="98663"/>
                </a:lnTo>
                <a:cubicBezTo>
                  <a:pt x="-893" y="95063"/>
                  <a:pt x="-893" y="89217"/>
                  <a:pt x="2707" y="85617"/>
                </a:cubicBezTo>
                <a:cubicBezTo>
                  <a:pt x="6307" y="82017"/>
                  <a:pt x="12153" y="82017"/>
                  <a:pt x="15753" y="85617"/>
                </a:cubicBezTo>
                <a:lnTo>
                  <a:pt x="44983" y="114847"/>
                </a:lnTo>
                <a:lnTo>
                  <a:pt x="112371" y="22203"/>
                </a:lnTo>
                <a:cubicBezTo>
                  <a:pt x="115366" y="18085"/>
                  <a:pt x="121125" y="17164"/>
                  <a:pt x="125243" y="2015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757926" y="5142204"/>
            <a:ext cx="208268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Limitado a </a:t>
            </a:r>
            <a:r>
              <a:rPr lang="en-US" sz="1161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dias em 12 meses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27541" y="5437098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125215" y="20188"/>
                </a:moveTo>
                <a:cubicBezTo>
                  <a:pt x="129333" y="23183"/>
                  <a:pt x="130254" y="28942"/>
                  <a:pt x="127259" y="33060"/>
                </a:cubicBezTo>
                <a:lnTo>
                  <a:pt x="53536" y="134430"/>
                </a:lnTo>
                <a:cubicBezTo>
                  <a:pt x="51952" y="136619"/>
                  <a:pt x="49504" y="137972"/>
                  <a:pt x="46797" y="138202"/>
                </a:cubicBezTo>
                <a:cubicBezTo>
                  <a:pt x="44090" y="138433"/>
                  <a:pt x="41469" y="137425"/>
                  <a:pt x="39569" y="135524"/>
                </a:cubicBezTo>
                <a:lnTo>
                  <a:pt x="2707" y="98663"/>
                </a:lnTo>
                <a:cubicBezTo>
                  <a:pt x="-893" y="95063"/>
                  <a:pt x="-893" y="89217"/>
                  <a:pt x="2707" y="85617"/>
                </a:cubicBezTo>
                <a:cubicBezTo>
                  <a:pt x="6307" y="82017"/>
                  <a:pt x="12153" y="82017"/>
                  <a:pt x="15753" y="85617"/>
                </a:cubicBezTo>
                <a:lnTo>
                  <a:pt x="44983" y="114847"/>
                </a:lnTo>
                <a:lnTo>
                  <a:pt x="112371" y="22203"/>
                </a:lnTo>
                <a:cubicBezTo>
                  <a:pt x="115366" y="18085"/>
                  <a:pt x="121125" y="17164"/>
                  <a:pt x="125243" y="2015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757926" y="5400236"/>
            <a:ext cx="288442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Contados a partir do </a:t>
            </a:r>
            <a:r>
              <a:rPr lang="en-US" sz="1161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primeiro plano de ação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27541" y="5695129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125215" y="20188"/>
                </a:moveTo>
                <a:cubicBezTo>
                  <a:pt x="129333" y="23183"/>
                  <a:pt x="130254" y="28942"/>
                  <a:pt x="127259" y="33060"/>
                </a:cubicBezTo>
                <a:lnTo>
                  <a:pt x="53536" y="134430"/>
                </a:lnTo>
                <a:cubicBezTo>
                  <a:pt x="51952" y="136619"/>
                  <a:pt x="49504" y="137972"/>
                  <a:pt x="46797" y="138202"/>
                </a:cubicBezTo>
                <a:cubicBezTo>
                  <a:pt x="44090" y="138433"/>
                  <a:pt x="41469" y="137425"/>
                  <a:pt x="39569" y="135524"/>
                </a:cubicBezTo>
                <a:lnTo>
                  <a:pt x="2707" y="98663"/>
                </a:lnTo>
                <a:cubicBezTo>
                  <a:pt x="-893" y="95063"/>
                  <a:pt x="-893" y="89217"/>
                  <a:pt x="2707" y="85617"/>
                </a:cubicBezTo>
                <a:cubicBezTo>
                  <a:pt x="6307" y="82017"/>
                  <a:pt x="12153" y="82017"/>
                  <a:pt x="15753" y="85617"/>
                </a:cubicBezTo>
                <a:lnTo>
                  <a:pt x="44983" y="114847"/>
                </a:lnTo>
                <a:lnTo>
                  <a:pt x="112371" y="22203"/>
                </a:lnTo>
                <a:cubicBezTo>
                  <a:pt x="115366" y="18085"/>
                  <a:pt x="121125" y="17164"/>
                  <a:pt x="125243" y="2015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757926" y="5658268"/>
            <a:ext cx="196288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Plano deve ser </a:t>
            </a:r>
            <a:r>
              <a:rPr lang="en-US" sz="1161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aceito pela Elo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3224" y="6326385"/>
            <a:ext cx="11445551" cy="525279"/>
          </a:xfrm>
          <a:custGeom>
            <a:avLst/>
            <a:gdLst/>
            <a:ahLst/>
            <a:cxnLst/>
            <a:rect l="l" t="t" r="r" b="b"/>
            <a:pathLst>
              <a:path w="11445551" h="525279">
                <a:moveTo>
                  <a:pt x="73723" y="0"/>
                </a:moveTo>
                <a:lnTo>
                  <a:pt x="11371828" y="0"/>
                </a:lnTo>
                <a:cubicBezTo>
                  <a:pt x="11412544" y="0"/>
                  <a:pt x="11445551" y="33007"/>
                  <a:pt x="11445551" y="73723"/>
                </a:cubicBezTo>
                <a:lnTo>
                  <a:pt x="11445551" y="451556"/>
                </a:lnTo>
                <a:cubicBezTo>
                  <a:pt x="11445551" y="492272"/>
                  <a:pt x="11412544" y="525279"/>
                  <a:pt x="11371828" y="525279"/>
                </a:cubicBezTo>
                <a:lnTo>
                  <a:pt x="73723" y="525279"/>
                </a:lnTo>
                <a:cubicBezTo>
                  <a:pt x="33007" y="525279"/>
                  <a:pt x="0" y="492272"/>
                  <a:pt x="0" y="451556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543710" y="6515302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73723" y="0"/>
                </a:moveTo>
                <a:cubicBezTo>
                  <a:pt x="77957" y="0"/>
                  <a:pt x="81844" y="2333"/>
                  <a:pt x="83860" y="6048"/>
                </a:cubicBezTo>
                <a:lnTo>
                  <a:pt x="146064" y="121240"/>
                </a:lnTo>
                <a:cubicBezTo>
                  <a:pt x="147994" y="124811"/>
                  <a:pt x="147907" y="129131"/>
                  <a:pt x="145834" y="132616"/>
                </a:cubicBezTo>
                <a:cubicBezTo>
                  <a:pt x="143761" y="136100"/>
                  <a:pt x="139988" y="138231"/>
                  <a:pt x="135927" y="138231"/>
                </a:cubicBezTo>
                <a:lnTo>
                  <a:pt x="11519" y="138231"/>
                </a:lnTo>
                <a:cubicBezTo>
                  <a:pt x="7459" y="138231"/>
                  <a:pt x="3715" y="136100"/>
                  <a:pt x="1613" y="132616"/>
                </a:cubicBezTo>
                <a:cubicBezTo>
                  <a:pt x="-490" y="129131"/>
                  <a:pt x="-547" y="124811"/>
                  <a:pt x="1382" y="121240"/>
                </a:cubicBezTo>
                <a:lnTo>
                  <a:pt x="63586" y="6048"/>
                </a:lnTo>
                <a:cubicBezTo>
                  <a:pt x="65602" y="2333"/>
                  <a:pt x="69490" y="0"/>
                  <a:pt x="73723" y="0"/>
                </a:cubicBezTo>
                <a:close/>
                <a:moveTo>
                  <a:pt x="73723" y="48381"/>
                </a:moveTo>
                <a:cubicBezTo>
                  <a:pt x="69893" y="48381"/>
                  <a:pt x="66812" y="51462"/>
                  <a:pt x="66812" y="55293"/>
                </a:cubicBezTo>
                <a:lnTo>
                  <a:pt x="66812" y="87546"/>
                </a:lnTo>
                <a:cubicBezTo>
                  <a:pt x="66812" y="91377"/>
                  <a:pt x="69893" y="94458"/>
                  <a:pt x="73723" y="94458"/>
                </a:cubicBezTo>
                <a:cubicBezTo>
                  <a:pt x="77554" y="94458"/>
                  <a:pt x="80635" y="91377"/>
                  <a:pt x="80635" y="87546"/>
                </a:cubicBezTo>
                <a:lnTo>
                  <a:pt x="80635" y="55293"/>
                </a:lnTo>
                <a:cubicBezTo>
                  <a:pt x="80635" y="51462"/>
                  <a:pt x="77554" y="48381"/>
                  <a:pt x="73723" y="48381"/>
                </a:cubicBezTo>
                <a:close/>
                <a:moveTo>
                  <a:pt x="81412" y="110585"/>
                </a:moveTo>
                <a:cubicBezTo>
                  <a:pt x="81587" y="107731"/>
                  <a:pt x="80164" y="105015"/>
                  <a:pt x="77717" y="103536"/>
                </a:cubicBezTo>
                <a:cubicBezTo>
                  <a:pt x="75271" y="102056"/>
                  <a:pt x="72205" y="102056"/>
                  <a:pt x="69758" y="103536"/>
                </a:cubicBezTo>
                <a:cubicBezTo>
                  <a:pt x="67311" y="105015"/>
                  <a:pt x="65888" y="107731"/>
                  <a:pt x="66063" y="110585"/>
                </a:cubicBezTo>
                <a:cubicBezTo>
                  <a:pt x="65888" y="113439"/>
                  <a:pt x="67311" y="116155"/>
                  <a:pt x="69758" y="117635"/>
                </a:cubicBezTo>
                <a:cubicBezTo>
                  <a:pt x="72205" y="119114"/>
                  <a:pt x="75271" y="119114"/>
                  <a:pt x="77717" y="117635"/>
                </a:cubicBezTo>
                <a:cubicBezTo>
                  <a:pt x="80164" y="116155"/>
                  <a:pt x="81587" y="113439"/>
                  <a:pt x="81412" y="11058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763083" y="6478440"/>
            <a:ext cx="10977362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Consequência do Não Envio:</a:t>
            </a: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Decorrido o prazo, caso a Elo não tenha recebido o plano, a </a:t>
            </a:r>
            <a:r>
              <a:rPr lang="en-US" sz="116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 e cobrança serão publicadas</a:t>
            </a:r>
            <a:r>
              <a:rPr lang="en-US" sz="116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partir do primeiro mês.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420" y="320420"/>
            <a:ext cx="11615243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420" y="576757"/>
            <a:ext cx="11695348" cy="3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EFM - Excessive Fraud Merchant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6442" y="1025346"/>
            <a:ext cx="11535138" cy="1145503"/>
          </a:xfrm>
          <a:custGeom>
            <a:avLst/>
            <a:gdLst/>
            <a:ahLst/>
            <a:cxnLst/>
            <a:rect l="l" t="t" r="r" b="b"/>
            <a:pathLst>
              <a:path w="11535138" h="1145503">
                <a:moveTo>
                  <a:pt x="32042" y="0"/>
                </a:moveTo>
                <a:lnTo>
                  <a:pt x="11471059" y="0"/>
                </a:lnTo>
                <a:cubicBezTo>
                  <a:pt x="11506449" y="0"/>
                  <a:pt x="11535138" y="28689"/>
                  <a:pt x="11535138" y="64079"/>
                </a:cubicBezTo>
                <a:lnTo>
                  <a:pt x="11535138" y="1081424"/>
                </a:lnTo>
                <a:cubicBezTo>
                  <a:pt x="11535138" y="1116814"/>
                  <a:pt x="11506449" y="1145503"/>
                  <a:pt x="11471059" y="1145503"/>
                </a:cubicBezTo>
                <a:lnTo>
                  <a:pt x="32042" y="1145503"/>
                </a:lnTo>
                <a:cubicBezTo>
                  <a:pt x="14346" y="1145503"/>
                  <a:pt x="0" y="1131158"/>
                  <a:pt x="0" y="111346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36442" y="1025346"/>
            <a:ext cx="32042" cy="1145503"/>
          </a:xfrm>
          <a:custGeom>
            <a:avLst/>
            <a:gdLst/>
            <a:ahLst/>
            <a:cxnLst/>
            <a:rect l="l" t="t" r="r" b="b"/>
            <a:pathLst>
              <a:path w="32042" h="1145503">
                <a:moveTo>
                  <a:pt x="32042" y="0"/>
                </a:moveTo>
                <a:lnTo>
                  <a:pt x="32042" y="0"/>
                </a:lnTo>
                <a:lnTo>
                  <a:pt x="32042" y="1145503"/>
                </a:lnTo>
                <a:lnTo>
                  <a:pt x="32042" y="1145503"/>
                </a:lnTo>
                <a:cubicBezTo>
                  <a:pt x="14346" y="1145503"/>
                  <a:pt x="0" y="1131158"/>
                  <a:pt x="0" y="111346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720" y="1217598"/>
            <a:ext cx="168221" cy="192252"/>
          </a:xfrm>
          <a:custGeom>
            <a:avLst/>
            <a:gdLst/>
            <a:ahLst/>
            <a:cxnLst/>
            <a:rect l="l" t="t" r="r" b="b"/>
            <a:pathLst>
              <a:path w="168221" h="192252">
                <a:moveTo>
                  <a:pt x="64209" y="-6008"/>
                </a:moveTo>
                <a:cubicBezTo>
                  <a:pt x="50541" y="-6008"/>
                  <a:pt x="42506" y="15883"/>
                  <a:pt x="38563" y="36047"/>
                </a:cubicBezTo>
                <a:lnTo>
                  <a:pt x="27035" y="36047"/>
                </a:lnTo>
                <a:cubicBezTo>
                  <a:pt x="22041" y="36047"/>
                  <a:pt x="18024" y="40065"/>
                  <a:pt x="18024" y="45059"/>
                </a:cubicBezTo>
                <a:cubicBezTo>
                  <a:pt x="18024" y="50053"/>
                  <a:pt x="22041" y="54071"/>
                  <a:pt x="27035" y="54071"/>
                </a:cubicBezTo>
                <a:lnTo>
                  <a:pt x="36047" y="54071"/>
                </a:lnTo>
                <a:lnTo>
                  <a:pt x="36047" y="66087"/>
                </a:lnTo>
                <a:cubicBezTo>
                  <a:pt x="36047" y="72470"/>
                  <a:pt x="37286" y="78553"/>
                  <a:pt x="39539" y="84110"/>
                </a:cubicBezTo>
                <a:lnTo>
                  <a:pt x="36047" y="84110"/>
                </a:lnTo>
                <a:lnTo>
                  <a:pt x="36047" y="84110"/>
                </a:lnTo>
                <a:lnTo>
                  <a:pt x="28350" y="84110"/>
                </a:lnTo>
                <a:cubicBezTo>
                  <a:pt x="22642" y="84110"/>
                  <a:pt x="18024" y="88729"/>
                  <a:pt x="18024" y="94436"/>
                </a:cubicBezTo>
                <a:cubicBezTo>
                  <a:pt x="18024" y="95563"/>
                  <a:pt x="18211" y="96652"/>
                  <a:pt x="18549" y="97703"/>
                </a:cubicBezTo>
                <a:lnTo>
                  <a:pt x="29401" y="130221"/>
                </a:lnTo>
                <a:cubicBezTo>
                  <a:pt x="15095" y="142537"/>
                  <a:pt x="6008" y="160748"/>
                  <a:pt x="6008" y="181100"/>
                </a:cubicBezTo>
                <a:cubicBezTo>
                  <a:pt x="6008" y="187258"/>
                  <a:pt x="11002" y="192252"/>
                  <a:pt x="17160" y="192252"/>
                </a:cubicBezTo>
                <a:lnTo>
                  <a:pt x="151061" y="192252"/>
                </a:lnTo>
                <a:cubicBezTo>
                  <a:pt x="157219" y="192252"/>
                  <a:pt x="162213" y="187258"/>
                  <a:pt x="162213" y="181100"/>
                </a:cubicBezTo>
                <a:cubicBezTo>
                  <a:pt x="162213" y="160748"/>
                  <a:pt x="153126" y="142537"/>
                  <a:pt x="138820" y="130258"/>
                </a:cubicBezTo>
                <a:lnTo>
                  <a:pt x="149671" y="97741"/>
                </a:lnTo>
                <a:cubicBezTo>
                  <a:pt x="150009" y="96689"/>
                  <a:pt x="150197" y="95600"/>
                  <a:pt x="150197" y="94474"/>
                </a:cubicBezTo>
                <a:cubicBezTo>
                  <a:pt x="150197" y="88766"/>
                  <a:pt x="145579" y="84148"/>
                  <a:pt x="139871" y="84148"/>
                </a:cubicBezTo>
                <a:lnTo>
                  <a:pt x="132173" y="84148"/>
                </a:lnTo>
                <a:lnTo>
                  <a:pt x="132173" y="84148"/>
                </a:lnTo>
                <a:lnTo>
                  <a:pt x="128681" y="84148"/>
                </a:lnTo>
                <a:cubicBezTo>
                  <a:pt x="130934" y="78591"/>
                  <a:pt x="132173" y="72508"/>
                  <a:pt x="132173" y="66124"/>
                </a:cubicBezTo>
                <a:lnTo>
                  <a:pt x="132173" y="54109"/>
                </a:lnTo>
                <a:lnTo>
                  <a:pt x="141185" y="54109"/>
                </a:lnTo>
                <a:cubicBezTo>
                  <a:pt x="146179" y="54109"/>
                  <a:pt x="150197" y="50091"/>
                  <a:pt x="150197" y="45097"/>
                </a:cubicBezTo>
                <a:cubicBezTo>
                  <a:pt x="150197" y="40103"/>
                  <a:pt x="146179" y="36085"/>
                  <a:pt x="141185" y="36085"/>
                </a:cubicBezTo>
                <a:lnTo>
                  <a:pt x="129658" y="36085"/>
                </a:lnTo>
                <a:cubicBezTo>
                  <a:pt x="125753" y="15921"/>
                  <a:pt x="117679" y="-5970"/>
                  <a:pt x="104011" y="-5970"/>
                </a:cubicBezTo>
                <a:cubicBezTo>
                  <a:pt x="100407" y="-5970"/>
                  <a:pt x="96877" y="-4506"/>
                  <a:pt x="93685" y="-2891"/>
                </a:cubicBezTo>
                <a:cubicBezTo>
                  <a:pt x="90606" y="-1352"/>
                  <a:pt x="86776" y="38"/>
                  <a:pt x="84110" y="38"/>
                </a:cubicBezTo>
                <a:cubicBezTo>
                  <a:pt x="81444" y="38"/>
                  <a:pt x="77614" y="-1352"/>
                  <a:pt x="74535" y="-2891"/>
                </a:cubicBezTo>
                <a:cubicBezTo>
                  <a:pt x="71344" y="-4543"/>
                  <a:pt x="67814" y="-6008"/>
                  <a:pt x="64209" y="-6008"/>
                </a:cubicBezTo>
                <a:close/>
                <a:moveTo>
                  <a:pt x="99393" y="175881"/>
                </a:moveTo>
                <a:lnTo>
                  <a:pt x="90081" y="149258"/>
                </a:lnTo>
                <a:lnTo>
                  <a:pt x="100557" y="137055"/>
                </a:lnTo>
                <a:cubicBezTo>
                  <a:pt x="101571" y="135853"/>
                  <a:pt x="102134" y="134351"/>
                  <a:pt x="102134" y="132774"/>
                </a:cubicBezTo>
                <a:cubicBezTo>
                  <a:pt x="102134" y="129132"/>
                  <a:pt x="99205" y="126203"/>
                  <a:pt x="95563" y="126203"/>
                </a:cubicBezTo>
                <a:lnTo>
                  <a:pt x="72658" y="126203"/>
                </a:lnTo>
                <a:cubicBezTo>
                  <a:pt x="69016" y="126203"/>
                  <a:pt x="66087" y="129132"/>
                  <a:pt x="66087" y="132774"/>
                </a:cubicBezTo>
                <a:cubicBezTo>
                  <a:pt x="66087" y="134351"/>
                  <a:pt x="66650" y="135853"/>
                  <a:pt x="67664" y="137055"/>
                </a:cubicBezTo>
                <a:lnTo>
                  <a:pt x="78140" y="149258"/>
                </a:lnTo>
                <a:lnTo>
                  <a:pt x="68828" y="175881"/>
                </a:lnTo>
                <a:lnTo>
                  <a:pt x="47425" y="108142"/>
                </a:lnTo>
                <a:lnTo>
                  <a:pt x="60830" y="108142"/>
                </a:lnTo>
                <a:cubicBezTo>
                  <a:pt x="67739" y="111972"/>
                  <a:pt x="75662" y="114150"/>
                  <a:pt x="84110" y="114150"/>
                </a:cubicBezTo>
                <a:cubicBezTo>
                  <a:pt x="92559" y="114150"/>
                  <a:pt x="100482" y="111972"/>
                  <a:pt x="107391" y="108142"/>
                </a:cubicBezTo>
                <a:lnTo>
                  <a:pt x="120796" y="108142"/>
                </a:lnTo>
                <a:lnTo>
                  <a:pt x="99393" y="175881"/>
                </a:lnTo>
                <a:close/>
                <a:moveTo>
                  <a:pt x="84110" y="96126"/>
                </a:moveTo>
                <a:cubicBezTo>
                  <a:pt x="71081" y="96126"/>
                  <a:pt x="60004" y="87828"/>
                  <a:pt x="55836" y="76225"/>
                </a:cubicBezTo>
                <a:cubicBezTo>
                  <a:pt x="57976" y="77427"/>
                  <a:pt x="60454" y="78102"/>
                  <a:pt x="63083" y="78102"/>
                </a:cubicBezTo>
                <a:lnTo>
                  <a:pt x="67739" y="78102"/>
                </a:lnTo>
                <a:cubicBezTo>
                  <a:pt x="73935" y="78102"/>
                  <a:pt x="79417" y="74122"/>
                  <a:pt x="81369" y="68265"/>
                </a:cubicBezTo>
                <a:cubicBezTo>
                  <a:pt x="82233" y="65636"/>
                  <a:pt x="85950" y="65636"/>
                  <a:pt x="86814" y="68265"/>
                </a:cubicBezTo>
                <a:cubicBezTo>
                  <a:pt x="88766" y="74122"/>
                  <a:pt x="94286" y="78102"/>
                  <a:pt x="100444" y="78102"/>
                </a:cubicBezTo>
                <a:lnTo>
                  <a:pt x="105100" y="78102"/>
                </a:lnTo>
                <a:cubicBezTo>
                  <a:pt x="107729" y="78102"/>
                  <a:pt x="110207" y="77427"/>
                  <a:pt x="112347" y="76225"/>
                </a:cubicBezTo>
                <a:cubicBezTo>
                  <a:pt x="108179" y="87828"/>
                  <a:pt x="97102" y="96126"/>
                  <a:pt x="84073" y="9612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52988" y="1185556"/>
            <a:ext cx="11054507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EFM?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673" y="1538018"/>
            <a:ext cx="11270791" cy="47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r>
              <a:rPr lang="en-US" sz="113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Fraud Merchant (EFM)</a:t>
            </a:r>
            <a:r>
              <a:rPr lang="en-US" sz="113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 um programa que </a:t>
            </a:r>
            <a:r>
              <a:rPr lang="en-US" sz="113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 estabelecimentos com volume excessivo de fraude</a:t>
            </a:r>
            <a:r>
              <a:rPr lang="en-US" sz="113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mês. Diferente do ECP, </a:t>
            </a:r>
            <a:r>
              <a:rPr lang="en-US" sz="113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há um plano de ação específico</a:t>
            </a:r>
            <a:r>
              <a:rPr lang="en-US" sz="113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 Mastercard tem ferramentas de controle e mitigação de fraude para monitoria.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6442" y="2295012"/>
            <a:ext cx="11535138" cy="2987921"/>
          </a:xfrm>
          <a:custGeom>
            <a:avLst/>
            <a:gdLst/>
            <a:ahLst/>
            <a:cxnLst/>
            <a:rect l="l" t="t" r="r" b="b"/>
            <a:pathLst>
              <a:path w="11535138" h="2987921">
                <a:moveTo>
                  <a:pt x="32042" y="0"/>
                </a:moveTo>
                <a:lnTo>
                  <a:pt x="11471047" y="0"/>
                </a:lnTo>
                <a:cubicBezTo>
                  <a:pt x="11506443" y="0"/>
                  <a:pt x="11535138" y="28694"/>
                  <a:pt x="11535138" y="64091"/>
                </a:cubicBezTo>
                <a:lnTo>
                  <a:pt x="11535138" y="2923830"/>
                </a:lnTo>
                <a:cubicBezTo>
                  <a:pt x="11535138" y="2959227"/>
                  <a:pt x="11506443" y="2987921"/>
                  <a:pt x="11471047" y="2987921"/>
                </a:cubicBezTo>
                <a:lnTo>
                  <a:pt x="32042" y="2987921"/>
                </a:lnTo>
                <a:cubicBezTo>
                  <a:pt x="14346" y="2987921"/>
                  <a:pt x="0" y="2973575"/>
                  <a:pt x="0" y="2955879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36442" y="2295012"/>
            <a:ext cx="32042" cy="2987921"/>
          </a:xfrm>
          <a:custGeom>
            <a:avLst/>
            <a:gdLst/>
            <a:ahLst/>
            <a:cxnLst/>
            <a:rect l="l" t="t" r="r" b="b"/>
            <a:pathLst>
              <a:path w="32042" h="2987921">
                <a:moveTo>
                  <a:pt x="32042" y="0"/>
                </a:moveTo>
                <a:lnTo>
                  <a:pt x="32042" y="0"/>
                </a:lnTo>
                <a:lnTo>
                  <a:pt x="32042" y="2987921"/>
                </a:lnTo>
                <a:lnTo>
                  <a:pt x="32042" y="2987921"/>
                </a:lnTo>
                <a:cubicBezTo>
                  <a:pt x="14346" y="2987921"/>
                  <a:pt x="0" y="2973575"/>
                  <a:pt x="0" y="2955879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0736" y="2487264"/>
            <a:ext cx="144189" cy="192252"/>
          </a:xfrm>
          <a:custGeom>
            <a:avLst/>
            <a:gdLst/>
            <a:ahLst/>
            <a:cxnLst/>
            <a:rect l="l" t="t" r="r" b="b"/>
            <a:pathLst>
              <a:path w="144189" h="192252">
                <a:moveTo>
                  <a:pt x="116928" y="12016"/>
                </a:moveTo>
                <a:lnTo>
                  <a:pt x="120158" y="12016"/>
                </a:lnTo>
                <a:cubicBezTo>
                  <a:pt x="133413" y="12016"/>
                  <a:pt x="144189" y="22792"/>
                  <a:pt x="144189" y="36047"/>
                </a:cubicBezTo>
                <a:lnTo>
                  <a:pt x="144189" y="168221"/>
                </a:lnTo>
                <a:cubicBezTo>
                  <a:pt x="144189" y="181476"/>
                  <a:pt x="133413" y="192252"/>
                  <a:pt x="120158" y="192252"/>
                </a:cubicBezTo>
                <a:lnTo>
                  <a:pt x="24032" y="192252"/>
                </a:lnTo>
                <a:cubicBezTo>
                  <a:pt x="10777" y="192252"/>
                  <a:pt x="0" y="181476"/>
                  <a:pt x="0" y="168221"/>
                </a:cubicBezTo>
                <a:lnTo>
                  <a:pt x="0" y="36047"/>
                </a:lnTo>
                <a:cubicBezTo>
                  <a:pt x="0" y="22792"/>
                  <a:pt x="10777" y="12016"/>
                  <a:pt x="24032" y="12016"/>
                </a:cubicBezTo>
                <a:lnTo>
                  <a:pt x="27261" y="12016"/>
                </a:lnTo>
                <a:cubicBezTo>
                  <a:pt x="31391" y="4844"/>
                  <a:pt x="39164" y="0"/>
                  <a:pt x="48063" y="0"/>
                </a:cubicBezTo>
                <a:lnTo>
                  <a:pt x="96126" y="0"/>
                </a:lnTo>
                <a:cubicBezTo>
                  <a:pt x="105025" y="0"/>
                  <a:pt x="112798" y="4844"/>
                  <a:pt x="116928" y="12016"/>
                </a:cubicBezTo>
                <a:close/>
                <a:moveTo>
                  <a:pt x="93122" y="42055"/>
                </a:moveTo>
                <a:cubicBezTo>
                  <a:pt x="98116" y="42055"/>
                  <a:pt x="102134" y="38037"/>
                  <a:pt x="102134" y="33043"/>
                </a:cubicBezTo>
                <a:cubicBezTo>
                  <a:pt x="102134" y="28049"/>
                  <a:pt x="98116" y="24032"/>
                  <a:pt x="93122" y="24032"/>
                </a:cubicBezTo>
                <a:lnTo>
                  <a:pt x="51067" y="24032"/>
                </a:lnTo>
                <a:cubicBezTo>
                  <a:pt x="46073" y="24032"/>
                  <a:pt x="42055" y="28049"/>
                  <a:pt x="42055" y="33043"/>
                </a:cubicBezTo>
                <a:cubicBezTo>
                  <a:pt x="42055" y="38037"/>
                  <a:pt x="46073" y="42055"/>
                  <a:pt x="51067" y="42055"/>
                </a:cubicBezTo>
                <a:lnTo>
                  <a:pt x="93122" y="42055"/>
                </a:lnTo>
                <a:close/>
                <a:moveTo>
                  <a:pt x="103786" y="97891"/>
                </a:moveTo>
                <a:cubicBezTo>
                  <a:pt x="106415" y="93685"/>
                  <a:pt x="105138" y="88128"/>
                  <a:pt x="100932" y="85462"/>
                </a:cubicBezTo>
                <a:cubicBezTo>
                  <a:pt x="96727" y="82796"/>
                  <a:pt x="91170" y="84110"/>
                  <a:pt x="88504" y="88316"/>
                </a:cubicBezTo>
                <a:lnTo>
                  <a:pt x="65448" y="125227"/>
                </a:lnTo>
                <a:lnTo>
                  <a:pt x="55310" y="111709"/>
                </a:lnTo>
                <a:cubicBezTo>
                  <a:pt x="52306" y="107729"/>
                  <a:pt x="46674" y="106903"/>
                  <a:pt x="42694" y="109907"/>
                </a:cubicBezTo>
                <a:cubicBezTo>
                  <a:pt x="38713" y="112911"/>
                  <a:pt x="37887" y="118543"/>
                  <a:pt x="40891" y="122523"/>
                </a:cubicBezTo>
                <a:lnTo>
                  <a:pt x="58915" y="146555"/>
                </a:lnTo>
                <a:cubicBezTo>
                  <a:pt x="60680" y="148920"/>
                  <a:pt x="63533" y="150272"/>
                  <a:pt x="66500" y="150160"/>
                </a:cubicBezTo>
                <a:cubicBezTo>
                  <a:pt x="69466" y="150047"/>
                  <a:pt x="72170" y="148470"/>
                  <a:pt x="73747" y="145916"/>
                </a:cubicBezTo>
                <a:lnTo>
                  <a:pt x="103786" y="9785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52988" y="2455222"/>
            <a:ext cx="11054507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Critérios para Identificação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673" y="2839727"/>
            <a:ext cx="11262781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estabelecimento é identificado quando atinge </a:t>
            </a:r>
            <a:r>
              <a:rPr lang="en-US" sz="100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os critérios</a:t>
            </a: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673" y="3160147"/>
            <a:ext cx="3644783" cy="1962576"/>
          </a:xfrm>
          <a:custGeom>
            <a:avLst/>
            <a:gdLst/>
            <a:ahLst/>
            <a:cxnLst/>
            <a:rect l="l" t="t" r="r" b="b"/>
            <a:pathLst>
              <a:path w="3644783" h="1962576">
                <a:moveTo>
                  <a:pt x="64078" y="0"/>
                </a:moveTo>
                <a:lnTo>
                  <a:pt x="3580705" y="0"/>
                </a:lnTo>
                <a:cubicBezTo>
                  <a:pt x="3616094" y="0"/>
                  <a:pt x="3644783" y="28689"/>
                  <a:pt x="3644783" y="64078"/>
                </a:cubicBezTo>
                <a:lnTo>
                  <a:pt x="3644783" y="1898497"/>
                </a:lnTo>
                <a:cubicBezTo>
                  <a:pt x="3644783" y="1933887"/>
                  <a:pt x="3616094" y="1962576"/>
                  <a:pt x="3580705" y="1962576"/>
                </a:cubicBezTo>
                <a:lnTo>
                  <a:pt x="64078" y="1962576"/>
                </a:lnTo>
                <a:cubicBezTo>
                  <a:pt x="28689" y="1962576"/>
                  <a:pt x="0" y="1933887"/>
                  <a:pt x="0" y="1898497"/>
                </a:cubicBezTo>
                <a:lnTo>
                  <a:pt x="0" y="64078"/>
                </a:lnTo>
                <a:cubicBezTo>
                  <a:pt x="0" y="28712"/>
                  <a:pt x="28712" y="0"/>
                  <a:pt x="6407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143813" y="3288315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192252" y="0"/>
                </a:moveTo>
                <a:lnTo>
                  <a:pt x="192252" y="0"/>
                </a:lnTo>
                <a:cubicBezTo>
                  <a:pt x="298359" y="0"/>
                  <a:pt x="384505" y="86145"/>
                  <a:pt x="384505" y="192252"/>
                </a:cubicBezTo>
                <a:lnTo>
                  <a:pt x="384505" y="192252"/>
                </a:lnTo>
                <a:cubicBezTo>
                  <a:pt x="384505" y="298359"/>
                  <a:pt x="298359" y="384505"/>
                  <a:pt x="192252" y="384505"/>
                </a:cubicBezTo>
                <a:lnTo>
                  <a:pt x="192252" y="384505"/>
                </a:lnTo>
                <a:cubicBezTo>
                  <a:pt x="86145" y="384505"/>
                  <a:pt x="0" y="298359"/>
                  <a:pt x="0" y="192252"/>
                </a:cubicBezTo>
                <a:lnTo>
                  <a:pt x="0" y="192252"/>
                </a:lnTo>
                <a:cubicBezTo>
                  <a:pt x="0" y="86145"/>
                  <a:pt x="86145" y="0"/>
                  <a:pt x="19225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310657" y="3368420"/>
            <a:ext cx="128168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4794" y="3768946"/>
            <a:ext cx="3460541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 de Fraude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841" y="4381750"/>
            <a:ext cx="3388447" cy="8011"/>
          </a:xfrm>
          <a:custGeom>
            <a:avLst/>
            <a:gdLst/>
            <a:ahLst/>
            <a:cxnLst/>
            <a:rect l="l" t="t" r="r" b="b"/>
            <a:pathLst>
              <a:path w="3388447" h="8011">
                <a:moveTo>
                  <a:pt x="0" y="0"/>
                </a:moveTo>
                <a:lnTo>
                  <a:pt x="3388447" y="0"/>
                </a:lnTo>
                <a:lnTo>
                  <a:pt x="3388447" y="8011"/>
                </a:lnTo>
                <a:lnTo>
                  <a:pt x="0" y="8011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841" y="4121409"/>
            <a:ext cx="1337756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Chargebacks de fraude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841" y="4449840"/>
            <a:ext cx="1313724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USD 50.000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87627" y="3160147"/>
            <a:ext cx="3644783" cy="1962576"/>
          </a:xfrm>
          <a:custGeom>
            <a:avLst/>
            <a:gdLst/>
            <a:ahLst/>
            <a:cxnLst/>
            <a:rect l="l" t="t" r="r" b="b"/>
            <a:pathLst>
              <a:path w="3644783" h="1962576">
                <a:moveTo>
                  <a:pt x="64078" y="0"/>
                </a:moveTo>
                <a:lnTo>
                  <a:pt x="3580705" y="0"/>
                </a:lnTo>
                <a:cubicBezTo>
                  <a:pt x="3616094" y="0"/>
                  <a:pt x="3644783" y="28689"/>
                  <a:pt x="3644783" y="64078"/>
                </a:cubicBezTo>
                <a:lnTo>
                  <a:pt x="3644783" y="1898497"/>
                </a:lnTo>
                <a:cubicBezTo>
                  <a:pt x="3644783" y="1933887"/>
                  <a:pt x="3616094" y="1962576"/>
                  <a:pt x="3580705" y="1962576"/>
                </a:cubicBezTo>
                <a:lnTo>
                  <a:pt x="64078" y="1962576"/>
                </a:lnTo>
                <a:cubicBezTo>
                  <a:pt x="28689" y="1962576"/>
                  <a:pt x="0" y="1933887"/>
                  <a:pt x="0" y="1898497"/>
                </a:cubicBezTo>
                <a:lnTo>
                  <a:pt x="0" y="64078"/>
                </a:lnTo>
                <a:cubicBezTo>
                  <a:pt x="0" y="28712"/>
                  <a:pt x="28712" y="0"/>
                  <a:pt x="6407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918767" y="3288315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192252" y="0"/>
                </a:moveTo>
                <a:lnTo>
                  <a:pt x="192252" y="0"/>
                </a:lnTo>
                <a:cubicBezTo>
                  <a:pt x="298359" y="0"/>
                  <a:pt x="384505" y="86145"/>
                  <a:pt x="384505" y="192252"/>
                </a:cubicBezTo>
                <a:lnTo>
                  <a:pt x="384505" y="192252"/>
                </a:lnTo>
                <a:cubicBezTo>
                  <a:pt x="384505" y="298359"/>
                  <a:pt x="298359" y="384505"/>
                  <a:pt x="192252" y="384505"/>
                </a:cubicBezTo>
                <a:lnTo>
                  <a:pt x="192252" y="384505"/>
                </a:lnTo>
                <a:cubicBezTo>
                  <a:pt x="86145" y="384505"/>
                  <a:pt x="0" y="298359"/>
                  <a:pt x="0" y="192252"/>
                </a:cubicBezTo>
                <a:lnTo>
                  <a:pt x="0" y="192252"/>
                </a:lnTo>
                <a:cubicBezTo>
                  <a:pt x="0" y="86145"/>
                  <a:pt x="86145" y="0"/>
                  <a:pt x="19225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070216" y="3368420"/>
            <a:ext cx="160210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79748" y="3768946"/>
            <a:ext cx="3460541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Basis Points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15795" y="4381750"/>
            <a:ext cx="3388447" cy="8011"/>
          </a:xfrm>
          <a:custGeom>
            <a:avLst/>
            <a:gdLst/>
            <a:ahLst/>
            <a:cxnLst/>
            <a:rect l="l" t="t" r="r" b="b"/>
            <a:pathLst>
              <a:path w="3388447" h="8011">
                <a:moveTo>
                  <a:pt x="0" y="0"/>
                </a:moveTo>
                <a:lnTo>
                  <a:pt x="3388447" y="0"/>
                </a:lnTo>
                <a:lnTo>
                  <a:pt x="3388447" y="8011"/>
                </a:lnTo>
                <a:lnTo>
                  <a:pt x="0" y="8011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415795" y="4121409"/>
            <a:ext cx="760999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 de fraude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15795" y="4449840"/>
            <a:ext cx="480631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50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62581" y="3160147"/>
            <a:ext cx="3644783" cy="1962576"/>
          </a:xfrm>
          <a:custGeom>
            <a:avLst/>
            <a:gdLst/>
            <a:ahLst/>
            <a:cxnLst/>
            <a:rect l="l" t="t" r="r" b="b"/>
            <a:pathLst>
              <a:path w="3644783" h="1962576">
                <a:moveTo>
                  <a:pt x="64078" y="0"/>
                </a:moveTo>
                <a:lnTo>
                  <a:pt x="3580705" y="0"/>
                </a:lnTo>
                <a:cubicBezTo>
                  <a:pt x="3616094" y="0"/>
                  <a:pt x="3644783" y="28689"/>
                  <a:pt x="3644783" y="64078"/>
                </a:cubicBezTo>
                <a:lnTo>
                  <a:pt x="3644783" y="1898497"/>
                </a:lnTo>
                <a:cubicBezTo>
                  <a:pt x="3644783" y="1933887"/>
                  <a:pt x="3616094" y="1962576"/>
                  <a:pt x="3580705" y="1962576"/>
                </a:cubicBezTo>
                <a:lnTo>
                  <a:pt x="64078" y="1962576"/>
                </a:lnTo>
                <a:cubicBezTo>
                  <a:pt x="28689" y="1962576"/>
                  <a:pt x="0" y="1933887"/>
                  <a:pt x="0" y="1898497"/>
                </a:cubicBezTo>
                <a:lnTo>
                  <a:pt x="0" y="64078"/>
                </a:lnTo>
                <a:cubicBezTo>
                  <a:pt x="0" y="28712"/>
                  <a:pt x="28712" y="0"/>
                  <a:pt x="6407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9693721" y="3288315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192252" y="0"/>
                </a:moveTo>
                <a:lnTo>
                  <a:pt x="192252" y="0"/>
                </a:lnTo>
                <a:cubicBezTo>
                  <a:pt x="298359" y="0"/>
                  <a:pt x="384505" y="86145"/>
                  <a:pt x="384505" y="192252"/>
                </a:cubicBezTo>
                <a:lnTo>
                  <a:pt x="384505" y="192252"/>
                </a:lnTo>
                <a:cubicBezTo>
                  <a:pt x="384505" y="298359"/>
                  <a:pt x="298359" y="384505"/>
                  <a:pt x="192252" y="384505"/>
                </a:cubicBezTo>
                <a:lnTo>
                  <a:pt x="192252" y="384505"/>
                </a:lnTo>
                <a:cubicBezTo>
                  <a:pt x="86145" y="384505"/>
                  <a:pt x="0" y="298359"/>
                  <a:pt x="0" y="192252"/>
                </a:cubicBezTo>
                <a:lnTo>
                  <a:pt x="0" y="192252"/>
                </a:lnTo>
                <a:cubicBezTo>
                  <a:pt x="0" y="86145"/>
                  <a:pt x="86145" y="0"/>
                  <a:pt x="19225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9843042" y="3368420"/>
            <a:ext cx="168221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54702" y="3768946"/>
            <a:ext cx="3460541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3DS/DSRP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90749" y="4381750"/>
            <a:ext cx="3388447" cy="8011"/>
          </a:xfrm>
          <a:custGeom>
            <a:avLst/>
            <a:gdLst/>
            <a:ahLst/>
            <a:cxnLst/>
            <a:rect l="l" t="t" r="r" b="b"/>
            <a:pathLst>
              <a:path w="3388447" h="8011">
                <a:moveTo>
                  <a:pt x="0" y="0"/>
                </a:moveTo>
                <a:lnTo>
                  <a:pt x="3388447" y="0"/>
                </a:lnTo>
                <a:lnTo>
                  <a:pt x="3388447" y="8011"/>
                </a:lnTo>
                <a:lnTo>
                  <a:pt x="0" y="8011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190749" y="4121409"/>
            <a:ext cx="1393829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com 3DS/DSRP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90749" y="4449840"/>
            <a:ext cx="568746" cy="2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4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62712" y="4834344"/>
            <a:ext cx="3444520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Países não regulamentados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4426" y="5415106"/>
            <a:ext cx="5703485" cy="1241629"/>
          </a:xfrm>
          <a:custGeom>
            <a:avLst/>
            <a:gdLst/>
            <a:ahLst/>
            <a:cxnLst/>
            <a:rect l="l" t="t" r="r" b="b"/>
            <a:pathLst>
              <a:path w="5703485" h="1241629">
                <a:moveTo>
                  <a:pt x="64080" y="0"/>
                </a:moveTo>
                <a:lnTo>
                  <a:pt x="5639404" y="0"/>
                </a:lnTo>
                <a:cubicBezTo>
                  <a:pt x="5674795" y="0"/>
                  <a:pt x="5703485" y="28690"/>
                  <a:pt x="5703485" y="64080"/>
                </a:cubicBezTo>
                <a:lnTo>
                  <a:pt x="5703485" y="1177549"/>
                </a:lnTo>
                <a:cubicBezTo>
                  <a:pt x="5703485" y="1212940"/>
                  <a:pt x="5674795" y="1241629"/>
                  <a:pt x="5639404" y="1241629"/>
                </a:cubicBezTo>
                <a:lnTo>
                  <a:pt x="64080" y="1241629"/>
                </a:lnTo>
                <a:cubicBezTo>
                  <a:pt x="28690" y="1241629"/>
                  <a:pt x="0" y="1212940"/>
                  <a:pt x="0" y="1177549"/>
                </a:cubicBezTo>
                <a:lnTo>
                  <a:pt x="0" y="64080"/>
                </a:lnTo>
                <a:cubicBezTo>
                  <a:pt x="0" y="28690"/>
                  <a:pt x="28690" y="0"/>
                  <a:pt x="6408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96652" y="5579322"/>
            <a:ext cx="120158" cy="160210"/>
          </a:xfrm>
          <a:custGeom>
            <a:avLst/>
            <a:gdLst/>
            <a:ahLst/>
            <a:cxnLst/>
            <a:rect l="l" t="t" r="r" b="b"/>
            <a:pathLst>
              <a:path w="120158" h="160210">
                <a:moveTo>
                  <a:pt x="20026" y="0"/>
                </a:moveTo>
                <a:cubicBezTo>
                  <a:pt x="8981" y="0"/>
                  <a:pt x="0" y="8981"/>
                  <a:pt x="0" y="20026"/>
                </a:cubicBezTo>
                <a:lnTo>
                  <a:pt x="0" y="140184"/>
                </a:lnTo>
                <a:cubicBezTo>
                  <a:pt x="0" y="151230"/>
                  <a:pt x="8981" y="160210"/>
                  <a:pt x="20026" y="160210"/>
                </a:cubicBezTo>
                <a:lnTo>
                  <a:pt x="100131" y="160210"/>
                </a:lnTo>
                <a:cubicBezTo>
                  <a:pt x="111177" y="160210"/>
                  <a:pt x="120158" y="151230"/>
                  <a:pt x="120158" y="140184"/>
                </a:cubicBezTo>
                <a:lnTo>
                  <a:pt x="120158" y="20026"/>
                </a:lnTo>
                <a:cubicBezTo>
                  <a:pt x="120158" y="8981"/>
                  <a:pt x="111177" y="0"/>
                  <a:pt x="100131" y="0"/>
                </a:cubicBezTo>
                <a:lnTo>
                  <a:pt x="20026" y="0"/>
                </a:lnTo>
                <a:close/>
                <a:moveTo>
                  <a:pt x="30039" y="20026"/>
                </a:moveTo>
                <a:lnTo>
                  <a:pt x="90118" y="20026"/>
                </a:lnTo>
                <a:cubicBezTo>
                  <a:pt x="95657" y="20026"/>
                  <a:pt x="100131" y="24501"/>
                  <a:pt x="100131" y="30039"/>
                </a:cubicBezTo>
                <a:lnTo>
                  <a:pt x="100131" y="40053"/>
                </a:lnTo>
                <a:cubicBezTo>
                  <a:pt x="100131" y="45591"/>
                  <a:pt x="95657" y="50066"/>
                  <a:pt x="90118" y="50066"/>
                </a:cubicBezTo>
                <a:lnTo>
                  <a:pt x="30039" y="50066"/>
                </a:lnTo>
                <a:cubicBezTo>
                  <a:pt x="24501" y="50066"/>
                  <a:pt x="20026" y="45591"/>
                  <a:pt x="20026" y="40053"/>
                </a:cubicBezTo>
                <a:lnTo>
                  <a:pt x="20026" y="30039"/>
                </a:lnTo>
                <a:cubicBezTo>
                  <a:pt x="20026" y="24501"/>
                  <a:pt x="24501" y="20026"/>
                  <a:pt x="30039" y="20026"/>
                </a:cubicBezTo>
                <a:close/>
                <a:moveTo>
                  <a:pt x="35046" y="72595"/>
                </a:moveTo>
                <a:cubicBezTo>
                  <a:pt x="35046" y="76740"/>
                  <a:pt x="31681" y="80105"/>
                  <a:pt x="27536" y="80105"/>
                </a:cubicBezTo>
                <a:cubicBezTo>
                  <a:pt x="23391" y="80105"/>
                  <a:pt x="20026" y="76740"/>
                  <a:pt x="20026" y="72595"/>
                </a:cubicBezTo>
                <a:cubicBezTo>
                  <a:pt x="20026" y="68450"/>
                  <a:pt x="23391" y="65085"/>
                  <a:pt x="27536" y="65085"/>
                </a:cubicBezTo>
                <a:cubicBezTo>
                  <a:pt x="31681" y="65085"/>
                  <a:pt x="35046" y="68450"/>
                  <a:pt x="35046" y="72595"/>
                </a:cubicBezTo>
                <a:close/>
                <a:moveTo>
                  <a:pt x="60079" y="80105"/>
                </a:moveTo>
                <a:cubicBezTo>
                  <a:pt x="55934" y="80105"/>
                  <a:pt x="52569" y="76740"/>
                  <a:pt x="52569" y="72595"/>
                </a:cubicBezTo>
                <a:cubicBezTo>
                  <a:pt x="52569" y="68450"/>
                  <a:pt x="55934" y="65085"/>
                  <a:pt x="60079" y="65085"/>
                </a:cubicBezTo>
                <a:cubicBezTo>
                  <a:pt x="64224" y="65085"/>
                  <a:pt x="67589" y="68450"/>
                  <a:pt x="67589" y="72595"/>
                </a:cubicBezTo>
                <a:cubicBezTo>
                  <a:pt x="67589" y="76740"/>
                  <a:pt x="64224" y="80105"/>
                  <a:pt x="60079" y="80105"/>
                </a:cubicBezTo>
                <a:close/>
                <a:moveTo>
                  <a:pt x="100131" y="72595"/>
                </a:moveTo>
                <a:cubicBezTo>
                  <a:pt x="100131" y="76740"/>
                  <a:pt x="96766" y="80105"/>
                  <a:pt x="92622" y="80105"/>
                </a:cubicBezTo>
                <a:cubicBezTo>
                  <a:pt x="88477" y="80105"/>
                  <a:pt x="85112" y="76740"/>
                  <a:pt x="85112" y="72595"/>
                </a:cubicBezTo>
                <a:cubicBezTo>
                  <a:pt x="85112" y="68450"/>
                  <a:pt x="88477" y="65085"/>
                  <a:pt x="92622" y="65085"/>
                </a:cubicBezTo>
                <a:cubicBezTo>
                  <a:pt x="96766" y="65085"/>
                  <a:pt x="100131" y="68450"/>
                  <a:pt x="100131" y="72595"/>
                </a:cubicBezTo>
                <a:close/>
                <a:moveTo>
                  <a:pt x="27536" y="110145"/>
                </a:moveTo>
                <a:cubicBezTo>
                  <a:pt x="23391" y="110145"/>
                  <a:pt x="20026" y="106779"/>
                  <a:pt x="20026" y="102635"/>
                </a:cubicBezTo>
                <a:cubicBezTo>
                  <a:pt x="20026" y="98490"/>
                  <a:pt x="23391" y="95125"/>
                  <a:pt x="27536" y="95125"/>
                </a:cubicBezTo>
                <a:cubicBezTo>
                  <a:pt x="31681" y="95125"/>
                  <a:pt x="35046" y="98490"/>
                  <a:pt x="35046" y="102635"/>
                </a:cubicBezTo>
                <a:cubicBezTo>
                  <a:pt x="35046" y="106779"/>
                  <a:pt x="31681" y="110145"/>
                  <a:pt x="27536" y="110145"/>
                </a:cubicBezTo>
                <a:close/>
                <a:moveTo>
                  <a:pt x="67589" y="102635"/>
                </a:moveTo>
                <a:cubicBezTo>
                  <a:pt x="67589" y="106779"/>
                  <a:pt x="64224" y="110145"/>
                  <a:pt x="60079" y="110145"/>
                </a:cubicBezTo>
                <a:cubicBezTo>
                  <a:pt x="55934" y="110145"/>
                  <a:pt x="52569" y="106779"/>
                  <a:pt x="52569" y="102635"/>
                </a:cubicBezTo>
                <a:cubicBezTo>
                  <a:pt x="52569" y="98490"/>
                  <a:pt x="55934" y="95125"/>
                  <a:pt x="60079" y="95125"/>
                </a:cubicBezTo>
                <a:cubicBezTo>
                  <a:pt x="64224" y="95125"/>
                  <a:pt x="67589" y="98490"/>
                  <a:pt x="67589" y="102635"/>
                </a:cubicBezTo>
                <a:close/>
                <a:moveTo>
                  <a:pt x="92622" y="110145"/>
                </a:moveTo>
                <a:cubicBezTo>
                  <a:pt x="88477" y="110145"/>
                  <a:pt x="85112" y="106779"/>
                  <a:pt x="85112" y="102635"/>
                </a:cubicBezTo>
                <a:cubicBezTo>
                  <a:pt x="85112" y="98490"/>
                  <a:pt x="88477" y="95125"/>
                  <a:pt x="92622" y="95125"/>
                </a:cubicBezTo>
                <a:cubicBezTo>
                  <a:pt x="96766" y="95125"/>
                  <a:pt x="100131" y="98490"/>
                  <a:pt x="100131" y="102635"/>
                </a:cubicBezTo>
                <a:cubicBezTo>
                  <a:pt x="100131" y="106779"/>
                  <a:pt x="96766" y="110145"/>
                  <a:pt x="92622" y="110145"/>
                </a:cubicBezTo>
                <a:close/>
                <a:moveTo>
                  <a:pt x="20026" y="132674"/>
                </a:moveTo>
                <a:cubicBezTo>
                  <a:pt x="20026" y="128512"/>
                  <a:pt x="23374" y="125164"/>
                  <a:pt x="27536" y="125164"/>
                </a:cubicBezTo>
                <a:lnTo>
                  <a:pt x="62582" y="125164"/>
                </a:lnTo>
                <a:cubicBezTo>
                  <a:pt x="66744" y="125164"/>
                  <a:pt x="70092" y="128512"/>
                  <a:pt x="70092" y="132674"/>
                </a:cubicBezTo>
                <a:cubicBezTo>
                  <a:pt x="70092" y="136836"/>
                  <a:pt x="66744" y="140184"/>
                  <a:pt x="62582" y="140184"/>
                </a:cubicBezTo>
                <a:lnTo>
                  <a:pt x="27536" y="140184"/>
                </a:lnTo>
                <a:cubicBezTo>
                  <a:pt x="23374" y="140184"/>
                  <a:pt x="20026" y="136836"/>
                  <a:pt x="20026" y="132674"/>
                </a:cubicBezTo>
                <a:close/>
                <a:moveTo>
                  <a:pt x="92622" y="125164"/>
                </a:moveTo>
                <a:cubicBezTo>
                  <a:pt x="96783" y="125164"/>
                  <a:pt x="100131" y="128512"/>
                  <a:pt x="100131" y="132674"/>
                </a:cubicBezTo>
                <a:cubicBezTo>
                  <a:pt x="100131" y="136836"/>
                  <a:pt x="96783" y="140184"/>
                  <a:pt x="92622" y="140184"/>
                </a:cubicBezTo>
                <a:cubicBezTo>
                  <a:pt x="88460" y="140184"/>
                  <a:pt x="85112" y="136836"/>
                  <a:pt x="85112" y="132674"/>
                </a:cubicBezTo>
                <a:cubicBezTo>
                  <a:pt x="85112" y="128512"/>
                  <a:pt x="88460" y="125164"/>
                  <a:pt x="92622" y="12516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56862" y="5547280"/>
            <a:ext cx="5318980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Cálculo dos Base Points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0604" y="5871706"/>
            <a:ext cx="5431127" cy="392515"/>
          </a:xfrm>
          <a:custGeom>
            <a:avLst/>
            <a:gdLst/>
            <a:ahLst/>
            <a:cxnLst/>
            <a:rect l="l" t="t" r="r" b="b"/>
            <a:pathLst>
              <a:path w="5431127" h="392515">
                <a:moveTo>
                  <a:pt x="64086" y="0"/>
                </a:moveTo>
                <a:lnTo>
                  <a:pt x="5367042" y="0"/>
                </a:lnTo>
                <a:cubicBezTo>
                  <a:pt x="5402435" y="0"/>
                  <a:pt x="5431127" y="28692"/>
                  <a:pt x="5431127" y="64086"/>
                </a:cubicBezTo>
                <a:lnTo>
                  <a:pt x="5431127" y="328429"/>
                </a:lnTo>
                <a:cubicBezTo>
                  <a:pt x="5431127" y="363823"/>
                  <a:pt x="5402435" y="392515"/>
                  <a:pt x="5367042" y="392515"/>
                </a:cubicBezTo>
                <a:lnTo>
                  <a:pt x="64086" y="392515"/>
                </a:lnTo>
                <a:cubicBezTo>
                  <a:pt x="28692" y="392515"/>
                  <a:pt x="0" y="363823"/>
                  <a:pt x="0" y="328429"/>
                </a:cubicBezTo>
                <a:lnTo>
                  <a:pt x="0" y="64086"/>
                </a:lnTo>
                <a:cubicBezTo>
                  <a:pt x="0" y="28716"/>
                  <a:pt x="28716" y="0"/>
                  <a:pt x="6408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28694" y="5971837"/>
            <a:ext cx="5294949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(Chargebacks ÷ Transações) × 10.000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6599" y="6332310"/>
            <a:ext cx="5495212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Número de chargebacks no mês dividido pelo número de transações no mês anterior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3088" y="5415106"/>
            <a:ext cx="5703485" cy="1241629"/>
          </a:xfrm>
          <a:custGeom>
            <a:avLst/>
            <a:gdLst/>
            <a:ahLst/>
            <a:cxnLst/>
            <a:rect l="l" t="t" r="r" b="b"/>
            <a:pathLst>
              <a:path w="5703485" h="1241629">
                <a:moveTo>
                  <a:pt x="64080" y="0"/>
                </a:moveTo>
                <a:lnTo>
                  <a:pt x="5639404" y="0"/>
                </a:lnTo>
                <a:cubicBezTo>
                  <a:pt x="5674795" y="0"/>
                  <a:pt x="5703485" y="28690"/>
                  <a:pt x="5703485" y="64080"/>
                </a:cubicBezTo>
                <a:lnTo>
                  <a:pt x="5703485" y="1177549"/>
                </a:lnTo>
                <a:cubicBezTo>
                  <a:pt x="5703485" y="1212940"/>
                  <a:pt x="5674795" y="1241629"/>
                  <a:pt x="5639404" y="1241629"/>
                </a:cubicBezTo>
                <a:lnTo>
                  <a:pt x="64080" y="1241629"/>
                </a:lnTo>
                <a:cubicBezTo>
                  <a:pt x="28690" y="1241629"/>
                  <a:pt x="0" y="1212940"/>
                  <a:pt x="0" y="1177549"/>
                </a:cubicBezTo>
                <a:lnTo>
                  <a:pt x="0" y="64080"/>
                </a:lnTo>
                <a:cubicBezTo>
                  <a:pt x="0" y="28690"/>
                  <a:pt x="28690" y="0"/>
                  <a:pt x="6408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315288" y="5579322"/>
            <a:ext cx="160210" cy="160210"/>
          </a:xfrm>
          <a:custGeom>
            <a:avLst/>
            <a:gdLst/>
            <a:ahLst/>
            <a:cxnLst/>
            <a:rect l="l" t="t" r="r" b="b"/>
            <a:pathLst>
              <a:path w="160210" h="160210">
                <a:moveTo>
                  <a:pt x="110113" y="87615"/>
                </a:moveTo>
                <a:lnTo>
                  <a:pt x="50379" y="87615"/>
                </a:lnTo>
                <a:cubicBezTo>
                  <a:pt x="51286" y="107798"/>
                  <a:pt x="55761" y="126385"/>
                  <a:pt x="62113" y="139996"/>
                </a:cubicBezTo>
                <a:cubicBezTo>
                  <a:pt x="65680" y="147663"/>
                  <a:pt x="69529" y="153076"/>
                  <a:pt x="73096" y="156393"/>
                </a:cubicBezTo>
                <a:cubicBezTo>
                  <a:pt x="76601" y="159678"/>
                  <a:pt x="79010" y="160210"/>
                  <a:pt x="80262" y="160210"/>
                </a:cubicBezTo>
                <a:cubicBezTo>
                  <a:pt x="81513" y="160210"/>
                  <a:pt x="83923" y="159678"/>
                  <a:pt x="87427" y="156393"/>
                </a:cubicBezTo>
                <a:cubicBezTo>
                  <a:pt x="90994" y="153076"/>
                  <a:pt x="94843" y="147631"/>
                  <a:pt x="98410" y="139996"/>
                </a:cubicBezTo>
                <a:cubicBezTo>
                  <a:pt x="104762" y="126385"/>
                  <a:pt x="109237" y="107798"/>
                  <a:pt x="110145" y="87615"/>
                </a:cubicBezTo>
                <a:close/>
                <a:moveTo>
                  <a:pt x="50347" y="72595"/>
                </a:moveTo>
                <a:lnTo>
                  <a:pt x="110082" y="72595"/>
                </a:lnTo>
                <a:cubicBezTo>
                  <a:pt x="109206" y="52413"/>
                  <a:pt x="104731" y="33826"/>
                  <a:pt x="98379" y="20214"/>
                </a:cubicBezTo>
                <a:cubicBezTo>
                  <a:pt x="94812" y="12579"/>
                  <a:pt x="90963" y="7134"/>
                  <a:pt x="87396" y="3818"/>
                </a:cubicBezTo>
                <a:cubicBezTo>
                  <a:pt x="83891" y="532"/>
                  <a:pt x="81482" y="0"/>
                  <a:pt x="80230" y="0"/>
                </a:cubicBezTo>
                <a:cubicBezTo>
                  <a:pt x="78979" y="0"/>
                  <a:pt x="76569" y="532"/>
                  <a:pt x="73065" y="3818"/>
                </a:cubicBezTo>
                <a:cubicBezTo>
                  <a:pt x="69497" y="7134"/>
                  <a:pt x="65649" y="12579"/>
                  <a:pt x="62081" y="20214"/>
                </a:cubicBezTo>
                <a:cubicBezTo>
                  <a:pt x="55729" y="33826"/>
                  <a:pt x="51255" y="52413"/>
                  <a:pt x="50347" y="72595"/>
                </a:cubicBezTo>
                <a:close/>
                <a:moveTo>
                  <a:pt x="35328" y="72595"/>
                </a:moveTo>
                <a:cubicBezTo>
                  <a:pt x="36423" y="45810"/>
                  <a:pt x="43338" y="20934"/>
                  <a:pt x="53445" y="4600"/>
                </a:cubicBezTo>
                <a:cubicBezTo>
                  <a:pt x="24626" y="14801"/>
                  <a:pt x="3411" y="41054"/>
                  <a:pt x="469" y="72595"/>
                </a:cubicBezTo>
                <a:lnTo>
                  <a:pt x="35328" y="72595"/>
                </a:lnTo>
                <a:close/>
                <a:moveTo>
                  <a:pt x="469" y="87615"/>
                </a:moveTo>
                <a:cubicBezTo>
                  <a:pt x="3411" y="119156"/>
                  <a:pt x="24626" y="145410"/>
                  <a:pt x="53445" y="155610"/>
                </a:cubicBezTo>
                <a:cubicBezTo>
                  <a:pt x="43338" y="139277"/>
                  <a:pt x="36423" y="114400"/>
                  <a:pt x="35328" y="87615"/>
                </a:cubicBezTo>
                <a:lnTo>
                  <a:pt x="469" y="87615"/>
                </a:lnTo>
                <a:close/>
                <a:moveTo>
                  <a:pt x="125133" y="87615"/>
                </a:moveTo>
                <a:cubicBezTo>
                  <a:pt x="124038" y="114400"/>
                  <a:pt x="117122" y="139277"/>
                  <a:pt x="107015" y="155610"/>
                </a:cubicBezTo>
                <a:cubicBezTo>
                  <a:pt x="135835" y="145378"/>
                  <a:pt x="157050" y="119156"/>
                  <a:pt x="159991" y="87615"/>
                </a:cubicBezTo>
                <a:lnTo>
                  <a:pt x="125133" y="87615"/>
                </a:lnTo>
                <a:close/>
                <a:moveTo>
                  <a:pt x="159991" y="72595"/>
                </a:moveTo>
                <a:cubicBezTo>
                  <a:pt x="157050" y="41054"/>
                  <a:pt x="135835" y="14801"/>
                  <a:pt x="107015" y="4600"/>
                </a:cubicBezTo>
                <a:cubicBezTo>
                  <a:pt x="117122" y="20934"/>
                  <a:pt x="124038" y="45810"/>
                  <a:pt x="125133" y="72595"/>
                </a:cubicBezTo>
                <a:lnTo>
                  <a:pt x="159991" y="72595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495524" y="5547280"/>
            <a:ext cx="5318980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Regulamentação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95261" y="5867700"/>
            <a:ext cx="5503222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os países da LAC</a:t>
            </a: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(América Latina e Caribe) são considerados </a:t>
            </a:r>
            <a:r>
              <a:rPr lang="en-US" sz="100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regulamentados</a:t>
            </a: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9267" y="6128042"/>
            <a:ext cx="5431127" cy="392515"/>
          </a:xfrm>
          <a:custGeom>
            <a:avLst/>
            <a:gdLst/>
            <a:ahLst/>
            <a:cxnLst/>
            <a:rect l="l" t="t" r="r" b="b"/>
            <a:pathLst>
              <a:path w="5431127" h="392515">
                <a:moveTo>
                  <a:pt x="64086" y="0"/>
                </a:moveTo>
                <a:lnTo>
                  <a:pt x="5367042" y="0"/>
                </a:lnTo>
                <a:cubicBezTo>
                  <a:pt x="5402435" y="0"/>
                  <a:pt x="5431127" y="28692"/>
                  <a:pt x="5431127" y="64086"/>
                </a:cubicBezTo>
                <a:lnTo>
                  <a:pt x="5431127" y="328429"/>
                </a:lnTo>
                <a:cubicBezTo>
                  <a:pt x="5431127" y="363823"/>
                  <a:pt x="5402435" y="392515"/>
                  <a:pt x="5367042" y="392515"/>
                </a:cubicBezTo>
                <a:lnTo>
                  <a:pt x="64086" y="392515"/>
                </a:lnTo>
                <a:cubicBezTo>
                  <a:pt x="28692" y="392515"/>
                  <a:pt x="0" y="363823"/>
                  <a:pt x="0" y="328429"/>
                </a:cubicBezTo>
                <a:lnTo>
                  <a:pt x="0" y="64086"/>
                </a:lnTo>
                <a:cubicBezTo>
                  <a:pt x="0" y="28716"/>
                  <a:pt x="28716" y="0"/>
                  <a:pt x="6408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399398" y="6228173"/>
            <a:ext cx="5294949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Baseline:</a:t>
            </a:r>
            <a:r>
              <a:rPr lang="en-US" sz="100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1.000 transações e-commerce por MID no Clearing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EFM - Multas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11410950" cy="3067050"/>
          </a:xfrm>
          <a:custGeom>
            <a:avLst/>
            <a:gdLst/>
            <a:ahLst/>
            <a:cxnLst/>
            <a:rect l="l" t="t" r="r" b="b"/>
            <a:pathLst>
              <a:path w="11410950" h="3067050">
                <a:moveTo>
                  <a:pt x="38100" y="0"/>
                </a:moveTo>
                <a:lnTo>
                  <a:pt x="11334764" y="0"/>
                </a:lnTo>
                <a:cubicBezTo>
                  <a:pt x="11376841" y="0"/>
                  <a:pt x="11410950" y="34109"/>
                  <a:pt x="11410950" y="76186"/>
                </a:cubicBezTo>
                <a:lnTo>
                  <a:pt x="11410950" y="2990864"/>
                </a:lnTo>
                <a:cubicBezTo>
                  <a:pt x="11410950" y="3032941"/>
                  <a:pt x="11376841" y="3067050"/>
                  <a:pt x="11334764" y="3067050"/>
                </a:cubicBezTo>
                <a:lnTo>
                  <a:pt x="38100" y="3067050"/>
                </a:lnTo>
                <a:cubicBezTo>
                  <a:pt x="17058" y="3067050"/>
                  <a:pt x="0" y="3049992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38100" cy="3067050"/>
          </a:xfrm>
          <a:custGeom>
            <a:avLst/>
            <a:gdLst/>
            <a:ahLst/>
            <a:cxnLst/>
            <a:rect l="l" t="t" r="r" b="b"/>
            <a:pathLst>
              <a:path w="38100" h="3067050">
                <a:moveTo>
                  <a:pt x="38100" y="0"/>
                </a:moveTo>
                <a:lnTo>
                  <a:pt x="38100" y="0"/>
                </a:lnTo>
                <a:lnTo>
                  <a:pt x="38100" y="3067050"/>
                </a:lnTo>
                <a:lnTo>
                  <a:pt x="38100" y="3067050"/>
                </a:lnTo>
                <a:cubicBezTo>
                  <a:pt x="17072" y="3067050"/>
                  <a:pt x="0" y="3049978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1038" y="14478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5350" y="1409700"/>
            <a:ext cx="10839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Estrutura de Multas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66900"/>
            <a:ext cx="1109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multas do EFM são aplicadas </a:t>
            </a:r>
            <a:r>
              <a:rPr lang="en-US" sz="135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mensalmente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variam conforme o </a:t>
            </a:r>
            <a:r>
              <a:rPr lang="en-US" sz="135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nível de fraude identificado</a:t>
            </a:r>
            <a:r>
              <a:rPr lang="en-US" sz="135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(basis points excedidos):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286000"/>
            <a:ext cx="3571875" cy="1809750"/>
          </a:xfrm>
          <a:custGeom>
            <a:avLst/>
            <a:gdLst/>
            <a:ahLst/>
            <a:cxnLst/>
            <a:rect l="l" t="t" r="r" b="b"/>
            <a:pathLst>
              <a:path w="3571875" h="1809750">
                <a:moveTo>
                  <a:pt x="76209" y="0"/>
                </a:moveTo>
                <a:lnTo>
                  <a:pt x="3495666" y="0"/>
                </a:lnTo>
                <a:cubicBezTo>
                  <a:pt x="3537727" y="0"/>
                  <a:pt x="3571875" y="34148"/>
                  <a:pt x="3571875" y="76209"/>
                </a:cubicBezTo>
                <a:lnTo>
                  <a:pt x="3571875" y="1733541"/>
                </a:lnTo>
                <a:cubicBezTo>
                  <a:pt x="3571875" y="1775630"/>
                  <a:pt x="3537755" y="1809750"/>
                  <a:pt x="349566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4375" y="243840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50-99 bp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128963"/>
            <a:ext cx="3267075" cy="9525"/>
          </a:xfrm>
          <a:custGeom>
            <a:avLst/>
            <a:gdLst/>
            <a:ahLst/>
            <a:cxnLst/>
            <a:rect l="l" t="t" r="r" b="b"/>
            <a:pathLst>
              <a:path w="3267075" h="9525">
                <a:moveTo>
                  <a:pt x="0" y="0"/>
                </a:moveTo>
                <a:lnTo>
                  <a:pt x="3267075" y="0"/>
                </a:lnTo>
                <a:lnTo>
                  <a:pt x="3267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2000" y="28575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2480" y="28575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500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519488"/>
            <a:ext cx="3267075" cy="9525"/>
          </a:xfrm>
          <a:custGeom>
            <a:avLst/>
            <a:gdLst/>
            <a:ahLst/>
            <a:cxnLst/>
            <a:rect l="l" t="t" r="r" b="b"/>
            <a:pathLst>
              <a:path w="3267075" h="9525">
                <a:moveTo>
                  <a:pt x="0" y="0"/>
                </a:moveTo>
                <a:lnTo>
                  <a:pt x="3267075" y="0"/>
                </a:lnTo>
                <a:lnTo>
                  <a:pt x="3267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2000" y="324802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1426" y="324802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1.000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63855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3+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82107" y="363855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2.000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30601" y="2286000"/>
            <a:ext cx="3571875" cy="1809750"/>
          </a:xfrm>
          <a:custGeom>
            <a:avLst/>
            <a:gdLst/>
            <a:ahLst/>
            <a:cxnLst/>
            <a:rect l="l" t="t" r="r" b="b"/>
            <a:pathLst>
              <a:path w="3571875" h="1809750">
                <a:moveTo>
                  <a:pt x="76209" y="0"/>
                </a:moveTo>
                <a:lnTo>
                  <a:pt x="3495666" y="0"/>
                </a:lnTo>
                <a:cubicBezTo>
                  <a:pt x="3537727" y="0"/>
                  <a:pt x="3571875" y="34148"/>
                  <a:pt x="3571875" y="76209"/>
                </a:cubicBezTo>
                <a:lnTo>
                  <a:pt x="3571875" y="1733541"/>
                </a:lnTo>
                <a:cubicBezTo>
                  <a:pt x="3571875" y="1775630"/>
                  <a:pt x="3537755" y="1809750"/>
                  <a:pt x="3495666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435376" y="243840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100-149 bp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3001" y="3128963"/>
            <a:ext cx="3267075" cy="9525"/>
          </a:xfrm>
          <a:custGeom>
            <a:avLst/>
            <a:gdLst/>
            <a:ahLst/>
            <a:cxnLst/>
            <a:rect l="l" t="t" r="r" b="b"/>
            <a:pathLst>
              <a:path w="3267075" h="9525">
                <a:moveTo>
                  <a:pt x="0" y="0"/>
                </a:moveTo>
                <a:lnTo>
                  <a:pt x="3267075" y="0"/>
                </a:lnTo>
                <a:lnTo>
                  <a:pt x="3267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483001" y="28575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32575" y="285750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1.000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83001" y="3519488"/>
            <a:ext cx="3267075" cy="9525"/>
          </a:xfrm>
          <a:custGeom>
            <a:avLst/>
            <a:gdLst/>
            <a:ahLst/>
            <a:cxnLst/>
            <a:rect l="l" t="t" r="r" b="b"/>
            <a:pathLst>
              <a:path w="3267075" h="9525">
                <a:moveTo>
                  <a:pt x="0" y="0"/>
                </a:moveTo>
                <a:lnTo>
                  <a:pt x="3267075" y="0"/>
                </a:lnTo>
                <a:lnTo>
                  <a:pt x="3267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483001" y="324802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03256" y="3248025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2.000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3001" y="363855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3+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03405" y="363855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4.000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61275" y="2295525"/>
            <a:ext cx="3552825" cy="1790700"/>
          </a:xfrm>
          <a:custGeom>
            <a:avLst/>
            <a:gdLst/>
            <a:ahLst/>
            <a:cxnLst/>
            <a:rect l="l" t="t" r="r" b="b"/>
            <a:pathLst>
              <a:path w="3552825" h="1790700">
                <a:moveTo>
                  <a:pt x="76194" y="0"/>
                </a:moveTo>
                <a:lnTo>
                  <a:pt x="3476631" y="0"/>
                </a:lnTo>
                <a:cubicBezTo>
                  <a:pt x="3518683" y="0"/>
                  <a:pt x="3552825" y="34142"/>
                  <a:pt x="3552825" y="76194"/>
                </a:cubicBezTo>
                <a:lnTo>
                  <a:pt x="3552825" y="1714506"/>
                </a:lnTo>
                <a:cubicBezTo>
                  <a:pt x="3552825" y="1756587"/>
                  <a:pt x="3518712" y="1790700"/>
                  <a:pt x="3476631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25400">
            <a:solidFill>
              <a:srgbClr val="FB2C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175575" y="245745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150+ bp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3200" y="3148013"/>
            <a:ext cx="3228975" cy="9525"/>
          </a:xfrm>
          <a:custGeom>
            <a:avLst/>
            <a:gdLst/>
            <a:ahLst/>
            <a:cxnLst/>
            <a:rect l="l" t="t" r="r" b="b"/>
            <a:pathLst>
              <a:path w="3228975" h="9525">
                <a:moveTo>
                  <a:pt x="0" y="0"/>
                </a:moveTo>
                <a:lnTo>
                  <a:pt x="3228975" y="0"/>
                </a:lnTo>
                <a:lnTo>
                  <a:pt x="32289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223200" y="287655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05207" y="2876550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2.000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23200" y="3538538"/>
            <a:ext cx="3228975" cy="9525"/>
          </a:xfrm>
          <a:custGeom>
            <a:avLst/>
            <a:gdLst/>
            <a:ahLst/>
            <a:cxnLst/>
            <a:rect l="l" t="t" r="r" b="b"/>
            <a:pathLst>
              <a:path w="3228975" h="9525">
                <a:moveTo>
                  <a:pt x="0" y="0"/>
                </a:moveTo>
                <a:lnTo>
                  <a:pt x="3228975" y="0"/>
                </a:lnTo>
                <a:lnTo>
                  <a:pt x="32289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223200" y="326707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05356" y="3267075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4.000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3200" y="365760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Mês 3+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697766" y="365760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8.000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4443413"/>
            <a:ext cx="5629275" cy="1381125"/>
          </a:xfrm>
          <a:custGeom>
            <a:avLst/>
            <a:gdLst/>
            <a:ahLst/>
            <a:cxnLst/>
            <a:rect l="l" t="t" r="r" b="b"/>
            <a:pathLst>
              <a:path w="5629275" h="1381125">
                <a:moveTo>
                  <a:pt x="76197" y="0"/>
                </a:moveTo>
                <a:lnTo>
                  <a:pt x="5553078" y="0"/>
                </a:lnTo>
                <a:cubicBezTo>
                  <a:pt x="5595161" y="0"/>
                  <a:pt x="5629275" y="34114"/>
                  <a:pt x="5629275" y="76197"/>
                </a:cubicBezTo>
                <a:lnTo>
                  <a:pt x="5629275" y="1304928"/>
                </a:lnTo>
                <a:cubicBezTo>
                  <a:pt x="5629275" y="1347011"/>
                  <a:pt x="5595161" y="1381125"/>
                  <a:pt x="55530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578644" y="4638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81050" y="46005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Responsabilidade do Adquirente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2925" y="4981575"/>
            <a:ext cx="5391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adquirente deve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monitorar seus estabelecimentos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evitar a identificação no programa e as penalidades associadas. O EFM é um indicador crítico de risco que requer atenção imediata.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6963" y="4443413"/>
            <a:ext cx="5629275" cy="1381125"/>
          </a:xfrm>
          <a:custGeom>
            <a:avLst/>
            <a:gdLst/>
            <a:ahLst/>
            <a:cxnLst/>
            <a:rect l="l" t="t" r="r" b="b"/>
            <a:pathLst>
              <a:path w="5629275" h="1381125">
                <a:moveTo>
                  <a:pt x="76197" y="0"/>
                </a:moveTo>
                <a:lnTo>
                  <a:pt x="5553078" y="0"/>
                </a:lnTo>
                <a:cubicBezTo>
                  <a:pt x="5595161" y="0"/>
                  <a:pt x="5629275" y="34114"/>
                  <a:pt x="5629275" y="76197"/>
                </a:cubicBezTo>
                <a:lnTo>
                  <a:pt x="5629275" y="1304928"/>
                </a:lnTo>
                <a:cubicBezTo>
                  <a:pt x="5629275" y="1347011"/>
                  <a:pt x="5595161" y="1381125"/>
                  <a:pt x="55530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346031" y="46386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572250" y="46005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Ferramentas da Mastercard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34125" y="4981575"/>
            <a:ext cx="5391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Mastercard disponibiliza </a:t>
            </a: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ferramentas de controle e mitigação de fraude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auxiliar na monitoria de volumes de fraude. O adquirente deve utilizá-las proativamente.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598646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581025" y="61817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790575" y="6143625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Prevenção: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Implementar 3DS (3-D Secure) e outras medidas de autenticação forte pode reduzir significativamente o risco de fraude e evitar a identificação no EFM.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7d1.scene7.com/b5d12a6e9fadf938c1b41f489ef121baa5abfff1"/>
          <p:cNvPicPr>
            <a:picLocks noChangeAspect="1"/>
          </p:cNvPicPr>
          <p:nvPr/>
        </p:nvPicPr>
        <p:blipFill>
          <a:blip r:embed="rId3">
            <a:alphaModFix amt="20000"/>
          </a:blip>
          <a:srcRect t="19768" b="1976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381000" y="1138238"/>
            <a:ext cx="1958132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8B2AC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728913"/>
            <a:ext cx="60864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Retentativas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Autorização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4748213"/>
            <a:ext cx="5857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Regras e penalidades das bandeiras Elo, Mastercard e Visa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5576888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164" y="344164"/>
            <a:ext cx="11572505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kern="0" spc="54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RETENTATIVAS DE AUTORIZAÇÃO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164" y="619495"/>
            <a:ext cx="11658546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Conceito de Retentativas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372" y="1101324"/>
            <a:ext cx="11486464" cy="972263"/>
          </a:xfrm>
          <a:custGeom>
            <a:avLst/>
            <a:gdLst/>
            <a:ahLst/>
            <a:cxnLst/>
            <a:rect l="l" t="t" r="r" b="b"/>
            <a:pathLst>
              <a:path w="11486464" h="972263">
                <a:moveTo>
                  <a:pt x="34416" y="0"/>
                </a:moveTo>
                <a:lnTo>
                  <a:pt x="11417628" y="0"/>
                </a:lnTo>
                <a:cubicBezTo>
                  <a:pt x="11455645" y="0"/>
                  <a:pt x="11486464" y="30819"/>
                  <a:pt x="11486464" y="68836"/>
                </a:cubicBezTo>
                <a:lnTo>
                  <a:pt x="11486464" y="903426"/>
                </a:lnTo>
                <a:cubicBezTo>
                  <a:pt x="11486464" y="941418"/>
                  <a:pt x="11455620" y="972263"/>
                  <a:pt x="11417628" y="972263"/>
                </a:cubicBezTo>
                <a:lnTo>
                  <a:pt x="34416" y="972263"/>
                </a:lnTo>
                <a:cubicBezTo>
                  <a:pt x="15409" y="972263"/>
                  <a:pt x="0" y="956854"/>
                  <a:pt x="0" y="937846"/>
                </a:cubicBezTo>
                <a:lnTo>
                  <a:pt x="0" y="34416"/>
                </a:lnTo>
                <a:cubicBezTo>
                  <a:pt x="0" y="15421"/>
                  <a:pt x="15421" y="0"/>
                  <a:pt x="3441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1372" y="1101324"/>
            <a:ext cx="34416" cy="972263"/>
          </a:xfrm>
          <a:custGeom>
            <a:avLst/>
            <a:gdLst/>
            <a:ahLst/>
            <a:cxnLst/>
            <a:rect l="l" t="t" r="r" b="b"/>
            <a:pathLst>
              <a:path w="34416" h="972263">
                <a:moveTo>
                  <a:pt x="34416" y="0"/>
                </a:moveTo>
                <a:lnTo>
                  <a:pt x="34416" y="0"/>
                </a:lnTo>
                <a:lnTo>
                  <a:pt x="34416" y="972263"/>
                </a:lnTo>
                <a:lnTo>
                  <a:pt x="34416" y="972263"/>
                </a:lnTo>
                <a:cubicBezTo>
                  <a:pt x="15409" y="972263"/>
                  <a:pt x="0" y="956854"/>
                  <a:pt x="0" y="937846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6474" y="1307822"/>
            <a:ext cx="206498" cy="206498"/>
          </a:xfrm>
          <a:custGeom>
            <a:avLst/>
            <a:gdLst/>
            <a:ahLst/>
            <a:cxnLst/>
            <a:rect l="l" t="t" r="r" b="b"/>
            <a:pathLst>
              <a:path w="206498" h="206498">
                <a:moveTo>
                  <a:pt x="176128" y="30128"/>
                </a:moveTo>
                <a:lnTo>
                  <a:pt x="180686" y="34443"/>
                </a:lnTo>
                <a:lnTo>
                  <a:pt x="180686" y="12906"/>
                </a:lnTo>
                <a:cubicBezTo>
                  <a:pt x="180686" y="5767"/>
                  <a:pt x="186453" y="0"/>
                  <a:pt x="193592" y="0"/>
                </a:cubicBezTo>
                <a:cubicBezTo>
                  <a:pt x="200731" y="0"/>
                  <a:pt x="206498" y="5767"/>
                  <a:pt x="206498" y="12906"/>
                </a:cubicBezTo>
                <a:lnTo>
                  <a:pt x="206498" y="64531"/>
                </a:lnTo>
                <a:cubicBezTo>
                  <a:pt x="206498" y="71669"/>
                  <a:pt x="200731" y="77437"/>
                  <a:pt x="193592" y="77437"/>
                </a:cubicBezTo>
                <a:lnTo>
                  <a:pt x="141968" y="77437"/>
                </a:lnTo>
                <a:cubicBezTo>
                  <a:pt x="134829" y="77437"/>
                  <a:pt x="129061" y="71669"/>
                  <a:pt x="129061" y="64531"/>
                </a:cubicBezTo>
                <a:cubicBezTo>
                  <a:pt x="129061" y="57392"/>
                  <a:pt x="134829" y="51625"/>
                  <a:pt x="141968" y="51625"/>
                </a:cubicBezTo>
                <a:lnTo>
                  <a:pt x="161286" y="51625"/>
                </a:lnTo>
                <a:lnTo>
                  <a:pt x="158221" y="48721"/>
                </a:lnTo>
                <a:cubicBezTo>
                  <a:pt x="158141" y="48640"/>
                  <a:pt x="158060" y="48559"/>
                  <a:pt x="157979" y="48479"/>
                </a:cubicBezTo>
                <a:cubicBezTo>
                  <a:pt x="127730" y="18230"/>
                  <a:pt x="78727" y="18230"/>
                  <a:pt x="48479" y="48479"/>
                </a:cubicBezTo>
                <a:cubicBezTo>
                  <a:pt x="18230" y="78727"/>
                  <a:pt x="18230" y="127730"/>
                  <a:pt x="48479" y="157979"/>
                </a:cubicBezTo>
                <a:cubicBezTo>
                  <a:pt x="78727" y="188228"/>
                  <a:pt x="127730" y="188228"/>
                  <a:pt x="157979" y="157979"/>
                </a:cubicBezTo>
                <a:cubicBezTo>
                  <a:pt x="161286" y="154672"/>
                  <a:pt x="164231" y="151163"/>
                  <a:pt x="166812" y="147453"/>
                </a:cubicBezTo>
                <a:cubicBezTo>
                  <a:pt x="170885" y="141605"/>
                  <a:pt x="178952" y="140193"/>
                  <a:pt x="184800" y="144266"/>
                </a:cubicBezTo>
                <a:cubicBezTo>
                  <a:pt x="190648" y="148340"/>
                  <a:pt x="192059" y="156406"/>
                  <a:pt x="187986" y="162254"/>
                </a:cubicBezTo>
                <a:cubicBezTo>
                  <a:pt x="184558" y="167175"/>
                  <a:pt x="180646" y="171853"/>
                  <a:pt x="176249" y="176249"/>
                </a:cubicBezTo>
                <a:cubicBezTo>
                  <a:pt x="135918" y="216581"/>
                  <a:pt x="70540" y="216581"/>
                  <a:pt x="30249" y="176249"/>
                </a:cubicBezTo>
                <a:cubicBezTo>
                  <a:pt x="-10043" y="135918"/>
                  <a:pt x="-10083" y="70580"/>
                  <a:pt x="30249" y="30249"/>
                </a:cubicBezTo>
                <a:cubicBezTo>
                  <a:pt x="70540" y="-10043"/>
                  <a:pt x="135797" y="-10083"/>
                  <a:pt x="176128" y="3012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8785" y="1273406"/>
            <a:ext cx="10970219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são Retentativas?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0662" y="1651986"/>
            <a:ext cx="11202529" cy="249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19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Excesso de tentativa de autorização</a:t>
            </a:r>
            <a:r>
              <a:rPr lang="en-US" sz="121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após receber uma resposta de autorização negada do Emissor, descumprindo as regras aplicadas pelas bandeiras.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8466" y="2217705"/>
            <a:ext cx="5670097" cy="3656740"/>
          </a:xfrm>
          <a:custGeom>
            <a:avLst/>
            <a:gdLst/>
            <a:ahLst/>
            <a:cxnLst/>
            <a:rect l="l" t="t" r="r" b="b"/>
            <a:pathLst>
              <a:path w="5670097" h="3656740">
                <a:moveTo>
                  <a:pt x="68820" y="0"/>
                </a:moveTo>
                <a:lnTo>
                  <a:pt x="5601278" y="0"/>
                </a:lnTo>
                <a:cubicBezTo>
                  <a:pt x="5639260" y="0"/>
                  <a:pt x="5670097" y="30837"/>
                  <a:pt x="5670097" y="68820"/>
                </a:cubicBezTo>
                <a:lnTo>
                  <a:pt x="5670097" y="3587920"/>
                </a:lnTo>
                <a:cubicBezTo>
                  <a:pt x="5670097" y="3625928"/>
                  <a:pt x="5639286" y="3656740"/>
                  <a:pt x="5601278" y="3656740"/>
                </a:cubicBezTo>
                <a:lnTo>
                  <a:pt x="68820" y="3656740"/>
                </a:lnTo>
                <a:cubicBezTo>
                  <a:pt x="30812" y="3656740"/>
                  <a:pt x="0" y="3625928"/>
                  <a:pt x="0" y="3587920"/>
                </a:cubicBezTo>
                <a:lnTo>
                  <a:pt x="0" y="68820"/>
                </a:lnTo>
                <a:cubicBezTo>
                  <a:pt x="0" y="30812"/>
                  <a:pt x="30812" y="0"/>
                  <a:pt x="6882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6360" y="2428505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78143" y="1748"/>
                </a:moveTo>
                <a:cubicBezTo>
                  <a:pt x="83150" y="-571"/>
                  <a:pt x="88931" y="-571"/>
                  <a:pt x="93939" y="1748"/>
                </a:cubicBezTo>
                <a:lnTo>
                  <a:pt x="167410" y="35694"/>
                </a:lnTo>
                <a:cubicBezTo>
                  <a:pt x="170267" y="37004"/>
                  <a:pt x="172082" y="39861"/>
                  <a:pt x="172082" y="43020"/>
                </a:cubicBezTo>
                <a:cubicBezTo>
                  <a:pt x="172082" y="46180"/>
                  <a:pt x="170267" y="49037"/>
                  <a:pt x="167410" y="50347"/>
                </a:cubicBezTo>
                <a:lnTo>
                  <a:pt x="93939" y="84293"/>
                </a:lnTo>
                <a:cubicBezTo>
                  <a:pt x="88931" y="86612"/>
                  <a:pt x="83150" y="86612"/>
                  <a:pt x="78143" y="84293"/>
                </a:cubicBezTo>
                <a:lnTo>
                  <a:pt x="4672" y="50347"/>
                </a:lnTo>
                <a:cubicBezTo>
                  <a:pt x="1815" y="49003"/>
                  <a:pt x="0" y="46146"/>
                  <a:pt x="0" y="43020"/>
                </a:cubicBezTo>
                <a:cubicBezTo>
                  <a:pt x="0" y="39895"/>
                  <a:pt x="1815" y="37004"/>
                  <a:pt x="4672" y="35694"/>
                </a:cubicBezTo>
                <a:lnTo>
                  <a:pt x="78143" y="1748"/>
                </a:lnTo>
                <a:close/>
                <a:moveTo>
                  <a:pt x="16166" y="73404"/>
                </a:moveTo>
                <a:lnTo>
                  <a:pt x="71387" y="98913"/>
                </a:lnTo>
                <a:cubicBezTo>
                  <a:pt x="80697" y="103216"/>
                  <a:pt x="91418" y="103216"/>
                  <a:pt x="100728" y="98913"/>
                </a:cubicBezTo>
                <a:lnTo>
                  <a:pt x="155949" y="73404"/>
                </a:lnTo>
                <a:lnTo>
                  <a:pt x="167410" y="78714"/>
                </a:lnTo>
                <a:cubicBezTo>
                  <a:pt x="170267" y="80025"/>
                  <a:pt x="172082" y="82882"/>
                  <a:pt x="172082" y="86041"/>
                </a:cubicBezTo>
                <a:cubicBezTo>
                  <a:pt x="172082" y="89200"/>
                  <a:pt x="170267" y="92057"/>
                  <a:pt x="167410" y="93368"/>
                </a:cubicBezTo>
                <a:lnTo>
                  <a:pt x="93939" y="127314"/>
                </a:lnTo>
                <a:cubicBezTo>
                  <a:pt x="88931" y="129633"/>
                  <a:pt x="83150" y="129633"/>
                  <a:pt x="78143" y="127314"/>
                </a:cubicBezTo>
                <a:lnTo>
                  <a:pt x="4672" y="93368"/>
                </a:lnTo>
                <a:cubicBezTo>
                  <a:pt x="1815" y="92023"/>
                  <a:pt x="0" y="89167"/>
                  <a:pt x="0" y="86041"/>
                </a:cubicBezTo>
                <a:cubicBezTo>
                  <a:pt x="0" y="82915"/>
                  <a:pt x="1815" y="80025"/>
                  <a:pt x="4672" y="78714"/>
                </a:cubicBezTo>
                <a:lnTo>
                  <a:pt x="16133" y="73404"/>
                </a:lnTo>
                <a:close/>
                <a:moveTo>
                  <a:pt x="4672" y="121734"/>
                </a:moveTo>
                <a:lnTo>
                  <a:pt x="16133" y="116424"/>
                </a:lnTo>
                <a:lnTo>
                  <a:pt x="71353" y="141934"/>
                </a:lnTo>
                <a:cubicBezTo>
                  <a:pt x="80663" y="146236"/>
                  <a:pt x="91385" y="146236"/>
                  <a:pt x="100695" y="141934"/>
                </a:cubicBezTo>
                <a:lnTo>
                  <a:pt x="155916" y="116424"/>
                </a:lnTo>
                <a:lnTo>
                  <a:pt x="167376" y="121734"/>
                </a:lnTo>
                <a:cubicBezTo>
                  <a:pt x="170233" y="123045"/>
                  <a:pt x="172048" y="125902"/>
                  <a:pt x="172048" y="129061"/>
                </a:cubicBezTo>
                <a:cubicBezTo>
                  <a:pt x="172048" y="132221"/>
                  <a:pt x="170233" y="135078"/>
                  <a:pt x="167376" y="136388"/>
                </a:cubicBezTo>
                <a:lnTo>
                  <a:pt x="93906" y="170334"/>
                </a:lnTo>
                <a:cubicBezTo>
                  <a:pt x="88898" y="172653"/>
                  <a:pt x="83117" y="172653"/>
                  <a:pt x="78109" y="170334"/>
                </a:cubicBezTo>
                <a:lnTo>
                  <a:pt x="4672" y="136388"/>
                </a:lnTo>
                <a:cubicBezTo>
                  <a:pt x="1815" y="135044"/>
                  <a:pt x="0" y="132187"/>
                  <a:pt x="0" y="129061"/>
                </a:cubicBezTo>
                <a:cubicBezTo>
                  <a:pt x="0" y="125936"/>
                  <a:pt x="1815" y="123045"/>
                  <a:pt x="4672" y="12173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9952" y="2394089"/>
            <a:ext cx="5188268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Classificação das Bandeiras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4850" y="2738253"/>
            <a:ext cx="5386162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bandeiras </a:t>
            </a:r>
            <a:r>
              <a:rPr lang="en-US" sz="108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Elo, Mastercard e Visa</a:t>
            </a: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separam grupos de tipos de tentativas negadas onde, dependendo do </a:t>
            </a:r>
            <a:r>
              <a:rPr lang="en-US" sz="108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de resposta do emissor</a:t>
            </a: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é possível: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4850" y="3254498"/>
            <a:ext cx="5317330" cy="688327"/>
          </a:xfrm>
          <a:custGeom>
            <a:avLst/>
            <a:gdLst/>
            <a:ahLst/>
            <a:cxnLst/>
            <a:rect l="l" t="t" r="r" b="b"/>
            <a:pathLst>
              <a:path w="5317330" h="688327">
                <a:moveTo>
                  <a:pt x="68833" y="0"/>
                </a:moveTo>
                <a:lnTo>
                  <a:pt x="5248497" y="0"/>
                </a:lnTo>
                <a:cubicBezTo>
                  <a:pt x="5286512" y="0"/>
                  <a:pt x="5317330" y="30817"/>
                  <a:pt x="5317330" y="68833"/>
                </a:cubicBezTo>
                <a:lnTo>
                  <a:pt x="5317330" y="619495"/>
                </a:lnTo>
                <a:cubicBezTo>
                  <a:pt x="5317330" y="657510"/>
                  <a:pt x="5286512" y="688327"/>
                  <a:pt x="5248497" y="688327"/>
                </a:cubicBezTo>
                <a:lnTo>
                  <a:pt x="68833" y="688327"/>
                </a:lnTo>
                <a:cubicBezTo>
                  <a:pt x="30817" y="688327"/>
                  <a:pt x="0" y="657510"/>
                  <a:pt x="0" y="619495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28099" y="3357747"/>
            <a:ext cx="344164" cy="344164"/>
          </a:xfrm>
          <a:custGeom>
            <a:avLst/>
            <a:gdLst/>
            <a:ahLst/>
            <a:cxnLst/>
            <a:rect l="l" t="t" r="r" b="b"/>
            <a:pathLst>
              <a:path w="344164" h="344164">
                <a:moveTo>
                  <a:pt x="172082" y="0"/>
                </a:moveTo>
                <a:lnTo>
                  <a:pt x="172082" y="0"/>
                </a:lnTo>
                <a:cubicBezTo>
                  <a:pt x="267120" y="0"/>
                  <a:pt x="344164" y="77044"/>
                  <a:pt x="344164" y="172082"/>
                </a:cubicBezTo>
                <a:lnTo>
                  <a:pt x="344164" y="172082"/>
                </a:lnTo>
                <a:cubicBezTo>
                  <a:pt x="344164" y="267120"/>
                  <a:pt x="267120" y="344164"/>
                  <a:pt x="172082" y="344164"/>
                </a:cubicBezTo>
                <a:lnTo>
                  <a:pt x="172082" y="344164"/>
                </a:lnTo>
                <a:cubicBezTo>
                  <a:pt x="77044" y="344164"/>
                  <a:pt x="0" y="267120"/>
                  <a:pt x="0" y="172082"/>
                </a:cubicBezTo>
                <a:lnTo>
                  <a:pt x="0" y="172082"/>
                </a:lnTo>
                <a:cubicBezTo>
                  <a:pt x="0" y="77044"/>
                  <a:pt x="77044" y="0"/>
                  <a:pt x="17208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39952" y="3460996"/>
            <a:ext cx="120457" cy="137665"/>
          </a:xfrm>
          <a:custGeom>
            <a:avLst/>
            <a:gdLst/>
            <a:ahLst/>
            <a:cxnLst/>
            <a:rect l="l" t="t" r="r" b="b"/>
            <a:pathLst>
              <a:path w="120457" h="137665">
                <a:moveTo>
                  <a:pt x="116908" y="18848"/>
                </a:moveTo>
                <a:cubicBezTo>
                  <a:pt x="120753" y="21645"/>
                  <a:pt x="121613" y="27022"/>
                  <a:pt x="118817" y="30867"/>
                </a:cubicBezTo>
                <a:lnTo>
                  <a:pt x="49984" y="125512"/>
                </a:lnTo>
                <a:cubicBezTo>
                  <a:pt x="48506" y="127556"/>
                  <a:pt x="46220" y="128819"/>
                  <a:pt x="43693" y="129035"/>
                </a:cubicBezTo>
                <a:cubicBezTo>
                  <a:pt x="41165" y="129250"/>
                  <a:pt x="38718" y="128309"/>
                  <a:pt x="36944" y="126534"/>
                </a:cubicBezTo>
                <a:lnTo>
                  <a:pt x="2527" y="92118"/>
                </a:lnTo>
                <a:cubicBezTo>
                  <a:pt x="-834" y="88757"/>
                  <a:pt x="-834" y="83298"/>
                  <a:pt x="2527" y="79937"/>
                </a:cubicBezTo>
                <a:cubicBezTo>
                  <a:pt x="5888" y="76576"/>
                  <a:pt x="11347" y="76576"/>
                  <a:pt x="14708" y="79937"/>
                </a:cubicBezTo>
                <a:lnTo>
                  <a:pt x="41999" y="107229"/>
                </a:lnTo>
                <a:lnTo>
                  <a:pt x="104916" y="20730"/>
                </a:lnTo>
                <a:cubicBezTo>
                  <a:pt x="107712" y="16886"/>
                  <a:pt x="113090" y="16025"/>
                  <a:pt x="116935" y="1882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75512" y="3357747"/>
            <a:ext cx="256402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5512" y="3633078"/>
            <a:ext cx="2555416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Nova solicitação de autorização permitida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4850" y="4011658"/>
            <a:ext cx="5317330" cy="688327"/>
          </a:xfrm>
          <a:custGeom>
            <a:avLst/>
            <a:gdLst/>
            <a:ahLst/>
            <a:cxnLst/>
            <a:rect l="l" t="t" r="r" b="b"/>
            <a:pathLst>
              <a:path w="5317330" h="688327">
                <a:moveTo>
                  <a:pt x="68833" y="0"/>
                </a:moveTo>
                <a:lnTo>
                  <a:pt x="5248497" y="0"/>
                </a:lnTo>
                <a:cubicBezTo>
                  <a:pt x="5286512" y="0"/>
                  <a:pt x="5317330" y="30817"/>
                  <a:pt x="5317330" y="68833"/>
                </a:cubicBezTo>
                <a:lnTo>
                  <a:pt x="5317330" y="619495"/>
                </a:lnTo>
                <a:cubicBezTo>
                  <a:pt x="5317330" y="657510"/>
                  <a:pt x="5286512" y="688327"/>
                  <a:pt x="5248497" y="688327"/>
                </a:cubicBezTo>
                <a:lnTo>
                  <a:pt x="68833" y="688327"/>
                </a:lnTo>
                <a:cubicBezTo>
                  <a:pt x="30817" y="688327"/>
                  <a:pt x="0" y="657510"/>
                  <a:pt x="0" y="619495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28099" y="4114908"/>
            <a:ext cx="344164" cy="344164"/>
          </a:xfrm>
          <a:custGeom>
            <a:avLst/>
            <a:gdLst/>
            <a:ahLst/>
            <a:cxnLst/>
            <a:rect l="l" t="t" r="r" b="b"/>
            <a:pathLst>
              <a:path w="344164" h="344164">
                <a:moveTo>
                  <a:pt x="172082" y="0"/>
                </a:moveTo>
                <a:lnTo>
                  <a:pt x="172082" y="0"/>
                </a:lnTo>
                <a:cubicBezTo>
                  <a:pt x="267120" y="0"/>
                  <a:pt x="344164" y="77044"/>
                  <a:pt x="344164" y="172082"/>
                </a:cubicBezTo>
                <a:lnTo>
                  <a:pt x="344164" y="172082"/>
                </a:lnTo>
                <a:cubicBezTo>
                  <a:pt x="344164" y="267120"/>
                  <a:pt x="267120" y="344164"/>
                  <a:pt x="172082" y="344164"/>
                </a:cubicBezTo>
                <a:lnTo>
                  <a:pt x="172082" y="344164"/>
                </a:lnTo>
                <a:cubicBezTo>
                  <a:pt x="77044" y="344164"/>
                  <a:pt x="0" y="267120"/>
                  <a:pt x="0" y="172082"/>
                </a:cubicBezTo>
                <a:lnTo>
                  <a:pt x="0" y="172082"/>
                </a:lnTo>
                <a:cubicBezTo>
                  <a:pt x="0" y="77044"/>
                  <a:pt x="77044" y="0"/>
                  <a:pt x="172082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31348" y="4218157"/>
            <a:ext cx="137665" cy="137665"/>
          </a:xfrm>
          <a:custGeom>
            <a:avLst/>
            <a:gdLst/>
            <a:ahLst/>
            <a:cxnLst/>
            <a:rect l="l" t="t" r="r" b="b"/>
            <a:pathLst>
              <a:path w="137665" h="137665">
                <a:moveTo>
                  <a:pt x="68833" y="0"/>
                </a:moveTo>
                <a:cubicBezTo>
                  <a:pt x="106823" y="0"/>
                  <a:pt x="137665" y="30843"/>
                  <a:pt x="137665" y="68833"/>
                </a:cubicBezTo>
                <a:cubicBezTo>
                  <a:pt x="137665" y="106823"/>
                  <a:pt x="106823" y="137665"/>
                  <a:pt x="68833" y="137665"/>
                </a:cubicBezTo>
                <a:cubicBezTo>
                  <a:pt x="30843" y="137665"/>
                  <a:pt x="0" y="106823"/>
                  <a:pt x="0" y="68833"/>
                </a:cubicBezTo>
                <a:cubicBezTo>
                  <a:pt x="0" y="30843"/>
                  <a:pt x="30843" y="0"/>
                  <a:pt x="68833" y="0"/>
                </a:cubicBezTo>
                <a:close/>
                <a:moveTo>
                  <a:pt x="62380" y="32265"/>
                </a:moveTo>
                <a:lnTo>
                  <a:pt x="62380" y="68833"/>
                </a:lnTo>
                <a:cubicBezTo>
                  <a:pt x="62380" y="70984"/>
                  <a:pt x="63455" y="73000"/>
                  <a:pt x="65257" y="74210"/>
                </a:cubicBezTo>
                <a:lnTo>
                  <a:pt x="91069" y="91418"/>
                </a:lnTo>
                <a:cubicBezTo>
                  <a:pt x="94027" y="93408"/>
                  <a:pt x="98033" y="92602"/>
                  <a:pt x="100023" y="89617"/>
                </a:cubicBezTo>
                <a:cubicBezTo>
                  <a:pt x="102012" y="86632"/>
                  <a:pt x="101206" y="82653"/>
                  <a:pt x="98221" y="80663"/>
                </a:cubicBezTo>
                <a:lnTo>
                  <a:pt x="75286" y="65391"/>
                </a:lnTo>
                <a:lnTo>
                  <a:pt x="75286" y="32265"/>
                </a:lnTo>
                <a:cubicBezTo>
                  <a:pt x="75286" y="28689"/>
                  <a:pt x="72409" y="25812"/>
                  <a:pt x="68833" y="25812"/>
                </a:cubicBezTo>
                <a:cubicBezTo>
                  <a:pt x="65257" y="25812"/>
                  <a:pt x="62380" y="28689"/>
                  <a:pt x="62380" y="32265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75512" y="4114908"/>
            <a:ext cx="260704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Retentar Temporariamente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5512" y="4390239"/>
            <a:ext cx="2598436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Retentativa permitida por período limitado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4850" y="4768819"/>
            <a:ext cx="5317330" cy="688327"/>
          </a:xfrm>
          <a:custGeom>
            <a:avLst/>
            <a:gdLst/>
            <a:ahLst/>
            <a:cxnLst/>
            <a:rect l="l" t="t" r="r" b="b"/>
            <a:pathLst>
              <a:path w="5317330" h="688327">
                <a:moveTo>
                  <a:pt x="68833" y="0"/>
                </a:moveTo>
                <a:lnTo>
                  <a:pt x="5248497" y="0"/>
                </a:lnTo>
                <a:cubicBezTo>
                  <a:pt x="5286512" y="0"/>
                  <a:pt x="5317330" y="30817"/>
                  <a:pt x="5317330" y="68833"/>
                </a:cubicBezTo>
                <a:lnTo>
                  <a:pt x="5317330" y="619495"/>
                </a:lnTo>
                <a:cubicBezTo>
                  <a:pt x="5317330" y="657510"/>
                  <a:pt x="5286512" y="688327"/>
                  <a:pt x="5248497" y="688327"/>
                </a:cubicBezTo>
                <a:lnTo>
                  <a:pt x="68833" y="688327"/>
                </a:lnTo>
                <a:cubicBezTo>
                  <a:pt x="30817" y="688327"/>
                  <a:pt x="0" y="657510"/>
                  <a:pt x="0" y="619495"/>
                </a:cubicBezTo>
                <a:lnTo>
                  <a:pt x="0" y="68833"/>
                </a:lnTo>
                <a:cubicBezTo>
                  <a:pt x="0" y="30817"/>
                  <a:pt x="30817" y="0"/>
                  <a:pt x="6883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28099" y="4872068"/>
            <a:ext cx="344164" cy="344164"/>
          </a:xfrm>
          <a:custGeom>
            <a:avLst/>
            <a:gdLst/>
            <a:ahLst/>
            <a:cxnLst/>
            <a:rect l="l" t="t" r="r" b="b"/>
            <a:pathLst>
              <a:path w="344164" h="344164">
                <a:moveTo>
                  <a:pt x="172082" y="0"/>
                </a:moveTo>
                <a:lnTo>
                  <a:pt x="172082" y="0"/>
                </a:lnTo>
                <a:cubicBezTo>
                  <a:pt x="267120" y="0"/>
                  <a:pt x="344164" y="77044"/>
                  <a:pt x="344164" y="172082"/>
                </a:cubicBezTo>
                <a:lnTo>
                  <a:pt x="344164" y="172082"/>
                </a:lnTo>
                <a:cubicBezTo>
                  <a:pt x="344164" y="267120"/>
                  <a:pt x="267120" y="344164"/>
                  <a:pt x="172082" y="344164"/>
                </a:cubicBezTo>
                <a:lnTo>
                  <a:pt x="172082" y="344164"/>
                </a:lnTo>
                <a:cubicBezTo>
                  <a:pt x="77044" y="344164"/>
                  <a:pt x="0" y="267120"/>
                  <a:pt x="0" y="172082"/>
                </a:cubicBezTo>
                <a:lnTo>
                  <a:pt x="0" y="172082"/>
                </a:lnTo>
                <a:cubicBezTo>
                  <a:pt x="0" y="77044"/>
                  <a:pt x="77044" y="0"/>
                  <a:pt x="172082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48556" y="4975317"/>
            <a:ext cx="103249" cy="137665"/>
          </a:xfrm>
          <a:custGeom>
            <a:avLst/>
            <a:gdLst/>
            <a:ahLst/>
            <a:cxnLst/>
            <a:rect l="l" t="t" r="r" b="b"/>
            <a:pathLst>
              <a:path w="103249" h="137665">
                <a:moveTo>
                  <a:pt x="14815" y="19736"/>
                </a:moveTo>
                <a:cubicBezTo>
                  <a:pt x="11454" y="16375"/>
                  <a:pt x="5996" y="16375"/>
                  <a:pt x="2635" y="19736"/>
                </a:cubicBezTo>
                <a:cubicBezTo>
                  <a:pt x="-726" y="23097"/>
                  <a:pt x="-726" y="28555"/>
                  <a:pt x="2635" y="31916"/>
                </a:cubicBezTo>
                <a:lnTo>
                  <a:pt x="39579" y="68833"/>
                </a:lnTo>
                <a:lnTo>
                  <a:pt x="2662" y="105777"/>
                </a:lnTo>
                <a:cubicBezTo>
                  <a:pt x="-699" y="109138"/>
                  <a:pt x="-699" y="114596"/>
                  <a:pt x="2662" y="117957"/>
                </a:cubicBezTo>
                <a:cubicBezTo>
                  <a:pt x="6023" y="121318"/>
                  <a:pt x="11481" y="121318"/>
                  <a:pt x="14842" y="117957"/>
                </a:cubicBezTo>
                <a:lnTo>
                  <a:pt x="51759" y="81013"/>
                </a:lnTo>
                <a:lnTo>
                  <a:pt x="88703" y="117930"/>
                </a:lnTo>
                <a:cubicBezTo>
                  <a:pt x="92064" y="121291"/>
                  <a:pt x="97522" y="121291"/>
                  <a:pt x="100883" y="117930"/>
                </a:cubicBezTo>
                <a:cubicBezTo>
                  <a:pt x="104244" y="114569"/>
                  <a:pt x="104244" y="109111"/>
                  <a:pt x="100883" y="105750"/>
                </a:cubicBezTo>
                <a:lnTo>
                  <a:pt x="63939" y="68833"/>
                </a:lnTo>
                <a:lnTo>
                  <a:pt x="100856" y="31889"/>
                </a:lnTo>
                <a:cubicBezTo>
                  <a:pt x="104217" y="28528"/>
                  <a:pt x="104217" y="23070"/>
                  <a:pt x="100856" y="19709"/>
                </a:cubicBezTo>
                <a:cubicBezTo>
                  <a:pt x="97495" y="16348"/>
                  <a:pt x="92037" y="16348"/>
                  <a:pt x="88676" y="19709"/>
                </a:cubicBezTo>
                <a:lnTo>
                  <a:pt x="51759" y="56653"/>
                </a:lnTo>
                <a:lnTo>
                  <a:pt x="14815" y="19736"/>
                </a:ln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75512" y="4872068"/>
            <a:ext cx="1910109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Não Retentar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5512" y="5147399"/>
            <a:ext cx="1901505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Nova solicitação não permitida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81503" y="2213403"/>
            <a:ext cx="5661493" cy="3665344"/>
          </a:xfrm>
          <a:custGeom>
            <a:avLst/>
            <a:gdLst/>
            <a:ahLst/>
            <a:cxnLst/>
            <a:rect l="l" t="t" r="r" b="b"/>
            <a:pathLst>
              <a:path w="5661493" h="3665344">
                <a:moveTo>
                  <a:pt x="34416" y="0"/>
                </a:moveTo>
                <a:lnTo>
                  <a:pt x="5592658" y="0"/>
                </a:lnTo>
                <a:cubicBezTo>
                  <a:pt x="5630675" y="0"/>
                  <a:pt x="5661493" y="30819"/>
                  <a:pt x="5661493" y="68835"/>
                </a:cubicBezTo>
                <a:lnTo>
                  <a:pt x="5661493" y="3596509"/>
                </a:lnTo>
                <a:cubicBezTo>
                  <a:pt x="5661493" y="3634525"/>
                  <a:pt x="5630675" y="3665344"/>
                  <a:pt x="5592658" y="3665344"/>
                </a:cubicBezTo>
                <a:lnTo>
                  <a:pt x="34416" y="3665344"/>
                </a:lnTo>
                <a:cubicBezTo>
                  <a:pt x="15409" y="3665344"/>
                  <a:pt x="0" y="3649935"/>
                  <a:pt x="0" y="3630927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181503" y="2213403"/>
            <a:ext cx="34416" cy="3665344"/>
          </a:xfrm>
          <a:custGeom>
            <a:avLst/>
            <a:gdLst/>
            <a:ahLst/>
            <a:cxnLst/>
            <a:rect l="l" t="t" r="r" b="b"/>
            <a:pathLst>
              <a:path w="34416" h="3665344">
                <a:moveTo>
                  <a:pt x="34416" y="0"/>
                </a:moveTo>
                <a:lnTo>
                  <a:pt x="34416" y="0"/>
                </a:lnTo>
                <a:lnTo>
                  <a:pt x="34416" y="3665344"/>
                </a:lnTo>
                <a:lnTo>
                  <a:pt x="34416" y="3665344"/>
                </a:lnTo>
                <a:cubicBezTo>
                  <a:pt x="15409" y="3665344"/>
                  <a:pt x="0" y="3649935"/>
                  <a:pt x="0" y="3630927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392303" y="2419901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6041" y="0"/>
                </a:moveTo>
                <a:cubicBezTo>
                  <a:pt x="90982" y="0"/>
                  <a:pt x="95519" y="2722"/>
                  <a:pt x="97872" y="7058"/>
                </a:cubicBezTo>
                <a:lnTo>
                  <a:pt x="170469" y="141497"/>
                </a:lnTo>
                <a:cubicBezTo>
                  <a:pt x="172720" y="145665"/>
                  <a:pt x="172620" y="150706"/>
                  <a:pt x="170200" y="154773"/>
                </a:cubicBezTo>
                <a:cubicBezTo>
                  <a:pt x="167780" y="158840"/>
                  <a:pt x="163377" y="161327"/>
                  <a:pt x="158638" y="161327"/>
                </a:cubicBezTo>
                <a:lnTo>
                  <a:pt x="13444" y="161327"/>
                </a:lnTo>
                <a:cubicBezTo>
                  <a:pt x="8705" y="161327"/>
                  <a:pt x="4336" y="158840"/>
                  <a:pt x="1882" y="154773"/>
                </a:cubicBezTo>
                <a:cubicBezTo>
                  <a:pt x="-571" y="150706"/>
                  <a:pt x="-639" y="145665"/>
                  <a:pt x="1613" y="141497"/>
                </a:cubicBezTo>
                <a:lnTo>
                  <a:pt x="74210" y="7058"/>
                </a:lnTo>
                <a:cubicBezTo>
                  <a:pt x="76563" y="2722"/>
                  <a:pt x="81100" y="0"/>
                  <a:pt x="86041" y="0"/>
                </a:cubicBezTo>
                <a:close/>
                <a:moveTo>
                  <a:pt x="86041" y="56464"/>
                </a:moveTo>
                <a:cubicBezTo>
                  <a:pt x="81571" y="56464"/>
                  <a:pt x="77975" y="60061"/>
                  <a:pt x="77975" y="64531"/>
                </a:cubicBezTo>
                <a:lnTo>
                  <a:pt x="77975" y="102174"/>
                </a:lnTo>
                <a:cubicBezTo>
                  <a:pt x="77975" y="106644"/>
                  <a:pt x="81571" y="110240"/>
                  <a:pt x="86041" y="110240"/>
                </a:cubicBezTo>
                <a:cubicBezTo>
                  <a:pt x="90511" y="110240"/>
                  <a:pt x="94107" y="106644"/>
                  <a:pt x="94107" y="102174"/>
                </a:cubicBezTo>
                <a:lnTo>
                  <a:pt x="94107" y="64531"/>
                </a:lnTo>
                <a:cubicBezTo>
                  <a:pt x="94107" y="60061"/>
                  <a:pt x="90511" y="56464"/>
                  <a:pt x="86041" y="56464"/>
                </a:cubicBezTo>
                <a:close/>
                <a:moveTo>
                  <a:pt x="95015" y="129061"/>
                </a:moveTo>
                <a:cubicBezTo>
                  <a:pt x="95219" y="125730"/>
                  <a:pt x="93558" y="122561"/>
                  <a:pt x="90702" y="120834"/>
                </a:cubicBezTo>
                <a:cubicBezTo>
                  <a:pt x="87847" y="119107"/>
                  <a:pt x="84269" y="119107"/>
                  <a:pt x="81413" y="120834"/>
                </a:cubicBezTo>
                <a:cubicBezTo>
                  <a:pt x="78558" y="122561"/>
                  <a:pt x="76897" y="125730"/>
                  <a:pt x="77101" y="129061"/>
                </a:cubicBezTo>
                <a:cubicBezTo>
                  <a:pt x="76897" y="132392"/>
                  <a:pt x="78558" y="135561"/>
                  <a:pt x="81413" y="137289"/>
                </a:cubicBezTo>
                <a:cubicBezTo>
                  <a:pt x="84269" y="139016"/>
                  <a:pt x="87847" y="139016"/>
                  <a:pt x="90702" y="137289"/>
                </a:cubicBezTo>
                <a:cubicBezTo>
                  <a:pt x="93558" y="135561"/>
                  <a:pt x="95219" y="132392"/>
                  <a:pt x="95015" y="129061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5896" y="2385485"/>
            <a:ext cx="517106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Penalidades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0793" y="2729649"/>
            <a:ext cx="5300121" cy="1755235"/>
          </a:xfrm>
          <a:custGeom>
            <a:avLst/>
            <a:gdLst/>
            <a:ahLst/>
            <a:cxnLst/>
            <a:rect l="l" t="t" r="r" b="b"/>
            <a:pathLst>
              <a:path w="5300121" h="1755235">
                <a:moveTo>
                  <a:pt x="68840" y="0"/>
                </a:moveTo>
                <a:lnTo>
                  <a:pt x="5231281" y="0"/>
                </a:lnTo>
                <a:cubicBezTo>
                  <a:pt x="5269301" y="0"/>
                  <a:pt x="5300121" y="30821"/>
                  <a:pt x="5300121" y="68840"/>
                </a:cubicBezTo>
                <a:lnTo>
                  <a:pt x="5300121" y="1686395"/>
                </a:lnTo>
                <a:cubicBezTo>
                  <a:pt x="5300121" y="1724414"/>
                  <a:pt x="5269301" y="1755235"/>
                  <a:pt x="5231281" y="1755235"/>
                </a:cubicBezTo>
                <a:lnTo>
                  <a:pt x="68840" y="1755235"/>
                </a:lnTo>
                <a:cubicBezTo>
                  <a:pt x="30821" y="1755235"/>
                  <a:pt x="0" y="1724414"/>
                  <a:pt x="0" y="1686395"/>
                </a:cubicBezTo>
                <a:lnTo>
                  <a:pt x="0" y="68840"/>
                </a:lnTo>
                <a:cubicBezTo>
                  <a:pt x="0" y="30846"/>
                  <a:pt x="30846" y="0"/>
                  <a:pt x="6884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508459" y="2867314"/>
            <a:ext cx="510222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Multas por Descumprimento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8459" y="3177061"/>
            <a:ext cx="5093623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Haverá </a:t>
            </a:r>
            <a:r>
              <a:rPr lang="en-US" sz="1084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multa por não cumprimento</a:t>
            </a: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dos requisitos das bandeiras. As penalidades variam conforme: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40724" y="3693307"/>
            <a:ext cx="64531" cy="103249"/>
          </a:xfrm>
          <a:custGeom>
            <a:avLst/>
            <a:gdLst/>
            <a:ahLst/>
            <a:cxnLst/>
            <a:rect l="l" t="t" r="r" b="b"/>
            <a:pathLst>
              <a:path w="64531" h="103249">
                <a:moveTo>
                  <a:pt x="62736" y="47067"/>
                </a:moveTo>
                <a:cubicBezTo>
                  <a:pt x="65257" y="49588"/>
                  <a:pt x="65257" y="53681"/>
                  <a:pt x="62736" y="56202"/>
                </a:cubicBezTo>
                <a:lnTo>
                  <a:pt x="24018" y="94921"/>
                </a:lnTo>
                <a:cubicBezTo>
                  <a:pt x="21497" y="97441"/>
                  <a:pt x="17403" y="97441"/>
                  <a:pt x="14882" y="94921"/>
                </a:cubicBezTo>
                <a:cubicBezTo>
                  <a:pt x="12362" y="92400"/>
                  <a:pt x="12362" y="88306"/>
                  <a:pt x="14882" y="85785"/>
                </a:cubicBezTo>
                <a:lnTo>
                  <a:pt x="49043" y="51625"/>
                </a:lnTo>
                <a:lnTo>
                  <a:pt x="14903" y="17464"/>
                </a:lnTo>
                <a:cubicBezTo>
                  <a:pt x="12382" y="14943"/>
                  <a:pt x="12382" y="10849"/>
                  <a:pt x="14903" y="8328"/>
                </a:cubicBezTo>
                <a:cubicBezTo>
                  <a:pt x="17423" y="5808"/>
                  <a:pt x="21517" y="5808"/>
                  <a:pt x="24038" y="8328"/>
                </a:cubicBezTo>
                <a:lnTo>
                  <a:pt x="62756" y="47047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706353" y="3658891"/>
            <a:ext cx="1944525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Bandeira (Elo, Mastercard, Visa)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40724" y="3934222"/>
            <a:ext cx="64531" cy="103249"/>
          </a:xfrm>
          <a:custGeom>
            <a:avLst/>
            <a:gdLst/>
            <a:ahLst/>
            <a:cxnLst/>
            <a:rect l="l" t="t" r="r" b="b"/>
            <a:pathLst>
              <a:path w="64531" h="103249">
                <a:moveTo>
                  <a:pt x="62736" y="47067"/>
                </a:moveTo>
                <a:cubicBezTo>
                  <a:pt x="65257" y="49588"/>
                  <a:pt x="65257" y="53681"/>
                  <a:pt x="62736" y="56202"/>
                </a:cubicBezTo>
                <a:lnTo>
                  <a:pt x="24018" y="94921"/>
                </a:lnTo>
                <a:cubicBezTo>
                  <a:pt x="21497" y="97441"/>
                  <a:pt x="17403" y="97441"/>
                  <a:pt x="14882" y="94921"/>
                </a:cubicBezTo>
                <a:cubicBezTo>
                  <a:pt x="12362" y="92400"/>
                  <a:pt x="12362" y="88306"/>
                  <a:pt x="14882" y="85785"/>
                </a:cubicBezTo>
                <a:lnTo>
                  <a:pt x="49043" y="51625"/>
                </a:lnTo>
                <a:lnTo>
                  <a:pt x="14903" y="17464"/>
                </a:lnTo>
                <a:cubicBezTo>
                  <a:pt x="12382" y="14943"/>
                  <a:pt x="12382" y="10849"/>
                  <a:pt x="14903" y="8328"/>
                </a:cubicBezTo>
                <a:cubicBezTo>
                  <a:pt x="17423" y="5808"/>
                  <a:pt x="21517" y="5808"/>
                  <a:pt x="24038" y="8328"/>
                </a:cubicBezTo>
                <a:lnTo>
                  <a:pt x="62756" y="47047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706353" y="3899805"/>
            <a:ext cx="1987546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Categoria do código de resposta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40724" y="4175136"/>
            <a:ext cx="64531" cy="103249"/>
          </a:xfrm>
          <a:custGeom>
            <a:avLst/>
            <a:gdLst/>
            <a:ahLst/>
            <a:cxnLst/>
            <a:rect l="l" t="t" r="r" b="b"/>
            <a:pathLst>
              <a:path w="64531" h="103249">
                <a:moveTo>
                  <a:pt x="62736" y="47067"/>
                </a:moveTo>
                <a:cubicBezTo>
                  <a:pt x="65257" y="49588"/>
                  <a:pt x="65257" y="53681"/>
                  <a:pt x="62736" y="56202"/>
                </a:cubicBezTo>
                <a:lnTo>
                  <a:pt x="24018" y="94921"/>
                </a:lnTo>
                <a:cubicBezTo>
                  <a:pt x="21497" y="97441"/>
                  <a:pt x="17403" y="97441"/>
                  <a:pt x="14882" y="94921"/>
                </a:cubicBezTo>
                <a:cubicBezTo>
                  <a:pt x="12362" y="92400"/>
                  <a:pt x="12362" y="88306"/>
                  <a:pt x="14882" y="85785"/>
                </a:cubicBezTo>
                <a:lnTo>
                  <a:pt x="49043" y="51625"/>
                </a:lnTo>
                <a:lnTo>
                  <a:pt x="14903" y="17464"/>
                </a:lnTo>
                <a:cubicBezTo>
                  <a:pt x="12382" y="14943"/>
                  <a:pt x="12382" y="10849"/>
                  <a:pt x="14903" y="8328"/>
                </a:cubicBezTo>
                <a:cubicBezTo>
                  <a:pt x="17423" y="5808"/>
                  <a:pt x="21517" y="5808"/>
                  <a:pt x="24038" y="8328"/>
                </a:cubicBezTo>
                <a:lnTo>
                  <a:pt x="62756" y="47047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706353" y="4140720"/>
            <a:ext cx="204777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de retentativas indevidas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0793" y="4588133"/>
            <a:ext cx="5300121" cy="998075"/>
          </a:xfrm>
          <a:custGeom>
            <a:avLst/>
            <a:gdLst/>
            <a:ahLst/>
            <a:cxnLst/>
            <a:rect l="l" t="t" r="r" b="b"/>
            <a:pathLst>
              <a:path w="5300121" h="998075">
                <a:moveTo>
                  <a:pt x="68837" y="0"/>
                </a:moveTo>
                <a:lnTo>
                  <a:pt x="5231284" y="0"/>
                </a:lnTo>
                <a:cubicBezTo>
                  <a:pt x="5269302" y="0"/>
                  <a:pt x="5300121" y="30819"/>
                  <a:pt x="5300121" y="68837"/>
                </a:cubicBezTo>
                <a:lnTo>
                  <a:pt x="5300121" y="929238"/>
                </a:lnTo>
                <a:cubicBezTo>
                  <a:pt x="5300121" y="967255"/>
                  <a:pt x="5269302" y="998075"/>
                  <a:pt x="5231284" y="998075"/>
                </a:cubicBezTo>
                <a:lnTo>
                  <a:pt x="68837" y="998075"/>
                </a:lnTo>
                <a:cubicBezTo>
                  <a:pt x="30819" y="998075"/>
                  <a:pt x="0" y="967255"/>
                  <a:pt x="0" y="929238"/>
                </a:cubicBezTo>
                <a:lnTo>
                  <a:pt x="0" y="68837"/>
                </a:lnTo>
                <a:cubicBezTo>
                  <a:pt x="0" y="30845"/>
                  <a:pt x="30845" y="0"/>
                  <a:pt x="6883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508459" y="4725798"/>
            <a:ext cx="510222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Frequência de Cobrança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08459" y="5035546"/>
            <a:ext cx="5093623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penalidades são aplicadas com </a:t>
            </a:r>
            <a:r>
              <a:rPr lang="en-US" sz="108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frequência mensal</a:t>
            </a: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podem ser cobradas tanto do </a:t>
            </a:r>
            <a:r>
              <a:rPr lang="en-US" sz="108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emissor</a:t>
            </a: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quanto do </a:t>
            </a:r>
            <a:r>
              <a:rPr lang="en-US" sz="108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credenciador</a:t>
            </a: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dependendo da bandeira e da situação.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8466" y="6018563"/>
            <a:ext cx="11495068" cy="490433"/>
          </a:xfrm>
          <a:custGeom>
            <a:avLst/>
            <a:gdLst/>
            <a:ahLst/>
            <a:cxnLst/>
            <a:rect l="l" t="t" r="r" b="b"/>
            <a:pathLst>
              <a:path w="11495068" h="490433">
                <a:moveTo>
                  <a:pt x="68832" y="0"/>
                </a:moveTo>
                <a:lnTo>
                  <a:pt x="11426236" y="0"/>
                </a:lnTo>
                <a:cubicBezTo>
                  <a:pt x="11464251" y="0"/>
                  <a:pt x="11495068" y="30817"/>
                  <a:pt x="11495068" y="68832"/>
                </a:cubicBezTo>
                <a:lnTo>
                  <a:pt x="11495068" y="421601"/>
                </a:lnTo>
                <a:cubicBezTo>
                  <a:pt x="11495068" y="459616"/>
                  <a:pt x="11464251" y="490433"/>
                  <a:pt x="11426236" y="490433"/>
                </a:cubicBezTo>
                <a:lnTo>
                  <a:pt x="68832" y="490433"/>
                </a:lnTo>
                <a:cubicBezTo>
                  <a:pt x="30817" y="490433"/>
                  <a:pt x="0" y="459616"/>
                  <a:pt x="0" y="421601"/>
                </a:cubicBezTo>
                <a:lnTo>
                  <a:pt x="0" y="68832"/>
                </a:lnTo>
                <a:cubicBezTo>
                  <a:pt x="0" y="30817"/>
                  <a:pt x="30817" y="0"/>
                  <a:pt x="6883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507641" y="6194947"/>
            <a:ext cx="137665" cy="137665"/>
          </a:xfrm>
          <a:custGeom>
            <a:avLst/>
            <a:gdLst/>
            <a:ahLst/>
            <a:cxnLst/>
            <a:rect l="l" t="t" r="r" b="b"/>
            <a:pathLst>
              <a:path w="137665" h="137665">
                <a:moveTo>
                  <a:pt x="68833" y="137665"/>
                </a:moveTo>
                <a:cubicBezTo>
                  <a:pt x="106823" y="137665"/>
                  <a:pt x="137665" y="106823"/>
                  <a:pt x="137665" y="68833"/>
                </a:cubicBezTo>
                <a:cubicBezTo>
                  <a:pt x="137665" y="30843"/>
                  <a:pt x="106823" y="0"/>
                  <a:pt x="68833" y="0"/>
                </a:cubicBezTo>
                <a:cubicBezTo>
                  <a:pt x="30843" y="0"/>
                  <a:pt x="0" y="30843"/>
                  <a:pt x="0" y="68833"/>
                </a:cubicBezTo>
                <a:cubicBezTo>
                  <a:pt x="0" y="106823"/>
                  <a:pt x="30843" y="137665"/>
                  <a:pt x="68833" y="137665"/>
                </a:cubicBezTo>
                <a:close/>
                <a:moveTo>
                  <a:pt x="60229" y="43020"/>
                </a:moveTo>
                <a:cubicBezTo>
                  <a:pt x="60229" y="38272"/>
                  <a:pt x="64084" y="34416"/>
                  <a:pt x="68833" y="34416"/>
                </a:cubicBezTo>
                <a:cubicBezTo>
                  <a:pt x="73581" y="34416"/>
                  <a:pt x="77437" y="38272"/>
                  <a:pt x="77437" y="43020"/>
                </a:cubicBezTo>
                <a:cubicBezTo>
                  <a:pt x="77437" y="47769"/>
                  <a:pt x="73581" y="51625"/>
                  <a:pt x="68833" y="51625"/>
                </a:cubicBezTo>
                <a:cubicBezTo>
                  <a:pt x="64084" y="51625"/>
                  <a:pt x="60229" y="47769"/>
                  <a:pt x="60229" y="43020"/>
                </a:cubicBezTo>
                <a:close/>
                <a:moveTo>
                  <a:pt x="58078" y="60229"/>
                </a:moveTo>
                <a:lnTo>
                  <a:pt x="70984" y="60229"/>
                </a:lnTo>
                <a:cubicBezTo>
                  <a:pt x="74560" y="60229"/>
                  <a:pt x="77437" y="63106"/>
                  <a:pt x="77437" y="66682"/>
                </a:cubicBezTo>
                <a:lnTo>
                  <a:pt x="77437" y="90343"/>
                </a:lnTo>
                <a:lnTo>
                  <a:pt x="79588" y="90343"/>
                </a:lnTo>
                <a:cubicBezTo>
                  <a:pt x="83164" y="90343"/>
                  <a:pt x="86041" y="93220"/>
                  <a:pt x="86041" y="96796"/>
                </a:cubicBezTo>
                <a:cubicBezTo>
                  <a:pt x="86041" y="100372"/>
                  <a:pt x="83164" y="103249"/>
                  <a:pt x="79588" y="103249"/>
                </a:cubicBezTo>
                <a:lnTo>
                  <a:pt x="58078" y="103249"/>
                </a:lnTo>
                <a:cubicBezTo>
                  <a:pt x="54502" y="103249"/>
                  <a:pt x="51625" y="100372"/>
                  <a:pt x="51625" y="96796"/>
                </a:cubicBezTo>
                <a:cubicBezTo>
                  <a:pt x="51625" y="93220"/>
                  <a:pt x="54502" y="90343"/>
                  <a:pt x="58078" y="90343"/>
                </a:cubicBezTo>
                <a:lnTo>
                  <a:pt x="64531" y="90343"/>
                </a:lnTo>
                <a:lnTo>
                  <a:pt x="64531" y="73135"/>
                </a:lnTo>
                <a:lnTo>
                  <a:pt x="58078" y="73135"/>
                </a:lnTo>
                <a:cubicBezTo>
                  <a:pt x="54502" y="73135"/>
                  <a:pt x="51625" y="70258"/>
                  <a:pt x="51625" y="66682"/>
                </a:cubicBezTo>
                <a:cubicBezTo>
                  <a:pt x="51625" y="63106"/>
                  <a:pt x="54502" y="60229"/>
                  <a:pt x="58078" y="6022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09149" y="6160531"/>
            <a:ext cx="11061251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Importante:</a:t>
            </a:r>
            <a:r>
              <a:rPr lang="en-US" sz="1084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controle de retentativas é fundamental para evitar ataques de força bruta e proteger tanto os emissores quanto os portadores de cartão.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ELO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- Programa de Retentativas de Autorização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11541125" cy="896938"/>
          </a:xfrm>
          <a:custGeom>
            <a:avLst/>
            <a:gdLst/>
            <a:ahLst/>
            <a:cxnLst/>
            <a:rect l="l" t="t" r="r" b="b"/>
            <a:pathLst>
              <a:path w="11541125" h="896938">
                <a:moveTo>
                  <a:pt x="31750" y="0"/>
                </a:moveTo>
                <a:lnTo>
                  <a:pt x="11477622" y="0"/>
                </a:lnTo>
                <a:cubicBezTo>
                  <a:pt x="11512694" y="0"/>
                  <a:pt x="11541125" y="28431"/>
                  <a:pt x="11541125" y="63503"/>
                </a:cubicBezTo>
                <a:lnTo>
                  <a:pt x="11541125" y="833434"/>
                </a:lnTo>
                <a:cubicBezTo>
                  <a:pt x="11541125" y="868506"/>
                  <a:pt x="11512694" y="896938"/>
                  <a:pt x="11477622" y="896938"/>
                </a:cubicBezTo>
                <a:lnTo>
                  <a:pt x="31750" y="896938"/>
                </a:lnTo>
                <a:cubicBezTo>
                  <a:pt x="14227" y="896938"/>
                  <a:pt x="0" y="882711"/>
                  <a:pt x="0" y="8651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33375" y="1016000"/>
            <a:ext cx="31750" cy="896938"/>
          </a:xfrm>
          <a:custGeom>
            <a:avLst/>
            <a:gdLst/>
            <a:ahLst/>
            <a:cxnLst/>
            <a:rect l="l" t="t" r="r" b="b"/>
            <a:pathLst>
              <a:path w="31750" h="896938">
                <a:moveTo>
                  <a:pt x="31750" y="0"/>
                </a:moveTo>
                <a:lnTo>
                  <a:pt x="31750" y="0"/>
                </a:lnTo>
                <a:lnTo>
                  <a:pt x="31750" y="896938"/>
                </a:lnTo>
                <a:lnTo>
                  <a:pt x="31750" y="896938"/>
                </a:lnTo>
                <a:cubicBezTo>
                  <a:pt x="14227" y="896938"/>
                  <a:pt x="0" y="882711"/>
                  <a:pt x="0" y="8651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31813" y="1206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1570" y="71438"/>
                </a:moveTo>
                <a:lnTo>
                  <a:pt x="127992" y="71438"/>
                </a:lnTo>
                <a:cubicBezTo>
                  <a:pt x="124383" y="71438"/>
                  <a:pt x="121109" y="69279"/>
                  <a:pt x="119732" y="65931"/>
                </a:cubicBezTo>
                <a:cubicBezTo>
                  <a:pt x="118356" y="62582"/>
                  <a:pt x="119100" y="58750"/>
                  <a:pt x="121667" y="56183"/>
                </a:cubicBezTo>
                <a:lnTo>
                  <a:pt x="139043" y="38807"/>
                </a:lnTo>
                <a:cubicBezTo>
                  <a:pt x="111026" y="17004"/>
                  <a:pt x="70470" y="18976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2992" y="-7181"/>
                  <a:pt x="118579" y="-9153"/>
                  <a:pt x="156009" y="21878"/>
                </a:cubicBezTo>
                <a:lnTo>
                  <a:pt x="175245" y="2604"/>
                </a:lnTo>
                <a:cubicBezTo>
                  <a:pt x="177812" y="37"/>
                  <a:pt x="181645" y="-707"/>
                  <a:pt x="184993" y="670"/>
                </a:cubicBezTo>
                <a:cubicBezTo>
                  <a:pt x="188342" y="2046"/>
                  <a:pt x="190500" y="5321"/>
                  <a:pt x="190500" y="8930"/>
                </a:cubicBezTo>
                <a:lnTo>
                  <a:pt x="190500" y="62508"/>
                </a:lnTo>
                <a:cubicBezTo>
                  <a:pt x="190500" y="67456"/>
                  <a:pt x="186519" y="71438"/>
                  <a:pt x="181570" y="7143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6125" y="1174750"/>
            <a:ext cx="11064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que é o PER?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24000"/>
            <a:ext cx="112791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Elo tem o </a:t>
            </a:r>
            <a:r>
              <a:rPr lang="en-US" sz="112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(Programa de Retentativas de Autorização)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que visa </a:t>
            </a:r>
            <a:r>
              <a:rPr lang="en-US" sz="112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monitorar o arranjo de pagamento e evitar retentativas desnecessárias</a:t>
            </a:r>
            <a:r>
              <a:rPr lang="en-US" sz="112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375" y="2041922"/>
            <a:ext cx="3770313" cy="2190750"/>
          </a:xfrm>
          <a:custGeom>
            <a:avLst/>
            <a:gdLst/>
            <a:ahLst/>
            <a:cxnLst/>
            <a:rect l="l" t="t" r="r" b="b"/>
            <a:pathLst>
              <a:path w="3770313" h="2190750">
                <a:moveTo>
                  <a:pt x="31750" y="0"/>
                </a:moveTo>
                <a:lnTo>
                  <a:pt x="3706803" y="0"/>
                </a:lnTo>
                <a:cubicBezTo>
                  <a:pt x="3741878" y="0"/>
                  <a:pt x="3770313" y="28434"/>
                  <a:pt x="3770313" y="63510"/>
                </a:cubicBezTo>
                <a:lnTo>
                  <a:pt x="3770313" y="2127240"/>
                </a:lnTo>
                <a:cubicBezTo>
                  <a:pt x="3770313" y="2162316"/>
                  <a:pt x="3741878" y="2190750"/>
                  <a:pt x="3706803" y="2190750"/>
                </a:cubicBezTo>
                <a:lnTo>
                  <a:pt x="31750" y="2190750"/>
                </a:lnTo>
                <a:cubicBezTo>
                  <a:pt x="14227" y="2190750"/>
                  <a:pt x="0" y="2176523"/>
                  <a:pt x="0" y="215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33375" y="2041922"/>
            <a:ext cx="31750" cy="2190750"/>
          </a:xfrm>
          <a:custGeom>
            <a:avLst/>
            <a:gdLst/>
            <a:ahLst/>
            <a:cxnLst/>
            <a:rect l="l" t="t" r="r" b="b"/>
            <a:pathLst>
              <a:path w="31750" h="2190750">
                <a:moveTo>
                  <a:pt x="31750" y="0"/>
                </a:moveTo>
                <a:lnTo>
                  <a:pt x="31750" y="0"/>
                </a:lnTo>
                <a:lnTo>
                  <a:pt x="31750" y="2190750"/>
                </a:lnTo>
                <a:lnTo>
                  <a:pt x="31750" y="2190750"/>
                </a:lnTo>
                <a:cubicBezTo>
                  <a:pt x="14227" y="2190750"/>
                  <a:pt x="0" y="2176523"/>
                  <a:pt x="0" y="215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6250" y="21689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1573" y="2248297"/>
            <a:ext cx="12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2500" y="2248297"/>
            <a:ext cx="603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Grupo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6250" y="2645172"/>
            <a:ext cx="3500438" cy="603250"/>
          </a:xfrm>
          <a:custGeom>
            <a:avLst/>
            <a:gdLst/>
            <a:ahLst/>
            <a:cxnLst/>
            <a:rect l="l" t="t" r="r" b="b"/>
            <a:pathLst>
              <a:path w="3500438" h="603250">
                <a:moveTo>
                  <a:pt x="63498" y="0"/>
                </a:moveTo>
                <a:lnTo>
                  <a:pt x="3436939" y="0"/>
                </a:lnTo>
                <a:cubicBezTo>
                  <a:pt x="3472008" y="0"/>
                  <a:pt x="3500438" y="28429"/>
                  <a:pt x="3500438" y="63498"/>
                </a:cubicBezTo>
                <a:lnTo>
                  <a:pt x="3500438" y="539752"/>
                </a:lnTo>
                <a:cubicBezTo>
                  <a:pt x="3500438" y="574821"/>
                  <a:pt x="3472008" y="603250"/>
                  <a:pt x="3436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1500" y="274042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296267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CNP negadas com códigos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IRREVERSÍVEIS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6250" y="3311922"/>
            <a:ext cx="3500438" cy="603250"/>
          </a:xfrm>
          <a:custGeom>
            <a:avLst/>
            <a:gdLst/>
            <a:ahLst/>
            <a:cxnLst/>
            <a:rect l="l" t="t" r="r" b="b"/>
            <a:pathLst>
              <a:path w="3500438" h="603250">
                <a:moveTo>
                  <a:pt x="63498" y="0"/>
                </a:moveTo>
                <a:lnTo>
                  <a:pt x="3436939" y="0"/>
                </a:lnTo>
                <a:cubicBezTo>
                  <a:pt x="3472008" y="0"/>
                  <a:pt x="3500438" y="28429"/>
                  <a:pt x="3500438" y="63498"/>
                </a:cubicBezTo>
                <a:lnTo>
                  <a:pt x="3500438" y="539752"/>
                </a:lnTo>
                <a:cubicBezTo>
                  <a:pt x="3500438" y="574821"/>
                  <a:pt x="3472008" y="603250"/>
                  <a:pt x="3436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71500" y="340717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62942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partir da </a:t>
            </a: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2ª tentativa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primeira retentativa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17417" y="2041922"/>
            <a:ext cx="3770313" cy="2190750"/>
          </a:xfrm>
          <a:custGeom>
            <a:avLst/>
            <a:gdLst/>
            <a:ahLst/>
            <a:cxnLst/>
            <a:rect l="l" t="t" r="r" b="b"/>
            <a:pathLst>
              <a:path w="3770313" h="2190750">
                <a:moveTo>
                  <a:pt x="31750" y="0"/>
                </a:moveTo>
                <a:lnTo>
                  <a:pt x="3706803" y="0"/>
                </a:lnTo>
                <a:cubicBezTo>
                  <a:pt x="3741878" y="0"/>
                  <a:pt x="3770313" y="28434"/>
                  <a:pt x="3770313" y="63510"/>
                </a:cubicBezTo>
                <a:lnTo>
                  <a:pt x="3770313" y="2127240"/>
                </a:lnTo>
                <a:cubicBezTo>
                  <a:pt x="3770313" y="2162316"/>
                  <a:pt x="3741878" y="2190750"/>
                  <a:pt x="3706803" y="2190750"/>
                </a:cubicBezTo>
                <a:lnTo>
                  <a:pt x="31750" y="2190750"/>
                </a:lnTo>
                <a:cubicBezTo>
                  <a:pt x="14227" y="2190750"/>
                  <a:pt x="0" y="2176523"/>
                  <a:pt x="0" y="215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217417" y="2041922"/>
            <a:ext cx="31750" cy="2190750"/>
          </a:xfrm>
          <a:custGeom>
            <a:avLst/>
            <a:gdLst/>
            <a:ahLst/>
            <a:cxnLst/>
            <a:rect l="l" t="t" r="r" b="b"/>
            <a:pathLst>
              <a:path w="31750" h="2190750">
                <a:moveTo>
                  <a:pt x="31750" y="0"/>
                </a:moveTo>
                <a:lnTo>
                  <a:pt x="31750" y="0"/>
                </a:lnTo>
                <a:lnTo>
                  <a:pt x="31750" y="2190750"/>
                </a:lnTo>
                <a:lnTo>
                  <a:pt x="31750" y="2190750"/>
                </a:lnTo>
                <a:cubicBezTo>
                  <a:pt x="14227" y="2190750"/>
                  <a:pt x="0" y="2176523"/>
                  <a:pt x="0" y="215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360292" y="21689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10360" y="2248297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36542" y="2248297"/>
            <a:ext cx="635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Grupo 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60292" y="2645172"/>
            <a:ext cx="3500438" cy="603250"/>
          </a:xfrm>
          <a:custGeom>
            <a:avLst/>
            <a:gdLst/>
            <a:ahLst/>
            <a:cxnLst/>
            <a:rect l="l" t="t" r="r" b="b"/>
            <a:pathLst>
              <a:path w="3500438" h="603250">
                <a:moveTo>
                  <a:pt x="63498" y="0"/>
                </a:moveTo>
                <a:lnTo>
                  <a:pt x="3436939" y="0"/>
                </a:lnTo>
                <a:cubicBezTo>
                  <a:pt x="3472008" y="0"/>
                  <a:pt x="3500438" y="28429"/>
                  <a:pt x="3500438" y="63498"/>
                </a:cubicBezTo>
                <a:lnTo>
                  <a:pt x="3500438" y="539752"/>
                </a:lnTo>
                <a:cubicBezTo>
                  <a:pt x="3500438" y="574821"/>
                  <a:pt x="3472008" y="603250"/>
                  <a:pt x="3436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455542" y="274042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55542" y="296267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CNP negadas com códigos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REVERSÍVEIS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60292" y="3311922"/>
            <a:ext cx="3500438" cy="603250"/>
          </a:xfrm>
          <a:custGeom>
            <a:avLst/>
            <a:gdLst/>
            <a:ahLst/>
            <a:cxnLst/>
            <a:rect l="l" t="t" r="r" b="b"/>
            <a:pathLst>
              <a:path w="3500438" h="603250">
                <a:moveTo>
                  <a:pt x="63498" y="0"/>
                </a:moveTo>
                <a:lnTo>
                  <a:pt x="3436939" y="0"/>
                </a:lnTo>
                <a:cubicBezTo>
                  <a:pt x="3472008" y="0"/>
                  <a:pt x="3500438" y="28429"/>
                  <a:pt x="3500438" y="63498"/>
                </a:cubicBezTo>
                <a:lnTo>
                  <a:pt x="3500438" y="539752"/>
                </a:lnTo>
                <a:cubicBezTo>
                  <a:pt x="3500438" y="574821"/>
                  <a:pt x="3472008" y="603250"/>
                  <a:pt x="3436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455542" y="340717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55542" y="362942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partir da </a:t>
            </a:r>
            <a:r>
              <a:rPr lang="en-US" sz="1000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16ª retentativa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1459" y="2041922"/>
            <a:ext cx="3770313" cy="2190750"/>
          </a:xfrm>
          <a:custGeom>
            <a:avLst/>
            <a:gdLst/>
            <a:ahLst/>
            <a:cxnLst/>
            <a:rect l="l" t="t" r="r" b="b"/>
            <a:pathLst>
              <a:path w="3770313" h="2190750">
                <a:moveTo>
                  <a:pt x="31750" y="0"/>
                </a:moveTo>
                <a:lnTo>
                  <a:pt x="3706803" y="0"/>
                </a:lnTo>
                <a:cubicBezTo>
                  <a:pt x="3741878" y="0"/>
                  <a:pt x="3770313" y="28434"/>
                  <a:pt x="3770313" y="63510"/>
                </a:cubicBezTo>
                <a:lnTo>
                  <a:pt x="3770313" y="2127240"/>
                </a:lnTo>
                <a:cubicBezTo>
                  <a:pt x="3770313" y="2162316"/>
                  <a:pt x="3741878" y="2190750"/>
                  <a:pt x="3706803" y="2190750"/>
                </a:cubicBezTo>
                <a:lnTo>
                  <a:pt x="31750" y="2190750"/>
                </a:lnTo>
                <a:cubicBezTo>
                  <a:pt x="14227" y="2190750"/>
                  <a:pt x="0" y="2176523"/>
                  <a:pt x="0" y="215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8101459" y="2041922"/>
            <a:ext cx="31750" cy="2190750"/>
          </a:xfrm>
          <a:custGeom>
            <a:avLst/>
            <a:gdLst/>
            <a:ahLst/>
            <a:cxnLst/>
            <a:rect l="l" t="t" r="r" b="b"/>
            <a:pathLst>
              <a:path w="31750" h="2190750">
                <a:moveTo>
                  <a:pt x="31750" y="0"/>
                </a:moveTo>
                <a:lnTo>
                  <a:pt x="31750" y="0"/>
                </a:lnTo>
                <a:lnTo>
                  <a:pt x="31750" y="2190750"/>
                </a:lnTo>
                <a:lnTo>
                  <a:pt x="31750" y="2190750"/>
                </a:lnTo>
                <a:cubicBezTo>
                  <a:pt x="14227" y="2190750"/>
                  <a:pt x="0" y="2176523"/>
                  <a:pt x="0" y="215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8244334" y="21689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8392294" y="2248297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20584" y="2248297"/>
            <a:ext cx="635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Grupo 3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4334" y="2645172"/>
            <a:ext cx="3500438" cy="603250"/>
          </a:xfrm>
          <a:custGeom>
            <a:avLst/>
            <a:gdLst/>
            <a:ahLst/>
            <a:cxnLst/>
            <a:rect l="l" t="t" r="r" b="b"/>
            <a:pathLst>
              <a:path w="3500438" h="603250">
                <a:moveTo>
                  <a:pt x="63498" y="0"/>
                </a:moveTo>
                <a:lnTo>
                  <a:pt x="3436939" y="0"/>
                </a:lnTo>
                <a:cubicBezTo>
                  <a:pt x="3472008" y="0"/>
                  <a:pt x="3500438" y="28429"/>
                  <a:pt x="3500438" y="63498"/>
                </a:cubicBezTo>
                <a:lnTo>
                  <a:pt x="3500438" y="539752"/>
                </a:lnTo>
                <a:cubicBezTo>
                  <a:pt x="3500438" y="574821"/>
                  <a:pt x="3472008" y="603250"/>
                  <a:pt x="3436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8339584" y="274042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39584" y="296267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CNP negadas com características de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Ataques de Força Bruta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4334" y="3311922"/>
            <a:ext cx="3500438" cy="793750"/>
          </a:xfrm>
          <a:custGeom>
            <a:avLst/>
            <a:gdLst/>
            <a:ahLst/>
            <a:cxnLst/>
            <a:rect l="l" t="t" r="r" b="b"/>
            <a:pathLst>
              <a:path w="3500438" h="79375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730250"/>
                </a:lnTo>
                <a:cubicBezTo>
                  <a:pt x="3500438" y="765297"/>
                  <a:pt x="3471984" y="793750"/>
                  <a:pt x="3436938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8339584" y="3407172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39584" y="3629422"/>
            <a:ext cx="3373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partir das </a:t>
            </a:r>
            <a:r>
              <a:rPr lang="en-US" sz="10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10.001 transações negadas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nos códigos 14, 54, 55, 63, 79, 82 e excedam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5%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 total de recusas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1469" y="4363641"/>
            <a:ext cx="5707063" cy="2468563"/>
          </a:xfrm>
          <a:custGeom>
            <a:avLst/>
            <a:gdLst/>
            <a:ahLst/>
            <a:cxnLst/>
            <a:rect l="l" t="t" r="r" b="b"/>
            <a:pathLst>
              <a:path w="5707063" h="2468563">
                <a:moveTo>
                  <a:pt x="63491" y="0"/>
                </a:moveTo>
                <a:lnTo>
                  <a:pt x="5643571" y="0"/>
                </a:lnTo>
                <a:cubicBezTo>
                  <a:pt x="5678636" y="0"/>
                  <a:pt x="5707063" y="28426"/>
                  <a:pt x="5707063" y="63491"/>
                </a:cubicBezTo>
                <a:lnTo>
                  <a:pt x="5707063" y="2405071"/>
                </a:lnTo>
                <a:cubicBezTo>
                  <a:pt x="5707062" y="2440136"/>
                  <a:pt x="5678636" y="2468563"/>
                  <a:pt x="5643571" y="2468563"/>
                </a:cubicBezTo>
                <a:lnTo>
                  <a:pt x="63491" y="2468563"/>
                </a:lnTo>
                <a:cubicBezTo>
                  <a:pt x="28426" y="2468563"/>
                  <a:pt x="0" y="2440136"/>
                  <a:pt x="0" y="2405071"/>
                </a:cubicBezTo>
                <a:lnTo>
                  <a:pt x="0" y="63491"/>
                </a:lnTo>
                <a:cubicBezTo>
                  <a:pt x="0" y="28450"/>
                  <a:pt x="28450" y="0"/>
                  <a:pt x="6349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452438" y="44946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02506" y="4573984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8688" y="4573984"/>
            <a:ext cx="635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Grupo 4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2438" y="4970859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47688" y="506610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7688" y="528835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Transações negadas com código de recusa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05 - Genérico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2438" y="5637609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547688" y="573285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7688" y="595510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Quando o Emissor atingir </a:t>
            </a:r>
            <a:r>
              <a:rPr lang="en-US" sz="10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acima de 5,0%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negativas com código 05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6406" y="6308328"/>
            <a:ext cx="5437188" cy="388938"/>
          </a:xfrm>
          <a:custGeom>
            <a:avLst/>
            <a:gdLst/>
            <a:ahLst/>
            <a:cxnLst/>
            <a:rect l="l" t="t" r="r" b="b"/>
            <a:pathLst>
              <a:path w="5437188" h="388938">
                <a:moveTo>
                  <a:pt x="63502" y="0"/>
                </a:moveTo>
                <a:lnTo>
                  <a:pt x="5373686" y="0"/>
                </a:lnTo>
                <a:cubicBezTo>
                  <a:pt x="5408757" y="0"/>
                  <a:pt x="5437188" y="28431"/>
                  <a:pt x="5437188" y="63502"/>
                </a:cubicBezTo>
                <a:lnTo>
                  <a:pt x="5437188" y="325436"/>
                </a:lnTo>
                <a:cubicBezTo>
                  <a:pt x="5437188" y="360507"/>
                  <a:pt x="5408757" y="388938"/>
                  <a:pt x="5373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571500" y="64392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809005" y="6431359"/>
            <a:ext cx="12272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Aplicado a emissores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3469" y="4363641"/>
            <a:ext cx="5707063" cy="2468563"/>
          </a:xfrm>
          <a:custGeom>
            <a:avLst/>
            <a:gdLst/>
            <a:ahLst/>
            <a:cxnLst/>
            <a:rect l="l" t="t" r="r" b="b"/>
            <a:pathLst>
              <a:path w="5707063" h="2468563">
                <a:moveTo>
                  <a:pt x="63491" y="0"/>
                </a:moveTo>
                <a:lnTo>
                  <a:pt x="5643571" y="0"/>
                </a:lnTo>
                <a:cubicBezTo>
                  <a:pt x="5678636" y="0"/>
                  <a:pt x="5707063" y="28426"/>
                  <a:pt x="5707063" y="63491"/>
                </a:cubicBezTo>
                <a:lnTo>
                  <a:pt x="5707063" y="2405071"/>
                </a:lnTo>
                <a:cubicBezTo>
                  <a:pt x="5707062" y="2440136"/>
                  <a:pt x="5678636" y="2468563"/>
                  <a:pt x="5643571" y="2468563"/>
                </a:cubicBezTo>
                <a:lnTo>
                  <a:pt x="63491" y="2468563"/>
                </a:lnTo>
                <a:cubicBezTo>
                  <a:pt x="28426" y="2468563"/>
                  <a:pt x="0" y="2440136"/>
                  <a:pt x="0" y="2405071"/>
                </a:cubicBezTo>
                <a:lnTo>
                  <a:pt x="0" y="63491"/>
                </a:lnTo>
                <a:cubicBezTo>
                  <a:pt x="0" y="28450"/>
                  <a:pt x="28450" y="0"/>
                  <a:pt x="6349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6294438" y="44946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6442149" y="4573984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70688" y="4573984"/>
            <a:ext cx="635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Grupo 5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94438" y="4970859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6389688" y="506610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89688" y="528835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Transações negadas com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códigos de recusa não existentes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nos Arranjos de Pagamento Elo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94438" y="5637609"/>
            <a:ext cx="5445125" cy="603250"/>
          </a:xfrm>
          <a:custGeom>
            <a:avLst/>
            <a:gdLst/>
            <a:ahLst/>
            <a:cxnLst/>
            <a:rect l="l" t="t" r="r" b="b"/>
            <a:pathLst>
              <a:path w="5445125" h="603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539752"/>
                </a:lnTo>
                <a:cubicBezTo>
                  <a:pt x="5445125" y="574821"/>
                  <a:pt x="5416696" y="603250"/>
                  <a:pt x="53816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6389688" y="573285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Excesso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89688" y="595510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Análise quantitativa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dentro do mês de apuração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98406" y="6308328"/>
            <a:ext cx="5437188" cy="388938"/>
          </a:xfrm>
          <a:custGeom>
            <a:avLst/>
            <a:gdLst/>
            <a:ahLst/>
            <a:cxnLst/>
            <a:rect l="l" t="t" r="r" b="b"/>
            <a:pathLst>
              <a:path w="5437188" h="388938">
                <a:moveTo>
                  <a:pt x="63502" y="0"/>
                </a:moveTo>
                <a:lnTo>
                  <a:pt x="5373686" y="0"/>
                </a:lnTo>
                <a:cubicBezTo>
                  <a:pt x="5408757" y="0"/>
                  <a:pt x="5437188" y="28431"/>
                  <a:pt x="5437188" y="63502"/>
                </a:cubicBezTo>
                <a:lnTo>
                  <a:pt x="5437188" y="325436"/>
                </a:lnTo>
                <a:cubicBezTo>
                  <a:pt x="5437188" y="360507"/>
                  <a:pt x="5408757" y="388938"/>
                  <a:pt x="5373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6413500" y="64392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6651005" y="6431359"/>
            <a:ext cx="12272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Aplicado a emissores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5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MASTERCARD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60018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Categorias de Retentativas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011" y="1173365"/>
            <a:ext cx="11440313" cy="1026695"/>
          </a:xfrm>
          <a:custGeom>
            <a:avLst/>
            <a:gdLst/>
            <a:ahLst/>
            <a:cxnLst/>
            <a:rect l="l" t="t" r="r" b="b"/>
            <a:pathLst>
              <a:path w="11440313" h="1026695">
                <a:moveTo>
                  <a:pt x="36668" y="0"/>
                </a:moveTo>
                <a:lnTo>
                  <a:pt x="11366976" y="0"/>
                </a:lnTo>
                <a:cubicBezTo>
                  <a:pt x="11407479" y="0"/>
                  <a:pt x="11440313" y="32834"/>
                  <a:pt x="11440313" y="73337"/>
                </a:cubicBezTo>
                <a:lnTo>
                  <a:pt x="11440313" y="953358"/>
                </a:lnTo>
                <a:cubicBezTo>
                  <a:pt x="11440313" y="993861"/>
                  <a:pt x="11407479" y="1026695"/>
                  <a:pt x="11366976" y="1026695"/>
                </a:cubicBezTo>
                <a:lnTo>
                  <a:pt x="36668" y="1026695"/>
                </a:lnTo>
                <a:cubicBezTo>
                  <a:pt x="16417" y="1026695"/>
                  <a:pt x="0" y="1010278"/>
                  <a:pt x="0" y="99002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85011" y="1173365"/>
            <a:ext cx="36668" cy="1026695"/>
          </a:xfrm>
          <a:custGeom>
            <a:avLst/>
            <a:gdLst/>
            <a:ahLst/>
            <a:cxnLst/>
            <a:rect l="l" t="t" r="r" b="b"/>
            <a:pathLst>
              <a:path w="36668" h="1026695">
                <a:moveTo>
                  <a:pt x="36668" y="0"/>
                </a:moveTo>
                <a:lnTo>
                  <a:pt x="36668" y="0"/>
                </a:lnTo>
                <a:lnTo>
                  <a:pt x="36668" y="1026695"/>
                </a:lnTo>
                <a:lnTo>
                  <a:pt x="36668" y="1026695"/>
                </a:lnTo>
                <a:cubicBezTo>
                  <a:pt x="16417" y="1026695"/>
                  <a:pt x="0" y="1010278"/>
                  <a:pt x="0" y="99002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14183" y="1393371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99905" y="2234"/>
                </a:moveTo>
                <a:cubicBezTo>
                  <a:pt x="106308" y="-730"/>
                  <a:pt x="113698" y="-730"/>
                  <a:pt x="120101" y="2234"/>
                </a:cubicBezTo>
                <a:lnTo>
                  <a:pt x="214033" y="45634"/>
                </a:lnTo>
                <a:cubicBezTo>
                  <a:pt x="217686" y="47310"/>
                  <a:pt x="220006" y="50962"/>
                  <a:pt x="220006" y="55002"/>
                </a:cubicBezTo>
                <a:cubicBezTo>
                  <a:pt x="220006" y="59041"/>
                  <a:pt x="217686" y="62693"/>
                  <a:pt x="214033" y="64369"/>
                </a:cubicBezTo>
                <a:lnTo>
                  <a:pt x="120101" y="107769"/>
                </a:lnTo>
                <a:cubicBezTo>
                  <a:pt x="113698" y="110733"/>
                  <a:pt x="106308" y="110733"/>
                  <a:pt x="99905" y="107769"/>
                </a:cubicBezTo>
                <a:lnTo>
                  <a:pt x="5973" y="64369"/>
                </a:lnTo>
                <a:cubicBezTo>
                  <a:pt x="2320" y="62650"/>
                  <a:pt x="0" y="58998"/>
                  <a:pt x="0" y="55002"/>
                </a:cubicBezTo>
                <a:cubicBezTo>
                  <a:pt x="0" y="51005"/>
                  <a:pt x="2320" y="47310"/>
                  <a:pt x="5973" y="45634"/>
                </a:cubicBezTo>
                <a:lnTo>
                  <a:pt x="99905" y="2234"/>
                </a:lnTo>
                <a:close/>
                <a:moveTo>
                  <a:pt x="20669" y="93846"/>
                </a:moveTo>
                <a:lnTo>
                  <a:pt x="91268" y="126460"/>
                </a:lnTo>
                <a:cubicBezTo>
                  <a:pt x="103171" y="131961"/>
                  <a:pt x="116878" y="131961"/>
                  <a:pt x="128781" y="126460"/>
                </a:cubicBezTo>
                <a:lnTo>
                  <a:pt x="199380" y="93846"/>
                </a:lnTo>
                <a:lnTo>
                  <a:pt x="214033" y="100636"/>
                </a:lnTo>
                <a:cubicBezTo>
                  <a:pt x="217686" y="102311"/>
                  <a:pt x="220006" y="105964"/>
                  <a:pt x="220006" y="110003"/>
                </a:cubicBezTo>
                <a:cubicBezTo>
                  <a:pt x="220006" y="114042"/>
                  <a:pt x="217686" y="117695"/>
                  <a:pt x="214033" y="119370"/>
                </a:cubicBezTo>
                <a:lnTo>
                  <a:pt x="120101" y="162770"/>
                </a:lnTo>
                <a:cubicBezTo>
                  <a:pt x="113698" y="165735"/>
                  <a:pt x="106308" y="165735"/>
                  <a:pt x="99905" y="162770"/>
                </a:cubicBezTo>
                <a:lnTo>
                  <a:pt x="5973" y="119370"/>
                </a:lnTo>
                <a:cubicBezTo>
                  <a:pt x="2320" y="117652"/>
                  <a:pt x="0" y="113999"/>
                  <a:pt x="0" y="110003"/>
                </a:cubicBezTo>
                <a:cubicBezTo>
                  <a:pt x="0" y="106007"/>
                  <a:pt x="2320" y="102311"/>
                  <a:pt x="5973" y="100636"/>
                </a:cubicBezTo>
                <a:lnTo>
                  <a:pt x="20626" y="93846"/>
                </a:lnTo>
                <a:close/>
                <a:moveTo>
                  <a:pt x="5973" y="155637"/>
                </a:moveTo>
                <a:lnTo>
                  <a:pt x="20626" y="148848"/>
                </a:lnTo>
                <a:lnTo>
                  <a:pt x="91225" y="181462"/>
                </a:lnTo>
                <a:cubicBezTo>
                  <a:pt x="103128" y="186962"/>
                  <a:pt x="116835" y="186962"/>
                  <a:pt x="128738" y="181462"/>
                </a:cubicBezTo>
                <a:lnTo>
                  <a:pt x="199337" y="148848"/>
                </a:lnTo>
                <a:lnTo>
                  <a:pt x="213990" y="155637"/>
                </a:lnTo>
                <a:cubicBezTo>
                  <a:pt x="217643" y="157313"/>
                  <a:pt x="219963" y="160965"/>
                  <a:pt x="219963" y="165005"/>
                </a:cubicBezTo>
                <a:cubicBezTo>
                  <a:pt x="219963" y="169044"/>
                  <a:pt x="217643" y="172696"/>
                  <a:pt x="213990" y="174372"/>
                </a:cubicBezTo>
                <a:lnTo>
                  <a:pt x="120058" y="217772"/>
                </a:lnTo>
                <a:cubicBezTo>
                  <a:pt x="113655" y="220737"/>
                  <a:pt x="106265" y="220737"/>
                  <a:pt x="99862" y="217772"/>
                </a:cubicBezTo>
                <a:lnTo>
                  <a:pt x="5973" y="174372"/>
                </a:lnTo>
                <a:cubicBezTo>
                  <a:pt x="2320" y="172653"/>
                  <a:pt x="0" y="169001"/>
                  <a:pt x="0" y="165005"/>
                </a:cubicBezTo>
                <a:cubicBezTo>
                  <a:pt x="0" y="161008"/>
                  <a:pt x="2320" y="157313"/>
                  <a:pt x="5973" y="15563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1690" y="1356704"/>
            <a:ext cx="10890298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Categorias de Transações Negadas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6683" y="1760048"/>
            <a:ext cx="1113780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Mastercard define 4 grupos (categorias) para transações negadas: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011" y="2346731"/>
            <a:ext cx="5637654" cy="1466707"/>
          </a:xfrm>
          <a:custGeom>
            <a:avLst/>
            <a:gdLst/>
            <a:ahLst/>
            <a:cxnLst/>
            <a:rect l="l" t="t" r="r" b="b"/>
            <a:pathLst>
              <a:path w="5637654" h="1466707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1393371"/>
                </a:lnTo>
                <a:cubicBezTo>
                  <a:pt x="5637654" y="1433873"/>
                  <a:pt x="5604821" y="1466707"/>
                  <a:pt x="5564319" y="1466707"/>
                </a:cubicBezTo>
                <a:lnTo>
                  <a:pt x="36668" y="1466707"/>
                </a:lnTo>
                <a:cubicBezTo>
                  <a:pt x="16417" y="1466707"/>
                  <a:pt x="0" y="1450290"/>
                  <a:pt x="0" y="143003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85011" y="2346731"/>
            <a:ext cx="36668" cy="1466707"/>
          </a:xfrm>
          <a:custGeom>
            <a:avLst/>
            <a:gdLst/>
            <a:ahLst/>
            <a:cxnLst/>
            <a:rect l="l" t="t" r="r" b="b"/>
            <a:pathLst>
              <a:path w="36668" h="1466707">
                <a:moveTo>
                  <a:pt x="36668" y="0"/>
                </a:moveTo>
                <a:lnTo>
                  <a:pt x="36668" y="0"/>
                </a:lnTo>
                <a:lnTo>
                  <a:pt x="36668" y="1466707"/>
                </a:lnTo>
                <a:lnTo>
                  <a:pt x="36668" y="1466707"/>
                </a:lnTo>
                <a:cubicBezTo>
                  <a:pt x="16417" y="1466707"/>
                  <a:pt x="0" y="1450290"/>
                  <a:pt x="0" y="143003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6683" y="2530069"/>
            <a:ext cx="513347" cy="513347"/>
          </a:xfrm>
          <a:custGeom>
            <a:avLst/>
            <a:gdLst/>
            <a:ahLst/>
            <a:cxnLst/>
            <a:rect l="l" t="t" r="r" b="b"/>
            <a:pathLst>
              <a:path w="513347" h="513347">
                <a:moveTo>
                  <a:pt x="256674" y="0"/>
                </a:moveTo>
                <a:lnTo>
                  <a:pt x="256674" y="0"/>
                </a:lnTo>
                <a:cubicBezTo>
                  <a:pt x="398336" y="0"/>
                  <a:pt x="513347" y="115012"/>
                  <a:pt x="513347" y="256674"/>
                </a:cubicBezTo>
                <a:lnTo>
                  <a:pt x="513347" y="256674"/>
                </a:lnTo>
                <a:cubicBezTo>
                  <a:pt x="513347" y="398336"/>
                  <a:pt x="398336" y="513347"/>
                  <a:pt x="256674" y="513347"/>
                </a:cubicBezTo>
                <a:lnTo>
                  <a:pt x="256674" y="513347"/>
                </a:lnTo>
                <a:cubicBezTo>
                  <a:pt x="115012" y="513347"/>
                  <a:pt x="0" y="398336"/>
                  <a:pt x="0" y="256674"/>
                </a:cubicBezTo>
                <a:lnTo>
                  <a:pt x="0" y="256674"/>
                </a:lnTo>
                <a:cubicBezTo>
                  <a:pt x="0" y="115012"/>
                  <a:pt x="115012" y="0"/>
                  <a:pt x="25667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33353" y="2676740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220006"/>
                </a:moveTo>
                <a:cubicBezTo>
                  <a:pt x="170715" y="220006"/>
                  <a:pt x="220006" y="170715"/>
                  <a:pt x="220006" y="110003"/>
                </a:cubicBezTo>
                <a:cubicBezTo>
                  <a:pt x="220006" y="49291"/>
                  <a:pt x="170715" y="0"/>
                  <a:pt x="110003" y="0"/>
                </a:cubicBezTo>
                <a:cubicBezTo>
                  <a:pt x="49291" y="0"/>
                  <a:pt x="0" y="49291"/>
                  <a:pt x="0" y="110003"/>
                </a:cubicBezTo>
                <a:cubicBezTo>
                  <a:pt x="0" y="170715"/>
                  <a:pt x="49291" y="220006"/>
                  <a:pt x="110003" y="220006"/>
                </a:cubicBezTo>
                <a:close/>
                <a:moveTo>
                  <a:pt x="146270" y="91397"/>
                </a:moveTo>
                <a:lnTo>
                  <a:pt x="111894" y="146399"/>
                </a:lnTo>
                <a:cubicBezTo>
                  <a:pt x="110089" y="149278"/>
                  <a:pt x="106995" y="151082"/>
                  <a:pt x="103600" y="151254"/>
                </a:cubicBezTo>
                <a:cubicBezTo>
                  <a:pt x="100206" y="151426"/>
                  <a:pt x="96940" y="149879"/>
                  <a:pt x="94921" y="147129"/>
                </a:cubicBezTo>
                <a:lnTo>
                  <a:pt x="74295" y="119628"/>
                </a:lnTo>
                <a:cubicBezTo>
                  <a:pt x="70857" y="115073"/>
                  <a:pt x="71803" y="108628"/>
                  <a:pt x="76358" y="105190"/>
                </a:cubicBezTo>
                <a:cubicBezTo>
                  <a:pt x="80912" y="101753"/>
                  <a:pt x="87358" y="102698"/>
                  <a:pt x="90795" y="107253"/>
                </a:cubicBezTo>
                <a:lnTo>
                  <a:pt x="102397" y="122722"/>
                </a:lnTo>
                <a:lnTo>
                  <a:pt x="128781" y="80483"/>
                </a:lnTo>
                <a:cubicBezTo>
                  <a:pt x="131789" y="75670"/>
                  <a:pt x="138148" y="74166"/>
                  <a:pt x="143004" y="77217"/>
                </a:cubicBezTo>
                <a:cubicBezTo>
                  <a:pt x="147860" y="80268"/>
                  <a:pt x="149320" y="86584"/>
                  <a:pt x="146270" y="9144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10033" y="2640072"/>
            <a:ext cx="1310869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Recuperável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6683" y="3153420"/>
            <a:ext cx="5325979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códigos de resposta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recuperáveis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 comerciante deve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tentar a recuperação da dívida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junto ao emissor ou titular do cartão.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86523" y="2346731"/>
            <a:ext cx="5637654" cy="1466707"/>
          </a:xfrm>
          <a:custGeom>
            <a:avLst/>
            <a:gdLst/>
            <a:ahLst/>
            <a:cxnLst/>
            <a:rect l="l" t="t" r="r" b="b"/>
            <a:pathLst>
              <a:path w="5637654" h="1466707">
                <a:moveTo>
                  <a:pt x="36668" y="0"/>
                </a:moveTo>
                <a:lnTo>
                  <a:pt x="5564319" y="0"/>
                </a:lnTo>
                <a:cubicBezTo>
                  <a:pt x="5604821" y="0"/>
                  <a:pt x="5637654" y="32833"/>
                  <a:pt x="5637654" y="73335"/>
                </a:cubicBezTo>
                <a:lnTo>
                  <a:pt x="5637654" y="1393371"/>
                </a:lnTo>
                <a:cubicBezTo>
                  <a:pt x="5637654" y="1433873"/>
                  <a:pt x="5604821" y="1466707"/>
                  <a:pt x="5564319" y="1466707"/>
                </a:cubicBezTo>
                <a:lnTo>
                  <a:pt x="36668" y="1466707"/>
                </a:lnTo>
                <a:cubicBezTo>
                  <a:pt x="16417" y="1466707"/>
                  <a:pt x="0" y="1450290"/>
                  <a:pt x="0" y="143003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186523" y="2346731"/>
            <a:ext cx="36668" cy="1466707"/>
          </a:xfrm>
          <a:custGeom>
            <a:avLst/>
            <a:gdLst/>
            <a:ahLst/>
            <a:cxnLst/>
            <a:rect l="l" t="t" r="r" b="b"/>
            <a:pathLst>
              <a:path w="36668" h="1466707">
                <a:moveTo>
                  <a:pt x="36668" y="0"/>
                </a:moveTo>
                <a:lnTo>
                  <a:pt x="36668" y="0"/>
                </a:lnTo>
                <a:lnTo>
                  <a:pt x="36668" y="1466707"/>
                </a:lnTo>
                <a:lnTo>
                  <a:pt x="36668" y="1466707"/>
                </a:lnTo>
                <a:cubicBezTo>
                  <a:pt x="16417" y="1466707"/>
                  <a:pt x="0" y="1450290"/>
                  <a:pt x="0" y="143003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388195" y="2530069"/>
            <a:ext cx="513347" cy="513347"/>
          </a:xfrm>
          <a:custGeom>
            <a:avLst/>
            <a:gdLst/>
            <a:ahLst/>
            <a:cxnLst/>
            <a:rect l="l" t="t" r="r" b="b"/>
            <a:pathLst>
              <a:path w="513347" h="513347">
                <a:moveTo>
                  <a:pt x="256674" y="0"/>
                </a:moveTo>
                <a:lnTo>
                  <a:pt x="256674" y="0"/>
                </a:lnTo>
                <a:cubicBezTo>
                  <a:pt x="398336" y="0"/>
                  <a:pt x="513347" y="115012"/>
                  <a:pt x="513347" y="256674"/>
                </a:cubicBezTo>
                <a:lnTo>
                  <a:pt x="513347" y="256674"/>
                </a:lnTo>
                <a:cubicBezTo>
                  <a:pt x="513347" y="398336"/>
                  <a:pt x="398336" y="513347"/>
                  <a:pt x="256674" y="513347"/>
                </a:cubicBezTo>
                <a:lnTo>
                  <a:pt x="256674" y="513347"/>
                </a:lnTo>
                <a:cubicBezTo>
                  <a:pt x="115012" y="513347"/>
                  <a:pt x="0" y="398336"/>
                  <a:pt x="0" y="256674"/>
                </a:cubicBezTo>
                <a:lnTo>
                  <a:pt x="0" y="256674"/>
                </a:lnTo>
                <a:cubicBezTo>
                  <a:pt x="0" y="115012"/>
                  <a:pt x="115012" y="0"/>
                  <a:pt x="256674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534866" y="2676740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220006"/>
                </a:moveTo>
                <a:cubicBezTo>
                  <a:pt x="170715" y="220006"/>
                  <a:pt x="220006" y="170715"/>
                  <a:pt x="220006" y="110003"/>
                </a:cubicBezTo>
                <a:cubicBezTo>
                  <a:pt x="220006" y="49291"/>
                  <a:pt x="170715" y="0"/>
                  <a:pt x="110003" y="0"/>
                </a:cubicBezTo>
                <a:cubicBezTo>
                  <a:pt x="49291" y="0"/>
                  <a:pt x="0" y="49291"/>
                  <a:pt x="0" y="110003"/>
                </a:cubicBezTo>
                <a:cubicBezTo>
                  <a:pt x="0" y="170715"/>
                  <a:pt x="49291" y="220006"/>
                  <a:pt x="110003" y="220006"/>
                </a:cubicBezTo>
                <a:close/>
                <a:moveTo>
                  <a:pt x="71760" y="71760"/>
                </a:moveTo>
                <a:cubicBezTo>
                  <a:pt x="75799" y="67721"/>
                  <a:pt x="82330" y="67721"/>
                  <a:pt x="86327" y="71760"/>
                </a:cubicBezTo>
                <a:lnTo>
                  <a:pt x="109960" y="95393"/>
                </a:lnTo>
                <a:lnTo>
                  <a:pt x="133593" y="71760"/>
                </a:lnTo>
                <a:cubicBezTo>
                  <a:pt x="137633" y="67721"/>
                  <a:pt x="144164" y="67721"/>
                  <a:pt x="148160" y="71760"/>
                </a:cubicBezTo>
                <a:cubicBezTo>
                  <a:pt x="152157" y="75799"/>
                  <a:pt x="152199" y="82330"/>
                  <a:pt x="148160" y="86327"/>
                </a:cubicBezTo>
                <a:lnTo>
                  <a:pt x="124527" y="109960"/>
                </a:lnTo>
                <a:lnTo>
                  <a:pt x="148160" y="133593"/>
                </a:lnTo>
                <a:cubicBezTo>
                  <a:pt x="152199" y="137633"/>
                  <a:pt x="152199" y="144164"/>
                  <a:pt x="148160" y="148160"/>
                </a:cubicBezTo>
                <a:cubicBezTo>
                  <a:pt x="144121" y="152157"/>
                  <a:pt x="137590" y="152199"/>
                  <a:pt x="133593" y="148160"/>
                </a:cubicBezTo>
                <a:lnTo>
                  <a:pt x="109960" y="124527"/>
                </a:lnTo>
                <a:lnTo>
                  <a:pt x="86327" y="148160"/>
                </a:lnTo>
                <a:cubicBezTo>
                  <a:pt x="82287" y="152199"/>
                  <a:pt x="75756" y="152199"/>
                  <a:pt x="71760" y="148160"/>
                </a:cubicBezTo>
                <a:cubicBezTo>
                  <a:pt x="67764" y="144121"/>
                  <a:pt x="67721" y="137590"/>
                  <a:pt x="71760" y="133593"/>
                </a:cubicBezTo>
                <a:lnTo>
                  <a:pt x="95393" y="109960"/>
                </a:lnTo>
                <a:lnTo>
                  <a:pt x="71760" y="86327"/>
                </a:lnTo>
                <a:cubicBezTo>
                  <a:pt x="67721" y="82287"/>
                  <a:pt x="67721" y="75756"/>
                  <a:pt x="71760" y="71760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011546" y="2640072"/>
            <a:ext cx="13842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Irrecuperável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8195" y="3153420"/>
            <a:ext cx="5325979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códigos de resposta em que o motivo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inviabiliza a autorização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como por exemplo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 encerrada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011" y="3960108"/>
            <a:ext cx="5637654" cy="2218394"/>
          </a:xfrm>
          <a:custGeom>
            <a:avLst/>
            <a:gdLst/>
            <a:ahLst/>
            <a:cxnLst/>
            <a:rect l="l" t="t" r="r" b="b"/>
            <a:pathLst>
              <a:path w="5637654" h="2218394">
                <a:moveTo>
                  <a:pt x="36668" y="0"/>
                </a:moveTo>
                <a:lnTo>
                  <a:pt x="5564314" y="0"/>
                </a:lnTo>
                <a:cubicBezTo>
                  <a:pt x="5604819" y="0"/>
                  <a:pt x="5637654" y="32835"/>
                  <a:pt x="5637654" y="73340"/>
                </a:cubicBezTo>
                <a:lnTo>
                  <a:pt x="5637654" y="2145054"/>
                </a:lnTo>
                <a:cubicBezTo>
                  <a:pt x="5637654" y="2185559"/>
                  <a:pt x="5604819" y="2218394"/>
                  <a:pt x="5564314" y="2218394"/>
                </a:cubicBezTo>
                <a:lnTo>
                  <a:pt x="36668" y="2218394"/>
                </a:lnTo>
                <a:cubicBezTo>
                  <a:pt x="16417" y="2218394"/>
                  <a:pt x="0" y="2201977"/>
                  <a:pt x="0" y="218172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85011" y="3960108"/>
            <a:ext cx="36668" cy="2218394"/>
          </a:xfrm>
          <a:custGeom>
            <a:avLst/>
            <a:gdLst/>
            <a:ahLst/>
            <a:cxnLst/>
            <a:rect l="l" t="t" r="r" b="b"/>
            <a:pathLst>
              <a:path w="36668" h="2218394">
                <a:moveTo>
                  <a:pt x="36668" y="0"/>
                </a:moveTo>
                <a:lnTo>
                  <a:pt x="36668" y="0"/>
                </a:lnTo>
                <a:lnTo>
                  <a:pt x="36668" y="2218394"/>
                </a:lnTo>
                <a:lnTo>
                  <a:pt x="36668" y="2218394"/>
                </a:lnTo>
                <a:cubicBezTo>
                  <a:pt x="16417" y="2218394"/>
                  <a:pt x="0" y="2201977"/>
                  <a:pt x="0" y="2181726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86683" y="4143447"/>
            <a:ext cx="513347" cy="513347"/>
          </a:xfrm>
          <a:custGeom>
            <a:avLst/>
            <a:gdLst/>
            <a:ahLst/>
            <a:cxnLst/>
            <a:rect l="l" t="t" r="r" b="b"/>
            <a:pathLst>
              <a:path w="513347" h="513347">
                <a:moveTo>
                  <a:pt x="256674" y="0"/>
                </a:moveTo>
                <a:lnTo>
                  <a:pt x="256674" y="0"/>
                </a:lnTo>
                <a:cubicBezTo>
                  <a:pt x="398336" y="0"/>
                  <a:pt x="513347" y="115012"/>
                  <a:pt x="513347" y="256674"/>
                </a:cubicBezTo>
                <a:lnTo>
                  <a:pt x="513347" y="256674"/>
                </a:lnTo>
                <a:cubicBezTo>
                  <a:pt x="513347" y="398336"/>
                  <a:pt x="398336" y="513347"/>
                  <a:pt x="256674" y="513347"/>
                </a:cubicBezTo>
                <a:lnTo>
                  <a:pt x="256674" y="513347"/>
                </a:lnTo>
                <a:cubicBezTo>
                  <a:pt x="115012" y="513347"/>
                  <a:pt x="0" y="398336"/>
                  <a:pt x="0" y="256674"/>
                </a:cubicBezTo>
                <a:lnTo>
                  <a:pt x="0" y="256674"/>
                </a:lnTo>
                <a:cubicBezTo>
                  <a:pt x="0" y="115012"/>
                  <a:pt x="115012" y="0"/>
                  <a:pt x="256674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33353" y="4290117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0"/>
                </a:moveTo>
                <a:cubicBezTo>
                  <a:pt x="170715" y="0"/>
                  <a:pt x="220006" y="49291"/>
                  <a:pt x="220006" y="110003"/>
                </a:cubicBezTo>
                <a:cubicBezTo>
                  <a:pt x="220006" y="170715"/>
                  <a:pt x="170715" y="220006"/>
                  <a:pt x="110003" y="220006"/>
                </a:cubicBezTo>
                <a:cubicBezTo>
                  <a:pt x="49291" y="220006"/>
                  <a:pt x="0" y="170715"/>
                  <a:pt x="0" y="110003"/>
                </a:cubicBezTo>
                <a:cubicBezTo>
                  <a:pt x="0" y="49291"/>
                  <a:pt x="49291" y="0"/>
                  <a:pt x="110003" y="0"/>
                </a:cubicBezTo>
                <a:close/>
                <a:moveTo>
                  <a:pt x="99690" y="51564"/>
                </a:moveTo>
                <a:lnTo>
                  <a:pt x="99690" y="110003"/>
                </a:lnTo>
                <a:cubicBezTo>
                  <a:pt x="99690" y="113441"/>
                  <a:pt x="101409" y="116663"/>
                  <a:pt x="104288" y="118597"/>
                </a:cubicBezTo>
                <a:lnTo>
                  <a:pt x="145539" y="146098"/>
                </a:lnTo>
                <a:cubicBezTo>
                  <a:pt x="150266" y="149278"/>
                  <a:pt x="156668" y="147988"/>
                  <a:pt x="159848" y="143219"/>
                </a:cubicBezTo>
                <a:cubicBezTo>
                  <a:pt x="163028" y="138449"/>
                  <a:pt x="161739" y="132090"/>
                  <a:pt x="156969" y="128910"/>
                </a:cubicBezTo>
                <a:lnTo>
                  <a:pt x="120316" y="104503"/>
                </a:lnTo>
                <a:lnTo>
                  <a:pt x="120316" y="51564"/>
                </a:lnTo>
                <a:cubicBezTo>
                  <a:pt x="120316" y="45849"/>
                  <a:pt x="115718" y="41251"/>
                  <a:pt x="110003" y="41251"/>
                </a:cubicBezTo>
                <a:cubicBezTo>
                  <a:pt x="104288" y="41251"/>
                  <a:pt x="99690" y="45849"/>
                  <a:pt x="99690" y="51564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210033" y="4253450"/>
            <a:ext cx="3089251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Temporariamente Recuperável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6683" y="4766797"/>
            <a:ext cx="5325979" cy="7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comerciante deve realizar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pelo menos 9 tentativas de cobrança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dívidas do titular do cartão dentro de </a:t>
            </a:r>
            <a:r>
              <a:rPr lang="en-US" sz="1155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 dias corridos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partir da data em que o código de resposta foi recebido.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6683" y="5591820"/>
            <a:ext cx="5252644" cy="403344"/>
          </a:xfrm>
          <a:custGeom>
            <a:avLst/>
            <a:gdLst/>
            <a:ahLst/>
            <a:cxnLst/>
            <a:rect l="l" t="t" r="r" b="b"/>
            <a:pathLst>
              <a:path w="5252644" h="403344">
                <a:moveTo>
                  <a:pt x="73336" y="0"/>
                </a:moveTo>
                <a:lnTo>
                  <a:pt x="5179308" y="0"/>
                </a:lnTo>
                <a:cubicBezTo>
                  <a:pt x="5219810" y="0"/>
                  <a:pt x="5252644" y="32834"/>
                  <a:pt x="5252644" y="73336"/>
                </a:cubicBezTo>
                <a:lnTo>
                  <a:pt x="5252644" y="330008"/>
                </a:lnTo>
                <a:cubicBezTo>
                  <a:pt x="5252644" y="370511"/>
                  <a:pt x="5219810" y="403344"/>
                  <a:pt x="5179308" y="403344"/>
                </a:cubicBezTo>
                <a:lnTo>
                  <a:pt x="73336" y="403344"/>
                </a:lnTo>
                <a:cubicBezTo>
                  <a:pt x="32861" y="403344"/>
                  <a:pt x="0" y="370484"/>
                  <a:pt x="0" y="330008"/>
                </a:cubicBezTo>
                <a:lnTo>
                  <a:pt x="0" y="73336"/>
                </a:lnTo>
                <a:cubicBezTo>
                  <a:pt x="0" y="32861"/>
                  <a:pt x="32861" y="0"/>
                  <a:pt x="7333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715020" y="5729323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64168" y="128337"/>
                </a:moveTo>
                <a:cubicBezTo>
                  <a:pt x="99584" y="128337"/>
                  <a:pt x="128337" y="99584"/>
                  <a:pt x="128337" y="64168"/>
                </a:cubicBezTo>
                <a:cubicBezTo>
                  <a:pt x="128337" y="28753"/>
                  <a:pt x="99584" y="0"/>
                  <a:pt x="64168" y="0"/>
                </a:cubicBezTo>
                <a:cubicBezTo>
                  <a:pt x="28753" y="0"/>
                  <a:pt x="0" y="28753"/>
                  <a:pt x="0" y="64168"/>
                </a:cubicBezTo>
                <a:cubicBezTo>
                  <a:pt x="0" y="99584"/>
                  <a:pt x="28753" y="128337"/>
                  <a:pt x="64168" y="128337"/>
                </a:cubicBezTo>
                <a:close/>
                <a:moveTo>
                  <a:pt x="56147" y="40105"/>
                </a:moveTo>
                <a:cubicBezTo>
                  <a:pt x="56147" y="35678"/>
                  <a:pt x="59741" y="32084"/>
                  <a:pt x="64168" y="32084"/>
                </a:cubicBezTo>
                <a:cubicBezTo>
                  <a:pt x="68595" y="32084"/>
                  <a:pt x="72189" y="35678"/>
                  <a:pt x="72189" y="40105"/>
                </a:cubicBezTo>
                <a:cubicBezTo>
                  <a:pt x="72189" y="44532"/>
                  <a:pt x="68595" y="48126"/>
                  <a:pt x="64168" y="48126"/>
                </a:cubicBezTo>
                <a:cubicBezTo>
                  <a:pt x="59741" y="48126"/>
                  <a:pt x="56147" y="44532"/>
                  <a:pt x="56147" y="40105"/>
                </a:cubicBezTo>
                <a:close/>
                <a:moveTo>
                  <a:pt x="54142" y="56147"/>
                </a:moveTo>
                <a:lnTo>
                  <a:pt x="66174" y="56147"/>
                </a:lnTo>
                <a:cubicBezTo>
                  <a:pt x="69507" y="56147"/>
                  <a:pt x="72189" y="58829"/>
                  <a:pt x="72189" y="62163"/>
                </a:cubicBezTo>
                <a:lnTo>
                  <a:pt x="72189" y="84221"/>
                </a:lnTo>
                <a:lnTo>
                  <a:pt x="74195" y="84221"/>
                </a:lnTo>
                <a:cubicBezTo>
                  <a:pt x="77528" y="84221"/>
                  <a:pt x="80211" y="86903"/>
                  <a:pt x="80211" y="90237"/>
                </a:cubicBezTo>
                <a:cubicBezTo>
                  <a:pt x="80211" y="93571"/>
                  <a:pt x="77528" y="96253"/>
                  <a:pt x="74195" y="96253"/>
                </a:cubicBezTo>
                <a:lnTo>
                  <a:pt x="54142" y="96253"/>
                </a:lnTo>
                <a:cubicBezTo>
                  <a:pt x="50808" y="96253"/>
                  <a:pt x="48126" y="93571"/>
                  <a:pt x="48126" y="90237"/>
                </a:cubicBezTo>
                <a:cubicBezTo>
                  <a:pt x="48126" y="86903"/>
                  <a:pt x="50808" y="84221"/>
                  <a:pt x="54142" y="84221"/>
                </a:cubicBezTo>
                <a:lnTo>
                  <a:pt x="60158" y="84221"/>
                </a:lnTo>
                <a:lnTo>
                  <a:pt x="60158" y="68179"/>
                </a:lnTo>
                <a:lnTo>
                  <a:pt x="54142" y="68179"/>
                </a:lnTo>
                <a:cubicBezTo>
                  <a:pt x="50808" y="68179"/>
                  <a:pt x="48126" y="65497"/>
                  <a:pt x="48126" y="62163"/>
                </a:cubicBezTo>
                <a:cubicBezTo>
                  <a:pt x="48126" y="58829"/>
                  <a:pt x="50808" y="56147"/>
                  <a:pt x="54142" y="56147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14624" y="5701823"/>
            <a:ext cx="487886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Até a última tentativa ocorrer, no máximo, no dia 45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2773" y="3964692"/>
            <a:ext cx="5646821" cy="2209227"/>
          </a:xfrm>
          <a:custGeom>
            <a:avLst/>
            <a:gdLst/>
            <a:ahLst/>
            <a:cxnLst/>
            <a:rect l="l" t="t" r="r" b="b"/>
            <a:pathLst>
              <a:path w="5646821" h="2209227">
                <a:moveTo>
                  <a:pt x="73346" y="0"/>
                </a:moveTo>
                <a:lnTo>
                  <a:pt x="5573475" y="0"/>
                </a:lnTo>
                <a:cubicBezTo>
                  <a:pt x="5613983" y="0"/>
                  <a:pt x="5646821" y="32838"/>
                  <a:pt x="5646821" y="73346"/>
                </a:cubicBezTo>
                <a:lnTo>
                  <a:pt x="5646821" y="2135881"/>
                </a:lnTo>
                <a:cubicBezTo>
                  <a:pt x="5646821" y="2176389"/>
                  <a:pt x="5613983" y="2209227"/>
                  <a:pt x="5573475" y="2209227"/>
                </a:cubicBezTo>
                <a:lnTo>
                  <a:pt x="73346" y="2209227"/>
                </a:lnTo>
                <a:cubicBezTo>
                  <a:pt x="32838" y="2209227"/>
                  <a:pt x="0" y="2176389"/>
                  <a:pt x="0" y="2135881"/>
                </a:cubicBezTo>
                <a:lnTo>
                  <a:pt x="0" y="73346"/>
                </a:lnTo>
                <a:cubicBezTo>
                  <a:pt x="0" y="32838"/>
                  <a:pt x="32838" y="0"/>
                  <a:pt x="7334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360695" y="4152614"/>
            <a:ext cx="513347" cy="513347"/>
          </a:xfrm>
          <a:custGeom>
            <a:avLst/>
            <a:gdLst/>
            <a:ahLst/>
            <a:cxnLst/>
            <a:rect l="l" t="t" r="r" b="b"/>
            <a:pathLst>
              <a:path w="513347" h="513347">
                <a:moveTo>
                  <a:pt x="256674" y="0"/>
                </a:moveTo>
                <a:lnTo>
                  <a:pt x="256674" y="0"/>
                </a:lnTo>
                <a:cubicBezTo>
                  <a:pt x="398336" y="0"/>
                  <a:pt x="513347" y="115012"/>
                  <a:pt x="513347" y="256674"/>
                </a:cubicBezTo>
                <a:lnTo>
                  <a:pt x="513347" y="256674"/>
                </a:lnTo>
                <a:cubicBezTo>
                  <a:pt x="513347" y="398336"/>
                  <a:pt x="398336" y="513347"/>
                  <a:pt x="256674" y="513347"/>
                </a:cubicBezTo>
                <a:lnTo>
                  <a:pt x="256674" y="513347"/>
                </a:lnTo>
                <a:cubicBezTo>
                  <a:pt x="115012" y="513347"/>
                  <a:pt x="0" y="398336"/>
                  <a:pt x="0" y="256674"/>
                </a:cubicBezTo>
                <a:lnTo>
                  <a:pt x="0" y="256674"/>
                </a:lnTo>
                <a:cubicBezTo>
                  <a:pt x="0" y="115012"/>
                  <a:pt x="115012" y="0"/>
                  <a:pt x="25667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507365" y="4299284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220006"/>
                </a:moveTo>
                <a:cubicBezTo>
                  <a:pt x="170715" y="220006"/>
                  <a:pt x="220006" y="170715"/>
                  <a:pt x="220006" y="110003"/>
                </a:cubicBezTo>
                <a:cubicBezTo>
                  <a:pt x="220006" y="49291"/>
                  <a:pt x="170715" y="0"/>
                  <a:pt x="110003" y="0"/>
                </a:cubicBezTo>
                <a:cubicBezTo>
                  <a:pt x="49291" y="0"/>
                  <a:pt x="0" y="49291"/>
                  <a:pt x="0" y="110003"/>
                </a:cubicBezTo>
                <a:cubicBezTo>
                  <a:pt x="0" y="170715"/>
                  <a:pt x="49291" y="220006"/>
                  <a:pt x="110003" y="220006"/>
                </a:cubicBezTo>
                <a:close/>
                <a:moveTo>
                  <a:pt x="72189" y="99690"/>
                </a:moveTo>
                <a:lnTo>
                  <a:pt x="147817" y="99690"/>
                </a:lnTo>
                <a:cubicBezTo>
                  <a:pt x="153532" y="99690"/>
                  <a:pt x="158129" y="104288"/>
                  <a:pt x="158129" y="110003"/>
                </a:cubicBezTo>
                <a:cubicBezTo>
                  <a:pt x="158129" y="115718"/>
                  <a:pt x="153532" y="120316"/>
                  <a:pt x="147817" y="120316"/>
                </a:cubicBezTo>
                <a:lnTo>
                  <a:pt x="72189" y="120316"/>
                </a:lnTo>
                <a:cubicBezTo>
                  <a:pt x="66474" y="120316"/>
                  <a:pt x="61877" y="115718"/>
                  <a:pt x="61877" y="110003"/>
                </a:cubicBezTo>
                <a:cubicBezTo>
                  <a:pt x="61877" y="104288"/>
                  <a:pt x="66474" y="99690"/>
                  <a:pt x="72189" y="99690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984045" y="4262617"/>
            <a:ext cx="1604211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Não-reclamada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0695" y="4775964"/>
            <a:ext cx="5344313" cy="1210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transações de transporte público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 cartão expirado ou que </a:t>
            </a: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permitem autorização diferida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1260" y="6329756"/>
            <a:ext cx="11449480" cy="522514"/>
          </a:xfrm>
          <a:custGeom>
            <a:avLst/>
            <a:gdLst/>
            <a:ahLst/>
            <a:cxnLst/>
            <a:rect l="l" t="t" r="r" b="b"/>
            <a:pathLst>
              <a:path w="11449480" h="522514">
                <a:moveTo>
                  <a:pt x="73335" y="0"/>
                </a:moveTo>
                <a:lnTo>
                  <a:pt x="11376145" y="0"/>
                </a:lnTo>
                <a:cubicBezTo>
                  <a:pt x="11416647" y="0"/>
                  <a:pt x="11449480" y="32833"/>
                  <a:pt x="11449480" y="73335"/>
                </a:cubicBezTo>
                <a:lnTo>
                  <a:pt x="11449480" y="449179"/>
                </a:lnTo>
                <a:cubicBezTo>
                  <a:pt x="11449480" y="489681"/>
                  <a:pt x="11416647" y="522514"/>
                  <a:pt x="11376145" y="522514"/>
                </a:cubicBezTo>
                <a:lnTo>
                  <a:pt x="73335" y="522514"/>
                </a:lnTo>
                <a:cubicBezTo>
                  <a:pt x="32833" y="522514"/>
                  <a:pt x="0" y="489681"/>
                  <a:pt x="0" y="449179"/>
                </a:cubicBezTo>
                <a:lnTo>
                  <a:pt x="0" y="73335"/>
                </a:lnTo>
                <a:cubicBezTo>
                  <a:pt x="0" y="32833"/>
                  <a:pt x="32833" y="0"/>
                  <a:pt x="7333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40848" y="6517678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64168" y="45835"/>
                </a:moveTo>
                <a:cubicBezTo>
                  <a:pt x="64168" y="40775"/>
                  <a:pt x="68276" y="36668"/>
                  <a:pt x="73335" y="36668"/>
                </a:cubicBezTo>
                <a:cubicBezTo>
                  <a:pt x="78395" y="36668"/>
                  <a:pt x="82502" y="40775"/>
                  <a:pt x="82502" y="45835"/>
                </a:cubicBezTo>
                <a:cubicBezTo>
                  <a:pt x="82502" y="50894"/>
                  <a:pt x="78395" y="55002"/>
                  <a:pt x="73335" y="55002"/>
                </a:cubicBezTo>
                <a:cubicBezTo>
                  <a:pt x="68276" y="55002"/>
                  <a:pt x="64168" y="50894"/>
                  <a:pt x="64168" y="45835"/>
                </a:cubicBezTo>
                <a:close/>
                <a:moveTo>
                  <a:pt x="61877" y="64168"/>
                </a:moveTo>
                <a:lnTo>
                  <a:pt x="75627" y="64168"/>
                </a:lnTo>
                <a:cubicBezTo>
                  <a:pt x="79437" y="64168"/>
                  <a:pt x="82502" y="67234"/>
                  <a:pt x="82502" y="71044"/>
                </a:cubicBezTo>
                <a:lnTo>
                  <a:pt x="82502" y="96253"/>
                </a:lnTo>
                <a:lnTo>
                  <a:pt x="84794" y="96253"/>
                </a:lnTo>
                <a:cubicBezTo>
                  <a:pt x="88604" y="96253"/>
                  <a:pt x="91669" y="99318"/>
                  <a:pt x="91669" y="103128"/>
                </a:cubicBezTo>
                <a:cubicBezTo>
                  <a:pt x="91669" y="106938"/>
                  <a:pt x="88604" y="110003"/>
                  <a:pt x="84794" y="110003"/>
                </a:cubicBezTo>
                <a:lnTo>
                  <a:pt x="61877" y="110003"/>
                </a:lnTo>
                <a:cubicBezTo>
                  <a:pt x="58067" y="110003"/>
                  <a:pt x="55002" y="106938"/>
                  <a:pt x="55002" y="103128"/>
                </a:cubicBezTo>
                <a:cubicBezTo>
                  <a:pt x="55002" y="99318"/>
                  <a:pt x="58067" y="96253"/>
                  <a:pt x="61877" y="96253"/>
                </a:cubicBezTo>
                <a:lnTo>
                  <a:pt x="68752" y="96253"/>
                </a:lnTo>
                <a:lnTo>
                  <a:pt x="68752" y="77919"/>
                </a:lnTo>
                <a:lnTo>
                  <a:pt x="61877" y="77919"/>
                </a:lnTo>
                <a:cubicBezTo>
                  <a:pt x="58067" y="77919"/>
                  <a:pt x="55002" y="74854"/>
                  <a:pt x="55002" y="71044"/>
                </a:cubicBezTo>
                <a:cubicBezTo>
                  <a:pt x="55002" y="67234"/>
                  <a:pt x="58067" y="64168"/>
                  <a:pt x="61877" y="6416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58786" y="6481011"/>
            <a:ext cx="1098403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Observação:</a:t>
            </a:r>
            <a:r>
              <a:rPr lang="en-US" sz="115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Mastercard associa os códigos de negadas ao Merchant Advice Code (MAC) para categorizar as transações negadas.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6854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kern="0" spc="55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VISA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623455"/>
            <a:ext cx="11655136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Categorias de Códigos de Resposta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3682" y="1108364"/>
            <a:ext cx="11481955" cy="969818"/>
          </a:xfrm>
          <a:custGeom>
            <a:avLst/>
            <a:gdLst/>
            <a:ahLst/>
            <a:cxnLst/>
            <a:rect l="l" t="t" r="r" b="b"/>
            <a:pathLst>
              <a:path w="11481955" h="969818">
                <a:moveTo>
                  <a:pt x="34636" y="0"/>
                </a:moveTo>
                <a:lnTo>
                  <a:pt x="11412680" y="0"/>
                </a:lnTo>
                <a:cubicBezTo>
                  <a:pt x="11450939" y="0"/>
                  <a:pt x="11481955" y="31015"/>
                  <a:pt x="11481955" y="69274"/>
                </a:cubicBezTo>
                <a:lnTo>
                  <a:pt x="11481955" y="900544"/>
                </a:lnTo>
                <a:cubicBezTo>
                  <a:pt x="11481955" y="938803"/>
                  <a:pt x="11450939" y="969818"/>
                  <a:pt x="11412680" y="969818"/>
                </a:cubicBezTo>
                <a:lnTo>
                  <a:pt x="34636" y="969818"/>
                </a:lnTo>
                <a:cubicBezTo>
                  <a:pt x="15507" y="969818"/>
                  <a:pt x="0" y="954311"/>
                  <a:pt x="0" y="935182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1A365D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3682" y="1108364"/>
            <a:ext cx="34636" cy="969818"/>
          </a:xfrm>
          <a:custGeom>
            <a:avLst/>
            <a:gdLst/>
            <a:ahLst/>
            <a:cxnLst/>
            <a:rect l="l" t="t" r="r" b="b"/>
            <a:pathLst>
              <a:path w="34636" h="969818">
                <a:moveTo>
                  <a:pt x="34636" y="0"/>
                </a:moveTo>
                <a:lnTo>
                  <a:pt x="34636" y="0"/>
                </a:lnTo>
                <a:lnTo>
                  <a:pt x="34636" y="969818"/>
                </a:lnTo>
                <a:lnTo>
                  <a:pt x="34636" y="969818"/>
                </a:lnTo>
                <a:cubicBezTo>
                  <a:pt x="15507" y="969818"/>
                  <a:pt x="0" y="954311"/>
                  <a:pt x="0" y="935182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80159" y="1316182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94371" y="2111"/>
                </a:moveTo>
                <a:cubicBezTo>
                  <a:pt x="100418" y="-690"/>
                  <a:pt x="107400" y="-690"/>
                  <a:pt x="113448" y="2111"/>
                </a:cubicBezTo>
                <a:lnTo>
                  <a:pt x="202176" y="43106"/>
                </a:lnTo>
                <a:cubicBezTo>
                  <a:pt x="205626" y="44689"/>
                  <a:pt x="207818" y="48139"/>
                  <a:pt x="207818" y="51955"/>
                </a:cubicBezTo>
                <a:cubicBezTo>
                  <a:pt x="207818" y="55770"/>
                  <a:pt x="205626" y="59220"/>
                  <a:pt x="202176" y="60803"/>
                </a:cubicBezTo>
                <a:lnTo>
                  <a:pt x="113448" y="101798"/>
                </a:lnTo>
                <a:cubicBezTo>
                  <a:pt x="107400" y="104599"/>
                  <a:pt x="100418" y="104599"/>
                  <a:pt x="94371" y="101798"/>
                </a:cubicBezTo>
                <a:lnTo>
                  <a:pt x="5642" y="60803"/>
                </a:lnTo>
                <a:cubicBezTo>
                  <a:pt x="2192" y="59179"/>
                  <a:pt x="0" y="55729"/>
                  <a:pt x="0" y="51955"/>
                </a:cubicBezTo>
                <a:cubicBezTo>
                  <a:pt x="0" y="48180"/>
                  <a:pt x="2192" y="44689"/>
                  <a:pt x="5642" y="43106"/>
                </a:cubicBezTo>
                <a:lnTo>
                  <a:pt x="94371" y="2111"/>
                </a:lnTo>
                <a:close/>
                <a:moveTo>
                  <a:pt x="19524" y="88647"/>
                </a:moveTo>
                <a:lnTo>
                  <a:pt x="86212" y="119455"/>
                </a:lnTo>
                <a:cubicBezTo>
                  <a:pt x="97455" y="124650"/>
                  <a:pt x="110403" y="124650"/>
                  <a:pt x="121647" y="119455"/>
                </a:cubicBezTo>
                <a:lnTo>
                  <a:pt x="188335" y="88647"/>
                </a:lnTo>
                <a:lnTo>
                  <a:pt x="202176" y="95061"/>
                </a:lnTo>
                <a:cubicBezTo>
                  <a:pt x="205626" y="96644"/>
                  <a:pt x="207818" y="100094"/>
                  <a:pt x="207818" y="103909"/>
                </a:cubicBezTo>
                <a:cubicBezTo>
                  <a:pt x="207818" y="107725"/>
                  <a:pt x="205626" y="111175"/>
                  <a:pt x="202176" y="112758"/>
                </a:cubicBezTo>
                <a:lnTo>
                  <a:pt x="113448" y="153753"/>
                </a:lnTo>
                <a:cubicBezTo>
                  <a:pt x="107400" y="156554"/>
                  <a:pt x="100418" y="156554"/>
                  <a:pt x="94371" y="153753"/>
                </a:cubicBezTo>
                <a:lnTo>
                  <a:pt x="5642" y="112758"/>
                </a:lnTo>
                <a:cubicBezTo>
                  <a:pt x="2192" y="111134"/>
                  <a:pt x="0" y="107684"/>
                  <a:pt x="0" y="103909"/>
                </a:cubicBezTo>
                <a:cubicBezTo>
                  <a:pt x="0" y="100134"/>
                  <a:pt x="2192" y="96644"/>
                  <a:pt x="5642" y="95061"/>
                </a:cubicBezTo>
                <a:lnTo>
                  <a:pt x="19483" y="88647"/>
                </a:lnTo>
                <a:close/>
                <a:moveTo>
                  <a:pt x="5642" y="147015"/>
                </a:moveTo>
                <a:lnTo>
                  <a:pt x="19483" y="140602"/>
                </a:lnTo>
                <a:lnTo>
                  <a:pt x="86171" y="171409"/>
                </a:lnTo>
                <a:cubicBezTo>
                  <a:pt x="97415" y="176605"/>
                  <a:pt x="110363" y="176605"/>
                  <a:pt x="121606" y="171409"/>
                </a:cubicBezTo>
                <a:lnTo>
                  <a:pt x="188295" y="140602"/>
                </a:lnTo>
                <a:lnTo>
                  <a:pt x="202136" y="147015"/>
                </a:lnTo>
                <a:cubicBezTo>
                  <a:pt x="205586" y="148598"/>
                  <a:pt x="207778" y="152048"/>
                  <a:pt x="207778" y="155864"/>
                </a:cubicBezTo>
                <a:cubicBezTo>
                  <a:pt x="207778" y="159679"/>
                  <a:pt x="205586" y="163129"/>
                  <a:pt x="202136" y="164712"/>
                </a:cubicBezTo>
                <a:lnTo>
                  <a:pt x="113407" y="205708"/>
                </a:lnTo>
                <a:cubicBezTo>
                  <a:pt x="107359" y="208508"/>
                  <a:pt x="100378" y="208508"/>
                  <a:pt x="94330" y="205708"/>
                </a:cubicBezTo>
                <a:lnTo>
                  <a:pt x="5642" y="164712"/>
                </a:lnTo>
                <a:cubicBezTo>
                  <a:pt x="2192" y="163089"/>
                  <a:pt x="0" y="159638"/>
                  <a:pt x="0" y="155864"/>
                </a:cubicBezTo>
                <a:cubicBezTo>
                  <a:pt x="0" y="152089"/>
                  <a:pt x="2192" y="148598"/>
                  <a:pt x="5642" y="14701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13955" y="1281545"/>
            <a:ext cx="10962409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Categorias de Códigos de Resposta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4182" y="1662545"/>
            <a:ext cx="1119620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Visa define 4 grupos (categorias) para transações negadas: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3682" y="2216727"/>
            <a:ext cx="5663045" cy="1922318"/>
          </a:xfrm>
          <a:custGeom>
            <a:avLst/>
            <a:gdLst/>
            <a:ahLst/>
            <a:cxnLst/>
            <a:rect l="l" t="t" r="r" b="b"/>
            <a:pathLst>
              <a:path w="5663045" h="1922318">
                <a:moveTo>
                  <a:pt x="34636" y="0"/>
                </a:moveTo>
                <a:lnTo>
                  <a:pt x="5593765" y="0"/>
                </a:lnTo>
                <a:cubicBezTo>
                  <a:pt x="5632028" y="0"/>
                  <a:pt x="5663045" y="31018"/>
                  <a:pt x="5663045" y="69280"/>
                </a:cubicBezTo>
                <a:lnTo>
                  <a:pt x="5663045" y="1853038"/>
                </a:lnTo>
                <a:cubicBezTo>
                  <a:pt x="5663045" y="1891300"/>
                  <a:pt x="5632028" y="1922318"/>
                  <a:pt x="5593765" y="1922318"/>
                </a:cubicBezTo>
                <a:lnTo>
                  <a:pt x="34636" y="1922318"/>
                </a:lnTo>
                <a:cubicBezTo>
                  <a:pt x="15507" y="1922318"/>
                  <a:pt x="0" y="1906811"/>
                  <a:pt x="0" y="1887682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3682" y="2216727"/>
            <a:ext cx="34636" cy="1922318"/>
          </a:xfrm>
          <a:custGeom>
            <a:avLst/>
            <a:gdLst/>
            <a:ahLst/>
            <a:cxnLst/>
            <a:rect l="l" t="t" r="r" b="b"/>
            <a:pathLst>
              <a:path w="34636" h="1922318">
                <a:moveTo>
                  <a:pt x="34636" y="0"/>
                </a:moveTo>
                <a:lnTo>
                  <a:pt x="34636" y="0"/>
                </a:lnTo>
                <a:lnTo>
                  <a:pt x="34636" y="1922318"/>
                </a:lnTo>
                <a:lnTo>
                  <a:pt x="34636" y="1922318"/>
                </a:lnTo>
                <a:cubicBezTo>
                  <a:pt x="15507" y="1922318"/>
                  <a:pt x="0" y="1906811"/>
                  <a:pt x="0" y="1887682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54182" y="2389909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92727" y="2528455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149045" y="167432"/>
                </a:moveTo>
                <a:lnTo>
                  <a:pt x="40387" y="58774"/>
                </a:lnTo>
                <a:cubicBezTo>
                  <a:pt x="31294" y="71519"/>
                  <a:pt x="25977" y="87105"/>
                  <a:pt x="25977" y="103909"/>
                </a:cubicBezTo>
                <a:cubicBezTo>
                  <a:pt x="25977" y="146934"/>
                  <a:pt x="60884" y="181841"/>
                  <a:pt x="103909" y="181841"/>
                </a:cubicBezTo>
                <a:cubicBezTo>
                  <a:pt x="120754" y="181841"/>
                  <a:pt x="136340" y="176524"/>
                  <a:pt x="149045" y="167432"/>
                </a:cubicBezTo>
                <a:close/>
                <a:moveTo>
                  <a:pt x="167432" y="149045"/>
                </a:moveTo>
                <a:cubicBezTo>
                  <a:pt x="176524" y="136300"/>
                  <a:pt x="181841" y="120713"/>
                  <a:pt x="181841" y="103909"/>
                </a:cubicBezTo>
                <a:cubicBezTo>
                  <a:pt x="181841" y="60884"/>
                  <a:pt x="146934" y="25977"/>
                  <a:pt x="103909" y="25977"/>
                </a:cubicBezTo>
                <a:cubicBezTo>
                  <a:pt x="87064" y="25977"/>
                  <a:pt x="71478" y="31294"/>
                  <a:pt x="58774" y="40387"/>
                </a:cubicBezTo>
                <a:lnTo>
                  <a:pt x="167432" y="149045"/>
                </a:lnTo>
                <a:close/>
                <a:moveTo>
                  <a:pt x="0" y="103909"/>
                </a:moveTo>
                <a:cubicBezTo>
                  <a:pt x="0" y="46560"/>
                  <a:pt x="46560" y="0"/>
                  <a:pt x="103909" y="0"/>
                </a:cubicBezTo>
                <a:cubicBezTo>
                  <a:pt x="161258" y="0"/>
                  <a:pt x="207818" y="46560"/>
                  <a:pt x="207818" y="103909"/>
                </a:cubicBezTo>
                <a:cubicBezTo>
                  <a:pt x="207818" y="161258"/>
                  <a:pt x="161258" y="207818"/>
                  <a:pt x="103909" y="207818"/>
                </a:cubicBezTo>
                <a:cubicBezTo>
                  <a:pt x="46560" y="207818"/>
                  <a:pt x="0" y="161258"/>
                  <a:pt x="0" y="103909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43000" y="2493818"/>
            <a:ext cx="1125682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Categoria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4182" y="2978727"/>
            <a:ext cx="538595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Emissor Nunca Aprovará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4182" y="3290455"/>
            <a:ext cx="5368636" cy="675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Códigos de Resposta informam que o </a:t>
            </a:r>
            <a:r>
              <a:rPr lang="en-US" sz="109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cartão foi cancelado ou nunca existiu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ou que a negativa é resultado de uma </a:t>
            </a:r>
            <a:r>
              <a:rPr lang="en-US" sz="109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restrição permanente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condição de erro que </a:t>
            </a: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impedirá uma aprovação futura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2591" y="2216727"/>
            <a:ext cx="5663045" cy="1922318"/>
          </a:xfrm>
          <a:custGeom>
            <a:avLst/>
            <a:gdLst/>
            <a:ahLst/>
            <a:cxnLst/>
            <a:rect l="l" t="t" r="r" b="b"/>
            <a:pathLst>
              <a:path w="5663045" h="1922318">
                <a:moveTo>
                  <a:pt x="34636" y="0"/>
                </a:moveTo>
                <a:lnTo>
                  <a:pt x="5593765" y="0"/>
                </a:lnTo>
                <a:cubicBezTo>
                  <a:pt x="5632028" y="0"/>
                  <a:pt x="5663045" y="31018"/>
                  <a:pt x="5663045" y="69280"/>
                </a:cubicBezTo>
                <a:lnTo>
                  <a:pt x="5663045" y="1853038"/>
                </a:lnTo>
                <a:cubicBezTo>
                  <a:pt x="5663045" y="1891300"/>
                  <a:pt x="5632028" y="1922318"/>
                  <a:pt x="5593765" y="1922318"/>
                </a:cubicBezTo>
                <a:lnTo>
                  <a:pt x="34636" y="1922318"/>
                </a:lnTo>
                <a:cubicBezTo>
                  <a:pt x="15507" y="1922318"/>
                  <a:pt x="0" y="1906811"/>
                  <a:pt x="0" y="1887682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182591" y="2216727"/>
            <a:ext cx="34636" cy="1922318"/>
          </a:xfrm>
          <a:custGeom>
            <a:avLst/>
            <a:gdLst/>
            <a:ahLst/>
            <a:cxnLst/>
            <a:rect l="l" t="t" r="r" b="b"/>
            <a:pathLst>
              <a:path w="34636" h="1922318">
                <a:moveTo>
                  <a:pt x="34636" y="0"/>
                </a:moveTo>
                <a:lnTo>
                  <a:pt x="34636" y="0"/>
                </a:lnTo>
                <a:lnTo>
                  <a:pt x="34636" y="1922318"/>
                </a:lnTo>
                <a:lnTo>
                  <a:pt x="34636" y="1922318"/>
                </a:lnTo>
                <a:cubicBezTo>
                  <a:pt x="15507" y="1922318"/>
                  <a:pt x="0" y="1906811"/>
                  <a:pt x="0" y="1887682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373091" y="2389909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511636" y="2528455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103909" y="0"/>
                </a:moveTo>
                <a:cubicBezTo>
                  <a:pt x="161258" y="0"/>
                  <a:pt x="207818" y="46560"/>
                  <a:pt x="207818" y="103909"/>
                </a:cubicBezTo>
                <a:cubicBezTo>
                  <a:pt x="207818" y="161258"/>
                  <a:pt x="161258" y="207818"/>
                  <a:pt x="103909" y="207818"/>
                </a:cubicBezTo>
                <a:cubicBezTo>
                  <a:pt x="46560" y="207818"/>
                  <a:pt x="0" y="161258"/>
                  <a:pt x="0" y="103909"/>
                </a:cubicBezTo>
                <a:cubicBezTo>
                  <a:pt x="0" y="46560"/>
                  <a:pt x="46560" y="0"/>
                  <a:pt x="103909" y="0"/>
                </a:cubicBezTo>
                <a:close/>
                <a:moveTo>
                  <a:pt x="94168" y="48707"/>
                </a:moveTo>
                <a:lnTo>
                  <a:pt x="94168" y="103909"/>
                </a:lnTo>
                <a:cubicBezTo>
                  <a:pt x="94168" y="107156"/>
                  <a:pt x="95791" y="110200"/>
                  <a:pt x="98511" y="112027"/>
                </a:cubicBezTo>
                <a:lnTo>
                  <a:pt x="137477" y="138004"/>
                </a:lnTo>
                <a:cubicBezTo>
                  <a:pt x="141941" y="141008"/>
                  <a:pt x="147989" y="139790"/>
                  <a:pt x="150993" y="135285"/>
                </a:cubicBezTo>
                <a:cubicBezTo>
                  <a:pt x="153997" y="130779"/>
                  <a:pt x="152779" y="124772"/>
                  <a:pt x="148273" y="121768"/>
                </a:cubicBezTo>
                <a:lnTo>
                  <a:pt x="113651" y="98714"/>
                </a:lnTo>
                <a:lnTo>
                  <a:pt x="113651" y="48707"/>
                </a:lnTo>
                <a:cubicBezTo>
                  <a:pt x="113651" y="43309"/>
                  <a:pt x="109307" y="38966"/>
                  <a:pt x="103909" y="38966"/>
                </a:cubicBezTo>
                <a:cubicBezTo>
                  <a:pt x="98511" y="38966"/>
                  <a:pt x="94168" y="43309"/>
                  <a:pt x="94168" y="48707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961909" y="2493818"/>
            <a:ext cx="11603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Categoria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3091" y="2978727"/>
            <a:ext cx="538595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Emissor Não Pode Aprovar Neste Momento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3091" y="3290455"/>
            <a:ext cx="5368636" cy="675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Códigos de Resposta indicam que a negativa é resultado de uma </a:t>
            </a:r>
            <a:r>
              <a:rPr lang="en-US" sz="109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condição temporária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como risco de crédito, controles de velocidade do emissor ou outras restrições do cartão que </a:t>
            </a:r>
            <a:r>
              <a:rPr lang="en-US" sz="1091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podem permitir uma retentativa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3682" y="4277591"/>
            <a:ext cx="5663045" cy="1714500"/>
          </a:xfrm>
          <a:custGeom>
            <a:avLst/>
            <a:gdLst/>
            <a:ahLst/>
            <a:cxnLst/>
            <a:rect l="l" t="t" r="r" b="b"/>
            <a:pathLst>
              <a:path w="5663045" h="1714500">
                <a:moveTo>
                  <a:pt x="34636" y="0"/>
                </a:moveTo>
                <a:lnTo>
                  <a:pt x="5593780" y="0"/>
                </a:lnTo>
                <a:cubicBezTo>
                  <a:pt x="5632034" y="0"/>
                  <a:pt x="5663045" y="31011"/>
                  <a:pt x="5663045" y="69266"/>
                </a:cubicBezTo>
                <a:lnTo>
                  <a:pt x="5663045" y="1645234"/>
                </a:lnTo>
                <a:cubicBezTo>
                  <a:pt x="5663045" y="1683489"/>
                  <a:pt x="5632034" y="1714500"/>
                  <a:pt x="5593780" y="1714500"/>
                </a:cubicBezTo>
                <a:lnTo>
                  <a:pt x="34636" y="1714500"/>
                </a:lnTo>
                <a:cubicBezTo>
                  <a:pt x="15507" y="1714500"/>
                  <a:pt x="0" y="1698993"/>
                  <a:pt x="0" y="16798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63682" y="4277591"/>
            <a:ext cx="34636" cy="1714500"/>
          </a:xfrm>
          <a:custGeom>
            <a:avLst/>
            <a:gdLst/>
            <a:ahLst/>
            <a:cxnLst/>
            <a:rect l="l" t="t" r="r" b="b"/>
            <a:pathLst>
              <a:path w="34636" h="1714500">
                <a:moveTo>
                  <a:pt x="34636" y="0"/>
                </a:moveTo>
                <a:lnTo>
                  <a:pt x="34636" y="0"/>
                </a:lnTo>
                <a:lnTo>
                  <a:pt x="34636" y="1714500"/>
                </a:lnTo>
                <a:lnTo>
                  <a:pt x="34636" y="1714500"/>
                </a:lnTo>
                <a:cubicBezTo>
                  <a:pt x="15507" y="1714500"/>
                  <a:pt x="0" y="1698993"/>
                  <a:pt x="0" y="1679864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54182" y="4450773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05716" y="4589318"/>
            <a:ext cx="181841" cy="207818"/>
          </a:xfrm>
          <a:custGeom>
            <a:avLst/>
            <a:gdLst/>
            <a:ahLst/>
            <a:cxnLst/>
            <a:rect l="l" t="t" r="r" b="b"/>
            <a:pathLst>
              <a:path w="181841" h="207818">
                <a:moveTo>
                  <a:pt x="181841" y="83533"/>
                </a:moveTo>
                <a:cubicBezTo>
                  <a:pt x="175834" y="87511"/>
                  <a:pt x="168933" y="90718"/>
                  <a:pt x="161749" y="93275"/>
                </a:cubicBezTo>
                <a:cubicBezTo>
                  <a:pt x="142672" y="100094"/>
                  <a:pt x="117628" y="103909"/>
                  <a:pt x="90920" y="103909"/>
                </a:cubicBezTo>
                <a:cubicBezTo>
                  <a:pt x="64213" y="103909"/>
                  <a:pt x="39128" y="100053"/>
                  <a:pt x="20092" y="93275"/>
                </a:cubicBezTo>
                <a:cubicBezTo>
                  <a:pt x="12948" y="90718"/>
                  <a:pt x="6007" y="87511"/>
                  <a:pt x="0" y="83533"/>
                </a:cubicBezTo>
                <a:lnTo>
                  <a:pt x="0" y="116898"/>
                </a:lnTo>
                <a:cubicBezTo>
                  <a:pt x="0" y="134838"/>
                  <a:pt x="40711" y="149369"/>
                  <a:pt x="90920" y="149369"/>
                </a:cubicBezTo>
                <a:cubicBezTo>
                  <a:pt x="141130" y="149369"/>
                  <a:pt x="181841" y="134838"/>
                  <a:pt x="181841" y="116898"/>
                </a:cubicBezTo>
                <a:lnTo>
                  <a:pt x="181841" y="83533"/>
                </a:lnTo>
                <a:close/>
                <a:moveTo>
                  <a:pt x="181841" y="51955"/>
                </a:moveTo>
                <a:lnTo>
                  <a:pt x="181841" y="32472"/>
                </a:lnTo>
                <a:cubicBezTo>
                  <a:pt x="181841" y="14531"/>
                  <a:pt x="141130" y="0"/>
                  <a:pt x="90920" y="0"/>
                </a:cubicBezTo>
                <a:cubicBezTo>
                  <a:pt x="40711" y="0"/>
                  <a:pt x="0" y="14531"/>
                  <a:pt x="0" y="32472"/>
                </a:cubicBezTo>
                <a:lnTo>
                  <a:pt x="0" y="51955"/>
                </a:lnTo>
                <a:cubicBezTo>
                  <a:pt x="0" y="69895"/>
                  <a:pt x="40711" y="84426"/>
                  <a:pt x="90920" y="84426"/>
                </a:cubicBezTo>
                <a:cubicBezTo>
                  <a:pt x="141130" y="84426"/>
                  <a:pt x="181841" y="69895"/>
                  <a:pt x="181841" y="51955"/>
                </a:cubicBezTo>
                <a:close/>
                <a:moveTo>
                  <a:pt x="161749" y="158218"/>
                </a:moveTo>
                <a:cubicBezTo>
                  <a:pt x="142713" y="164996"/>
                  <a:pt x="117669" y="168852"/>
                  <a:pt x="90920" y="168852"/>
                </a:cubicBezTo>
                <a:cubicBezTo>
                  <a:pt x="64172" y="168852"/>
                  <a:pt x="39128" y="164996"/>
                  <a:pt x="20092" y="158218"/>
                </a:cubicBezTo>
                <a:cubicBezTo>
                  <a:pt x="12948" y="155661"/>
                  <a:pt x="6007" y="152454"/>
                  <a:pt x="0" y="148476"/>
                </a:cubicBezTo>
                <a:lnTo>
                  <a:pt x="0" y="175347"/>
                </a:lnTo>
                <a:cubicBezTo>
                  <a:pt x="0" y="193287"/>
                  <a:pt x="40711" y="207818"/>
                  <a:pt x="90920" y="207818"/>
                </a:cubicBezTo>
                <a:cubicBezTo>
                  <a:pt x="141130" y="207818"/>
                  <a:pt x="181841" y="193287"/>
                  <a:pt x="181841" y="175347"/>
                </a:cubicBezTo>
                <a:lnTo>
                  <a:pt x="181841" y="148476"/>
                </a:lnTo>
                <a:cubicBezTo>
                  <a:pt x="175834" y="152454"/>
                  <a:pt x="168933" y="155661"/>
                  <a:pt x="161749" y="15821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143000" y="4554682"/>
            <a:ext cx="11603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Categoria 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4182" y="5039591"/>
            <a:ext cx="538595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Qualidade de Dados / Revalidar Dados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4182" y="5351318"/>
            <a:ext cx="5368636" cy="467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Códigos de Resposta providos quando um </a:t>
            </a:r>
            <a:r>
              <a:rPr lang="en-US" sz="109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 de dados é identificado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pelo emissor e a transação é declinada como consequência.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69602" y="4281920"/>
            <a:ext cx="5671705" cy="1705841"/>
          </a:xfrm>
          <a:custGeom>
            <a:avLst/>
            <a:gdLst/>
            <a:ahLst/>
            <a:cxnLst/>
            <a:rect l="l" t="t" r="r" b="b"/>
            <a:pathLst>
              <a:path w="5671705" h="1705841">
                <a:moveTo>
                  <a:pt x="69274" y="0"/>
                </a:moveTo>
                <a:lnTo>
                  <a:pt x="5602430" y="0"/>
                </a:lnTo>
                <a:cubicBezTo>
                  <a:pt x="5640689" y="0"/>
                  <a:pt x="5671705" y="31015"/>
                  <a:pt x="5671705" y="69274"/>
                </a:cubicBezTo>
                <a:lnTo>
                  <a:pt x="5671705" y="1636567"/>
                </a:lnTo>
                <a:cubicBezTo>
                  <a:pt x="5671705" y="1674826"/>
                  <a:pt x="5640689" y="1705841"/>
                  <a:pt x="5602430" y="1705841"/>
                </a:cubicBezTo>
                <a:lnTo>
                  <a:pt x="69274" y="1705841"/>
                </a:lnTo>
                <a:cubicBezTo>
                  <a:pt x="31015" y="1705841"/>
                  <a:pt x="0" y="1674826"/>
                  <a:pt x="0" y="1636567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347114" y="4459432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524625" y="4597977"/>
            <a:ext cx="129886" cy="207818"/>
          </a:xfrm>
          <a:custGeom>
            <a:avLst/>
            <a:gdLst/>
            <a:ahLst/>
            <a:cxnLst/>
            <a:rect l="l" t="t" r="r" b="b"/>
            <a:pathLst>
              <a:path w="129886" h="207818">
                <a:moveTo>
                  <a:pt x="25977" y="64943"/>
                </a:moveTo>
                <a:cubicBezTo>
                  <a:pt x="25977" y="43431"/>
                  <a:pt x="43431" y="25977"/>
                  <a:pt x="64943" y="25977"/>
                </a:cubicBezTo>
                <a:cubicBezTo>
                  <a:pt x="86456" y="25977"/>
                  <a:pt x="103909" y="43431"/>
                  <a:pt x="103909" y="64943"/>
                </a:cubicBezTo>
                <a:cubicBezTo>
                  <a:pt x="103909" y="82275"/>
                  <a:pt x="92585" y="96968"/>
                  <a:pt x="76917" y="102042"/>
                </a:cubicBezTo>
                <a:cubicBezTo>
                  <a:pt x="65390" y="105776"/>
                  <a:pt x="51955" y="116370"/>
                  <a:pt x="51955" y="133134"/>
                </a:cubicBezTo>
                <a:lnTo>
                  <a:pt x="51955" y="142875"/>
                </a:lnTo>
                <a:cubicBezTo>
                  <a:pt x="51955" y="150059"/>
                  <a:pt x="57759" y="155864"/>
                  <a:pt x="64943" y="155864"/>
                </a:cubicBezTo>
                <a:cubicBezTo>
                  <a:pt x="72128" y="155864"/>
                  <a:pt x="77932" y="150059"/>
                  <a:pt x="77932" y="142875"/>
                </a:cubicBezTo>
                <a:lnTo>
                  <a:pt x="77932" y="133134"/>
                </a:lnTo>
                <a:cubicBezTo>
                  <a:pt x="77932" y="132444"/>
                  <a:pt x="78175" y="131469"/>
                  <a:pt x="79352" y="130170"/>
                </a:cubicBezTo>
                <a:cubicBezTo>
                  <a:pt x="80570" y="128831"/>
                  <a:pt x="82559" y="127532"/>
                  <a:pt x="84913" y="126761"/>
                </a:cubicBezTo>
                <a:cubicBezTo>
                  <a:pt x="111012" y="118359"/>
                  <a:pt x="129886" y="93883"/>
                  <a:pt x="129886" y="64943"/>
                </a:cubicBezTo>
                <a:cubicBezTo>
                  <a:pt x="129886" y="29062"/>
                  <a:pt x="100824" y="0"/>
                  <a:pt x="64943" y="0"/>
                </a:cubicBezTo>
                <a:cubicBezTo>
                  <a:pt x="29062" y="0"/>
                  <a:pt x="0" y="29062"/>
                  <a:pt x="0" y="64943"/>
                </a:cubicBezTo>
                <a:cubicBezTo>
                  <a:pt x="0" y="72128"/>
                  <a:pt x="5804" y="77932"/>
                  <a:pt x="12989" y="77932"/>
                </a:cubicBezTo>
                <a:cubicBezTo>
                  <a:pt x="20173" y="77932"/>
                  <a:pt x="25977" y="72128"/>
                  <a:pt x="25977" y="64943"/>
                </a:cubicBezTo>
                <a:close/>
                <a:moveTo>
                  <a:pt x="64943" y="207818"/>
                </a:moveTo>
                <a:cubicBezTo>
                  <a:pt x="73913" y="207818"/>
                  <a:pt x="81179" y="200553"/>
                  <a:pt x="81179" y="191582"/>
                </a:cubicBezTo>
                <a:cubicBezTo>
                  <a:pt x="81179" y="182612"/>
                  <a:pt x="73913" y="175347"/>
                  <a:pt x="64943" y="175347"/>
                </a:cubicBezTo>
                <a:cubicBezTo>
                  <a:pt x="55973" y="175347"/>
                  <a:pt x="48707" y="182612"/>
                  <a:pt x="48707" y="191582"/>
                </a:cubicBezTo>
                <a:cubicBezTo>
                  <a:pt x="48707" y="200553"/>
                  <a:pt x="55973" y="207818"/>
                  <a:pt x="64943" y="207818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935932" y="4563341"/>
            <a:ext cx="11603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Categoria 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47114" y="5048250"/>
            <a:ext cx="5403273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Códigos de Resposta Genéricos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47114" y="5359977"/>
            <a:ext cx="5385955" cy="450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os demais Códigos de Respostas, muitos dos quais são de uma </a:t>
            </a:r>
            <a:r>
              <a:rPr lang="en-US" sz="109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natureza técnica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provêm </a:t>
            </a:r>
            <a:r>
              <a:rPr lang="en-US" sz="109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pouco ou nenhum valor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Estabelecimentos/Credenciadores.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0693" y="6134966"/>
            <a:ext cx="11490614" cy="493568"/>
          </a:xfrm>
          <a:custGeom>
            <a:avLst/>
            <a:gdLst/>
            <a:ahLst/>
            <a:cxnLst/>
            <a:rect l="l" t="t" r="r" b="b"/>
            <a:pathLst>
              <a:path w="11490614" h="493568">
                <a:moveTo>
                  <a:pt x="69272" y="0"/>
                </a:moveTo>
                <a:lnTo>
                  <a:pt x="11421341" y="0"/>
                </a:lnTo>
                <a:cubicBezTo>
                  <a:pt x="11459599" y="0"/>
                  <a:pt x="11490614" y="31014"/>
                  <a:pt x="11490614" y="69272"/>
                </a:cubicBezTo>
                <a:lnTo>
                  <a:pt x="11490614" y="424296"/>
                </a:lnTo>
                <a:cubicBezTo>
                  <a:pt x="11490614" y="462554"/>
                  <a:pt x="11459599" y="493568"/>
                  <a:pt x="11421341" y="493568"/>
                </a:cubicBezTo>
                <a:lnTo>
                  <a:pt x="69272" y="493568"/>
                </a:lnTo>
                <a:cubicBezTo>
                  <a:pt x="31040" y="493568"/>
                  <a:pt x="0" y="462528"/>
                  <a:pt x="0" y="424296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510886" y="6312477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69273" y="138545"/>
                </a:moveTo>
                <a:cubicBezTo>
                  <a:pt x="107505" y="138545"/>
                  <a:pt x="138545" y="107505"/>
                  <a:pt x="138545" y="69273"/>
                </a:cubicBezTo>
                <a:cubicBezTo>
                  <a:pt x="138545" y="31040"/>
                  <a:pt x="107505" y="0"/>
                  <a:pt x="69273" y="0"/>
                </a:cubicBezTo>
                <a:cubicBezTo>
                  <a:pt x="31040" y="0"/>
                  <a:pt x="0" y="31040"/>
                  <a:pt x="0" y="69273"/>
                </a:cubicBezTo>
                <a:cubicBezTo>
                  <a:pt x="0" y="107505"/>
                  <a:pt x="31040" y="138545"/>
                  <a:pt x="69273" y="138545"/>
                </a:cubicBezTo>
                <a:close/>
                <a:moveTo>
                  <a:pt x="60614" y="43295"/>
                </a:moveTo>
                <a:cubicBezTo>
                  <a:pt x="60614" y="38516"/>
                  <a:pt x="64494" y="34636"/>
                  <a:pt x="69273" y="34636"/>
                </a:cubicBezTo>
                <a:cubicBezTo>
                  <a:pt x="74052" y="34636"/>
                  <a:pt x="77932" y="38516"/>
                  <a:pt x="77932" y="43295"/>
                </a:cubicBezTo>
                <a:cubicBezTo>
                  <a:pt x="77932" y="48075"/>
                  <a:pt x="74052" y="51955"/>
                  <a:pt x="69273" y="51955"/>
                </a:cubicBezTo>
                <a:cubicBezTo>
                  <a:pt x="64494" y="51955"/>
                  <a:pt x="60614" y="48075"/>
                  <a:pt x="60614" y="43295"/>
                </a:cubicBezTo>
                <a:close/>
                <a:moveTo>
                  <a:pt x="58449" y="60614"/>
                </a:moveTo>
                <a:lnTo>
                  <a:pt x="71437" y="60614"/>
                </a:lnTo>
                <a:cubicBezTo>
                  <a:pt x="75036" y="60614"/>
                  <a:pt x="77932" y="63509"/>
                  <a:pt x="77932" y="67108"/>
                </a:cubicBezTo>
                <a:lnTo>
                  <a:pt x="77932" y="90920"/>
                </a:lnTo>
                <a:lnTo>
                  <a:pt x="80097" y="90920"/>
                </a:lnTo>
                <a:cubicBezTo>
                  <a:pt x="83696" y="90920"/>
                  <a:pt x="86591" y="93816"/>
                  <a:pt x="86591" y="97415"/>
                </a:cubicBezTo>
                <a:cubicBezTo>
                  <a:pt x="86591" y="101014"/>
                  <a:pt x="83696" y="103909"/>
                  <a:pt x="80097" y="103909"/>
                </a:cubicBezTo>
                <a:lnTo>
                  <a:pt x="58449" y="103909"/>
                </a:lnTo>
                <a:cubicBezTo>
                  <a:pt x="54850" y="103909"/>
                  <a:pt x="51955" y="101014"/>
                  <a:pt x="51955" y="97415"/>
                </a:cubicBezTo>
                <a:cubicBezTo>
                  <a:pt x="51955" y="93816"/>
                  <a:pt x="54850" y="90920"/>
                  <a:pt x="58449" y="90920"/>
                </a:cubicBezTo>
                <a:lnTo>
                  <a:pt x="64943" y="90920"/>
                </a:lnTo>
                <a:lnTo>
                  <a:pt x="64943" y="73602"/>
                </a:lnTo>
                <a:lnTo>
                  <a:pt x="58449" y="73602"/>
                </a:lnTo>
                <a:cubicBezTo>
                  <a:pt x="54850" y="73602"/>
                  <a:pt x="51955" y="70707"/>
                  <a:pt x="51955" y="67108"/>
                </a:cubicBezTo>
                <a:cubicBezTo>
                  <a:pt x="51955" y="63509"/>
                  <a:pt x="54850" y="60614"/>
                  <a:pt x="58449" y="6061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13981" y="6277841"/>
            <a:ext cx="1105372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Importante:</a:t>
            </a:r>
            <a:r>
              <a:rPr lang="en-US" sz="109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Cada categoria tem regras específicas sobre quando e como as retentativas podem ser realizadas. O não cumprimento resulta em penalidades.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275" y="374275"/>
            <a:ext cx="11518305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kern="0" spc="5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RETENTATIVAS DE AUTORIZAÇÃO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275" y="673695"/>
            <a:ext cx="11611874" cy="374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Penalidades das Bandeiras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2988" y="1197679"/>
            <a:ext cx="3695963" cy="4968497"/>
          </a:xfrm>
          <a:custGeom>
            <a:avLst/>
            <a:gdLst/>
            <a:ahLst/>
            <a:cxnLst/>
            <a:rect l="l" t="t" r="r" b="b"/>
            <a:pathLst>
              <a:path w="3695963" h="4968497">
                <a:moveTo>
                  <a:pt x="37427" y="0"/>
                </a:moveTo>
                <a:lnTo>
                  <a:pt x="3621120" y="0"/>
                </a:lnTo>
                <a:cubicBezTo>
                  <a:pt x="3662455" y="0"/>
                  <a:pt x="3695963" y="33508"/>
                  <a:pt x="3695963" y="74843"/>
                </a:cubicBezTo>
                <a:lnTo>
                  <a:pt x="3695963" y="4893654"/>
                </a:lnTo>
                <a:cubicBezTo>
                  <a:pt x="3695963" y="4934989"/>
                  <a:pt x="3662455" y="4968497"/>
                  <a:pt x="3621120" y="4968497"/>
                </a:cubicBezTo>
                <a:lnTo>
                  <a:pt x="37427" y="4968497"/>
                </a:lnTo>
                <a:cubicBezTo>
                  <a:pt x="16757" y="4968497"/>
                  <a:pt x="0" y="4951740"/>
                  <a:pt x="0" y="4931070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2988" y="1197679"/>
            <a:ext cx="37427" cy="4968497"/>
          </a:xfrm>
          <a:custGeom>
            <a:avLst/>
            <a:gdLst/>
            <a:ahLst/>
            <a:cxnLst/>
            <a:rect l="l" t="t" r="r" b="b"/>
            <a:pathLst>
              <a:path w="37427" h="4968497">
                <a:moveTo>
                  <a:pt x="37427" y="0"/>
                </a:moveTo>
                <a:lnTo>
                  <a:pt x="37427" y="0"/>
                </a:lnTo>
                <a:lnTo>
                  <a:pt x="37427" y="4968497"/>
                </a:lnTo>
                <a:lnTo>
                  <a:pt x="37427" y="4968497"/>
                </a:lnTo>
                <a:cubicBezTo>
                  <a:pt x="16757" y="4968497"/>
                  <a:pt x="0" y="4951740"/>
                  <a:pt x="0" y="4931070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1412" y="1347389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92408" y="1478385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0" y="46784"/>
                </a:moveTo>
                <a:lnTo>
                  <a:pt x="0" y="58480"/>
                </a:lnTo>
                <a:lnTo>
                  <a:pt x="187137" y="58480"/>
                </a:lnTo>
                <a:lnTo>
                  <a:pt x="187137" y="46784"/>
                </a:lnTo>
                <a:cubicBezTo>
                  <a:pt x="187137" y="33882"/>
                  <a:pt x="176647" y="23392"/>
                  <a:pt x="163745" y="23392"/>
                </a:cubicBezTo>
                <a:lnTo>
                  <a:pt x="23392" y="23392"/>
                </a:lnTo>
                <a:cubicBezTo>
                  <a:pt x="10490" y="23392"/>
                  <a:pt x="0" y="33882"/>
                  <a:pt x="0" y="46784"/>
                </a:cubicBezTo>
                <a:close/>
                <a:moveTo>
                  <a:pt x="0" y="76025"/>
                </a:moveTo>
                <a:lnTo>
                  <a:pt x="0" y="140353"/>
                </a:lnTo>
                <a:cubicBezTo>
                  <a:pt x="0" y="153255"/>
                  <a:pt x="10490" y="163745"/>
                  <a:pt x="23392" y="163745"/>
                </a:cubicBezTo>
                <a:lnTo>
                  <a:pt x="163745" y="163745"/>
                </a:lnTo>
                <a:cubicBezTo>
                  <a:pt x="176647" y="163745"/>
                  <a:pt x="187137" y="153255"/>
                  <a:pt x="187137" y="140353"/>
                </a:cubicBezTo>
                <a:lnTo>
                  <a:pt x="187137" y="76025"/>
                </a:lnTo>
                <a:lnTo>
                  <a:pt x="0" y="76025"/>
                </a:lnTo>
                <a:close/>
                <a:moveTo>
                  <a:pt x="23392" y="131581"/>
                </a:moveTo>
                <a:cubicBezTo>
                  <a:pt x="23392" y="126720"/>
                  <a:pt x="27303" y="122809"/>
                  <a:pt x="32164" y="122809"/>
                </a:cubicBezTo>
                <a:lnTo>
                  <a:pt x="49708" y="122809"/>
                </a:lnTo>
                <a:cubicBezTo>
                  <a:pt x="54570" y="122809"/>
                  <a:pt x="58480" y="126720"/>
                  <a:pt x="58480" y="131581"/>
                </a:cubicBezTo>
                <a:cubicBezTo>
                  <a:pt x="58480" y="136442"/>
                  <a:pt x="54570" y="140353"/>
                  <a:pt x="49708" y="140353"/>
                </a:cubicBezTo>
                <a:lnTo>
                  <a:pt x="32164" y="140353"/>
                </a:lnTo>
                <a:cubicBezTo>
                  <a:pt x="27303" y="140353"/>
                  <a:pt x="23392" y="136442"/>
                  <a:pt x="23392" y="131581"/>
                </a:cubicBezTo>
                <a:close/>
                <a:moveTo>
                  <a:pt x="76025" y="131581"/>
                </a:moveTo>
                <a:cubicBezTo>
                  <a:pt x="76025" y="126720"/>
                  <a:pt x="79935" y="122809"/>
                  <a:pt x="84797" y="122809"/>
                </a:cubicBezTo>
                <a:lnTo>
                  <a:pt x="108189" y="122809"/>
                </a:lnTo>
                <a:cubicBezTo>
                  <a:pt x="113050" y="122809"/>
                  <a:pt x="116961" y="126720"/>
                  <a:pt x="116961" y="131581"/>
                </a:cubicBezTo>
                <a:cubicBezTo>
                  <a:pt x="116961" y="136442"/>
                  <a:pt x="113050" y="140353"/>
                  <a:pt x="108189" y="140353"/>
                </a:cubicBezTo>
                <a:lnTo>
                  <a:pt x="84797" y="140353"/>
                </a:lnTo>
                <a:cubicBezTo>
                  <a:pt x="79935" y="140353"/>
                  <a:pt x="76025" y="136442"/>
                  <a:pt x="76025" y="131581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22824" y="1422244"/>
            <a:ext cx="421059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412" y="1908801"/>
            <a:ext cx="3377830" cy="2273719"/>
          </a:xfrm>
          <a:custGeom>
            <a:avLst/>
            <a:gdLst/>
            <a:ahLst/>
            <a:cxnLst/>
            <a:rect l="l" t="t" r="r" b="b"/>
            <a:pathLst>
              <a:path w="3377830" h="2273719">
                <a:moveTo>
                  <a:pt x="74851" y="0"/>
                </a:moveTo>
                <a:lnTo>
                  <a:pt x="3302979" y="0"/>
                </a:lnTo>
                <a:cubicBezTo>
                  <a:pt x="3344318" y="0"/>
                  <a:pt x="3377830" y="33512"/>
                  <a:pt x="3377830" y="74851"/>
                </a:cubicBezTo>
                <a:lnTo>
                  <a:pt x="3377830" y="2198868"/>
                </a:lnTo>
                <a:cubicBezTo>
                  <a:pt x="3377830" y="2240207"/>
                  <a:pt x="3344318" y="2273719"/>
                  <a:pt x="3302979" y="2273719"/>
                </a:cubicBezTo>
                <a:lnTo>
                  <a:pt x="74851" y="2273719"/>
                </a:lnTo>
                <a:cubicBezTo>
                  <a:pt x="33512" y="2273719"/>
                  <a:pt x="0" y="2240207"/>
                  <a:pt x="0" y="2198868"/>
                </a:cubicBezTo>
                <a:lnTo>
                  <a:pt x="0" y="74851"/>
                </a:lnTo>
                <a:cubicBezTo>
                  <a:pt x="0" y="33512"/>
                  <a:pt x="33512" y="0"/>
                  <a:pt x="7485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3695" y="2021084"/>
            <a:ext cx="3237477" cy="26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Tabela de Penalidades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3695" y="2357931"/>
            <a:ext cx="3228120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Eventos e valores para autorizações negadas e MAC: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3695" y="3148586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00A3E0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3695" y="2919343"/>
            <a:ext cx="1076040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 1 - Excesso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84261" y="2919343"/>
            <a:ext cx="608196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3695" y="3457363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00A3E0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73695" y="3228120"/>
            <a:ext cx="1104111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 2 - Excesso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84261" y="3228120"/>
            <a:ext cx="608196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695" y="3766140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00A3E0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73695" y="3536896"/>
            <a:ext cx="1113467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 3 - Excesso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84261" y="3536896"/>
            <a:ext cx="608196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3695" y="3845673"/>
            <a:ext cx="776620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Grupos 4 e 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84261" y="3845673"/>
            <a:ext cx="608196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fixo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091" y="4262054"/>
            <a:ext cx="3368473" cy="458487"/>
          </a:xfrm>
          <a:custGeom>
            <a:avLst/>
            <a:gdLst/>
            <a:ahLst/>
            <a:cxnLst/>
            <a:rect l="l" t="t" r="r" b="b"/>
            <a:pathLst>
              <a:path w="3368473" h="458487">
                <a:moveTo>
                  <a:pt x="74857" y="0"/>
                </a:moveTo>
                <a:lnTo>
                  <a:pt x="3293616" y="0"/>
                </a:lnTo>
                <a:cubicBezTo>
                  <a:pt x="3334958" y="0"/>
                  <a:pt x="3368473" y="33515"/>
                  <a:pt x="3368473" y="74857"/>
                </a:cubicBezTo>
                <a:lnTo>
                  <a:pt x="3368473" y="383629"/>
                </a:lnTo>
                <a:cubicBezTo>
                  <a:pt x="3368473" y="424972"/>
                  <a:pt x="3334958" y="458487"/>
                  <a:pt x="3293616" y="458487"/>
                </a:cubicBezTo>
                <a:lnTo>
                  <a:pt x="74857" y="458487"/>
                </a:lnTo>
                <a:cubicBezTo>
                  <a:pt x="33515" y="458487"/>
                  <a:pt x="0" y="424972"/>
                  <a:pt x="0" y="383629"/>
                </a:cubicBezTo>
                <a:lnTo>
                  <a:pt x="0" y="74857"/>
                </a:lnTo>
                <a:cubicBezTo>
                  <a:pt x="0" y="33542"/>
                  <a:pt x="33542" y="0"/>
                  <a:pt x="74857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01765" y="4416442"/>
            <a:ext cx="149710" cy="149710"/>
          </a:xfrm>
          <a:custGeom>
            <a:avLst/>
            <a:gdLst/>
            <a:ahLst/>
            <a:cxnLst/>
            <a:rect l="l" t="t" r="r" b="b"/>
            <a:pathLst>
              <a:path w="149710" h="149710">
                <a:moveTo>
                  <a:pt x="74855" y="149710"/>
                </a:moveTo>
                <a:cubicBezTo>
                  <a:pt x="116169" y="149710"/>
                  <a:pt x="149710" y="116169"/>
                  <a:pt x="149710" y="74855"/>
                </a:cubicBezTo>
                <a:cubicBezTo>
                  <a:pt x="149710" y="33541"/>
                  <a:pt x="116169" y="0"/>
                  <a:pt x="74855" y="0"/>
                </a:cubicBezTo>
                <a:cubicBezTo>
                  <a:pt x="33541" y="0"/>
                  <a:pt x="0" y="33541"/>
                  <a:pt x="0" y="74855"/>
                </a:cubicBezTo>
                <a:cubicBezTo>
                  <a:pt x="0" y="116169"/>
                  <a:pt x="33541" y="149710"/>
                  <a:pt x="74855" y="149710"/>
                </a:cubicBezTo>
                <a:close/>
                <a:moveTo>
                  <a:pt x="65498" y="46784"/>
                </a:moveTo>
                <a:cubicBezTo>
                  <a:pt x="65498" y="41620"/>
                  <a:pt x="69691" y="37427"/>
                  <a:pt x="74855" y="37427"/>
                </a:cubicBezTo>
                <a:cubicBezTo>
                  <a:pt x="80019" y="37427"/>
                  <a:pt x="84212" y="41620"/>
                  <a:pt x="84212" y="46784"/>
                </a:cubicBezTo>
                <a:cubicBezTo>
                  <a:pt x="84212" y="51949"/>
                  <a:pt x="80019" y="56141"/>
                  <a:pt x="74855" y="56141"/>
                </a:cubicBezTo>
                <a:cubicBezTo>
                  <a:pt x="69691" y="56141"/>
                  <a:pt x="65498" y="51949"/>
                  <a:pt x="65498" y="46784"/>
                </a:cubicBezTo>
                <a:close/>
                <a:moveTo>
                  <a:pt x="63159" y="65498"/>
                </a:moveTo>
                <a:lnTo>
                  <a:pt x="77194" y="65498"/>
                </a:lnTo>
                <a:cubicBezTo>
                  <a:pt x="81083" y="65498"/>
                  <a:pt x="84212" y="68627"/>
                  <a:pt x="84212" y="72516"/>
                </a:cubicBezTo>
                <a:lnTo>
                  <a:pt x="84212" y="98247"/>
                </a:lnTo>
                <a:lnTo>
                  <a:pt x="86551" y="98247"/>
                </a:lnTo>
                <a:cubicBezTo>
                  <a:pt x="90440" y="98247"/>
                  <a:pt x="93569" y="101376"/>
                  <a:pt x="93569" y="105265"/>
                </a:cubicBezTo>
                <a:cubicBezTo>
                  <a:pt x="93569" y="109154"/>
                  <a:pt x="90440" y="112282"/>
                  <a:pt x="86551" y="112282"/>
                </a:cubicBezTo>
                <a:lnTo>
                  <a:pt x="63159" y="112282"/>
                </a:lnTo>
                <a:cubicBezTo>
                  <a:pt x="59270" y="112282"/>
                  <a:pt x="56141" y="109154"/>
                  <a:pt x="56141" y="105265"/>
                </a:cubicBezTo>
                <a:cubicBezTo>
                  <a:pt x="56141" y="101376"/>
                  <a:pt x="59270" y="98247"/>
                  <a:pt x="63159" y="98247"/>
                </a:cubicBezTo>
                <a:lnTo>
                  <a:pt x="70177" y="98247"/>
                </a:lnTo>
                <a:lnTo>
                  <a:pt x="70177" y="79533"/>
                </a:lnTo>
                <a:lnTo>
                  <a:pt x="63159" y="79533"/>
                </a:lnTo>
                <a:cubicBezTo>
                  <a:pt x="59270" y="79533"/>
                  <a:pt x="56141" y="76405"/>
                  <a:pt x="56141" y="72516"/>
                </a:cubicBezTo>
                <a:cubicBezTo>
                  <a:pt x="56141" y="68627"/>
                  <a:pt x="59270" y="65498"/>
                  <a:pt x="63159" y="6549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25339" y="4379015"/>
            <a:ext cx="2967118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Frequência:</a:t>
            </a: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Mensal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1412" y="4800074"/>
            <a:ext cx="3377830" cy="449130"/>
          </a:xfrm>
          <a:custGeom>
            <a:avLst/>
            <a:gdLst/>
            <a:ahLst/>
            <a:cxnLst/>
            <a:rect l="l" t="t" r="r" b="b"/>
            <a:pathLst>
              <a:path w="3377830" h="449130">
                <a:moveTo>
                  <a:pt x="74856" y="0"/>
                </a:moveTo>
                <a:lnTo>
                  <a:pt x="3302973" y="0"/>
                </a:lnTo>
                <a:cubicBezTo>
                  <a:pt x="3344315" y="0"/>
                  <a:pt x="3377830" y="33514"/>
                  <a:pt x="3377830" y="74856"/>
                </a:cubicBezTo>
                <a:lnTo>
                  <a:pt x="3377830" y="374273"/>
                </a:lnTo>
                <a:cubicBezTo>
                  <a:pt x="3377830" y="415615"/>
                  <a:pt x="3344315" y="449130"/>
                  <a:pt x="3302973" y="449130"/>
                </a:cubicBezTo>
                <a:lnTo>
                  <a:pt x="74856" y="449130"/>
                </a:lnTo>
                <a:cubicBezTo>
                  <a:pt x="33514" y="449130"/>
                  <a:pt x="0" y="415615"/>
                  <a:pt x="0" y="374273"/>
                </a:cubicBezTo>
                <a:lnTo>
                  <a:pt x="0" y="74856"/>
                </a:lnTo>
                <a:cubicBezTo>
                  <a:pt x="0" y="33542"/>
                  <a:pt x="33542" y="0"/>
                  <a:pt x="7485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01765" y="4949784"/>
            <a:ext cx="130996" cy="149710"/>
          </a:xfrm>
          <a:custGeom>
            <a:avLst/>
            <a:gdLst/>
            <a:ahLst/>
            <a:cxnLst/>
            <a:rect l="l" t="t" r="r" b="b"/>
            <a:pathLst>
              <a:path w="130996" h="149710">
                <a:moveTo>
                  <a:pt x="65498" y="72516"/>
                </a:moveTo>
                <a:cubicBezTo>
                  <a:pt x="84864" y="72516"/>
                  <a:pt x="100586" y="56793"/>
                  <a:pt x="100586" y="37427"/>
                </a:cubicBezTo>
                <a:cubicBezTo>
                  <a:pt x="100586" y="18062"/>
                  <a:pt x="84864" y="2339"/>
                  <a:pt x="65498" y="2339"/>
                </a:cubicBezTo>
                <a:cubicBezTo>
                  <a:pt x="46132" y="2339"/>
                  <a:pt x="30410" y="18062"/>
                  <a:pt x="30410" y="37427"/>
                </a:cubicBezTo>
                <a:cubicBezTo>
                  <a:pt x="30410" y="56793"/>
                  <a:pt x="46132" y="72516"/>
                  <a:pt x="65498" y="72516"/>
                </a:cubicBezTo>
                <a:close/>
                <a:moveTo>
                  <a:pt x="56814" y="88890"/>
                </a:moveTo>
                <a:cubicBezTo>
                  <a:pt x="28012" y="88890"/>
                  <a:pt x="4678" y="112224"/>
                  <a:pt x="4678" y="141026"/>
                </a:cubicBezTo>
                <a:cubicBezTo>
                  <a:pt x="4678" y="145821"/>
                  <a:pt x="8567" y="149710"/>
                  <a:pt x="13363" y="149710"/>
                </a:cubicBezTo>
                <a:lnTo>
                  <a:pt x="117633" y="149710"/>
                </a:lnTo>
                <a:cubicBezTo>
                  <a:pt x="122429" y="149710"/>
                  <a:pt x="126318" y="145821"/>
                  <a:pt x="126318" y="141026"/>
                </a:cubicBezTo>
                <a:cubicBezTo>
                  <a:pt x="126318" y="112224"/>
                  <a:pt x="102984" y="88890"/>
                  <a:pt x="74182" y="88890"/>
                </a:cubicBezTo>
                <a:lnTo>
                  <a:pt x="56814" y="8889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15982" y="4912356"/>
            <a:ext cx="2985832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Faturado:</a:t>
            </a: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Emissor e Credenciador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6091" y="5328737"/>
            <a:ext cx="3368473" cy="683051"/>
          </a:xfrm>
          <a:custGeom>
            <a:avLst/>
            <a:gdLst/>
            <a:ahLst/>
            <a:cxnLst/>
            <a:rect l="l" t="t" r="r" b="b"/>
            <a:pathLst>
              <a:path w="3368473" h="683051">
                <a:moveTo>
                  <a:pt x="74856" y="0"/>
                </a:moveTo>
                <a:lnTo>
                  <a:pt x="3293617" y="0"/>
                </a:lnTo>
                <a:cubicBezTo>
                  <a:pt x="3334959" y="0"/>
                  <a:pt x="3368473" y="33514"/>
                  <a:pt x="3368473" y="74856"/>
                </a:cubicBezTo>
                <a:lnTo>
                  <a:pt x="3368473" y="608196"/>
                </a:lnTo>
                <a:cubicBezTo>
                  <a:pt x="3368473" y="649537"/>
                  <a:pt x="3334959" y="683051"/>
                  <a:pt x="3293617" y="683051"/>
                </a:cubicBezTo>
                <a:lnTo>
                  <a:pt x="74856" y="683051"/>
                </a:lnTo>
                <a:cubicBezTo>
                  <a:pt x="33514" y="683051"/>
                  <a:pt x="0" y="649537"/>
                  <a:pt x="0" y="608196"/>
                </a:cubicBezTo>
                <a:lnTo>
                  <a:pt x="0" y="74856"/>
                </a:lnTo>
                <a:cubicBezTo>
                  <a:pt x="0" y="33514"/>
                  <a:pt x="33514" y="0"/>
                  <a:pt x="74856" y="0"/>
                </a:cubicBezTo>
                <a:close/>
              </a:path>
            </a:pathLst>
          </a:custGeom>
          <a:solidFill>
            <a:srgbClr val="F0B100">
              <a:alpha val="10196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01765" y="5483125"/>
            <a:ext cx="149710" cy="149710"/>
          </a:xfrm>
          <a:custGeom>
            <a:avLst/>
            <a:gdLst/>
            <a:ahLst/>
            <a:cxnLst/>
            <a:rect l="l" t="t" r="r" b="b"/>
            <a:pathLst>
              <a:path w="149710" h="149710">
                <a:moveTo>
                  <a:pt x="74855" y="0"/>
                </a:moveTo>
                <a:cubicBezTo>
                  <a:pt x="79153" y="0"/>
                  <a:pt x="83101" y="2368"/>
                  <a:pt x="85148" y="6140"/>
                </a:cubicBezTo>
                <a:lnTo>
                  <a:pt x="148306" y="123101"/>
                </a:lnTo>
                <a:cubicBezTo>
                  <a:pt x="150265" y="126727"/>
                  <a:pt x="150178" y="131113"/>
                  <a:pt x="148072" y="134651"/>
                </a:cubicBezTo>
                <a:cubicBezTo>
                  <a:pt x="145967" y="138189"/>
                  <a:pt x="142137" y="140353"/>
                  <a:pt x="138014" y="140353"/>
                </a:cubicBezTo>
                <a:lnTo>
                  <a:pt x="11696" y="140353"/>
                </a:lnTo>
                <a:cubicBezTo>
                  <a:pt x="7573" y="140353"/>
                  <a:pt x="3772" y="138189"/>
                  <a:pt x="1637" y="134651"/>
                </a:cubicBezTo>
                <a:cubicBezTo>
                  <a:pt x="-497" y="131113"/>
                  <a:pt x="-556" y="126727"/>
                  <a:pt x="1404" y="123101"/>
                </a:cubicBezTo>
                <a:lnTo>
                  <a:pt x="64562" y="6140"/>
                </a:lnTo>
                <a:cubicBezTo>
                  <a:pt x="66609" y="2368"/>
                  <a:pt x="70557" y="0"/>
                  <a:pt x="74855" y="0"/>
                </a:cubicBezTo>
                <a:close/>
                <a:moveTo>
                  <a:pt x="74855" y="49124"/>
                </a:moveTo>
                <a:cubicBezTo>
                  <a:pt x="70966" y="49124"/>
                  <a:pt x="67837" y="52252"/>
                  <a:pt x="67837" y="56141"/>
                </a:cubicBezTo>
                <a:lnTo>
                  <a:pt x="67837" y="88890"/>
                </a:lnTo>
                <a:cubicBezTo>
                  <a:pt x="67837" y="92779"/>
                  <a:pt x="70966" y="95908"/>
                  <a:pt x="74855" y="95908"/>
                </a:cubicBezTo>
                <a:cubicBezTo>
                  <a:pt x="78744" y="95908"/>
                  <a:pt x="81873" y="92779"/>
                  <a:pt x="81873" y="88890"/>
                </a:cubicBezTo>
                <a:lnTo>
                  <a:pt x="81873" y="56141"/>
                </a:lnTo>
                <a:cubicBezTo>
                  <a:pt x="81873" y="52252"/>
                  <a:pt x="78744" y="49124"/>
                  <a:pt x="74855" y="49124"/>
                </a:cubicBezTo>
                <a:close/>
                <a:moveTo>
                  <a:pt x="82662" y="112282"/>
                </a:moveTo>
                <a:cubicBezTo>
                  <a:pt x="82840" y="109385"/>
                  <a:pt x="81395" y="106627"/>
                  <a:pt x="78910" y="105125"/>
                </a:cubicBezTo>
                <a:cubicBezTo>
                  <a:pt x="76426" y="103622"/>
                  <a:pt x="73313" y="103622"/>
                  <a:pt x="70829" y="105125"/>
                </a:cubicBezTo>
                <a:cubicBezTo>
                  <a:pt x="68345" y="106627"/>
                  <a:pt x="66899" y="109385"/>
                  <a:pt x="67077" y="112282"/>
                </a:cubicBezTo>
                <a:cubicBezTo>
                  <a:pt x="66899" y="115180"/>
                  <a:pt x="68345" y="117937"/>
                  <a:pt x="70829" y="119440"/>
                </a:cubicBezTo>
                <a:cubicBezTo>
                  <a:pt x="73313" y="120943"/>
                  <a:pt x="76426" y="120943"/>
                  <a:pt x="78910" y="119440"/>
                </a:cubicBezTo>
                <a:cubicBezTo>
                  <a:pt x="81395" y="117937"/>
                  <a:pt x="82840" y="115180"/>
                  <a:pt x="82662" y="112282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925339" y="5445698"/>
            <a:ext cx="2967118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Advertência:</a:t>
            </a: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Feita apenas uma vez, a partir da 2ª incide a penalidade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7668" y="1197679"/>
            <a:ext cx="3695963" cy="4968497"/>
          </a:xfrm>
          <a:custGeom>
            <a:avLst/>
            <a:gdLst/>
            <a:ahLst/>
            <a:cxnLst/>
            <a:rect l="l" t="t" r="r" b="b"/>
            <a:pathLst>
              <a:path w="3695963" h="4968497">
                <a:moveTo>
                  <a:pt x="37427" y="0"/>
                </a:moveTo>
                <a:lnTo>
                  <a:pt x="3621120" y="0"/>
                </a:lnTo>
                <a:cubicBezTo>
                  <a:pt x="3662455" y="0"/>
                  <a:pt x="3695963" y="33508"/>
                  <a:pt x="3695963" y="74843"/>
                </a:cubicBezTo>
                <a:lnTo>
                  <a:pt x="3695963" y="4893654"/>
                </a:lnTo>
                <a:cubicBezTo>
                  <a:pt x="3695963" y="4934989"/>
                  <a:pt x="3662455" y="4968497"/>
                  <a:pt x="3621120" y="4968497"/>
                </a:cubicBezTo>
                <a:lnTo>
                  <a:pt x="37427" y="4968497"/>
                </a:lnTo>
                <a:cubicBezTo>
                  <a:pt x="16757" y="4968497"/>
                  <a:pt x="0" y="4951740"/>
                  <a:pt x="0" y="4931070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257668" y="1197679"/>
            <a:ext cx="37427" cy="4968497"/>
          </a:xfrm>
          <a:custGeom>
            <a:avLst/>
            <a:gdLst/>
            <a:ahLst/>
            <a:cxnLst/>
            <a:rect l="l" t="t" r="r" b="b"/>
            <a:pathLst>
              <a:path w="37427" h="4968497">
                <a:moveTo>
                  <a:pt x="37427" y="0"/>
                </a:moveTo>
                <a:lnTo>
                  <a:pt x="37427" y="0"/>
                </a:lnTo>
                <a:lnTo>
                  <a:pt x="37427" y="4968497"/>
                </a:lnTo>
                <a:lnTo>
                  <a:pt x="37427" y="4968497"/>
                </a:lnTo>
                <a:cubicBezTo>
                  <a:pt x="16757" y="4968497"/>
                  <a:pt x="0" y="4951740"/>
                  <a:pt x="0" y="4931070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4426091" y="1347389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557087" y="1478385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0" y="93569"/>
                </a:moveTo>
                <a:cubicBezTo>
                  <a:pt x="0" y="41927"/>
                  <a:pt x="41927" y="0"/>
                  <a:pt x="93569" y="0"/>
                </a:cubicBezTo>
                <a:cubicBezTo>
                  <a:pt x="145211" y="0"/>
                  <a:pt x="187137" y="41927"/>
                  <a:pt x="187137" y="93569"/>
                </a:cubicBezTo>
                <a:cubicBezTo>
                  <a:pt x="187137" y="145211"/>
                  <a:pt x="145211" y="187137"/>
                  <a:pt x="93569" y="187137"/>
                </a:cubicBezTo>
                <a:cubicBezTo>
                  <a:pt x="41927" y="187137"/>
                  <a:pt x="0" y="145211"/>
                  <a:pt x="0" y="93569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987503" y="1422244"/>
            <a:ext cx="1253820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Mastercard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26091" y="1908801"/>
            <a:ext cx="3377830" cy="2049154"/>
          </a:xfrm>
          <a:custGeom>
            <a:avLst/>
            <a:gdLst/>
            <a:ahLst/>
            <a:cxnLst/>
            <a:rect l="l" t="t" r="r" b="b"/>
            <a:pathLst>
              <a:path w="3377830" h="2049154">
                <a:moveTo>
                  <a:pt x="74856" y="0"/>
                </a:moveTo>
                <a:lnTo>
                  <a:pt x="3302974" y="0"/>
                </a:lnTo>
                <a:cubicBezTo>
                  <a:pt x="3344316" y="0"/>
                  <a:pt x="3377830" y="33514"/>
                  <a:pt x="3377830" y="74856"/>
                </a:cubicBezTo>
                <a:lnTo>
                  <a:pt x="3377830" y="1974299"/>
                </a:lnTo>
                <a:cubicBezTo>
                  <a:pt x="3377830" y="2015640"/>
                  <a:pt x="3344316" y="2049154"/>
                  <a:pt x="3302974" y="2049154"/>
                </a:cubicBezTo>
                <a:lnTo>
                  <a:pt x="74856" y="2049154"/>
                </a:lnTo>
                <a:cubicBezTo>
                  <a:pt x="33514" y="2049154"/>
                  <a:pt x="0" y="2015640"/>
                  <a:pt x="0" y="1974299"/>
                </a:cubicBezTo>
                <a:lnTo>
                  <a:pt x="0" y="74856"/>
                </a:lnTo>
                <a:cubicBezTo>
                  <a:pt x="0" y="33542"/>
                  <a:pt x="33542" y="0"/>
                  <a:pt x="7485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538374" y="2021084"/>
            <a:ext cx="3237477" cy="26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Estrutura de Multas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38374" y="2357931"/>
            <a:ext cx="3228120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Penalidades por categoria: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38374" y="2924021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EB001B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538374" y="2694778"/>
            <a:ext cx="1356746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Recuperável - Excesso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20580" y="2694778"/>
            <a:ext cx="439773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X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38374" y="3232798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EB001B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4538374" y="3003555"/>
            <a:ext cx="1403530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Irrecuperável - Excesso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31107" y="3003555"/>
            <a:ext cx="430416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38374" y="3541575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EB001B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4538374" y="3312332"/>
            <a:ext cx="1740378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Temp. Recuperável - Excesso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32715" y="3312332"/>
            <a:ext cx="421059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Z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38374" y="3621108"/>
            <a:ext cx="1543883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Não-reclamada - Excesso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63562" y="3621108"/>
            <a:ext cx="495914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W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30770" y="4037489"/>
            <a:ext cx="3368473" cy="683051"/>
          </a:xfrm>
          <a:custGeom>
            <a:avLst/>
            <a:gdLst/>
            <a:ahLst/>
            <a:cxnLst/>
            <a:rect l="l" t="t" r="r" b="b"/>
            <a:pathLst>
              <a:path w="3368473" h="683051">
                <a:moveTo>
                  <a:pt x="74856" y="0"/>
                </a:moveTo>
                <a:lnTo>
                  <a:pt x="3293617" y="0"/>
                </a:lnTo>
                <a:cubicBezTo>
                  <a:pt x="3334959" y="0"/>
                  <a:pt x="3368473" y="33514"/>
                  <a:pt x="3368473" y="74856"/>
                </a:cubicBezTo>
                <a:lnTo>
                  <a:pt x="3368473" y="608196"/>
                </a:lnTo>
                <a:cubicBezTo>
                  <a:pt x="3368473" y="649537"/>
                  <a:pt x="3334959" y="683051"/>
                  <a:pt x="3293617" y="683051"/>
                </a:cubicBezTo>
                <a:lnTo>
                  <a:pt x="74856" y="683051"/>
                </a:lnTo>
                <a:cubicBezTo>
                  <a:pt x="33514" y="683051"/>
                  <a:pt x="0" y="649537"/>
                  <a:pt x="0" y="608196"/>
                </a:cubicBezTo>
                <a:lnTo>
                  <a:pt x="0" y="74856"/>
                </a:lnTo>
                <a:cubicBezTo>
                  <a:pt x="0" y="33514"/>
                  <a:pt x="33514" y="0"/>
                  <a:pt x="7485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4566444" y="4191877"/>
            <a:ext cx="149710" cy="149710"/>
          </a:xfrm>
          <a:custGeom>
            <a:avLst/>
            <a:gdLst/>
            <a:ahLst/>
            <a:cxnLst/>
            <a:rect l="l" t="t" r="r" b="b"/>
            <a:pathLst>
              <a:path w="149710" h="149710">
                <a:moveTo>
                  <a:pt x="74855" y="149710"/>
                </a:moveTo>
                <a:cubicBezTo>
                  <a:pt x="116169" y="149710"/>
                  <a:pt x="149710" y="116169"/>
                  <a:pt x="149710" y="74855"/>
                </a:cubicBezTo>
                <a:cubicBezTo>
                  <a:pt x="149710" y="33541"/>
                  <a:pt x="116169" y="0"/>
                  <a:pt x="74855" y="0"/>
                </a:cubicBezTo>
                <a:cubicBezTo>
                  <a:pt x="33541" y="0"/>
                  <a:pt x="0" y="33541"/>
                  <a:pt x="0" y="74855"/>
                </a:cubicBezTo>
                <a:cubicBezTo>
                  <a:pt x="0" y="116169"/>
                  <a:pt x="33541" y="149710"/>
                  <a:pt x="74855" y="149710"/>
                </a:cubicBezTo>
                <a:close/>
                <a:moveTo>
                  <a:pt x="65498" y="46784"/>
                </a:moveTo>
                <a:cubicBezTo>
                  <a:pt x="65498" y="41620"/>
                  <a:pt x="69691" y="37427"/>
                  <a:pt x="74855" y="37427"/>
                </a:cubicBezTo>
                <a:cubicBezTo>
                  <a:pt x="80019" y="37427"/>
                  <a:pt x="84212" y="41620"/>
                  <a:pt x="84212" y="46784"/>
                </a:cubicBezTo>
                <a:cubicBezTo>
                  <a:pt x="84212" y="51949"/>
                  <a:pt x="80019" y="56141"/>
                  <a:pt x="74855" y="56141"/>
                </a:cubicBezTo>
                <a:cubicBezTo>
                  <a:pt x="69691" y="56141"/>
                  <a:pt x="65498" y="51949"/>
                  <a:pt x="65498" y="46784"/>
                </a:cubicBezTo>
                <a:close/>
                <a:moveTo>
                  <a:pt x="63159" y="65498"/>
                </a:moveTo>
                <a:lnTo>
                  <a:pt x="77194" y="65498"/>
                </a:lnTo>
                <a:cubicBezTo>
                  <a:pt x="81083" y="65498"/>
                  <a:pt x="84212" y="68627"/>
                  <a:pt x="84212" y="72516"/>
                </a:cubicBezTo>
                <a:lnTo>
                  <a:pt x="84212" y="98247"/>
                </a:lnTo>
                <a:lnTo>
                  <a:pt x="86551" y="98247"/>
                </a:lnTo>
                <a:cubicBezTo>
                  <a:pt x="90440" y="98247"/>
                  <a:pt x="93569" y="101376"/>
                  <a:pt x="93569" y="105265"/>
                </a:cubicBezTo>
                <a:cubicBezTo>
                  <a:pt x="93569" y="109154"/>
                  <a:pt x="90440" y="112282"/>
                  <a:pt x="86551" y="112282"/>
                </a:cubicBezTo>
                <a:lnTo>
                  <a:pt x="63159" y="112282"/>
                </a:lnTo>
                <a:cubicBezTo>
                  <a:pt x="59270" y="112282"/>
                  <a:pt x="56141" y="109154"/>
                  <a:pt x="56141" y="105265"/>
                </a:cubicBezTo>
                <a:cubicBezTo>
                  <a:pt x="56141" y="101376"/>
                  <a:pt x="59270" y="98247"/>
                  <a:pt x="63159" y="98247"/>
                </a:cubicBezTo>
                <a:lnTo>
                  <a:pt x="70177" y="98247"/>
                </a:lnTo>
                <a:lnTo>
                  <a:pt x="70177" y="79533"/>
                </a:lnTo>
                <a:lnTo>
                  <a:pt x="63159" y="79533"/>
                </a:lnTo>
                <a:cubicBezTo>
                  <a:pt x="59270" y="79533"/>
                  <a:pt x="56141" y="76405"/>
                  <a:pt x="56141" y="72516"/>
                </a:cubicBezTo>
                <a:cubicBezTo>
                  <a:pt x="56141" y="68627"/>
                  <a:pt x="59270" y="65498"/>
                  <a:pt x="63159" y="6549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790018" y="4154450"/>
            <a:ext cx="2967118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MAC:</a:t>
            </a: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Merchant Advice Code associado aos códigos de negada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26091" y="4800074"/>
            <a:ext cx="3377830" cy="449130"/>
          </a:xfrm>
          <a:custGeom>
            <a:avLst/>
            <a:gdLst/>
            <a:ahLst/>
            <a:cxnLst/>
            <a:rect l="l" t="t" r="r" b="b"/>
            <a:pathLst>
              <a:path w="3377830" h="449130">
                <a:moveTo>
                  <a:pt x="74856" y="0"/>
                </a:moveTo>
                <a:lnTo>
                  <a:pt x="3302973" y="0"/>
                </a:lnTo>
                <a:cubicBezTo>
                  <a:pt x="3344315" y="0"/>
                  <a:pt x="3377830" y="33514"/>
                  <a:pt x="3377830" y="74856"/>
                </a:cubicBezTo>
                <a:lnTo>
                  <a:pt x="3377830" y="374273"/>
                </a:lnTo>
                <a:cubicBezTo>
                  <a:pt x="3377830" y="415615"/>
                  <a:pt x="3344315" y="449130"/>
                  <a:pt x="3302973" y="449130"/>
                </a:cubicBezTo>
                <a:lnTo>
                  <a:pt x="74856" y="449130"/>
                </a:lnTo>
                <a:cubicBezTo>
                  <a:pt x="33514" y="449130"/>
                  <a:pt x="0" y="415615"/>
                  <a:pt x="0" y="374273"/>
                </a:cubicBezTo>
                <a:lnTo>
                  <a:pt x="0" y="74856"/>
                </a:lnTo>
                <a:cubicBezTo>
                  <a:pt x="0" y="33542"/>
                  <a:pt x="33542" y="0"/>
                  <a:pt x="7485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4566444" y="4949784"/>
            <a:ext cx="130996" cy="149710"/>
          </a:xfrm>
          <a:custGeom>
            <a:avLst/>
            <a:gdLst/>
            <a:ahLst/>
            <a:cxnLst/>
            <a:rect l="l" t="t" r="r" b="b"/>
            <a:pathLst>
              <a:path w="130996" h="149710">
                <a:moveTo>
                  <a:pt x="37427" y="0"/>
                </a:moveTo>
                <a:cubicBezTo>
                  <a:pt x="32252" y="0"/>
                  <a:pt x="28071" y="4181"/>
                  <a:pt x="28071" y="9357"/>
                </a:cubicBezTo>
                <a:lnTo>
                  <a:pt x="28071" y="18714"/>
                </a:lnTo>
                <a:lnTo>
                  <a:pt x="18714" y="18714"/>
                </a:lnTo>
                <a:cubicBezTo>
                  <a:pt x="8392" y="18714"/>
                  <a:pt x="0" y="27106"/>
                  <a:pt x="0" y="37427"/>
                </a:cubicBezTo>
                <a:lnTo>
                  <a:pt x="0" y="51463"/>
                </a:lnTo>
                <a:lnTo>
                  <a:pt x="130996" y="51463"/>
                </a:lnTo>
                <a:lnTo>
                  <a:pt x="130996" y="37427"/>
                </a:lnTo>
                <a:cubicBezTo>
                  <a:pt x="130996" y="27106"/>
                  <a:pt x="122604" y="18714"/>
                  <a:pt x="112282" y="18714"/>
                </a:cubicBezTo>
                <a:lnTo>
                  <a:pt x="102926" y="18714"/>
                </a:lnTo>
                <a:lnTo>
                  <a:pt x="102926" y="9357"/>
                </a:lnTo>
                <a:cubicBezTo>
                  <a:pt x="102926" y="4181"/>
                  <a:pt x="98744" y="0"/>
                  <a:pt x="93569" y="0"/>
                </a:cubicBezTo>
                <a:cubicBezTo>
                  <a:pt x="88393" y="0"/>
                  <a:pt x="84212" y="4181"/>
                  <a:pt x="84212" y="9357"/>
                </a:cubicBezTo>
                <a:lnTo>
                  <a:pt x="84212" y="18714"/>
                </a:lnTo>
                <a:lnTo>
                  <a:pt x="46784" y="18714"/>
                </a:lnTo>
                <a:lnTo>
                  <a:pt x="46784" y="9357"/>
                </a:lnTo>
                <a:cubicBezTo>
                  <a:pt x="46784" y="4181"/>
                  <a:pt x="42603" y="0"/>
                  <a:pt x="37427" y="0"/>
                </a:cubicBezTo>
                <a:close/>
                <a:moveTo>
                  <a:pt x="0" y="65498"/>
                </a:moveTo>
                <a:lnTo>
                  <a:pt x="0" y="121639"/>
                </a:lnTo>
                <a:cubicBezTo>
                  <a:pt x="0" y="131961"/>
                  <a:pt x="8392" y="140353"/>
                  <a:pt x="18714" y="140353"/>
                </a:cubicBezTo>
                <a:lnTo>
                  <a:pt x="112282" y="140353"/>
                </a:lnTo>
                <a:cubicBezTo>
                  <a:pt x="122604" y="140353"/>
                  <a:pt x="130996" y="131961"/>
                  <a:pt x="130996" y="121639"/>
                </a:cubicBezTo>
                <a:lnTo>
                  <a:pt x="130996" y="65498"/>
                </a:lnTo>
                <a:lnTo>
                  <a:pt x="0" y="65498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4780661" y="4912356"/>
            <a:ext cx="2985832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Frequência:</a:t>
            </a: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Mensal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22347" y="1197679"/>
            <a:ext cx="3695963" cy="4968497"/>
          </a:xfrm>
          <a:custGeom>
            <a:avLst/>
            <a:gdLst/>
            <a:ahLst/>
            <a:cxnLst/>
            <a:rect l="l" t="t" r="r" b="b"/>
            <a:pathLst>
              <a:path w="3695963" h="4968497">
                <a:moveTo>
                  <a:pt x="37427" y="0"/>
                </a:moveTo>
                <a:lnTo>
                  <a:pt x="3621120" y="0"/>
                </a:lnTo>
                <a:cubicBezTo>
                  <a:pt x="3662455" y="0"/>
                  <a:pt x="3695963" y="33508"/>
                  <a:pt x="3695963" y="74843"/>
                </a:cubicBezTo>
                <a:lnTo>
                  <a:pt x="3695963" y="4893654"/>
                </a:lnTo>
                <a:cubicBezTo>
                  <a:pt x="3695963" y="4934989"/>
                  <a:pt x="3662455" y="4968497"/>
                  <a:pt x="3621120" y="4968497"/>
                </a:cubicBezTo>
                <a:lnTo>
                  <a:pt x="37427" y="4968497"/>
                </a:lnTo>
                <a:cubicBezTo>
                  <a:pt x="16757" y="4968497"/>
                  <a:pt x="0" y="4951740"/>
                  <a:pt x="0" y="4931070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1A365D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8122347" y="1197679"/>
            <a:ext cx="37427" cy="4968497"/>
          </a:xfrm>
          <a:custGeom>
            <a:avLst/>
            <a:gdLst/>
            <a:ahLst/>
            <a:cxnLst/>
            <a:rect l="l" t="t" r="r" b="b"/>
            <a:pathLst>
              <a:path w="37427" h="4968497">
                <a:moveTo>
                  <a:pt x="37427" y="0"/>
                </a:moveTo>
                <a:lnTo>
                  <a:pt x="37427" y="0"/>
                </a:lnTo>
                <a:lnTo>
                  <a:pt x="37427" y="4968497"/>
                </a:lnTo>
                <a:lnTo>
                  <a:pt x="37427" y="4968497"/>
                </a:lnTo>
                <a:cubicBezTo>
                  <a:pt x="16757" y="4968497"/>
                  <a:pt x="0" y="4951740"/>
                  <a:pt x="0" y="4931070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8290771" y="1347389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8421767" y="1478385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0" y="46784"/>
                </a:moveTo>
                <a:lnTo>
                  <a:pt x="0" y="58480"/>
                </a:lnTo>
                <a:lnTo>
                  <a:pt x="187137" y="58480"/>
                </a:lnTo>
                <a:lnTo>
                  <a:pt x="187137" y="46784"/>
                </a:lnTo>
                <a:cubicBezTo>
                  <a:pt x="187137" y="33882"/>
                  <a:pt x="176647" y="23392"/>
                  <a:pt x="163745" y="23392"/>
                </a:cubicBezTo>
                <a:lnTo>
                  <a:pt x="23392" y="23392"/>
                </a:lnTo>
                <a:cubicBezTo>
                  <a:pt x="10490" y="23392"/>
                  <a:pt x="0" y="33882"/>
                  <a:pt x="0" y="46784"/>
                </a:cubicBezTo>
                <a:close/>
                <a:moveTo>
                  <a:pt x="0" y="76025"/>
                </a:moveTo>
                <a:lnTo>
                  <a:pt x="0" y="140353"/>
                </a:lnTo>
                <a:cubicBezTo>
                  <a:pt x="0" y="153255"/>
                  <a:pt x="10490" y="163745"/>
                  <a:pt x="23392" y="163745"/>
                </a:cubicBezTo>
                <a:lnTo>
                  <a:pt x="163745" y="163745"/>
                </a:lnTo>
                <a:cubicBezTo>
                  <a:pt x="176647" y="163745"/>
                  <a:pt x="187137" y="153255"/>
                  <a:pt x="187137" y="140353"/>
                </a:cubicBezTo>
                <a:lnTo>
                  <a:pt x="187137" y="76025"/>
                </a:lnTo>
                <a:lnTo>
                  <a:pt x="0" y="76025"/>
                </a:lnTo>
                <a:close/>
                <a:moveTo>
                  <a:pt x="23392" y="131581"/>
                </a:moveTo>
                <a:cubicBezTo>
                  <a:pt x="23392" y="126720"/>
                  <a:pt x="27303" y="122809"/>
                  <a:pt x="32164" y="122809"/>
                </a:cubicBezTo>
                <a:lnTo>
                  <a:pt x="49708" y="122809"/>
                </a:lnTo>
                <a:cubicBezTo>
                  <a:pt x="54570" y="122809"/>
                  <a:pt x="58480" y="126720"/>
                  <a:pt x="58480" y="131581"/>
                </a:cubicBezTo>
                <a:cubicBezTo>
                  <a:pt x="58480" y="136442"/>
                  <a:pt x="54570" y="140353"/>
                  <a:pt x="49708" y="140353"/>
                </a:cubicBezTo>
                <a:lnTo>
                  <a:pt x="32164" y="140353"/>
                </a:lnTo>
                <a:cubicBezTo>
                  <a:pt x="27303" y="140353"/>
                  <a:pt x="23392" y="136442"/>
                  <a:pt x="23392" y="131581"/>
                </a:cubicBezTo>
                <a:close/>
                <a:moveTo>
                  <a:pt x="76025" y="131581"/>
                </a:moveTo>
                <a:cubicBezTo>
                  <a:pt x="76025" y="126720"/>
                  <a:pt x="79935" y="122809"/>
                  <a:pt x="84797" y="122809"/>
                </a:cubicBezTo>
                <a:lnTo>
                  <a:pt x="108189" y="122809"/>
                </a:lnTo>
                <a:cubicBezTo>
                  <a:pt x="113050" y="122809"/>
                  <a:pt x="116961" y="126720"/>
                  <a:pt x="116961" y="131581"/>
                </a:cubicBezTo>
                <a:cubicBezTo>
                  <a:pt x="116961" y="136442"/>
                  <a:pt x="113050" y="140353"/>
                  <a:pt x="108189" y="140353"/>
                </a:cubicBezTo>
                <a:lnTo>
                  <a:pt x="84797" y="140353"/>
                </a:lnTo>
                <a:cubicBezTo>
                  <a:pt x="79935" y="140353"/>
                  <a:pt x="76025" y="136442"/>
                  <a:pt x="76025" y="131581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8852183" y="1422244"/>
            <a:ext cx="542698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90771" y="1908801"/>
            <a:ext cx="3377830" cy="2049154"/>
          </a:xfrm>
          <a:custGeom>
            <a:avLst/>
            <a:gdLst/>
            <a:ahLst/>
            <a:cxnLst/>
            <a:rect l="l" t="t" r="r" b="b"/>
            <a:pathLst>
              <a:path w="3377830" h="2049154">
                <a:moveTo>
                  <a:pt x="74856" y="0"/>
                </a:moveTo>
                <a:lnTo>
                  <a:pt x="3302974" y="0"/>
                </a:lnTo>
                <a:cubicBezTo>
                  <a:pt x="3344316" y="0"/>
                  <a:pt x="3377830" y="33514"/>
                  <a:pt x="3377830" y="74856"/>
                </a:cubicBezTo>
                <a:lnTo>
                  <a:pt x="3377830" y="1974299"/>
                </a:lnTo>
                <a:cubicBezTo>
                  <a:pt x="3377830" y="2015640"/>
                  <a:pt x="3344316" y="2049154"/>
                  <a:pt x="3302974" y="2049154"/>
                </a:cubicBezTo>
                <a:lnTo>
                  <a:pt x="74856" y="2049154"/>
                </a:lnTo>
                <a:cubicBezTo>
                  <a:pt x="33514" y="2049154"/>
                  <a:pt x="0" y="2015640"/>
                  <a:pt x="0" y="1974299"/>
                </a:cubicBezTo>
                <a:lnTo>
                  <a:pt x="0" y="74856"/>
                </a:lnTo>
                <a:cubicBezTo>
                  <a:pt x="0" y="33542"/>
                  <a:pt x="33542" y="0"/>
                  <a:pt x="7485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8403053" y="2021084"/>
            <a:ext cx="3237477" cy="26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Estrutura de Multas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403053" y="2357931"/>
            <a:ext cx="3228120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Penalidades por categoria: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03053" y="2924021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1A365D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8403053" y="2694778"/>
            <a:ext cx="1263177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Categoria 1 - Excesso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185990" y="2694778"/>
            <a:ext cx="439773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A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03053" y="3232798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1A365D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8403053" y="3003555"/>
            <a:ext cx="1291248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Categoria 2 - Excesso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196809" y="3003555"/>
            <a:ext cx="421059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B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403053" y="3541575"/>
            <a:ext cx="3153265" cy="9357"/>
          </a:xfrm>
          <a:custGeom>
            <a:avLst/>
            <a:gdLst/>
            <a:ahLst/>
            <a:cxnLst/>
            <a:rect l="l" t="t" r="r" b="b"/>
            <a:pathLst>
              <a:path w="3153265" h="9357">
                <a:moveTo>
                  <a:pt x="0" y="0"/>
                </a:moveTo>
                <a:lnTo>
                  <a:pt x="3153265" y="0"/>
                </a:lnTo>
                <a:lnTo>
                  <a:pt x="3153265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1A365D">
              <a:alpha val="3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8403053" y="3312332"/>
            <a:ext cx="1291248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Categoria 3 - Excesso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185990" y="3312332"/>
            <a:ext cx="439773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C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403053" y="3621108"/>
            <a:ext cx="1291248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Categoria 4 - Excesso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177803" y="3621108"/>
            <a:ext cx="449130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USD D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95449" y="4037489"/>
            <a:ext cx="3368473" cy="683051"/>
          </a:xfrm>
          <a:custGeom>
            <a:avLst/>
            <a:gdLst/>
            <a:ahLst/>
            <a:cxnLst/>
            <a:rect l="l" t="t" r="r" b="b"/>
            <a:pathLst>
              <a:path w="3368473" h="683051">
                <a:moveTo>
                  <a:pt x="74856" y="0"/>
                </a:moveTo>
                <a:lnTo>
                  <a:pt x="3293617" y="0"/>
                </a:lnTo>
                <a:cubicBezTo>
                  <a:pt x="3334959" y="0"/>
                  <a:pt x="3368473" y="33514"/>
                  <a:pt x="3368473" y="74856"/>
                </a:cubicBezTo>
                <a:lnTo>
                  <a:pt x="3368473" y="608196"/>
                </a:lnTo>
                <a:cubicBezTo>
                  <a:pt x="3368473" y="649537"/>
                  <a:pt x="3334959" y="683051"/>
                  <a:pt x="3293617" y="683051"/>
                </a:cubicBezTo>
                <a:lnTo>
                  <a:pt x="74856" y="683051"/>
                </a:lnTo>
                <a:cubicBezTo>
                  <a:pt x="33514" y="683051"/>
                  <a:pt x="0" y="649537"/>
                  <a:pt x="0" y="608196"/>
                </a:cubicBezTo>
                <a:lnTo>
                  <a:pt x="0" y="74856"/>
                </a:lnTo>
                <a:cubicBezTo>
                  <a:pt x="0" y="33514"/>
                  <a:pt x="33514" y="0"/>
                  <a:pt x="7485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8431124" y="4191877"/>
            <a:ext cx="149710" cy="149710"/>
          </a:xfrm>
          <a:custGeom>
            <a:avLst/>
            <a:gdLst/>
            <a:ahLst/>
            <a:cxnLst/>
            <a:rect l="l" t="t" r="r" b="b"/>
            <a:pathLst>
              <a:path w="149710" h="149710">
                <a:moveTo>
                  <a:pt x="74855" y="149710"/>
                </a:moveTo>
                <a:cubicBezTo>
                  <a:pt x="116169" y="149710"/>
                  <a:pt x="149710" y="116169"/>
                  <a:pt x="149710" y="74855"/>
                </a:cubicBezTo>
                <a:cubicBezTo>
                  <a:pt x="149710" y="33541"/>
                  <a:pt x="116169" y="0"/>
                  <a:pt x="74855" y="0"/>
                </a:cubicBezTo>
                <a:cubicBezTo>
                  <a:pt x="33541" y="0"/>
                  <a:pt x="0" y="33541"/>
                  <a:pt x="0" y="74855"/>
                </a:cubicBezTo>
                <a:cubicBezTo>
                  <a:pt x="0" y="116169"/>
                  <a:pt x="33541" y="149710"/>
                  <a:pt x="74855" y="149710"/>
                </a:cubicBezTo>
                <a:close/>
                <a:moveTo>
                  <a:pt x="65498" y="46784"/>
                </a:moveTo>
                <a:cubicBezTo>
                  <a:pt x="65498" y="41620"/>
                  <a:pt x="69691" y="37427"/>
                  <a:pt x="74855" y="37427"/>
                </a:cubicBezTo>
                <a:cubicBezTo>
                  <a:pt x="80019" y="37427"/>
                  <a:pt x="84212" y="41620"/>
                  <a:pt x="84212" y="46784"/>
                </a:cubicBezTo>
                <a:cubicBezTo>
                  <a:pt x="84212" y="51949"/>
                  <a:pt x="80019" y="56141"/>
                  <a:pt x="74855" y="56141"/>
                </a:cubicBezTo>
                <a:cubicBezTo>
                  <a:pt x="69691" y="56141"/>
                  <a:pt x="65498" y="51949"/>
                  <a:pt x="65498" y="46784"/>
                </a:cubicBezTo>
                <a:close/>
                <a:moveTo>
                  <a:pt x="63159" y="65498"/>
                </a:moveTo>
                <a:lnTo>
                  <a:pt x="77194" y="65498"/>
                </a:lnTo>
                <a:cubicBezTo>
                  <a:pt x="81083" y="65498"/>
                  <a:pt x="84212" y="68627"/>
                  <a:pt x="84212" y="72516"/>
                </a:cubicBezTo>
                <a:lnTo>
                  <a:pt x="84212" y="98247"/>
                </a:lnTo>
                <a:lnTo>
                  <a:pt x="86551" y="98247"/>
                </a:lnTo>
                <a:cubicBezTo>
                  <a:pt x="90440" y="98247"/>
                  <a:pt x="93569" y="101376"/>
                  <a:pt x="93569" y="105265"/>
                </a:cubicBezTo>
                <a:cubicBezTo>
                  <a:pt x="93569" y="109154"/>
                  <a:pt x="90440" y="112282"/>
                  <a:pt x="86551" y="112282"/>
                </a:cubicBezTo>
                <a:lnTo>
                  <a:pt x="63159" y="112282"/>
                </a:lnTo>
                <a:cubicBezTo>
                  <a:pt x="59270" y="112282"/>
                  <a:pt x="56141" y="109154"/>
                  <a:pt x="56141" y="105265"/>
                </a:cubicBezTo>
                <a:cubicBezTo>
                  <a:pt x="56141" y="101376"/>
                  <a:pt x="59270" y="98247"/>
                  <a:pt x="63159" y="98247"/>
                </a:cubicBezTo>
                <a:lnTo>
                  <a:pt x="70177" y="98247"/>
                </a:lnTo>
                <a:lnTo>
                  <a:pt x="70177" y="79533"/>
                </a:lnTo>
                <a:lnTo>
                  <a:pt x="63159" y="79533"/>
                </a:lnTo>
                <a:cubicBezTo>
                  <a:pt x="59270" y="79533"/>
                  <a:pt x="56141" y="76405"/>
                  <a:pt x="56141" y="72516"/>
                </a:cubicBezTo>
                <a:cubicBezTo>
                  <a:pt x="56141" y="68627"/>
                  <a:pt x="59270" y="65498"/>
                  <a:pt x="63159" y="6549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8654697" y="4154450"/>
            <a:ext cx="2967118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Comportamento:</a:t>
            </a: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Cada categoria tem comportamento esperado definido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90771" y="4800074"/>
            <a:ext cx="3377830" cy="449130"/>
          </a:xfrm>
          <a:custGeom>
            <a:avLst/>
            <a:gdLst/>
            <a:ahLst/>
            <a:cxnLst/>
            <a:rect l="l" t="t" r="r" b="b"/>
            <a:pathLst>
              <a:path w="3377830" h="449130">
                <a:moveTo>
                  <a:pt x="74856" y="0"/>
                </a:moveTo>
                <a:lnTo>
                  <a:pt x="3302973" y="0"/>
                </a:lnTo>
                <a:cubicBezTo>
                  <a:pt x="3344315" y="0"/>
                  <a:pt x="3377830" y="33514"/>
                  <a:pt x="3377830" y="74856"/>
                </a:cubicBezTo>
                <a:lnTo>
                  <a:pt x="3377830" y="374273"/>
                </a:lnTo>
                <a:cubicBezTo>
                  <a:pt x="3377830" y="415615"/>
                  <a:pt x="3344315" y="449130"/>
                  <a:pt x="3302973" y="449130"/>
                </a:cubicBezTo>
                <a:lnTo>
                  <a:pt x="74856" y="449130"/>
                </a:lnTo>
                <a:cubicBezTo>
                  <a:pt x="33514" y="449130"/>
                  <a:pt x="0" y="415615"/>
                  <a:pt x="0" y="374273"/>
                </a:cubicBezTo>
                <a:lnTo>
                  <a:pt x="0" y="74856"/>
                </a:lnTo>
                <a:cubicBezTo>
                  <a:pt x="0" y="33542"/>
                  <a:pt x="33542" y="0"/>
                  <a:pt x="7485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8431124" y="4949784"/>
            <a:ext cx="130996" cy="149710"/>
          </a:xfrm>
          <a:custGeom>
            <a:avLst/>
            <a:gdLst/>
            <a:ahLst/>
            <a:cxnLst/>
            <a:rect l="l" t="t" r="r" b="b"/>
            <a:pathLst>
              <a:path w="130996" h="149710">
                <a:moveTo>
                  <a:pt x="37427" y="0"/>
                </a:moveTo>
                <a:cubicBezTo>
                  <a:pt x="32252" y="0"/>
                  <a:pt x="28071" y="4181"/>
                  <a:pt x="28071" y="9357"/>
                </a:cubicBezTo>
                <a:lnTo>
                  <a:pt x="28071" y="18714"/>
                </a:lnTo>
                <a:lnTo>
                  <a:pt x="18714" y="18714"/>
                </a:lnTo>
                <a:cubicBezTo>
                  <a:pt x="8392" y="18714"/>
                  <a:pt x="0" y="27106"/>
                  <a:pt x="0" y="37427"/>
                </a:cubicBezTo>
                <a:lnTo>
                  <a:pt x="0" y="51463"/>
                </a:lnTo>
                <a:lnTo>
                  <a:pt x="130996" y="51463"/>
                </a:lnTo>
                <a:lnTo>
                  <a:pt x="130996" y="37427"/>
                </a:lnTo>
                <a:cubicBezTo>
                  <a:pt x="130996" y="27106"/>
                  <a:pt x="122604" y="18714"/>
                  <a:pt x="112282" y="18714"/>
                </a:cubicBezTo>
                <a:lnTo>
                  <a:pt x="102926" y="18714"/>
                </a:lnTo>
                <a:lnTo>
                  <a:pt x="102926" y="9357"/>
                </a:lnTo>
                <a:cubicBezTo>
                  <a:pt x="102926" y="4181"/>
                  <a:pt x="98744" y="0"/>
                  <a:pt x="93569" y="0"/>
                </a:cubicBezTo>
                <a:cubicBezTo>
                  <a:pt x="88393" y="0"/>
                  <a:pt x="84212" y="4181"/>
                  <a:pt x="84212" y="9357"/>
                </a:cubicBezTo>
                <a:lnTo>
                  <a:pt x="84212" y="18714"/>
                </a:lnTo>
                <a:lnTo>
                  <a:pt x="46784" y="18714"/>
                </a:lnTo>
                <a:lnTo>
                  <a:pt x="46784" y="9357"/>
                </a:lnTo>
                <a:cubicBezTo>
                  <a:pt x="46784" y="4181"/>
                  <a:pt x="42603" y="0"/>
                  <a:pt x="37427" y="0"/>
                </a:cubicBezTo>
                <a:close/>
                <a:moveTo>
                  <a:pt x="0" y="65498"/>
                </a:moveTo>
                <a:lnTo>
                  <a:pt x="0" y="121639"/>
                </a:lnTo>
                <a:cubicBezTo>
                  <a:pt x="0" y="131961"/>
                  <a:pt x="8392" y="140353"/>
                  <a:pt x="18714" y="140353"/>
                </a:cubicBezTo>
                <a:lnTo>
                  <a:pt x="112282" y="140353"/>
                </a:lnTo>
                <a:cubicBezTo>
                  <a:pt x="122604" y="140353"/>
                  <a:pt x="130996" y="131961"/>
                  <a:pt x="130996" y="121639"/>
                </a:cubicBezTo>
                <a:lnTo>
                  <a:pt x="130996" y="65498"/>
                </a:lnTo>
                <a:lnTo>
                  <a:pt x="0" y="65498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Text 79"/>
          <p:cNvSpPr/>
          <p:nvPr/>
        </p:nvSpPr>
        <p:spPr>
          <a:xfrm>
            <a:off x="8645341" y="4912356"/>
            <a:ext cx="2985832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Frequência:</a:t>
            </a: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Mensal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374275" y="6250388"/>
            <a:ext cx="11434094" cy="533342"/>
          </a:xfrm>
          <a:custGeom>
            <a:avLst/>
            <a:gdLst/>
            <a:ahLst/>
            <a:cxnLst/>
            <a:rect l="l" t="t" r="r" b="b"/>
            <a:pathLst>
              <a:path w="11434094" h="533342">
                <a:moveTo>
                  <a:pt x="74854" y="0"/>
                </a:moveTo>
                <a:lnTo>
                  <a:pt x="11359239" y="0"/>
                </a:lnTo>
                <a:cubicBezTo>
                  <a:pt x="11400580" y="0"/>
                  <a:pt x="11434094" y="33513"/>
                  <a:pt x="11434094" y="74854"/>
                </a:cubicBezTo>
                <a:lnTo>
                  <a:pt x="11434094" y="458487"/>
                </a:lnTo>
                <a:cubicBezTo>
                  <a:pt x="11434094" y="499828"/>
                  <a:pt x="11400580" y="533342"/>
                  <a:pt x="11359239" y="533342"/>
                </a:cubicBezTo>
                <a:lnTo>
                  <a:pt x="74854" y="533342"/>
                </a:lnTo>
                <a:cubicBezTo>
                  <a:pt x="33541" y="533342"/>
                  <a:pt x="0" y="499800"/>
                  <a:pt x="0" y="458487"/>
                </a:cubicBezTo>
                <a:lnTo>
                  <a:pt x="0" y="74854"/>
                </a:lnTo>
                <a:cubicBezTo>
                  <a:pt x="0" y="33541"/>
                  <a:pt x="33541" y="0"/>
                  <a:pt x="74854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270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Shape 81"/>
          <p:cNvSpPr/>
          <p:nvPr/>
        </p:nvSpPr>
        <p:spPr>
          <a:xfrm>
            <a:off x="561413" y="6438591"/>
            <a:ext cx="112282" cy="149710"/>
          </a:xfrm>
          <a:custGeom>
            <a:avLst/>
            <a:gdLst/>
            <a:ahLst/>
            <a:cxnLst/>
            <a:rect l="l" t="t" r="r" b="b"/>
            <a:pathLst>
              <a:path w="112282" h="149710">
                <a:moveTo>
                  <a:pt x="85645" y="112282"/>
                </a:moveTo>
                <a:cubicBezTo>
                  <a:pt x="87779" y="105762"/>
                  <a:pt x="92048" y="99855"/>
                  <a:pt x="96873" y="94768"/>
                </a:cubicBezTo>
                <a:cubicBezTo>
                  <a:pt x="106434" y="84709"/>
                  <a:pt x="112282" y="71112"/>
                  <a:pt x="112282" y="56141"/>
                </a:cubicBezTo>
                <a:cubicBezTo>
                  <a:pt x="112282" y="25147"/>
                  <a:pt x="87136" y="0"/>
                  <a:pt x="56141" y="0"/>
                </a:cubicBezTo>
                <a:cubicBezTo>
                  <a:pt x="25147" y="0"/>
                  <a:pt x="0" y="25147"/>
                  <a:pt x="0" y="56141"/>
                </a:cubicBezTo>
                <a:cubicBezTo>
                  <a:pt x="0" y="71112"/>
                  <a:pt x="5848" y="84709"/>
                  <a:pt x="15410" y="94768"/>
                </a:cubicBezTo>
                <a:cubicBezTo>
                  <a:pt x="20234" y="99855"/>
                  <a:pt x="24533" y="105762"/>
                  <a:pt x="26638" y="112282"/>
                </a:cubicBezTo>
                <a:lnTo>
                  <a:pt x="85615" y="112282"/>
                </a:lnTo>
                <a:close/>
                <a:moveTo>
                  <a:pt x="84212" y="126318"/>
                </a:moveTo>
                <a:lnTo>
                  <a:pt x="28071" y="126318"/>
                </a:lnTo>
                <a:lnTo>
                  <a:pt x="28071" y="130996"/>
                </a:lnTo>
                <a:cubicBezTo>
                  <a:pt x="28071" y="143920"/>
                  <a:pt x="38539" y="154388"/>
                  <a:pt x="51463" y="154388"/>
                </a:cubicBezTo>
                <a:lnTo>
                  <a:pt x="60820" y="154388"/>
                </a:lnTo>
                <a:cubicBezTo>
                  <a:pt x="73744" y="154388"/>
                  <a:pt x="84212" y="143920"/>
                  <a:pt x="84212" y="130996"/>
                </a:cubicBezTo>
                <a:lnTo>
                  <a:pt x="84212" y="126318"/>
                </a:lnTo>
                <a:close/>
                <a:moveTo>
                  <a:pt x="53802" y="32749"/>
                </a:moveTo>
                <a:cubicBezTo>
                  <a:pt x="42164" y="32749"/>
                  <a:pt x="32749" y="42164"/>
                  <a:pt x="32749" y="53802"/>
                </a:cubicBezTo>
                <a:cubicBezTo>
                  <a:pt x="32749" y="57691"/>
                  <a:pt x="29620" y="60820"/>
                  <a:pt x="25731" y="60820"/>
                </a:cubicBezTo>
                <a:cubicBezTo>
                  <a:pt x="21842" y="60820"/>
                  <a:pt x="18714" y="57691"/>
                  <a:pt x="18714" y="53802"/>
                </a:cubicBezTo>
                <a:cubicBezTo>
                  <a:pt x="18714" y="34416"/>
                  <a:pt x="34416" y="18714"/>
                  <a:pt x="53802" y="18714"/>
                </a:cubicBezTo>
                <a:cubicBezTo>
                  <a:pt x="57691" y="18714"/>
                  <a:pt x="60820" y="21842"/>
                  <a:pt x="60820" y="25731"/>
                </a:cubicBezTo>
                <a:cubicBezTo>
                  <a:pt x="60820" y="29620"/>
                  <a:pt x="57691" y="32749"/>
                  <a:pt x="53802" y="3274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82"/>
          <p:cNvSpPr/>
          <p:nvPr/>
        </p:nvSpPr>
        <p:spPr>
          <a:xfrm>
            <a:off x="756889" y="6387256"/>
            <a:ext cx="10957884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Recomendação:</a:t>
            </a:r>
            <a:r>
              <a:rPr lang="en-US" sz="1179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Implementar controles automatizados para respeitar as regras de retentativa de cada bandeira e evitar penalidades.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seekingalpha.com/12277c934eaa889a662c7c87550717567e18c9c5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2111" b="2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381000" y="11620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Referências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18859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00050" y="2228850"/>
            <a:ext cx="3638550" cy="2514600"/>
          </a:xfrm>
          <a:custGeom>
            <a:avLst/>
            <a:gdLst/>
            <a:ahLst/>
            <a:cxnLst/>
            <a:rect l="l" t="t" r="r" b="b"/>
            <a:pathLst>
              <a:path w="3638550" h="2514600">
                <a:moveTo>
                  <a:pt x="38100" y="0"/>
                </a:moveTo>
                <a:lnTo>
                  <a:pt x="3562358" y="0"/>
                </a:lnTo>
                <a:cubicBezTo>
                  <a:pt x="3604438" y="0"/>
                  <a:pt x="3638550" y="34112"/>
                  <a:pt x="3638550" y="76192"/>
                </a:cubicBezTo>
                <a:lnTo>
                  <a:pt x="3638550" y="2438408"/>
                </a:lnTo>
                <a:cubicBezTo>
                  <a:pt x="3638550" y="2480488"/>
                  <a:pt x="3604438" y="2514600"/>
                  <a:pt x="3562358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00050" y="222885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47700" y="2457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A36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781050" y="2590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219200" y="2533650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7700" y="3067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Manual Visa Integrity Risk Program – Abril/24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7700" y="337185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Visa Merchant Data Standards Manual – Abril/25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7700" y="39052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Visa Acquirer Monitoring Program – Junho/25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86250" y="2228850"/>
            <a:ext cx="3638550" cy="2514600"/>
          </a:xfrm>
          <a:custGeom>
            <a:avLst/>
            <a:gdLst/>
            <a:ahLst/>
            <a:cxnLst/>
            <a:rect l="l" t="t" r="r" b="b"/>
            <a:pathLst>
              <a:path w="3638550" h="2514600">
                <a:moveTo>
                  <a:pt x="38100" y="0"/>
                </a:moveTo>
                <a:lnTo>
                  <a:pt x="3562358" y="0"/>
                </a:lnTo>
                <a:cubicBezTo>
                  <a:pt x="3604438" y="0"/>
                  <a:pt x="3638550" y="34112"/>
                  <a:pt x="3638550" y="76192"/>
                </a:cubicBezTo>
                <a:lnTo>
                  <a:pt x="3638550" y="2438408"/>
                </a:lnTo>
                <a:cubicBezTo>
                  <a:pt x="3638550" y="2480488"/>
                  <a:pt x="3604438" y="2514600"/>
                  <a:pt x="3562358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001B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286250" y="222885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533900" y="2457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B00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667250" y="2590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105400" y="2533650"/>
            <a:ext cx="1276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Mastercard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33900" y="3067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Quick Reference Booklet – Agosto/25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33900" y="33718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Mastercard Rules – Junho/25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33900" y="36766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Security Rules and Procedures – Agosto/25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33900" y="39814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 Integrity – Julho/25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33900" y="42862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Manual do Usuário MATCH Pro – Fevereiro/25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72450" y="2228850"/>
            <a:ext cx="3638550" cy="2514600"/>
          </a:xfrm>
          <a:custGeom>
            <a:avLst/>
            <a:gdLst/>
            <a:ahLst/>
            <a:cxnLst/>
            <a:rect l="l" t="t" r="r" b="b"/>
            <a:pathLst>
              <a:path w="3638550" h="2514600">
                <a:moveTo>
                  <a:pt x="38100" y="0"/>
                </a:moveTo>
                <a:lnTo>
                  <a:pt x="3562358" y="0"/>
                </a:lnTo>
                <a:cubicBezTo>
                  <a:pt x="3604438" y="0"/>
                  <a:pt x="3638550" y="34112"/>
                  <a:pt x="3638550" y="76192"/>
                </a:cubicBezTo>
                <a:lnTo>
                  <a:pt x="3638550" y="2438408"/>
                </a:lnTo>
                <a:cubicBezTo>
                  <a:pt x="3638550" y="2480488"/>
                  <a:pt x="3604438" y="2514600"/>
                  <a:pt x="3562358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8172450" y="222885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8420100" y="2457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8553450" y="2590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F7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8991600" y="253365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Elo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420100" y="306705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Manual de Regras Operacionais Elo – Outubro/24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23850" y="504825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Obrigado!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38138" y="542925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Programas de Monitoria e Penalidades das Bandeiras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7016</Words>
  <Application>Microsoft Office PowerPoint</Application>
  <PresentationFormat>Widescreen</PresentationFormat>
  <Paragraphs>1185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Liter</vt:lpstr>
      <vt:lpstr>Arial</vt:lpstr>
      <vt:lpstr>Quattrocento Sans</vt:lpstr>
      <vt:lpstr>微软雅黑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Programas de Monitoria e Penalidades das Bandeiras</dc:title>
  <dc:subject>Programas de Monitoria e Penalidades das Bandeiras</dc:subject>
  <dc:creator>Kimi</dc:creator>
  <cp:lastModifiedBy>Vinicius Sugamele</cp:lastModifiedBy>
  <cp:revision>2</cp:revision>
  <dcterms:created xsi:type="dcterms:W3CDTF">2026-04-01T20:33:48Z</dcterms:created>
  <dcterms:modified xsi:type="dcterms:W3CDTF">2026-04-01T20:37:12Z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{"Label":"Programas de Monitoria e Penalidades das Bandeiras","ContentProducer":"001191110108MACG2KBH8F10000","ProduceID":"19d4ab2f-3822-874c-8000-0000b7624092","ReservedCode1":"","ContentPropagator":"001191110108MACG2KBH8F20000","PropagateID":"19d4ab2f-3822-874c-8000-0000b7624092","ReservedCode2":""}</vt:lpwstr>
  </property>
</Properties>
</file>