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71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731520"/>
            <a:ext cx="2011680" cy="2011680"/>
          </a:xfrm>
          <a:prstGeom prst="ellipse">
            <a:avLst/>
          </a:prstGeom>
          <a:solidFill>
            <a:srgbClr val="EB001B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424160" y="731520"/>
            <a:ext cx="2011680" cy="2011680"/>
          </a:xfrm>
          <a:prstGeom prst="ellipse">
            <a:avLst/>
          </a:prstGeom>
          <a:solidFill>
            <a:srgbClr val="F79E1B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INTERCHANGE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79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Expressão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3200400" cy="36576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no sistema de Interchange Fee</a:t>
            </a:r>
            <a:r>
              <a:rPr lang="en-US" sz="1100" dirty="0"/>
              <a:t> - </a:t>
            </a: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663440"/>
            <a:ext cx="210312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F79E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9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MC BR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4663440"/>
            <a:ext cx="210312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F79E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926080" y="4754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9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2608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4663440"/>
            <a:ext cx="210312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F79E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03520" y="4754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9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 as variáveis? Cada variável tem origem em um campo específico da transação Mastercard.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749040" cy="365760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74904" y="1024128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IPM / Clearing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005840"/>
            <a:ext cx="3749040" cy="365760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306824" y="1024128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Derivado do BIN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83880" y="1005840"/>
            <a:ext cx="3749040" cy="365760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38744" y="1024128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Calculado / Autorização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14538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ACQR_COUNTRY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01368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8105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157984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65760" y="21671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PROC_CODE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25237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MC_TRANS_TYPE_IDENTIFIER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5760" y="28803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ENTRY_MODE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227832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32369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ECSLI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576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941064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65760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AMOUNT_TX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297680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5760" y="43068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654296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65760" y="4663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PAYPASS_IND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5010912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65760" y="50200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ADDENDUM_1644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5367528"/>
            <a:ext cx="1920240" cy="23774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65760" y="53766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FLEXIBLE_INTERCHANGE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51960" y="1444752"/>
            <a:ext cx="1920240" cy="2377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297680" y="14538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PROD_TYPE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51960" y="1801368"/>
            <a:ext cx="1920240" cy="2377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297680" y="18105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PROD_ID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51960" y="2157984"/>
            <a:ext cx="1920240" cy="2377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297680" y="21671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PROD_TIER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51960" y="2514600"/>
            <a:ext cx="1920240" cy="2377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297680" y="25237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PROD_CATEGORY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2871216"/>
            <a:ext cx="1920240" cy="2377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4297680" y="28803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ACC_BRAND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51960" y="3227832"/>
            <a:ext cx="1920240" cy="2377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297680" y="32369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51960" y="3584448"/>
            <a:ext cx="1920240" cy="2377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29768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ISSR_REGION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51960" y="3941064"/>
            <a:ext cx="1920240" cy="2377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297680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ISS_REGULATORY_STATUS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83880" y="1444752"/>
            <a:ext cx="1920240" cy="237744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8229600" y="14538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CARD_PRESENT_ID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83880" y="1801368"/>
            <a:ext cx="1920240" cy="237744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8229600" y="18105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83880" y="2157984"/>
            <a:ext cx="1920240" cy="237744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229600" y="21671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NUM_INST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83880" y="2514600"/>
            <a:ext cx="1920240" cy="237744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8229600" y="25237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INST_W_INT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83880" y="2871216"/>
            <a:ext cx="1920240" cy="237744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8229600" y="28803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040" y="6126480"/>
            <a:ext cx="1152144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CARD_PRESENT_ID é derivado do DE 22 (POS Entry Mode) do IPM. SEGMENT é derivado do MCC via tabela de segmentação. NUM_INST e INST_W_INT chegam no IPM como dados adicionais de parcelamento.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6803136"/>
            <a:ext cx="12188952" cy="54864"/>
          </a:xfrm>
          <a:prstGeom prst="rect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Como Ler uma Regra — Decomposição Passo a Passo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731520"/>
            <a:ext cx="1143000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1628" y="822960"/>
            <a:ext cx="11430000" cy="868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88" y="841249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EXEMPLO REAL DA PLANILHA — Regra BR-CRED-INF (Crédito Infinite Presencial)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88" y="1115568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95959"/>
                </a:solidFill>
                <a:latin typeface="Calibri"/>
              </a:rPr>
              <a:t>EXPRESSION_RULE: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1868" y="1143000"/>
            <a:ext cx="9418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1F4E79"/>
                </a:solidFill>
                <a:latin typeface="Calibri"/>
              </a:rPr>
              <a:t>(ACQR_COUNTRY=76)&amp;(ISSR_COUNTRY=76)&amp;(PROD_TYPE="CREDIT")&amp;(PROD_ID="MDW"|PROD_ID="MSW")&amp;(PAYPASS_IND=1|CARD_PRESENT_ID=1)&amp;(NUM_INST=1)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628" y="1828800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5636" y="2084832"/>
            <a:ext cx="3200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636" y="2103120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548" y="1883665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QUEM: País do adquirente e emissor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548" y="2176272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1F4E79"/>
                </a:solidFill>
                <a:latin typeface="Calibri"/>
              </a:rPr>
              <a:t>ACQR_COUNTRY=76 &amp; ISSR_COUNTRY=76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5028" y="1993393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Intracountry Brasil — adquirente E emissor brasileiros. Código 76 = ISO Brasil.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628" y="2706624"/>
            <a:ext cx="114300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5636" y="2962656"/>
            <a:ext cx="320040" cy="32004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5636" y="2980944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548" y="2761489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623"/>
                </a:solidFill>
                <a:latin typeface="Calibri"/>
              </a:rPr>
              <a:t>O QUÊ: Produto e tipo de cartão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548" y="3054096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1F4E79"/>
                </a:solidFill>
                <a:latin typeface="Calibri"/>
              </a:rPr>
              <a:t>PROD_TYPE="CREDIT" &amp; (PROD_ID="MDW"|PROD_ID="MSW")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028" y="2871217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Transação de crédito com produto MDW (World) ou MSW (World Elite). Infinite tier.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628" y="3584448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5636" y="3840480"/>
            <a:ext cx="320040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636" y="3858768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548" y="3639313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Calibri"/>
              </a:rPr>
              <a:t>COMO: Canal / forma de captura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548" y="3931920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1F4E79"/>
                </a:solidFill>
                <a:latin typeface="Calibri"/>
              </a:rPr>
              <a:t>PAYPASS_IND=1 | CARD_PRESENT_ID=1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5028" y="3749041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Presencial: aceita NFC (PayPass) OU chip/tarja (card present). Exclui CNP/online.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628" y="4462272"/>
            <a:ext cx="114300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5636" y="4718304"/>
            <a:ext cx="320040" cy="320040"/>
          </a:xfrm>
          <a:prstGeom prst="rect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5636" y="4736592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548" y="4517137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B001B"/>
                </a:solidFill>
                <a:latin typeface="Calibri"/>
              </a:rPr>
              <a:t>QUANDO: Parcelamento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548" y="4809744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1F4E79"/>
                </a:solidFill>
                <a:latin typeface="Calibri"/>
              </a:rPr>
              <a:t>NUM_INST=1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5028" y="4626865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Apenas transações à vista. Parcelado cai em outra regra com IRD diferente.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1628" y="5340096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5636" y="5596128"/>
            <a:ext cx="3200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5636" y="5614416"/>
            <a:ext cx="320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548" y="5394961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RESULTADO: IRD disparado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548" y="5687568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1F4E79"/>
                </a:solidFill>
                <a:latin typeface="Calibri"/>
              </a:rPr>
              <a:t>IRD = "Q1"  |  PRIORITY = 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5028" y="5504689"/>
            <a:ext cx="6949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Calibri"/>
              </a:rPr>
              <a:t>Se todas as condições forem TRUE → IRD Q1 → busca taxa na tabela IRD_RATE.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8626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6803136"/>
            <a:ext cx="12188952" cy="54864"/>
          </a:xfrm>
          <a:prstGeom prst="rect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Sistema de Prioridades — Ordem de Avaliação das Regras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348" y="731520"/>
            <a:ext cx="11430000" cy="18288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7348" y="804673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COMO O MOTOR AVALIA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8788" y="1170432"/>
            <a:ext cx="5029200" cy="594360"/>
          </a:xfrm>
          <a:prstGeom prst="rect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0228" y="1216153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PRIORITY 100  —  Regras mais específicas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228" y="14904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Produto + Segmento + Canal + Parcelamento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5988" y="1856232"/>
            <a:ext cx="457200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7428" y="1901953"/>
            <a:ext cx="4389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PRIORITY 500  —  Regras de produto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428" y="21762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Só produto e país (sem canal específico)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3188" y="2542032"/>
            <a:ext cx="4114800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4628" y="2587753"/>
            <a:ext cx="3931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PRIORITY 2000  —  Transações especiais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4628" y="28620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MoneySend, A2A, rePower,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0388" y="3227832"/>
            <a:ext cx="3657600" cy="5943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1828" y="3273553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PRIORITY 5000-5021  —  Fallbacks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1828" y="35478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FFFFFF"/>
                </a:solidFill>
                <a:latin typeface="Calibri"/>
              </a:rPr>
              <a:t>Não bateu em nenhuma regra anterior → captura tudo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788" y="3959353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595959"/>
                </a:solidFill>
                <a:latin typeface="Calibri"/>
              </a:rPr>
              <a:t>⬇ </a:t>
            </a:r>
            <a:r>
              <a:rPr lang="pt-BR" sz="1000" b="1" dirty="0">
                <a:solidFill>
                  <a:srgbClr val="595959"/>
                </a:solidFill>
                <a:latin typeface="Calibri"/>
              </a:rPr>
              <a:t>Capturar a a primeira</a:t>
            </a:r>
            <a:r>
              <a:rPr sz="1000" b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595959"/>
                </a:solidFill>
                <a:latin typeface="Calibri"/>
              </a:rPr>
              <a:t>regra</a:t>
            </a:r>
            <a:r>
              <a:rPr sz="1000" b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000" b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595959"/>
                </a:solidFill>
                <a:latin typeface="Calibri"/>
              </a:rPr>
              <a:t>retorna</a:t>
            </a:r>
            <a:r>
              <a:rPr sz="1000" b="1" dirty="0">
                <a:solidFill>
                  <a:srgbClr val="595959"/>
                </a:solidFill>
                <a:latin typeface="Calibri"/>
              </a:rPr>
              <a:t>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5268" y="804673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REGRAS DE PRIORIDADE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9548" y="1115568"/>
            <a:ext cx="5486400" cy="47548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3556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1028" y="1161289"/>
            <a:ext cx="4937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623"/>
                </a:solidFill>
                <a:latin typeface="Calibri"/>
              </a:rPr>
              <a:t>Menor número = maior prioridade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1028" y="1371600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  <a:latin typeface="Calibri"/>
              </a:rPr>
              <a:t>Priority 100 avalia antes da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9548" y="1636775"/>
            <a:ext cx="5486400" cy="47548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3556" y="1728215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1028" y="1682496"/>
            <a:ext cx="4937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623"/>
                </a:solidFill>
                <a:latin typeface="Calibri"/>
              </a:rPr>
              <a:t>Regras específicas devem ter prioridade menor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1028" y="1892807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  <a:latin typeface="Calibri"/>
              </a:rPr>
              <a:t>Infinite &lt; Standard &lt; Fallback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9548" y="2157982"/>
            <a:ext cx="5486400" cy="47548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3556" y="2249422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1028" y="2203703"/>
            <a:ext cx="4937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623"/>
                </a:solidFill>
                <a:latin typeface="Calibri"/>
              </a:rPr>
              <a:t>Regras mutuamente exclusivas podem ter mesma prioridade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1028" y="2414014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595959"/>
                </a:solidFill>
                <a:latin typeface="Calibri"/>
              </a:rPr>
              <a:t>Se as expressões nunca se sobrepõem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7348" y="4251960"/>
            <a:ext cx="5943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F4E79"/>
                </a:solidFill>
                <a:latin typeface="Calibri"/>
              </a:rPr>
              <a:t>FAIXAS NA PLANILH</a:t>
            </a:r>
            <a:r>
              <a:rPr lang="pt-BR" sz="1100" b="1" dirty="0">
                <a:solidFill>
                  <a:srgbClr val="1F4E79"/>
                </a:solidFill>
                <a:latin typeface="Calibri"/>
              </a:rPr>
              <a:t>A</a:t>
            </a:r>
            <a:endParaRPr sz="1100" b="1" dirty="0">
              <a:solidFill>
                <a:srgbClr val="1F4E79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8788" y="4553713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100-500    Crédito PF por produto (Infinite, Signature, Standard)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8788" y="4846321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600-900    Débito por segmento (Supermercado, Frictionless, Base)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788" y="5138929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1000-1500  Prepaid (food, gift, corporate)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8788" y="5431537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2000-2500  Transações especiais (MoneySend, A2A, rePower)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8788" y="5724145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9001-9009  Disputas e ATM Cash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8788" y="6016753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alibri"/>
              </a:rPr>
              <a:t>5000-5021  Fallbacks universais (Crédito/Débito sem match)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&amp; ROTEAMENTO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ACQR_COUNTRY, ISSR_COUNTRY e ISSR_REGION — definem jurisdição doméstica vs. interregional.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611880" cy="269748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611880" cy="365760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698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ACQR_COUNTRY  —  Adquirente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43, Subfield 6 (Acceptor Country Code)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numérico — ISO 3166-1 numeric
</a:t>
            </a:r>
            <a:r>
              <a:rPr lang="en-US" sz="2200" b="1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Brasil (BRL acquirer)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na raiz de todas as regras domésticas:
</a:t>
            </a:r>
            <a:r>
              <a:rPr lang="en-US" sz="950" b="1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ACQR_COUNTRY=76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69080" y="1051560"/>
            <a:ext cx="3611880" cy="2697480"/>
          </a:xfrm>
          <a:prstGeom prst="rect">
            <a:avLst/>
          </a:prstGeom>
          <a:solidFill>
            <a:srgbClr val="EAFA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069080" y="1051560"/>
            <a:ext cx="3611880" cy="365760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33088" y="10698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ISSR_COUNTRY  —  Emissor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33088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Derivado da tabela de BIN Ranges Mastercard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33088" y="1783080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numérico — ISO 3166-1 numeric
</a:t>
            </a:r>
            <a:r>
              <a:rPr lang="en-US" sz="2200" b="1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cartão emitido no Brasil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Doméstico: </a:t>
            </a:r>
            <a:r>
              <a:rPr lang="en-US" sz="95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ISSR_COUNTRY=76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Interregional: </a:t>
            </a:r>
            <a:r>
              <a:rPr lang="en-US" sz="95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ISSR_COUNTRY&lt;&gt;76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18120" y="1051560"/>
            <a:ext cx="3749040" cy="2697480"/>
          </a:xfrm>
          <a:prstGeom prst="rect">
            <a:avLst/>
          </a:prstGeom>
          <a:solidFill>
            <a:srgbClr val="F3E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818120" y="1051560"/>
            <a:ext cx="3749040" cy="365760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882128" y="106984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ISSR_REGION  —  Região do Emissor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82128" y="14630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Derivado do BIN (região geográfica Mastercard)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82128" y="181051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77072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&amp; Canada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82128" y="217627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77072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82128" y="254203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77072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Ásia-Pacífico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82128" y="290779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77072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82128" y="327355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77072" y="3291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(inclui BR)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886200"/>
            <a:ext cx="11247120" cy="822960"/>
          </a:xfrm>
          <a:prstGeom prst="rect">
            <a:avLst/>
          </a:prstGeom>
          <a:solidFill>
            <a:srgbClr val="FFF8E7"/>
          </a:solidFill>
          <a:ln w="12700">
            <a:solidFill>
              <a:srgbClr val="F79E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57200" y="3913632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Geográfica Doméstica: </a:t>
            </a:r>
            <a:r>
              <a:rPr lang="en-US" sz="950" b="1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ACQR_COUNTRY=76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</a:t>
            </a:r>
            <a:r>
              <a:rPr lang="en-US" sz="95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ISSR_COUNTRY=76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garantem transação doméstica. Regras interregionais usam </a:t>
            </a:r>
            <a:r>
              <a:rPr lang="en-US" sz="95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ISSR_COUNTRY&lt;&gt;76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IPM: DE 43 SF6 (ACQR) · BIN Table (ISSR_COUNTRY) · ISSR_REGION usado em regras Premium interregionais (ex.: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5B2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ISSR_REGION="B"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Europe inbound).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864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obter ACQR_COUNTRY, ISSR_COUNTRY e ISSR_REGION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518464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Receber o PAN na autorização (ISO 8583 DE 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Consultar BIN Table Mastercard (Program Enrollment tables / GDI) → retorna ISSR_COUNTRY e ISSR_REGION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ACQR_COUNTRY: país do adquirente preenchido pelo acquirer no IPM DE 43 Subfield 6 (Acceptor Country Code)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Para regras interregionais, combinar ISSR_COUNTRY&lt;&gt;76 com ISSR_REGION para diferenciar Europa, AP, CEMEA, LAC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&amp; CLASSIFICAÇÃO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PROD_TYPE, PROD_ID, PROD_TIER, PROD_CATEGORY, ACC_BRAND e DOCUMENT_TYPE — todos derivados do BIN.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828800" cy="329184"/>
          </a:xfrm>
          <a:prstGeom prst="rect">
            <a:avLst/>
          </a:prstGeom>
          <a:solidFill>
            <a:srgbClr val="1A23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024128"/>
            <a:ext cx="2194560" cy="329184"/>
          </a:xfrm>
          <a:prstGeom prst="rect">
            <a:avLst/>
          </a:prstGeom>
          <a:solidFill>
            <a:srgbClr val="1A23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194560" y="103327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IPM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024128"/>
            <a:ext cx="3840480" cy="329184"/>
          </a:xfrm>
          <a:prstGeom prst="rect">
            <a:avLst/>
          </a:prstGeom>
          <a:solidFill>
            <a:srgbClr val="1A23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389120" y="10332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Valores-chave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1024128"/>
            <a:ext cx="3291840" cy="329184"/>
          </a:xfrm>
          <a:prstGeom prst="rect">
            <a:avLst/>
          </a:prstGeom>
          <a:solidFill>
            <a:srgbClr val="1A23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0" y="103327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uso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389888"/>
            <a:ext cx="182880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426464"/>
            <a:ext cx="17373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PROD_TYPE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48840" y="1389888"/>
            <a:ext cx="219456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194560" y="1426464"/>
            <a:ext cx="21031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0002 (GCMS)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PDS 0003 (Licensed)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389888"/>
            <a:ext cx="384048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389120" y="1426464"/>
            <a:ext cx="37490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"CREDIT" / "DEBIT" / "PREPAID"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0002 = GCMS Product ID (3 chars)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0003 = Licensed Product ID — diferencia Débito de Pré-Pago no nível de licença do emissor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Extrair AMBOS do IPM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83880" y="1389888"/>
            <a:ext cx="3291840" cy="77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29600" y="1426464"/>
            <a:ext cx="320040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PROD_TYPE="CREDIT"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167128"/>
            <a:ext cx="1828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20370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48840" y="2167128"/>
            <a:ext cx="21945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194560" y="220370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0002 (GCMS Product Identifier)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43400" y="2167128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389120" y="220370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MBK=World Elite · MRJ=Mastercard Restaurant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GCP=Gold · MES=Standard · MCE=Electronic · MWF=Humanitarian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3 chars — whitelist IP0096T1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83880" y="2167128"/>
            <a:ext cx="3291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229600" y="2203704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PROD_ID="MBK"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862072"/>
            <a:ext cx="182880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65760" y="289864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PROD_TIER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48840" y="2862072"/>
            <a:ext cx="219456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194560" y="2898648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do BIN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2862072"/>
            <a:ext cx="384048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389120" y="289864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"CORE" / "PREMIUM" / "SUPER_PREMIUM"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PROD_ID (whitelist IP0096T1) para regras. PROD_TIER é apenas relatório.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183880" y="2862072"/>
            <a:ext cx="329184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8229600" y="2898648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PROD_TIER="PREMIUM"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648456"/>
            <a:ext cx="182880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65760" y="368503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PROD_CATEGORY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48840" y="3648456"/>
            <a:ext cx="219456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2194560" y="3685032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do BIN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43400" y="3648456"/>
            <a:ext cx="384048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389120" y="36850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"CONSUMER" / "COMMERCIAL"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PROD_ID (whitelist IP0096T1) para regras. PROD_CATEGORY é apenas relatório.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83880" y="3648456"/>
            <a:ext cx="3291840" cy="786384"/>
          </a:xfrm>
          <a:prstGeom prst="rect">
            <a:avLst/>
          </a:prstGeom>
          <a:solidFill>
            <a:srgbClr val="FFF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229600" y="3685032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PROD_CATEGORY="COMMERCIAL"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434840"/>
            <a:ext cx="1828800" cy="694944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65760" y="447141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ACC_BRAND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48840" y="4434840"/>
            <a:ext cx="2194560" cy="694944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2194560" y="4471416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0158 SF1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(Card Program ID)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43400" y="4434840"/>
            <a:ext cx="3840480" cy="694944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389120" y="447141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MSI=Mastercard · MCC=Maestro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PVL=Private Label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correta: PDS 0158 (Business Activity), Subfield 1 (Card Program Identifier) — ou tabela MPE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83880" y="4434840"/>
            <a:ext cx="3291840" cy="694944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8229600" y="447141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ACC_BRAND="MSI"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5129784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365760" y="5166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148840" y="5129784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2194560" y="51663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/ Registro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43400" y="512978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4389120" y="51663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PJ (pessoa jurídica)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PF (pessoa física)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83880" y="5129784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8229600" y="51663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DOCUMENT_TYPE=2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040" y="5724144"/>
            <a:ext cx="11521440" cy="8686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850" b="1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
</a:t>
            </a: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ACC_BRAND: </a:t>
            </a: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usar PDS 0006. Ler PDS 0158 SF1 (Card Program Identifier) ou tabela MPE para obter MSI/MCC/PVL.
</a:t>
            </a: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PROD_TYPE: </a:t>
            </a: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AMBOS PDS 0002 (GCMS Product ID) e PDS 0003 (Licensed Product ID) do IPM. O PDS 0003 é o que diferencia Débito de Pré-Pago no nível de licença do emissor (ex.: Maestro vs. DMC).
</a:t>
            </a: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PROD_TIER / PROD_CATEGORY: </a:t>
            </a: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agrupadores de relatório — NUNCA usá-los como condição no motor de pricing. Usar exclusivamente o PROD_ID contra a whitelist IP0096T1 (Restrições de Produto GCMS) para evitar rejeições.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&amp; TIPO DE TRANSAÇÃO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CARD_PRESENT_ID, ENTRY_MODE, PROC_CODE e MC_TRANS_TYPE_IDENTIFIER — identificam como e que tipo de transação é processada.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394960" cy="329184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84048" y="1033272"/>
            <a:ext cx="5266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CARD_PRESENT_ID  —  Presença Física do Cartão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de: IPM DE 22 (POS Entry Mode), Subfield 5 (Cardholder Present Data) e Subfield 6 (Card Present Data)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7922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79222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Not Present (CNP)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eCommerce, MOTO, CoF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2494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24942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Present (CP)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Presencial, NFC, chip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5394960" cy="32918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4048" y="2798064"/>
            <a:ext cx="5266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ENTRY_MODE  —  Modo de Entrada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154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de: IPM DE 22, Subfield 7 (Card Data Input Mode)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46557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QR Code: identificadas pelo MC_TRANS_TYPE_IDENTIFIER (PDS 0043) = "C67" (Mastercard Merchant Presented QR). Outros valores: chip, tarja, NFC, digitado — mapeados internamente.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024128"/>
            <a:ext cx="5623560" cy="329184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07608" y="1033272"/>
            <a:ext cx="5495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PROC_CODE  —  DE 3 (Processing Code)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138988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3, Subfield 1 (Cardholder Transaction Type)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1719072"/>
            <a:ext cx="502920" cy="31089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(Purchase)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0" y="2066544"/>
            <a:ext cx="502920" cy="31089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0528" y="2084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with Cash Back (Compra com Troco)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0" y="2414016"/>
            <a:ext cx="502920" cy="31089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0528" y="24323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/ Refund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2761488"/>
            <a:ext cx="502920" cy="31089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0528" y="2779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 (MoneySend)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0" y="3108960"/>
            <a:ext cx="502920" cy="31089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10528" y="3127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(available balance inquiry)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3566160"/>
            <a:ext cx="5623560" cy="329184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007608" y="3575304"/>
            <a:ext cx="5495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MC_TRANS_TYPE_IDENTIFIER  (TTI)  —  PDS 0043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0" y="393192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IPM: </a:t>
            </a: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Presentment/1240 → DE 48 (Additional Data) → PDS Tag 0043
</a:t>
            </a: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 ler DE 48, localizar tag "0043" (3 chars fixos, left-justified). Obrigatório quando PROC_CODE=28.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43600" y="4462272"/>
            <a:ext cx="1005840" cy="26517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C07/F07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22592" y="4480560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Person-to-Person Transfer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4764024"/>
            <a:ext cx="1005840" cy="26517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C52/F52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22592" y="4782312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Own Account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5065776"/>
            <a:ext cx="1005840" cy="26517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C54/F54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22592" y="5084064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of Own Credit Card Bill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5367528"/>
            <a:ext cx="1005840" cy="26517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C55/F55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22592" y="5385816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Disbursement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5669280"/>
            <a:ext cx="1005840" cy="26517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C65/F65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22592" y="5687568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Business-to-Business Transfer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5971032"/>
            <a:ext cx="1005840" cy="265176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C91–C94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22592" y="5989320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doméstico BR (Utility, Gov, Top-Up, Coupon)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&amp; SEGURANÇA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ECSLI, AAV e PAYPASS_IND — determinam autenticação Identity Check (3DS), UCAF e contactless.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394960" cy="4937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394960" cy="36576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5266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ECSLI  —  PDS 0052 (Electronic Commerce Security Level Indicator)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526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PDS 0052 — 3 dígitos compostos de 3 subfields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SF1: Security Protocol  • SF2: Cardholder Authentication  • SF3: UCAF Collection Indicator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1993392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05384" y="218006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0299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SF1=2 (UCAF) + SF2=1 (Merchant UCAF) + SF3=1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UCAF — requer AAV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862072"/>
            <a:ext cx="5257800" cy="80467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06908" y="307100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8986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SF1=2 (UCAF) + SF2=1 + SF3=2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3246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UCAF pleno — Identity Check autenticado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730752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1480" y="394106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76732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SF1=2 (UCAF) + SF2=1 + SF3=7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UCAF com MDES token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4599432"/>
            <a:ext cx="5257800" cy="80467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480" y="475945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6360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autenticado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49834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eCommerce sem UCAF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024128"/>
            <a:ext cx="5623560" cy="24231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943600" y="1024128"/>
            <a:ext cx="5623560" cy="365760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007608" y="1033272"/>
            <a:ext cx="5495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  —  UCAF Authentication Verification 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07608" y="1435608"/>
            <a:ext cx="54955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IPM: </a:t>
            </a:r>
            <a:r>
              <a:rPr lang="en-US" sz="900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0185 (Accountholder Authentication Value)
</a:t>
            </a:r>
            <a:r>
              <a:rPr lang="en-US" sz="9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obrigatório para confirmar Frictionless 3DS. Se PDS 0185 ausente → fallback, sem liability shift.
</a:t>
            </a:r>
            <a:r>
              <a:rPr lang="en-US" sz="900" b="1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presente em: </a:t>
            </a:r>
            <a:r>
              <a:rPr lang="en-US" sz="900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48, Tag 0082 (UCAF Data)
Valor: string — não vazio (AAV!="") quando autenticado (Identity Check / 3DS aprovado)
Uso nas regras: combinado com ECSLI para confirmar autenticação:
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07608" y="2377440"/>
            <a:ext cx="5495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(ECSLI="211"|"212"|"217") &amp; (AAV!="")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07608" y="2670048"/>
            <a:ext cx="5495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qualifica para IRD de eCommerce autenticado (ex.: VG, AU, YC)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0" y="3584448"/>
            <a:ext cx="5623560" cy="23774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5943600" y="3584448"/>
            <a:ext cx="5623560" cy="365760"/>
          </a:xfrm>
          <a:prstGeom prst="rect">
            <a:avLst/>
          </a:prstGeom>
          <a:solidFill>
            <a:srgbClr val="F79E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007608" y="3593592"/>
            <a:ext cx="5495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PAYPASS_IND  —  PDS 0044 SF2 (PayPass Indicator)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07608" y="4005072"/>
            <a:ext cx="5495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PDS 0044, Subfield 2 (PayPass Chargeback Eligibility Indicator)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detectável via DE 22 SF7 = "A" (Contactless / PayPass)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07608" y="4681728"/>
            <a:ext cx="5495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= PayPass / Contactless NFC  →  qualifica contactless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= Não contactless  →  não qualifica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07608" y="5212080"/>
            <a:ext cx="5495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PAYPASS_IND=1 identifica transação tap-to-pay (ex.: IRD VG)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PARCELAMENTO &amp; VALOR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NUM_INST, INST_W_INT, AMOUNT_TX, MCC e SEGMENT — controlam qualificação de parcelamento, ticket e ramo de atividade.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566160" cy="237744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3566160" cy="347472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NUM_INST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3438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parcelas da transação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48, Tag 0095 ou addendum parcelamento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103120"/>
            <a:ext cx="594360" cy="329184"/>
          </a:xfrm>
          <a:prstGeom prst="rect">
            <a:avLst/>
          </a:prstGeom>
          <a:solidFill>
            <a:srgbClr val="EDE7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121408"/>
            <a:ext cx="2770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vista (sem parcelamento)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468880"/>
            <a:ext cx="594360" cy="329184"/>
          </a:xfrm>
          <a:prstGeom prst="rect">
            <a:avLst/>
          </a:prstGeom>
          <a:solidFill>
            <a:srgbClr val="EDE7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2770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Parcelado curto prazo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834640"/>
            <a:ext cx="594360" cy="329184"/>
          </a:xfrm>
          <a:prstGeom prst="rect">
            <a:avLst/>
          </a:prstGeom>
          <a:solidFill>
            <a:srgbClr val="EDE7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852928"/>
            <a:ext cx="2770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Crediário / com juros (INST_W_INT)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69080" y="1024128"/>
            <a:ext cx="3566160" cy="237744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069080" y="1024128"/>
            <a:ext cx="3566160" cy="347472"/>
          </a:xfrm>
          <a:prstGeom prst="rect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33088" y="1033272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INST_W_INT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33088" y="1417320"/>
            <a:ext cx="3438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Parcelamento com juros (Crediário)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48 / flag de parcelamento com juros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33088" y="2103120"/>
            <a:ext cx="502920" cy="402336"/>
          </a:xfrm>
          <a:prstGeom prst="rect">
            <a:avLst/>
          </a:prstGeom>
          <a:solidFill>
            <a:srgbClr val="FCE4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D14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139696"/>
            <a:ext cx="2871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juros — Crediário (Mastercard Crediário IRD = CR)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33088" y="2560320"/>
            <a:ext cx="502920" cy="402336"/>
          </a:xfrm>
          <a:prstGeom prst="rect">
            <a:avLst/>
          </a:prstGeom>
          <a:solidFill>
            <a:srgbClr val="FCE4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D14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0016" y="2596896"/>
            <a:ext cx="2871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juros — parcelamento lojista (PF)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33088" y="309067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NUM_INST&gt;1 &amp; INST_W_INT="Y" → qualifica Crediário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18120" y="1024128"/>
            <a:ext cx="3749040" cy="23774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818120" y="1024128"/>
            <a:ext cx="3749040" cy="347472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882128" y="1033272"/>
            <a:ext cx="3621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AMOUNT_TX  —  DE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82128" y="1417320"/>
            <a:ext cx="3621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da transação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4 (Amount, Transaction)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Unidade: centavos (ex.: 2000 = R$ 20,00)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82128" y="2048256"/>
            <a:ext cx="3621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Large Ticket e limites de AMOUNT_TX para IRDs regulados: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AMOUNT_TX&gt;=2000  → large ticket eCommerce debit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AMOUNT_TX&lt;=15   → regulated debit (ISS_REGULATORY_STATUS)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566160"/>
            <a:ext cx="5120640" cy="24688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5120640" cy="347472"/>
          </a:xfrm>
          <a:prstGeom prst="rect">
            <a:avLst/>
          </a:prstGeom>
          <a:solidFill>
            <a:srgbClr val="F79E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84048" y="3575304"/>
            <a:ext cx="4992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 —  DE 26 (Acceptor Business Code)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3959352"/>
            <a:ext cx="4992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DE 26 — código de ramo de atividade (4 dígitos numérico)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diretamente nas regras e também para derivar SEGMENT: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" y="4407408"/>
            <a:ext cx="1920240" cy="34747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4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4111 / 4112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77440" y="4425696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Metrô, Trem → IRD NM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4791456"/>
            <a:ext cx="1920240" cy="34747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4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4784 / 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77440" y="4809744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Pedágio → IRD VP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4048" y="5175504"/>
            <a:ext cx="1920240" cy="34747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4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6532 / 6533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77440" y="5193792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(MAP) → IRD E6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" y="5559552"/>
            <a:ext cx="1920240" cy="34747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4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6538 / 4829 / 6540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77440" y="5577840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MoneySend Funding (PROC=00)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73354" y="3977640"/>
            <a:ext cx="5989320" cy="2468880"/>
          </a:xfrm>
          <a:prstGeom prst="rect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5577840" y="3566160"/>
            <a:ext cx="5989320" cy="34747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5641848" y="3575304"/>
            <a:ext cx="5861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 —  Segmento do Estabelecimento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41848" y="3959352"/>
            <a:ext cx="5861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do MCC via tabela de segmentação interna (Brazil intracountry acceptor business segments):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41848" y="43342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"SPR_MKT"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75320" y="43525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41848" y="46817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"WHOLE"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75320" y="4700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Atacado / Distribuidor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41848" y="502920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"RESTAURANT"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275320" y="5047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41848" y="537667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"FAST_FOOD"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27532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41848" y="57241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"PHARMA"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75320" y="5742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Farmácia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41848" y="60716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"GEN_EX"/"GOV_SVC"/"COMM_T"/"LOT"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275320" y="60899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Gov, Comércio, Loteria...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ESPECIAIS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74980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ADDENDUM_1644, FLEXIBLE_INTERCHANGE, ISS_REGULATORY_STATUS e CAB — variáveis de programa, regulação e classificação.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521440" cy="22860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486400" cy="2487168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486400" cy="347472"/>
          </a:xfrm>
          <a:prstGeom prst="rect">
            <a:avLst/>
          </a:prstGeom>
          <a:solidFill>
            <a:srgbClr val="0A4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ADDENDUM_1644  —  Addendum Financial Detail / 1644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53583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se a transação enviou Financial Detail Addendum (mensagem 1644) vinculada ao First Presentment/1240.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presença de mensagem /1644 Financial Detail Addendum atrelada à transação 1240.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075688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= Addendum enviado  /  0  = Sem addendum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377440"/>
            <a:ext cx="5358384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521208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ADENDO FISCAL VÁLIDO — duas tags obrigatórias:
</a:t>
            </a:r>
            <a:r>
              <a:rPr lang="en-US" sz="900" b="1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PDS 0595 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(Acceptor Type)  +  </a:t>
            </a:r>
            <a:r>
              <a:rPr lang="en-US" sz="900" b="1" dirty="0">
                <a:solidFill>
                  <a:srgbClr val="0A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PDS 0596 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(Acceptor Tax ID / CNPJ)
</a:t>
            </a: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do 1644 sem essas duas tags NÃO qualifica para IRD BB. O motor concederá o desconto só com ambas presentes.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273552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completa: PROD_TYPE="CREDIT" &amp; DOCUMENT_TYPE=1 &amp; ADDENDUM_1644=1 &amp; PDS0595 presente &amp; PDS0596 presente → IRD BB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1024128"/>
            <a:ext cx="5486400" cy="23317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080760" y="1024128"/>
            <a:ext cx="5486400" cy="347472"/>
          </a:xfrm>
          <a:prstGeom prst="rect">
            <a:avLst/>
          </a:prstGeom>
          <a:solidFill>
            <a:srgbClr val="F79E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144768" y="1033272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FLEXIBLE_INTERCHANGE  —  PDS 0017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44768" y="1417320"/>
            <a:ext cx="5358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interchange flexível negociado entre adquirente e Mastercard.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IPM PDS 0017 (Interchange Structure Indicator / Transaction Integrity Class)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44768" y="2194560"/>
            <a:ext cx="5358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"Y"  = Habilitado — participante do programa Flex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IRD FI (ACQR_COUNTRY=76 &amp; FLEXIBLE_INTERCHANGE="Y")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"N" / ausente  = Não habilitado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75888"/>
            <a:ext cx="5486400" cy="246888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20040" y="3675888"/>
            <a:ext cx="5486400" cy="347472"/>
          </a:xfrm>
          <a:prstGeom prst="rect">
            <a:avLst/>
          </a:pr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84048" y="3685032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ISS_REGULATORY_STATUS  —  Status Regulatório do Emissor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4069080"/>
            <a:ext cx="5358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se o emissor está sujeito a regulação de interchange para débito.
Origem: Derivado da regulação do país do emissor (ISSR_COUNTRY via BIN Table)
Usado apenas em regras interregionais (ISSR_COUNTRY&lt;&gt;76):
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4800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"REGULATED"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5111496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Emissor em país com regulação de débito → IRD LS (AMOUNT_TX&lt;=15)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5303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0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"REGULATED_FRAUD_ADJ"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5614416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 com ajuste fraude → IRD LT (AMOUNT_TX&lt;=15)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96000" y="3669850"/>
            <a:ext cx="5486400" cy="246888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096000" y="3669850"/>
            <a:ext cx="5486400" cy="347472"/>
          </a:xfrm>
          <a:prstGeom prst="rect">
            <a:avLst/>
          </a:prstGeom>
          <a:solidFill>
            <a:srgbClr val="5B2C8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160008" y="3678994"/>
            <a:ext cx="5358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 —  Category Acceptor Business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60008" y="4063042"/>
            <a:ext cx="5358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categoria derivado do MCC/SEGMENT para classificação de programas específicos.
Origem: derivado internamente (categoria de estabelecimento para programas Mastercard)
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60008" y="467569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"CF01"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47560" y="4693978"/>
            <a:ext cx="4370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/ Food → usado em IRD FF (PROD_ID=MES)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60008" y="517861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"I001"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47560" y="5196898"/>
            <a:ext cx="4370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Savings → IRD EZ (PROC_CODE=20)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60008" y="5727250"/>
            <a:ext cx="5358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é </a:t>
            </a:r>
            <a:r>
              <a:rPr lang="en-US" sz="850" dirty="0" err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</a:t>
            </a: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MCC e do programa. Não é um campo IPM padrão.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2744</Words>
  <Application>Microsoft Office PowerPoint</Application>
  <PresentationFormat>Widescreen</PresentationFormat>
  <Paragraphs>328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Vinicius Sugamele</cp:lastModifiedBy>
  <cp:revision>3</cp:revision>
  <dcterms:created xsi:type="dcterms:W3CDTF">2026-04-30T01:51:26Z</dcterms:created>
  <dcterms:modified xsi:type="dcterms:W3CDTF">2026-04-30T18:48:16Z</dcterms:modified>
</cp:coreProperties>
</file>