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Liter" panose="020B0604020202020204" charset="0"/>
      <p:regular r:id="rId15"/>
    </p:embeddedFont>
    <p:embeddedFont>
      <p:font typeface="Quattrocento Sans" panose="020B0502050000020003" pitchFamily="34" charset="0"/>
      <p:regular r:id="rId16"/>
      <p:bold r:id="rId17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742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1df61116e7c3e62c718bfd9689d02944ce8e734d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3644" r="364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2C2C">
                  <a:alpha val="85000"/>
                </a:srgbClr>
              </a:gs>
              <a:gs pos="50000">
                <a:srgbClr val="2C2C2C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381000" y="29146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1447800" y="2838450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315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Mastercard Compliance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3333750"/>
            <a:ext cx="7391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 Pro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400550"/>
            <a:ext cx="710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Guia Completo para Adquirentes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 de Identificação e Controle de Estabelecimentos de Alto Risco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6719" y="5657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41039" y="0"/>
                  <a:pt x="35719" y="5321"/>
                  <a:pt x="35719" y="11906"/>
                </a:cubicBezTo>
                <a:lnTo>
                  <a:pt x="35719" y="23812"/>
                </a:ln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lnTo>
                  <a:pt x="0" y="65484"/>
                </a:lnTo>
                <a:lnTo>
                  <a:pt x="166688" y="65484"/>
                </a:ln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30969" y="23812"/>
                </a:lnTo>
                <a:lnTo>
                  <a:pt x="130969" y="11906"/>
                </a:lnTo>
                <a:cubicBezTo>
                  <a:pt x="130969" y="5321"/>
                  <a:pt x="125648" y="0"/>
                  <a:pt x="119063" y="0"/>
                </a:cubicBezTo>
                <a:cubicBezTo>
                  <a:pt x="112477" y="0"/>
                  <a:pt x="107156" y="5321"/>
                  <a:pt x="107156" y="11906"/>
                </a:cubicBezTo>
                <a:lnTo>
                  <a:pt x="107156" y="23812"/>
                </a:lnTo>
                <a:lnTo>
                  <a:pt x="59531" y="23812"/>
                </a:lnTo>
                <a:lnTo>
                  <a:pt x="59531" y="11906"/>
                </a:lnTo>
                <a:cubicBezTo>
                  <a:pt x="59531" y="5321"/>
                  <a:pt x="54211" y="0"/>
                  <a:pt x="47625" y="0"/>
                </a:cubicBezTo>
                <a:close/>
                <a:moveTo>
                  <a:pt x="0" y="83344"/>
                </a:move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83344"/>
                </a:lnTo>
                <a:lnTo>
                  <a:pt x="0" y="83344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33425" y="5638800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Janeiro 2026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67198" y="563880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0F0F0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2205335" y="5657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533948" y="5638800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Obrigatório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780" y="434136"/>
            <a:ext cx="578849" cy="36178"/>
          </a:xfrm>
          <a:custGeom>
            <a:avLst/>
            <a:gdLst/>
            <a:ahLst/>
            <a:cxnLst/>
            <a:rect l="l" t="t" r="r" b="b"/>
            <a:pathLst>
              <a:path w="578849" h="36178">
                <a:moveTo>
                  <a:pt x="0" y="0"/>
                </a:moveTo>
                <a:lnTo>
                  <a:pt x="578849" y="0"/>
                </a:lnTo>
                <a:lnTo>
                  <a:pt x="578849" y="36178"/>
                </a:lnTo>
                <a:lnTo>
                  <a:pt x="0" y="36178"/>
                </a:lnTo>
                <a:lnTo>
                  <a:pt x="0" y="0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85341" y="361780"/>
            <a:ext cx="1031074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kern="0" spc="199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Navegação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1780" y="687383"/>
            <a:ext cx="11739774" cy="542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73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Conteúdo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1780" y="2283739"/>
            <a:ext cx="5589507" cy="9045"/>
          </a:xfrm>
          <a:custGeom>
            <a:avLst/>
            <a:gdLst/>
            <a:ahLst/>
            <a:cxnLst/>
            <a:rect l="l" t="t" r="r" b="b"/>
            <a:pathLst>
              <a:path w="5589507" h="9045">
                <a:moveTo>
                  <a:pt x="0" y="0"/>
                </a:moveTo>
                <a:lnTo>
                  <a:pt x="5589507" y="0"/>
                </a:lnTo>
                <a:lnTo>
                  <a:pt x="5589507" y="9045"/>
                </a:lnTo>
                <a:lnTo>
                  <a:pt x="0" y="9045"/>
                </a:lnTo>
                <a:lnTo>
                  <a:pt x="0" y="0"/>
                </a:lnTo>
                <a:close/>
              </a:path>
            </a:pathLst>
          </a:custGeom>
          <a:solidFill>
            <a:srgbClr val="8C8C8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61780" y="1628012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253246" y="0"/>
                </a:moveTo>
                <a:lnTo>
                  <a:pt x="253246" y="0"/>
                </a:lnTo>
                <a:cubicBezTo>
                  <a:pt x="393017" y="0"/>
                  <a:pt x="506493" y="113476"/>
                  <a:pt x="506493" y="253246"/>
                </a:cubicBezTo>
                <a:lnTo>
                  <a:pt x="506493" y="253246"/>
                </a:lnTo>
                <a:cubicBezTo>
                  <a:pt x="506493" y="393017"/>
                  <a:pt x="393017" y="506493"/>
                  <a:pt x="253246" y="506493"/>
                </a:cubicBezTo>
                <a:lnTo>
                  <a:pt x="253246" y="506493"/>
                </a:lnTo>
                <a:cubicBezTo>
                  <a:pt x="113476" y="506493"/>
                  <a:pt x="0" y="393017"/>
                  <a:pt x="0" y="253246"/>
                </a:cubicBezTo>
                <a:lnTo>
                  <a:pt x="0" y="253246"/>
                </a:lnTo>
                <a:cubicBezTo>
                  <a:pt x="0" y="113476"/>
                  <a:pt x="113476" y="0"/>
                  <a:pt x="253246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07513" y="1628012"/>
            <a:ext cx="615027" cy="506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9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2985" y="1664190"/>
            <a:ext cx="502874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que é o MATCH Pro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2985" y="1953614"/>
            <a:ext cx="501065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 global obrigatório de identificação e registro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8592" y="2283739"/>
            <a:ext cx="5589507" cy="9045"/>
          </a:xfrm>
          <a:custGeom>
            <a:avLst/>
            <a:gdLst/>
            <a:ahLst/>
            <a:cxnLst/>
            <a:rect l="l" t="t" r="r" b="b"/>
            <a:pathLst>
              <a:path w="5589507" h="9045">
                <a:moveTo>
                  <a:pt x="0" y="0"/>
                </a:moveTo>
                <a:lnTo>
                  <a:pt x="5589507" y="0"/>
                </a:lnTo>
                <a:lnTo>
                  <a:pt x="5589507" y="9045"/>
                </a:lnTo>
                <a:lnTo>
                  <a:pt x="0" y="9045"/>
                </a:lnTo>
                <a:lnTo>
                  <a:pt x="0" y="0"/>
                </a:lnTo>
                <a:close/>
              </a:path>
            </a:pathLst>
          </a:custGeom>
          <a:solidFill>
            <a:srgbClr val="8C8C8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238592" y="1628012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253246" y="0"/>
                </a:moveTo>
                <a:lnTo>
                  <a:pt x="253246" y="0"/>
                </a:lnTo>
                <a:cubicBezTo>
                  <a:pt x="393017" y="0"/>
                  <a:pt x="506493" y="113476"/>
                  <a:pt x="506493" y="253246"/>
                </a:cubicBezTo>
                <a:lnTo>
                  <a:pt x="506493" y="253246"/>
                </a:lnTo>
                <a:cubicBezTo>
                  <a:pt x="506493" y="393017"/>
                  <a:pt x="393017" y="506493"/>
                  <a:pt x="253246" y="506493"/>
                </a:cubicBezTo>
                <a:lnTo>
                  <a:pt x="253246" y="506493"/>
                </a:lnTo>
                <a:cubicBezTo>
                  <a:pt x="113476" y="506493"/>
                  <a:pt x="0" y="393017"/>
                  <a:pt x="0" y="253246"/>
                </a:cubicBezTo>
                <a:lnTo>
                  <a:pt x="0" y="253246"/>
                </a:lnTo>
                <a:cubicBezTo>
                  <a:pt x="0" y="113476"/>
                  <a:pt x="113476" y="0"/>
                  <a:pt x="253246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184325" y="1628012"/>
            <a:ext cx="615027" cy="506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9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89797" y="1664190"/>
            <a:ext cx="502874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Objetivos e Importância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89797" y="1953614"/>
            <a:ext cx="501065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Proteção do ecossistema e governança de risco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1780" y="3197234"/>
            <a:ext cx="5589507" cy="9045"/>
          </a:xfrm>
          <a:custGeom>
            <a:avLst/>
            <a:gdLst/>
            <a:ahLst/>
            <a:cxnLst/>
            <a:rect l="l" t="t" r="r" b="b"/>
            <a:pathLst>
              <a:path w="5589507" h="9045">
                <a:moveTo>
                  <a:pt x="0" y="0"/>
                </a:moveTo>
                <a:lnTo>
                  <a:pt x="5589507" y="0"/>
                </a:lnTo>
                <a:lnTo>
                  <a:pt x="5589507" y="9045"/>
                </a:lnTo>
                <a:lnTo>
                  <a:pt x="0" y="9045"/>
                </a:lnTo>
                <a:lnTo>
                  <a:pt x="0" y="0"/>
                </a:lnTo>
                <a:close/>
              </a:path>
            </a:pathLst>
          </a:custGeom>
          <a:solidFill>
            <a:srgbClr val="8C8C8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61780" y="2541507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253246" y="0"/>
                </a:moveTo>
                <a:lnTo>
                  <a:pt x="253246" y="0"/>
                </a:lnTo>
                <a:cubicBezTo>
                  <a:pt x="393017" y="0"/>
                  <a:pt x="506493" y="113476"/>
                  <a:pt x="506493" y="253246"/>
                </a:cubicBezTo>
                <a:lnTo>
                  <a:pt x="506493" y="253246"/>
                </a:lnTo>
                <a:cubicBezTo>
                  <a:pt x="506493" y="393017"/>
                  <a:pt x="393017" y="506493"/>
                  <a:pt x="253246" y="506493"/>
                </a:cubicBezTo>
                <a:lnTo>
                  <a:pt x="253246" y="506493"/>
                </a:lnTo>
                <a:cubicBezTo>
                  <a:pt x="113476" y="506493"/>
                  <a:pt x="0" y="393017"/>
                  <a:pt x="0" y="253246"/>
                </a:cubicBezTo>
                <a:lnTo>
                  <a:pt x="0" y="253246"/>
                </a:lnTo>
                <a:cubicBezTo>
                  <a:pt x="0" y="113476"/>
                  <a:pt x="113476" y="0"/>
                  <a:pt x="253246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07513" y="2541507"/>
            <a:ext cx="615027" cy="506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9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2985" y="2577685"/>
            <a:ext cx="502874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Regras Obrigatórias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2985" y="2867110"/>
            <a:ext cx="501065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Obrigações e responsabilidades do adquirente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38592" y="3197234"/>
            <a:ext cx="5589507" cy="9045"/>
          </a:xfrm>
          <a:custGeom>
            <a:avLst/>
            <a:gdLst/>
            <a:ahLst/>
            <a:cxnLst/>
            <a:rect l="l" t="t" r="r" b="b"/>
            <a:pathLst>
              <a:path w="5589507" h="9045">
                <a:moveTo>
                  <a:pt x="0" y="0"/>
                </a:moveTo>
                <a:lnTo>
                  <a:pt x="5589507" y="0"/>
                </a:lnTo>
                <a:lnTo>
                  <a:pt x="5589507" y="9045"/>
                </a:lnTo>
                <a:lnTo>
                  <a:pt x="0" y="9045"/>
                </a:lnTo>
                <a:lnTo>
                  <a:pt x="0" y="0"/>
                </a:lnTo>
                <a:close/>
              </a:path>
            </a:pathLst>
          </a:custGeom>
          <a:solidFill>
            <a:srgbClr val="8C8C8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238592" y="2541507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253246" y="0"/>
                </a:moveTo>
                <a:lnTo>
                  <a:pt x="253246" y="0"/>
                </a:lnTo>
                <a:cubicBezTo>
                  <a:pt x="393017" y="0"/>
                  <a:pt x="506493" y="113476"/>
                  <a:pt x="506493" y="253246"/>
                </a:cubicBezTo>
                <a:lnTo>
                  <a:pt x="506493" y="253246"/>
                </a:lnTo>
                <a:cubicBezTo>
                  <a:pt x="506493" y="393017"/>
                  <a:pt x="393017" y="506493"/>
                  <a:pt x="253246" y="506493"/>
                </a:cubicBezTo>
                <a:lnTo>
                  <a:pt x="253246" y="506493"/>
                </a:lnTo>
                <a:cubicBezTo>
                  <a:pt x="113476" y="506493"/>
                  <a:pt x="0" y="393017"/>
                  <a:pt x="0" y="253246"/>
                </a:cubicBezTo>
                <a:lnTo>
                  <a:pt x="0" y="253246"/>
                </a:lnTo>
                <a:cubicBezTo>
                  <a:pt x="0" y="113476"/>
                  <a:pt x="113476" y="0"/>
                  <a:pt x="253246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184325" y="2541507"/>
            <a:ext cx="615027" cy="506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9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89797" y="2577685"/>
            <a:ext cx="502874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 Codes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89797" y="2867110"/>
            <a:ext cx="501065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Motivos elegíveis para inclusão de estabelecimentos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1780" y="4110730"/>
            <a:ext cx="5589507" cy="9045"/>
          </a:xfrm>
          <a:custGeom>
            <a:avLst/>
            <a:gdLst/>
            <a:ahLst/>
            <a:cxnLst/>
            <a:rect l="l" t="t" r="r" b="b"/>
            <a:pathLst>
              <a:path w="5589507" h="9045">
                <a:moveTo>
                  <a:pt x="0" y="0"/>
                </a:moveTo>
                <a:lnTo>
                  <a:pt x="5589507" y="0"/>
                </a:lnTo>
                <a:lnTo>
                  <a:pt x="5589507" y="9045"/>
                </a:lnTo>
                <a:lnTo>
                  <a:pt x="0" y="9045"/>
                </a:lnTo>
                <a:lnTo>
                  <a:pt x="0" y="0"/>
                </a:lnTo>
                <a:close/>
              </a:path>
            </a:pathLst>
          </a:custGeom>
          <a:solidFill>
            <a:srgbClr val="8C8C8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361780" y="3455003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253246" y="0"/>
                </a:moveTo>
                <a:lnTo>
                  <a:pt x="253246" y="0"/>
                </a:lnTo>
                <a:cubicBezTo>
                  <a:pt x="393017" y="0"/>
                  <a:pt x="506493" y="113476"/>
                  <a:pt x="506493" y="253246"/>
                </a:cubicBezTo>
                <a:lnTo>
                  <a:pt x="506493" y="253246"/>
                </a:lnTo>
                <a:cubicBezTo>
                  <a:pt x="506493" y="393017"/>
                  <a:pt x="393017" y="506493"/>
                  <a:pt x="253246" y="506493"/>
                </a:cubicBezTo>
                <a:lnTo>
                  <a:pt x="253246" y="506493"/>
                </a:lnTo>
                <a:cubicBezTo>
                  <a:pt x="113476" y="506493"/>
                  <a:pt x="0" y="393017"/>
                  <a:pt x="0" y="253246"/>
                </a:cubicBezTo>
                <a:lnTo>
                  <a:pt x="0" y="253246"/>
                </a:lnTo>
                <a:cubicBezTo>
                  <a:pt x="0" y="113476"/>
                  <a:pt x="113476" y="0"/>
                  <a:pt x="253246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07513" y="3455003"/>
            <a:ext cx="615027" cy="506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9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2985" y="3491181"/>
            <a:ext cx="502874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Funcionamento do Matching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2985" y="3780605"/>
            <a:ext cx="501065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Exata, fonética e retroativa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38592" y="4110730"/>
            <a:ext cx="5589507" cy="9045"/>
          </a:xfrm>
          <a:custGeom>
            <a:avLst/>
            <a:gdLst/>
            <a:ahLst/>
            <a:cxnLst/>
            <a:rect l="l" t="t" r="r" b="b"/>
            <a:pathLst>
              <a:path w="5589507" h="9045">
                <a:moveTo>
                  <a:pt x="0" y="0"/>
                </a:moveTo>
                <a:lnTo>
                  <a:pt x="5589507" y="0"/>
                </a:lnTo>
                <a:lnTo>
                  <a:pt x="5589507" y="9045"/>
                </a:lnTo>
                <a:lnTo>
                  <a:pt x="0" y="9045"/>
                </a:lnTo>
                <a:lnTo>
                  <a:pt x="0" y="0"/>
                </a:lnTo>
                <a:close/>
              </a:path>
            </a:pathLst>
          </a:custGeom>
          <a:solidFill>
            <a:srgbClr val="8C8C8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238592" y="3455003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253246" y="0"/>
                </a:moveTo>
                <a:lnTo>
                  <a:pt x="253246" y="0"/>
                </a:lnTo>
                <a:cubicBezTo>
                  <a:pt x="393017" y="0"/>
                  <a:pt x="506493" y="113476"/>
                  <a:pt x="506493" y="253246"/>
                </a:cubicBezTo>
                <a:lnTo>
                  <a:pt x="506493" y="253246"/>
                </a:lnTo>
                <a:cubicBezTo>
                  <a:pt x="506493" y="393017"/>
                  <a:pt x="393017" y="506493"/>
                  <a:pt x="253246" y="506493"/>
                </a:cubicBezTo>
                <a:lnTo>
                  <a:pt x="253246" y="506493"/>
                </a:lnTo>
                <a:cubicBezTo>
                  <a:pt x="113476" y="506493"/>
                  <a:pt x="0" y="393017"/>
                  <a:pt x="0" y="253246"/>
                </a:cubicBezTo>
                <a:lnTo>
                  <a:pt x="0" y="253246"/>
                </a:lnTo>
                <a:cubicBezTo>
                  <a:pt x="0" y="113476"/>
                  <a:pt x="113476" y="0"/>
                  <a:pt x="253246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184325" y="3455003"/>
            <a:ext cx="615027" cy="506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9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89797" y="3491181"/>
            <a:ext cx="502874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Consultas Retroativas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89797" y="3780605"/>
            <a:ext cx="501065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Monitoramento contínuo e retenção de registros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1780" y="5024226"/>
            <a:ext cx="5589507" cy="9045"/>
          </a:xfrm>
          <a:custGeom>
            <a:avLst/>
            <a:gdLst/>
            <a:ahLst/>
            <a:cxnLst/>
            <a:rect l="l" t="t" r="r" b="b"/>
            <a:pathLst>
              <a:path w="5589507" h="9045">
                <a:moveTo>
                  <a:pt x="0" y="0"/>
                </a:moveTo>
                <a:lnTo>
                  <a:pt x="5589507" y="0"/>
                </a:lnTo>
                <a:lnTo>
                  <a:pt x="5589507" y="9045"/>
                </a:lnTo>
                <a:lnTo>
                  <a:pt x="0" y="9045"/>
                </a:lnTo>
                <a:lnTo>
                  <a:pt x="0" y="0"/>
                </a:lnTo>
                <a:close/>
              </a:path>
            </a:pathLst>
          </a:custGeom>
          <a:solidFill>
            <a:srgbClr val="8C8C8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361780" y="4368499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253246" y="0"/>
                </a:moveTo>
                <a:lnTo>
                  <a:pt x="253246" y="0"/>
                </a:lnTo>
                <a:cubicBezTo>
                  <a:pt x="393017" y="0"/>
                  <a:pt x="506493" y="113476"/>
                  <a:pt x="506493" y="253246"/>
                </a:cubicBezTo>
                <a:lnTo>
                  <a:pt x="506493" y="253246"/>
                </a:lnTo>
                <a:cubicBezTo>
                  <a:pt x="506493" y="393017"/>
                  <a:pt x="393017" y="506493"/>
                  <a:pt x="253246" y="506493"/>
                </a:cubicBezTo>
                <a:lnTo>
                  <a:pt x="253246" y="506493"/>
                </a:lnTo>
                <a:cubicBezTo>
                  <a:pt x="113476" y="506493"/>
                  <a:pt x="0" y="393017"/>
                  <a:pt x="0" y="253246"/>
                </a:cubicBezTo>
                <a:lnTo>
                  <a:pt x="0" y="253246"/>
                </a:lnTo>
                <a:cubicBezTo>
                  <a:pt x="0" y="113476"/>
                  <a:pt x="113476" y="0"/>
                  <a:pt x="253246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307513" y="4368499"/>
            <a:ext cx="615027" cy="506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9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12985" y="4404677"/>
            <a:ext cx="502874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Canais de Acesso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12985" y="4694101"/>
            <a:ext cx="501065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UI, API e Bulk File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38592" y="5024226"/>
            <a:ext cx="5589507" cy="9045"/>
          </a:xfrm>
          <a:custGeom>
            <a:avLst/>
            <a:gdLst/>
            <a:ahLst/>
            <a:cxnLst/>
            <a:rect l="l" t="t" r="r" b="b"/>
            <a:pathLst>
              <a:path w="5589507" h="9045">
                <a:moveTo>
                  <a:pt x="0" y="0"/>
                </a:moveTo>
                <a:lnTo>
                  <a:pt x="5589507" y="0"/>
                </a:lnTo>
                <a:lnTo>
                  <a:pt x="5589507" y="9045"/>
                </a:lnTo>
                <a:lnTo>
                  <a:pt x="0" y="9045"/>
                </a:lnTo>
                <a:lnTo>
                  <a:pt x="0" y="0"/>
                </a:lnTo>
                <a:close/>
              </a:path>
            </a:pathLst>
          </a:custGeom>
          <a:solidFill>
            <a:srgbClr val="8C8C8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6238592" y="4368499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253246" y="0"/>
                </a:moveTo>
                <a:lnTo>
                  <a:pt x="253246" y="0"/>
                </a:lnTo>
                <a:cubicBezTo>
                  <a:pt x="393017" y="0"/>
                  <a:pt x="506493" y="113476"/>
                  <a:pt x="506493" y="253246"/>
                </a:cubicBezTo>
                <a:lnTo>
                  <a:pt x="506493" y="253246"/>
                </a:lnTo>
                <a:cubicBezTo>
                  <a:pt x="506493" y="393017"/>
                  <a:pt x="393017" y="506493"/>
                  <a:pt x="253246" y="506493"/>
                </a:cubicBezTo>
                <a:lnTo>
                  <a:pt x="253246" y="506493"/>
                </a:lnTo>
                <a:cubicBezTo>
                  <a:pt x="113476" y="506493"/>
                  <a:pt x="0" y="393017"/>
                  <a:pt x="0" y="253246"/>
                </a:cubicBezTo>
                <a:lnTo>
                  <a:pt x="0" y="253246"/>
                </a:lnTo>
                <a:cubicBezTo>
                  <a:pt x="0" y="113476"/>
                  <a:pt x="113476" y="0"/>
                  <a:pt x="253246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184325" y="4368499"/>
            <a:ext cx="615027" cy="506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9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89797" y="4404677"/>
            <a:ext cx="502874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Integrações Técnicas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89797" y="4694101"/>
            <a:ext cx="501065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API, Bulk File e ambiente de testes MTF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61780" y="5937721"/>
            <a:ext cx="5589507" cy="9045"/>
          </a:xfrm>
          <a:custGeom>
            <a:avLst/>
            <a:gdLst/>
            <a:ahLst/>
            <a:cxnLst/>
            <a:rect l="l" t="t" r="r" b="b"/>
            <a:pathLst>
              <a:path w="5589507" h="9045">
                <a:moveTo>
                  <a:pt x="0" y="0"/>
                </a:moveTo>
                <a:lnTo>
                  <a:pt x="5589507" y="0"/>
                </a:lnTo>
                <a:lnTo>
                  <a:pt x="5589507" y="9045"/>
                </a:lnTo>
                <a:lnTo>
                  <a:pt x="0" y="9045"/>
                </a:lnTo>
                <a:lnTo>
                  <a:pt x="0" y="0"/>
                </a:lnTo>
                <a:close/>
              </a:path>
            </a:pathLst>
          </a:custGeom>
          <a:solidFill>
            <a:srgbClr val="8C8C8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361780" y="5281994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253246" y="0"/>
                </a:moveTo>
                <a:lnTo>
                  <a:pt x="253246" y="0"/>
                </a:lnTo>
                <a:cubicBezTo>
                  <a:pt x="393017" y="0"/>
                  <a:pt x="506493" y="113476"/>
                  <a:pt x="506493" y="253246"/>
                </a:cubicBezTo>
                <a:lnTo>
                  <a:pt x="506493" y="253246"/>
                </a:lnTo>
                <a:cubicBezTo>
                  <a:pt x="506493" y="393017"/>
                  <a:pt x="393017" y="506493"/>
                  <a:pt x="253246" y="506493"/>
                </a:cubicBezTo>
                <a:lnTo>
                  <a:pt x="253246" y="506493"/>
                </a:lnTo>
                <a:cubicBezTo>
                  <a:pt x="113476" y="506493"/>
                  <a:pt x="0" y="393017"/>
                  <a:pt x="0" y="253246"/>
                </a:cubicBezTo>
                <a:lnTo>
                  <a:pt x="0" y="253246"/>
                </a:lnTo>
                <a:cubicBezTo>
                  <a:pt x="0" y="113476"/>
                  <a:pt x="113476" y="0"/>
                  <a:pt x="253246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307513" y="5281994"/>
            <a:ext cx="615027" cy="506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9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12985" y="5318172"/>
            <a:ext cx="502874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Penalidades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12985" y="5607596"/>
            <a:ext cx="501065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Noncompliance assessments e multas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38592" y="5937721"/>
            <a:ext cx="5589507" cy="9045"/>
          </a:xfrm>
          <a:custGeom>
            <a:avLst/>
            <a:gdLst/>
            <a:ahLst/>
            <a:cxnLst/>
            <a:rect l="l" t="t" r="r" b="b"/>
            <a:pathLst>
              <a:path w="5589507" h="9045">
                <a:moveTo>
                  <a:pt x="0" y="0"/>
                </a:moveTo>
                <a:lnTo>
                  <a:pt x="5589507" y="0"/>
                </a:lnTo>
                <a:lnTo>
                  <a:pt x="5589507" y="9045"/>
                </a:lnTo>
                <a:lnTo>
                  <a:pt x="0" y="9045"/>
                </a:lnTo>
                <a:lnTo>
                  <a:pt x="0" y="0"/>
                </a:lnTo>
                <a:close/>
              </a:path>
            </a:pathLst>
          </a:custGeom>
          <a:solidFill>
            <a:srgbClr val="8C8C8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6238592" y="5281994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253246" y="0"/>
                </a:moveTo>
                <a:lnTo>
                  <a:pt x="253246" y="0"/>
                </a:lnTo>
                <a:cubicBezTo>
                  <a:pt x="393017" y="0"/>
                  <a:pt x="506493" y="113476"/>
                  <a:pt x="506493" y="253246"/>
                </a:cubicBezTo>
                <a:lnTo>
                  <a:pt x="506493" y="253246"/>
                </a:lnTo>
                <a:cubicBezTo>
                  <a:pt x="506493" y="393017"/>
                  <a:pt x="393017" y="506493"/>
                  <a:pt x="253246" y="506493"/>
                </a:cubicBezTo>
                <a:lnTo>
                  <a:pt x="253246" y="506493"/>
                </a:lnTo>
                <a:cubicBezTo>
                  <a:pt x="113476" y="506493"/>
                  <a:pt x="0" y="393017"/>
                  <a:pt x="0" y="253246"/>
                </a:cubicBezTo>
                <a:lnTo>
                  <a:pt x="0" y="253246"/>
                </a:lnTo>
                <a:cubicBezTo>
                  <a:pt x="0" y="113476"/>
                  <a:pt x="113476" y="0"/>
                  <a:pt x="253246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6184325" y="5281994"/>
            <a:ext cx="615027" cy="506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9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89797" y="5318172"/>
            <a:ext cx="502874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Boas Práticas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89797" y="5607596"/>
            <a:ext cx="501065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Integração e governança recomendadas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61780" y="6851217"/>
            <a:ext cx="5589507" cy="9045"/>
          </a:xfrm>
          <a:custGeom>
            <a:avLst/>
            <a:gdLst/>
            <a:ahLst/>
            <a:cxnLst/>
            <a:rect l="l" t="t" r="r" b="b"/>
            <a:pathLst>
              <a:path w="5589507" h="9045">
                <a:moveTo>
                  <a:pt x="0" y="0"/>
                </a:moveTo>
                <a:lnTo>
                  <a:pt x="5589507" y="0"/>
                </a:lnTo>
                <a:lnTo>
                  <a:pt x="5589507" y="9045"/>
                </a:lnTo>
                <a:lnTo>
                  <a:pt x="0" y="9045"/>
                </a:lnTo>
                <a:lnTo>
                  <a:pt x="0" y="0"/>
                </a:lnTo>
                <a:close/>
              </a:path>
            </a:pathLst>
          </a:custGeom>
          <a:solidFill>
            <a:srgbClr val="8C8C8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361780" y="6195490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253246" y="0"/>
                </a:moveTo>
                <a:lnTo>
                  <a:pt x="253246" y="0"/>
                </a:lnTo>
                <a:cubicBezTo>
                  <a:pt x="393017" y="0"/>
                  <a:pt x="506493" y="113476"/>
                  <a:pt x="506493" y="253246"/>
                </a:cubicBezTo>
                <a:lnTo>
                  <a:pt x="506493" y="253246"/>
                </a:lnTo>
                <a:cubicBezTo>
                  <a:pt x="506493" y="393017"/>
                  <a:pt x="393017" y="506493"/>
                  <a:pt x="253246" y="506493"/>
                </a:cubicBezTo>
                <a:lnTo>
                  <a:pt x="253246" y="506493"/>
                </a:lnTo>
                <a:cubicBezTo>
                  <a:pt x="113476" y="506493"/>
                  <a:pt x="0" y="393017"/>
                  <a:pt x="0" y="253246"/>
                </a:cubicBezTo>
                <a:lnTo>
                  <a:pt x="0" y="253246"/>
                </a:lnTo>
                <a:cubicBezTo>
                  <a:pt x="0" y="113476"/>
                  <a:pt x="113476" y="0"/>
                  <a:pt x="253246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307513" y="6195490"/>
            <a:ext cx="615027" cy="506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9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12985" y="6231668"/>
            <a:ext cx="502874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Fluxo de Onboarding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12985" y="6521092"/>
            <a:ext cx="501065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Processo obrigatório de consulta MATCH Pro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238592" y="6851217"/>
            <a:ext cx="5589507" cy="9045"/>
          </a:xfrm>
          <a:custGeom>
            <a:avLst/>
            <a:gdLst/>
            <a:ahLst/>
            <a:cxnLst/>
            <a:rect l="l" t="t" r="r" b="b"/>
            <a:pathLst>
              <a:path w="5589507" h="9045">
                <a:moveTo>
                  <a:pt x="0" y="0"/>
                </a:moveTo>
                <a:lnTo>
                  <a:pt x="5589507" y="0"/>
                </a:lnTo>
                <a:lnTo>
                  <a:pt x="5589507" y="9045"/>
                </a:lnTo>
                <a:lnTo>
                  <a:pt x="0" y="9045"/>
                </a:lnTo>
                <a:lnTo>
                  <a:pt x="0" y="0"/>
                </a:lnTo>
                <a:close/>
              </a:path>
            </a:pathLst>
          </a:custGeom>
          <a:solidFill>
            <a:srgbClr val="8C8C8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Shape 59"/>
          <p:cNvSpPr/>
          <p:nvPr/>
        </p:nvSpPr>
        <p:spPr>
          <a:xfrm>
            <a:off x="6238592" y="6195490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253246" y="0"/>
                </a:moveTo>
                <a:lnTo>
                  <a:pt x="253246" y="0"/>
                </a:lnTo>
                <a:cubicBezTo>
                  <a:pt x="393017" y="0"/>
                  <a:pt x="506493" y="113476"/>
                  <a:pt x="506493" y="253246"/>
                </a:cubicBezTo>
                <a:lnTo>
                  <a:pt x="506493" y="253246"/>
                </a:lnTo>
                <a:cubicBezTo>
                  <a:pt x="506493" y="393017"/>
                  <a:pt x="393017" y="506493"/>
                  <a:pt x="253246" y="506493"/>
                </a:cubicBezTo>
                <a:lnTo>
                  <a:pt x="253246" y="506493"/>
                </a:lnTo>
                <a:cubicBezTo>
                  <a:pt x="113476" y="506493"/>
                  <a:pt x="0" y="393017"/>
                  <a:pt x="0" y="253246"/>
                </a:cubicBezTo>
                <a:lnTo>
                  <a:pt x="0" y="253246"/>
                </a:lnTo>
                <a:cubicBezTo>
                  <a:pt x="0" y="113476"/>
                  <a:pt x="113476" y="0"/>
                  <a:pt x="253246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6184325" y="6195490"/>
            <a:ext cx="615027" cy="506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9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889797" y="6231668"/>
            <a:ext cx="502874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Próximos Passos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889797" y="6521092"/>
            <a:ext cx="501065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Suporte e implementação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81000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que é o MATCH Pro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573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Mastercard Alert To Control High-risk Establishments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76400"/>
            <a:ext cx="6762750" cy="2343150"/>
          </a:xfrm>
          <a:custGeom>
            <a:avLst/>
            <a:gdLst/>
            <a:ahLst/>
            <a:cxnLst/>
            <a:rect l="l" t="t" r="r" b="b"/>
            <a:pathLst>
              <a:path w="6762750" h="2343150">
                <a:moveTo>
                  <a:pt x="38100" y="0"/>
                </a:moveTo>
                <a:lnTo>
                  <a:pt x="6724650" y="0"/>
                </a:lnTo>
                <a:cubicBezTo>
                  <a:pt x="6745692" y="0"/>
                  <a:pt x="6762750" y="17058"/>
                  <a:pt x="6762750" y="38100"/>
                </a:cubicBezTo>
                <a:lnTo>
                  <a:pt x="6762750" y="2305050"/>
                </a:lnTo>
                <a:cubicBezTo>
                  <a:pt x="6762750" y="2326092"/>
                  <a:pt x="6745692" y="2343150"/>
                  <a:pt x="6724650" y="2343150"/>
                </a:cubicBezTo>
                <a:lnTo>
                  <a:pt x="38100" y="2343150"/>
                </a:lnTo>
                <a:cubicBezTo>
                  <a:pt x="17058" y="2343150"/>
                  <a:pt x="0" y="2326092"/>
                  <a:pt x="0" y="2305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47700" y="19050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119188" y="1905000"/>
            <a:ext cx="2809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 Global Obrigatório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362200"/>
            <a:ext cx="63817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MATCH Pro é o sistema da Mastercard para </a:t>
            </a: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registro e consulta de estabelecimentos comerciais e indivíduos associados a alto risco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com foco na integridade do ecossistema de aceitação.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3257550"/>
            <a:ext cx="6305550" cy="533400"/>
          </a:xfrm>
          <a:custGeom>
            <a:avLst/>
            <a:gdLst/>
            <a:ahLst/>
            <a:cxnLst/>
            <a:rect l="l" t="t" r="r" b="b"/>
            <a:pathLst>
              <a:path w="6305550" h="533400">
                <a:moveTo>
                  <a:pt x="38101" y="0"/>
                </a:moveTo>
                <a:lnTo>
                  <a:pt x="6267449" y="0"/>
                </a:lnTo>
                <a:cubicBezTo>
                  <a:pt x="6288492" y="0"/>
                  <a:pt x="6305550" y="17058"/>
                  <a:pt x="6305550" y="38101"/>
                </a:cubicBezTo>
                <a:lnTo>
                  <a:pt x="6305550" y="495299"/>
                </a:lnTo>
                <a:cubicBezTo>
                  <a:pt x="6305550" y="516342"/>
                  <a:pt x="6288492" y="533400"/>
                  <a:pt x="626744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6B0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81050" y="3448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009650" y="3409950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é opcional: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uso obrigatório para todos os adquirentes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43291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95300" y="44434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90600" y="4329113"/>
            <a:ext cx="624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Apoio à Decisão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0600" y="4672013"/>
            <a:ext cx="6229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MATCH Pro </a:t>
            </a: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é um motor de decisão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nem um "score". A responsabilidade final da decisão é sempre do adquirente, baseada em evidências.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54816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95300" y="55959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90600" y="5481638"/>
            <a:ext cx="624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Substitui o MATCH Legado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0600" y="5824538"/>
            <a:ext cx="6229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Evolução com </a:t>
            </a: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lógica de matching mais sofisticada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ampliação de campos, janela maior de consultas (365 dias) e novos canais (UI, API, bulk).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76071" y="1676400"/>
            <a:ext cx="4438650" cy="2324100"/>
          </a:xfrm>
          <a:custGeom>
            <a:avLst/>
            <a:gdLst/>
            <a:ahLst/>
            <a:cxnLst/>
            <a:rect l="l" t="t" r="r" b="b"/>
            <a:pathLst>
              <a:path w="4438650" h="2324100">
                <a:moveTo>
                  <a:pt x="38092" y="0"/>
                </a:moveTo>
                <a:lnTo>
                  <a:pt x="4400558" y="0"/>
                </a:lnTo>
                <a:cubicBezTo>
                  <a:pt x="4421582" y="0"/>
                  <a:pt x="4438650" y="17068"/>
                  <a:pt x="4438650" y="38092"/>
                </a:cubicBezTo>
                <a:lnTo>
                  <a:pt x="4438650" y="2286008"/>
                </a:lnTo>
                <a:cubicBezTo>
                  <a:pt x="4438650" y="2307046"/>
                  <a:pt x="4421596" y="2324100"/>
                  <a:pt x="4400558" y="2324100"/>
                </a:cubicBezTo>
                <a:lnTo>
                  <a:pt x="38092" y="2324100"/>
                </a:lnTo>
                <a:cubicBezTo>
                  <a:pt x="17068" y="2324100"/>
                  <a:pt x="0" y="2307032"/>
                  <a:pt x="0" y="2286008"/>
                </a:cubicBezTo>
                <a:lnTo>
                  <a:pt x="0" y="38092"/>
                </a:lnTo>
                <a:cubicBezTo>
                  <a:pt x="0" y="17054"/>
                  <a:pt x="17054" y="0"/>
                  <a:pt x="38092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7642771" y="202406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966621" y="2014538"/>
            <a:ext cx="373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Objetivo Central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04671" y="2547938"/>
            <a:ext cx="406717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Desenvolver </a:t>
            </a:r>
            <a:r>
              <a:rPr lang="en-US" sz="135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informação incremental de risco</a:t>
            </a:r>
            <a:r>
              <a:rPr lang="en-US" sz="13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antes de entrar em um estabelecimento, permitindo uma decisão de onboarding independente e baseada em evidências.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95121" y="4152900"/>
            <a:ext cx="4419600" cy="2324100"/>
          </a:xfrm>
          <a:custGeom>
            <a:avLst/>
            <a:gdLst/>
            <a:ahLst/>
            <a:cxnLst/>
            <a:rect l="l" t="t" r="r" b="b"/>
            <a:pathLst>
              <a:path w="4419600" h="2324100">
                <a:moveTo>
                  <a:pt x="38092" y="0"/>
                </a:moveTo>
                <a:lnTo>
                  <a:pt x="4381508" y="0"/>
                </a:lnTo>
                <a:cubicBezTo>
                  <a:pt x="4402532" y="0"/>
                  <a:pt x="4419600" y="17068"/>
                  <a:pt x="4419600" y="38092"/>
                </a:cubicBezTo>
                <a:lnTo>
                  <a:pt x="4419600" y="2286008"/>
                </a:lnTo>
                <a:cubicBezTo>
                  <a:pt x="4419600" y="2307046"/>
                  <a:pt x="4402546" y="2324100"/>
                  <a:pt x="4381508" y="2324100"/>
                </a:cubicBezTo>
                <a:lnTo>
                  <a:pt x="38092" y="2324100"/>
                </a:lnTo>
                <a:cubicBezTo>
                  <a:pt x="17068" y="2324100"/>
                  <a:pt x="0" y="2307032"/>
                  <a:pt x="0" y="2286008"/>
                </a:cubicBezTo>
                <a:lnTo>
                  <a:pt x="0" y="38092"/>
                </a:lnTo>
                <a:cubicBezTo>
                  <a:pt x="0" y="17054"/>
                  <a:pt x="17054" y="0"/>
                  <a:pt x="38092" y="0"/>
                </a:cubicBezTo>
                <a:close/>
              </a:path>
            </a:pathLst>
          </a:custGeom>
          <a:solidFill>
            <a:srgbClr val="FF6B0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7395121" y="4152900"/>
            <a:ext cx="38100" cy="2324100"/>
          </a:xfrm>
          <a:custGeom>
            <a:avLst/>
            <a:gdLst/>
            <a:ahLst/>
            <a:cxnLst/>
            <a:rect l="l" t="t" r="r" b="b"/>
            <a:pathLst>
              <a:path w="38100" h="2324100">
                <a:moveTo>
                  <a:pt x="38100" y="0"/>
                </a:moveTo>
                <a:lnTo>
                  <a:pt x="38100" y="0"/>
                </a:lnTo>
                <a:lnTo>
                  <a:pt x="38100" y="2324100"/>
                </a:lnTo>
                <a:lnTo>
                  <a:pt x="38100" y="2324100"/>
                </a:lnTo>
                <a:cubicBezTo>
                  <a:pt x="17072" y="2324100"/>
                  <a:pt x="0" y="2307028"/>
                  <a:pt x="0" y="2286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7654677" y="45720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63103" y="57076"/>
                </a:moveTo>
                <a:lnTo>
                  <a:pt x="56145" y="50118"/>
                </a:lnTo>
                <a:cubicBezTo>
                  <a:pt x="51495" y="45467"/>
                  <a:pt x="51495" y="37914"/>
                  <a:pt x="56145" y="33263"/>
                </a:cubicBezTo>
                <a:lnTo>
                  <a:pt x="98822" y="-9451"/>
                </a:lnTo>
                <a:cubicBezTo>
                  <a:pt x="103473" y="-14101"/>
                  <a:pt x="111026" y="-14101"/>
                  <a:pt x="115677" y="-9451"/>
                </a:cubicBezTo>
                <a:lnTo>
                  <a:pt x="122634" y="-2456"/>
                </a:lnTo>
                <a:cubicBezTo>
                  <a:pt x="127285" y="2195"/>
                  <a:pt x="127285" y="9748"/>
                  <a:pt x="122634" y="14399"/>
                </a:cubicBezTo>
                <a:lnTo>
                  <a:pt x="79958" y="57076"/>
                </a:lnTo>
                <a:cubicBezTo>
                  <a:pt x="75307" y="61726"/>
                  <a:pt x="67754" y="61726"/>
                  <a:pt x="63103" y="57076"/>
                </a:cubicBezTo>
                <a:close/>
                <a:moveTo>
                  <a:pt x="102691" y="78767"/>
                </a:moveTo>
                <a:lnTo>
                  <a:pt x="91008" y="67084"/>
                </a:lnTo>
                <a:lnTo>
                  <a:pt x="132680" y="25412"/>
                </a:lnTo>
                <a:lnTo>
                  <a:pt x="177105" y="69838"/>
                </a:lnTo>
                <a:lnTo>
                  <a:pt x="135434" y="111509"/>
                </a:lnTo>
                <a:lnTo>
                  <a:pt x="123751" y="99826"/>
                </a:lnTo>
                <a:lnTo>
                  <a:pt x="37430" y="186147"/>
                </a:lnTo>
                <a:cubicBezTo>
                  <a:pt x="31626" y="191951"/>
                  <a:pt x="22213" y="191951"/>
                  <a:pt x="16371" y="186147"/>
                </a:cubicBezTo>
                <a:cubicBezTo>
                  <a:pt x="10530" y="180342"/>
                  <a:pt x="10567" y="170929"/>
                  <a:pt x="16371" y="165088"/>
                </a:cubicBezTo>
                <a:lnTo>
                  <a:pt x="102691" y="78767"/>
                </a:lnTo>
                <a:close/>
                <a:moveTo>
                  <a:pt x="145442" y="139378"/>
                </a:moveTo>
                <a:cubicBezTo>
                  <a:pt x="140791" y="134727"/>
                  <a:pt x="140791" y="127174"/>
                  <a:pt x="145442" y="122523"/>
                </a:cubicBezTo>
                <a:lnTo>
                  <a:pt x="188119" y="79846"/>
                </a:lnTo>
                <a:cubicBezTo>
                  <a:pt x="192770" y="75195"/>
                  <a:pt x="200323" y="75195"/>
                  <a:pt x="204974" y="79846"/>
                </a:cubicBezTo>
                <a:lnTo>
                  <a:pt x="211931" y="86804"/>
                </a:lnTo>
                <a:cubicBezTo>
                  <a:pt x="216582" y="91455"/>
                  <a:pt x="216582" y="99008"/>
                  <a:pt x="211931" y="103659"/>
                </a:cubicBezTo>
                <a:lnTo>
                  <a:pt x="169255" y="146372"/>
                </a:lnTo>
                <a:cubicBezTo>
                  <a:pt x="164604" y="151023"/>
                  <a:pt x="157051" y="151023"/>
                  <a:pt x="152400" y="146372"/>
                </a:cubicBezTo>
                <a:lnTo>
                  <a:pt x="145442" y="139415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880896" y="4533900"/>
            <a:ext cx="3800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Natureza Regulatória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42771" y="4953000"/>
            <a:ext cx="4019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uso do MATCH Pro é </a:t>
            </a: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obrigatório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faz parte das responsabilidades formais impostas pela Mastercard.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61821" y="5648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7890421" y="5600700"/>
            <a:ext cx="3771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Falhas em consultar ou adicionar estabelecimentos elegíveis sujeitam a penalidades.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321" y="408385"/>
            <a:ext cx="544514" cy="34032"/>
          </a:xfrm>
          <a:custGeom>
            <a:avLst/>
            <a:gdLst/>
            <a:ahLst/>
            <a:cxnLst/>
            <a:rect l="l" t="t" r="r" b="b"/>
            <a:pathLst>
              <a:path w="544514" h="34032">
                <a:moveTo>
                  <a:pt x="0" y="0"/>
                </a:moveTo>
                <a:lnTo>
                  <a:pt x="544514" y="0"/>
                </a:lnTo>
                <a:lnTo>
                  <a:pt x="544514" y="34032"/>
                </a:lnTo>
                <a:lnTo>
                  <a:pt x="0" y="34032"/>
                </a:lnTo>
                <a:lnTo>
                  <a:pt x="0" y="0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20963" y="340321"/>
            <a:ext cx="1999386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kern="0" spc="188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Objetivos Estratégicos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0321" y="612578"/>
            <a:ext cx="11715551" cy="408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16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Objetivos e Importância do Programa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0321" y="1123059"/>
            <a:ext cx="11596438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Proteção do ecossistema e governança de risco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0321" y="1565477"/>
            <a:ext cx="2195070" cy="2348215"/>
          </a:xfrm>
          <a:custGeom>
            <a:avLst/>
            <a:gdLst/>
            <a:ahLst/>
            <a:cxnLst/>
            <a:rect l="l" t="t" r="r" b="b"/>
            <a:pathLst>
              <a:path w="2195070" h="2348215">
                <a:moveTo>
                  <a:pt x="34024" y="0"/>
                </a:moveTo>
                <a:lnTo>
                  <a:pt x="2161047" y="0"/>
                </a:lnTo>
                <a:cubicBezTo>
                  <a:pt x="2179838" y="0"/>
                  <a:pt x="2195070" y="15233"/>
                  <a:pt x="2195070" y="34024"/>
                </a:cubicBezTo>
                <a:lnTo>
                  <a:pt x="2195070" y="2314191"/>
                </a:lnTo>
                <a:cubicBezTo>
                  <a:pt x="2195070" y="2332982"/>
                  <a:pt x="2179838" y="2348215"/>
                  <a:pt x="2161047" y="2348215"/>
                </a:cubicBezTo>
                <a:lnTo>
                  <a:pt x="34024" y="2348215"/>
                </a:lnTo>
                <a:cubicBezTo>
                  <a:pt x="15233" y="2348215"/>
                  <a:pt x="0" y="2332982"/>
                  <a:pt x="0" y="2314191"/>
                </a:cubicBezTo>
                <a:lnTo>
                  <a:pt x="0" y="34024"/>
                </a:lnTo>
                <a:cubicBezTo>
                  <a:pt x="0" y="15245"/>
                  <a:pt x="15245" y="0"/>
                  <a:pt x="34024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10482" y="1735637"/>
            <a:ext cx="408385" cy="408385"/>
          </a:xfrm>
          <a:custGeom>
            <a:avLst/>
            <a:gdLst/>
            <a:ahLst/>
            <a:cxnLst/>
            <a:rect l="l" t="t" r="r" b="b"/>
            <a:pathLst>
              <a:path w="408385" h="408385">
                <a:moveTo>
                  <a:pt x="34031" y="0"/>
                </a:moveTo>
                <a:lnTo>
                  <a:pt x="374354" y="0"/>
                </a:lnTo>
                <a:cubicBezTo>
                  <a:pt x="393149" y="0"/>
                  <a:pt x="408385" y="15236"/>
                  <a:pt x="408385" y="34031"/>
                </a:cubicBezTo>
                <a:lnTo>
                  <a:pt x="408385" y="374354"/>
                </a:lnTo>
                <a:cubicBezTo>
                  <a:pt x="408385" y="393149"/>
                  <a:pt x="393149" y="408385"/>
                  <a:pt x="374354" y="408385"/>
                </a:cubicBezTo>
                <a:lnTo>
                  <a:pt x="34031" y="408385"/>
                </a:lnTo>
                <a:cubicBezTo>
                  <a:pt x="15236" y="408385"/>
                  <a:pt x="0" y="393149"/>
                  <a:pt x="0" y="374354"/>
                </a:cubicBezTo>
                <a:lnTo>
                  <a:pt x="0" y="34031"/>
                </a:lnTo>
                <a:cubicBezTo>
                  <a:pt x="0" y="15236"/>
                  <a:pt x="15236" y="0"/>
                  <a:pt x="34031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12578" y="1837733"/>
            <a:ext cx="204193" cy="204193"/>
          </a:xfrm>
          <a:custGeom>
            <a:avLst/>
            <a:gdLst/>
            <a:ahLst/>
            <a:cxnLst/>
            <a:rect l="l" t="t" r="r" b="b"/>
            <a:pathLst>
              <a:path w="204193" h="204193">
                <a:moveTo>
                  <a:pt x="101059" y="1157"/>
                </a:moveTo>
                <a:cubicBezTo>
                  <a:pt x="99384" y="399"/>
                  <a:pt x="97590" y="0"/>
                  <a:pt x="95715" y="0"/>
                </a:cubicBezTo>
                <a:cubicBezTo>
                  <a:pt x="93841" y="0"/>
                  <a:pt x="92046" y="399"/>
                  <a:pt x="90371" y="1157"/>
                </a:cubicBezTo>
                <a:lnTo>
                  <a:pt x="15275" y="33022"/>
                </a:lnTo>
                <a:cubicBezTo>
                  <a:pt x="6501" y="36731"/>
                  <a:pt x="-40" y="45385"/>
                  <a:pt x="0" y="55834"/>
                </a:cubicBezTo>
                <a:cubicBezTo>
                  <a:pt x="199" y="95396"/>
                  <a:pt x="16471" y="167781"/>
                  <a:pt x="85187" y="200683"/>
                </a:cubicBezTo>
                <a:cubicBezTo>
                  <a:pt x="91847" y="203874"/>
                  <a:pt x="99584" y="203874"/>
                  <a:pt x="106244" y="200683"/>
                </a:cubicBezTo>
                <a:cubicBezTo>
                  <a:pt x="174999" y="167781"/>
                  <a:pt x="191271" y="95396"/>
                  <a:pt x="191431" y="55834"/>
                </a:cubicBezTo>
                <a:cubicBezTo>
                  <a:pt x="191470" y="45385"/>
                  <a:pt x="184930" y="36731"/>
                  <a:pt x="176156" y="33022"/>
                </a:cubicBezTo>
                <a:lnTo>
                  <a:pt x="101059" y="1157"/>
                </a:lnTo>
                <a:close/>
                <a:moveTo>
                  <a:pt x="95715" y="51048"/>
                </a:moveTo>
                <a:cubicBezTo>
                  <a:pt x="101020" y="51048"/>
                  <a:pt x="105287" y="55315"/>
                  <a:pt x="105287" y="60620"/>
                </a:cubicBezTo>
                <a:cubicBezTo>
                  <a:pt x="105287" y="69753"/>
                  <a:pt x="116334" y="74339"/>
                  <a:pt x="122795" y="67878"/>
                </a:cubicBezTo>
                <a:cubicBezTo>
                  <a:pt x="126544" y="64129"/>
                  <a:pt x="132606" y="64129"/>
                  <a:pt x="136315" y="67878"/>
                </a:cubicBezTo>
                <a:cubicBezTo>
                  <a:pt x="140023" y="71627"/>
                  <a:pt x="140063" y="77689"/>
                  <a:pt x="136315" y="81398"/>
                </a:cubicBezTo>
                <a:cubicBezTo>
                  <a:pt x="129854" y="87859"/>
                  <a:pt x="134440" y="98906"/>
                  <a:pt x="143573" y="98906"/>
                </a:cubicBezTo>
                <a:cubicBezTo>
                  <a:pt x="148877" y="98906"/>
                  <a:pt x="153144" y="103173"/>
                  <a:pt x="153144" y="108477"/>
                </a:cubicBezTo>
                <a:cubicBezTo>
                  <a:pt x="153144" y="113782"/>
                  <a:pt x="148877" y="118049"/>
                  <a:pt x="143573" y="118049"/>
                </a:cubicBezTo>
                <a:cubicBezTo>
                  <a:pt x="134440" y="118049"/>
                  <a:pt x="129854" y="129096"/>
                  <a:pt x="136315" y="135557"/>
                </a:cubicBezTo>
                <a:cubicBezTo>
                  <a:pt x="140063" y="139306"/>
                  <a:pt x="140063" y="145368"/>
                  <a:pt x="136315" y="149077"/>
                </a:cubicBezTo>
                <a:cubicBezTo>
                  <a:pt x="132566" y="152786"/>
                  <a:pt x="126504" y="152825"/>
                  <a:pt x="122795" y="149077"/>
                </a:cubicBezTo>
                <a:cubicBezTo>
                  <a:pt x="116334" y="142616"/>
                  <a:pt x="105287" y="147202"/>
                  <a:pt x="105287" y="156335"/>
                </a:cubicBezTo>
                <a:cubicBezTo>
                  <a:pt x="105287" y="161639"/>
                  <a:pt x="101020" y="165906"/>
                  <a:pt x="95715" y="165906"/>
                </a:cubicBezTo>
                <a:cubicBezTo>
                  <a:pt x="90411" y="165906"/>
                  <a:pt x="86144" y="161639"/>
                  <a:pt x="86144" y="156335"/>
                </a:cubicBezTo>
                <a:cubicBezTo>
                  <a:pt x="86144" y="147202"/>
                  <a:pt x="75097" y="142616"/>
                  <a:pt x="68636" y="149077"/>
                </a:cubicBezTo>
                <a:cubicBezTo>
                  <a:pt x="64887" y="152825"/>
                  <a:pt x="58825" y="152825"/>
                  <a:pt x="55116" y="149077"/>
                </a:cubicBezTo>
                <a:cubicBezTo>
                  <a:pt x="51407" y="145328"/>
                  <a:pt x="51367" y="139266"/>
                  <a:pt x="55116" y="135557"/>
                </a:cubicBezTo>
                <a:cubicBezTo>
                  <a:pt x="61577" y="129096"/>
                  <a:pt x="56990" y="118049"/>
                  <a:pt x="47858" y="118049"/>
                </a:cubicBezTo>
                <a:cubicBezTo>
                  <a:pt x="42553" y="118049"/>
                  <a:pt x="38286" y="113782"/>
                  <a:pt x="38286" y="108477"/>
                </a:cubicBezTo>
                <a:cubicBezTo>
                  <a:pt x="38286" y="103173"/>
                  <a:pt x="42553" y="98906"/>
                  <a:pt x="47858" y="98906"/>
                </a:cubicBezTo>
                <a:cubicBezTo>
                  <a:pt x="56990" y="98906"/>
                  <a:pt x="61577" y="87859"/>
                  <a:pt x="55116" y="81398"/>
                </a:cubicBezTo>
                <a:cubicBezTo>
                  <a:pt x="51367" y="77649"/>
                  <a:pt x="51367" y="71587"/>
                  <a:pt x="55116" y="67878"/>
                </a:cubicBezTo>
                <a:cubicBezTo>
                  <a:pt x="58865" y="64169"/>
                  <a:pt x="64927" y="64129"/>
                  <a:pt x="68636" y="67878"/>
                </a:cubicBezTo>
                <a:cubicBezTo>
                  <a:pt x="75097" y="74339"/>
                  <a:pt x="86144" y="69753"/>
                  <a:pt x="86144" y="60620"/>
                </a:cubicBezTo>
                <a:cubicBezTo>
                  <a:pt x="86144" y="55315"/>
                  <a:pt x="90411" y="51048"/>
                  <a:pt x="95715" y="51048"/>
                </a:cubicBezTo>
                <a:close/>
                <a:moveTo>
                  <a:pt x="82953" y="105287"/>
                </a:moveTo>
                <a:cubicBezTo>
                  <a:pt x="88236" y="105287"/>
                  <a:pt x="92525" y="100998"/>
                  <a:pt x="92525" y="95715"/>
                </a:cubicBezTo>
                <a:cubicBezTo>
                  <a:pt x="92525" y="90433"/>
                  <a:pt x="88236" y="86144"/>
                  <a:pt x="82953" y="86144"/>
                </a:cubicBezTo>
                <a:cubicBezTo>
                  <a:pt x="77671" y="86144"/>
                  <a:pt x="73382" y="90433"/>
                  <a:pt x="73382" y="95715"/>
                </a:cubicBezTo>
                <a:cubicBezTo>
                  <a:pt x="73382" y="100998"/>
                  <a:pt x="77671" y="105287"/>
                  <a:pt x="82953" y="105287"/>
                </a:cubicBezTo>
                <a:close/>
                <a:moveTo>
                  <a:pt x="118049" y="121239"/>
                </a:moveTo>
                <a:cubicBezTo>
                  <a:pt x="118049" y="115957"/>
                  <a:pt x="113760" y="111668"/>
                  <a:pt x="108477" y="111668"/>
                </a:cubicBezTo>
                <a:cubicBezTo>
                  <a:pt x="103195" y="111668"/>
                  <a:pt x="98906" y="115957"/>
                  <a:pt x="98906" y="121239"/>
                </a:cubicBezTo>
                <a:cubicBezTo>
                  <a:pt x="98906" y="126522"/>
                  <a:pt x="103195" y="130811"/>
                  <a:pt x="108477" y="130811"/>
                </a:cubicBezTo>
                <a:cubicBezTo>
                  <a:pt x="113760" y="130811"/>
                  <a:pt x="118049" y="126522"/>
                  <a:pt x="118049" y="121239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10482" y="2280151"/>
            <a:ext cx="1939830" cy="47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Reduzir Fraude Sistêmica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0482" y="2858696"/>
            <a:ext cx="1922814" cy="88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2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Combate à </a:t>
            </a:r>
            <a:r>
              <a:rPr lang="en-US" sz="1072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fraude recorrente</a:t>
            </a:r>
            <a:r>
              <a:rPr lang="en-US" sz="1072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através de identificação e registro de estabelecimentos com histórico problemático.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69526" y="1565477"/>
            <a:ext cx="2195070" cy="2348215"/>
          </a:xfrm>
          <a:custGeom>
            <a:avLst/>
            <a:gdLst/>
            <a:ahLst/>
            <a:cxnLst/>
            <a:rect l="l" t="t" r="r" b="b"/>
            <a:pathLst>
              <a:path w="2195070" h="2348215">
                <a:moveTo>
                  <a:pt x="34024" y="0"/>
                </a:moveTo>
                <a:lnTo>
                  <a:pt x="2161047" y="0"/>
                </a:lnTo>
                <a:cubicBezTo>
                  <a:pt x="2179838" y="0"/>
                  <a:pt x="2195070" y="15233"/>
                  <a:pt x="2195070" y="34024"/>
                </a:cubicBezTo>
                <a:lnTo>
                  <a:pt x="2195070" y="2314191"/>
                </a:lnTo>
                <a:cubicBezTo>
                  <a:pt x="2195070" y="2332982"/>
                  <a:pt x="2179838" y="2348215"/>
                  <a:pt x="2161047" y="2348215"/>
                </a:cubicBezTo>
                <a:lnTo>
                  <a:pt x="34024" y="2348215"/>
                </a:lnTo>
                <a:cubicBezTo>
                  <a:pt x="15233" y="2348215"/>
                  <a:pt x="0" y="2332982"/>
                  <a:pt x="0" y="2314191"/>
                </a:cubicBezTo>
                <a:lnTo>
                  <a:pt x="0" y="34024"/>
                </a:lnTo>
                <a:cubicBezTo>
                  <a:pt x="0" y="15245"/>
                  <a:pt x="15245" y="0"/>
                  <a:pt x="34024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839686" y="1735637"/>
            <a:ext cx="408385" cy="408385"/>
          </a:xfrm>
          <a:custGeom>
            <a:avLst/>
            <a:gdLst/>
            <a:ahLst/>
            <a:cxnLst/>
            <a:rect l="l" t="t" r="r" b="b"/>
            <a:pathLst>
              <a:path w="408385" h="408385">
                <a:moveTo>
                  <a:pt x="34031" y="0"/>
                </a:moveTo>
                <a:lnTo>
                  <a:pt x="374354" y="0"/>
                </a:lnTo>
                <a:cubicBezTo>
                  <a:pt x="393149" y="0"/>
                  <a:pt x="408385" y="15236"/>
                  <a:pt x="408385" y="34031"/>
                </a:cubicBezTo>
                <a:lnTo>
                  <a:pt x="408385" y="374354"/>
                </a:lnTo>
                <a:cubicBezTo>
                  <a:pt x="408385" y="393149"/>
                  <a:pt x="393149" y="408385"/>
                  <a:pt x="374354" y="408385"/>
                </a:cubicBezTo>
                <a:lnTo>
                  <a:pt x="34031" y="408385"/>
                </a:lnTo>
                <a:cubicBezTo>
                  <a:pt x="15236" y="408385"/>
                  <a:pt x="0" y="393149"/>
                  <a:pt x="0" y="374354"/>
                </a:cubicBezTo>
                <a:lnTo>
                  <a:pt x="0" y="34031"/>
                </a:lnTo>
                <a:cubicBezTo>
                  <a:pt x="0" y="15236"/>
                  <a:pt x="15236" y="0"/>
                  <a:pt x="34031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941783" y="1837733"/>
            <a:ext cx="204193" cy="204193"/>
          </a:xfrm>
          <a:custGeom>
            <a:avLst/>
            <a:gdLst/>
            <a:ahLst/>
            <a:cxnLst/>
            <a:rect l="l" t="t" r="r" b="b"/>
            <a:pathLst>
              <a:path w="204193" h="204193">
                <a:moveTo>
                  <a:pt x="146444" y="164511"/>
                </a:moveTo>
                <a:lnTo>
                  <a:pt x="39682" y="57748"/>
                </a:lnTo>
                <a:cubicBezTo>
                  <a:pt x="30749" y="70271"/>
                  <a:pt x="25524" y="85585"/>
                  <a:pt x="25524" y="102096"/>
                </a:cubicBezTo>
                <a:cubicBezTo>
                  <a:pt x="25524" y="144371"/>
                  <a:pt x="59822" y="178669"/>
                  <a:pt x="102096" y="178669"/>
                </a:cubicBezTo>
                <a:cubicBezTo>
                  <a:pt x="118647" y="178669"/>
                  <a:pt x="133962" y="173444"/>
                  <a:pt x="146444" y="164511"/>
                </a:cubicBezTo>
                <a:close/>
                <a:moveTo>
                  <a:pt x="164511" y="146444"/>
                </a:moveTo>
                <a:cubicBezTo>
                  <a:pt x="173444" y="133922"/>
                  <a:pt x="178669" y="118607"/>
                  <a:pt x="178669" y="102096"/>
                </a:cubicBezTo>
                <a:cubicBezTo>
                  <a:pt x="178669" y="59822"/>
                  <a:pt x="144371" y="25524"/>
                  <a:pt x="102096" y="25524"/>
                </a:cubicBezTo>
                <a:cubicBezTo>
                  <a:pt x="85546" y="25524"/>
                  <a:pt x="70231" y="30749"/>
                  <a:pt x="57748" y="39682"/>
                </a:cubicBezTo>
                <a:lnTo>
                  <a:pt x="164511" y="146444"/>
                </a:lnTo>
                <a:close/>
                <a:moveTo>
                  <a:pt x="0" y="102096"/>
                </a:moveTo>
                <a:cubicBezTo>
                  <a:pt x="0" y="45748"/>
                  <a:pt x="45748" y="0"/>
                  <a:pt x="102096" y="0"/>
                </a:cubicBezTo>
                <a:cubicBezTo>
                  <a:pt x="158445" y="0"/>
                  <a:pt x="204193" y="45748"/>
                  <a:pt x="204193" y="102096"/>
                </a:cubicBezTo>
                <a:cubicBezTo>
                  <a:pt x="204193" y="158445"/>
                  <a:pt x="158445" y="204193"/>
                  <a:pt x="102096" y="204193"/>
                </a:cubicBezTo>
                <a:cubicBezTo>
                  <a:pt x="45748" y="204193"/>
                  <a:pt x="0" y="158445"/>
                  <a:pt x="0" y="102096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839686" y="2280151"/>
            <a:ext cx="1939830" cy="47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Evitar Recredenciamento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9686" y="2858696"/>
            <a:ext cx="1922814" cy="88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2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Previne que </a:t>
            </a:r>
            <a:r>
              <a:rPr lang="en-US" sz="1072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estabelecimentos problemáticos</a:t>
            </a:r>
            <a:r>
              <a:rPr lang="en-US" sz="1072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sejam recredenciados por outros adquirentes.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98864" y="1565477"/>
            <a:ext cx="2195070" cy="2348215"/>
          </a:xfrm>
          <a:custGeom>
            <a:avLst/>
            <a:gdLst/>
            <a:ahLst/>
            <a:cxnLst/>
            <a:rect l="l" t="t" r="r" b="b"/>
            <a:pathLst>
              <a:path w="2195070" h="2348215">
                <a:moveTo>
                  <a:pt x="34024" y="0"/>
                </a:moveTo>
                <a:lnTo>
                  <a:pt x="2161047" y="0"/>
                </a:lnTo>
                <a:cubicBezTo>
                  <a:pt x="2179838" y="0"/>
                  <a:pt x="2195070" y="15233"/>
                  <a:pt x="2195070" y="34024"/>
                </a:cubicBezTo>
                <a:lnTo>
                  <a:pt x="2195070" y="2314191"/>
                </a:lnTo>
                <a:cubicBezTo>
                  <a:pt x="2195070" y="2332982"/>
                  <a:pt x="2179838" y="2348215"/>
                  <a:pt x="2161047" y="2348215"/>
                </a:cubicBezTo>
                <a:lnTo>
                  <a:pt x="34024" y="2348215"/>
                </a:lnTo>
                <a:cubicBezTo>
                  <a:pt x="15233" y="2348215"/>
                  <a:pt x="0" y="2332982"/>
                  <a:pt x="0" y="2314191"/>
                </a:cubicBezTo>
                <a:lnTo>
                  <a:pt x="0" y="34024"/>
                </a:lnTo>
                <a:cubicBezTo>
                  <a:pt x="0" y="15245"/>
                  <a:pt x="15245" y="0"/>
                  <a:pt x="34024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169024" y="1735637"/>
            <a:ext cx="408385" cy="408385"/>
          </a:xfrm>
          <a:custGeom>
            <a:avLst/>
            <a:gdLst/>
            <a:ahLst/>
            <a:cxnLst/>
            <a:rect l="l" t="t" r="r" b="b"/>
            <a:pathLst>
              <a:path w="408385" h="408385">
                <a:moveTo>
                  <a:pt x="34031" y="0"/>
                </a:moveTo>
                <a:lnTo>
                  <a:pt x="374354" y="0"/>
                </a:lnTo>
                <a:cubicBezTo>
                  <a:pt x="393149" y="0"/>
                  <a:pt x="408385" y="15236"/>
                  <a:pt x="408385" y="34031"/>
                </a:cubicBezTo>
                <a:lnTo>
                  <a:pt x="408385" y="374354"/>
                </a:lnTo>
                <a:cubicBezTo>
                  <a:pt x="408385" y="393149"/>
                  <a:pt x="393149" y="408385"/>
                  <a:pt x="374354" y="408385"/>
                </a:cubicBezTo>
                <a:lnTo>
                  <a:pt x="34031" y="408385"/>
                </a:lnTo>
                <a:cubicBezTo>
                  <a:pt x="15236" y="408385"/>
                  <a:pt x="0" y="393149"/>
                  <a:pt x="0" y="374354"/>
                </a:cubicBezTo>
                <a:lnTo>
                  <a:pt x="0" y="34031"/>
                </a:lnTo>
                <a:cubicBezTo>
                  <a:pt x="0" y="15236"/>
                  <a:pt x="15236" y="0"/>
                  <a:pt x="34031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258358" y="1837733"/>
            <a:ext cx="229717" cy="204193"/>
          </a:xfrm>
          <a:custGeom>
            <a:avLst/>
            <a:gdLst/>
            <a:ahLst/>
            <a:cxnLst/>
            <a:rect l="l" t="t" r="r" b="b"/>
            <a:pathLst>
              <a:path w="229717" h="204193">
                <a:moveTo>
                  <a:pt x="114858" y="12762"/>
                </a:moveTo>
                <a:cubicBezTo>
                  <a:pt x="82634" y="12762"/>
                  <a:pt x="56831" y="27438"/>
                  <a:pt x="38047" y="44906"/>
                </a:cubicBezTo>
                <a:cubicBezTo>
                  <a:pt x="19382" y="62255"/>
                  <a:pt x="6899" y="82953"/>
                  <a:pt x="957" y="97191"/>
                </a:cubicBezTo>
                <a:cubicBezTo>
                  <a:pt x="-359" y="100342"/>
                  <a:pt x="-359" y="103851"/>
                  <a:pt x="957" y="107002"/>
                </a:cubicBezTo>
                <a:cubicBezTo>
                  <a:pt x="6899" y="121239"/>
                  <a:pt x="19382" y="141978"/>
                  <a:pt x="38047" y="159286"/>
                </a:cubicBezTo>
                <a:cubicBezTo>
                  <a:pt x="56831" y="176714"/>
                  <a:pt x="82634" y="191431"/>
                  <a:pt x="114858" y="191431"/>
                </a:cubicBezTo>
                <a:cubicBezTo>
                  <a:pt x="147082" y="191431"/>
                  <a:pt x="172886" y="176754"/>
                  <a:pt x="191670" y="159286"/>
                </a:cubicBezTo>
                <a:cubicBezTo>
                  <a:pt x="210334" y="141938"/>
                  <a:pt x="222817" y="121239"/>
                  <a:pt x="228760" y="107002"/>
                </a:cubicBezTo>
                <a:cubicBezTo>
                  <a:pt x="230076" y="103851"/>
                  <a:pt x="230076" y="100342"/>
                  <a:pt x="228760" y="97191"/>
                </a:cubicBezTo>
                <a:cubicBezTo>
                  <a:pt x="222817" y="82953"/>
                  <a:pt x="210334" y="62215"/>
                  <a:pt x="191670" y="44906"/>
                </a:cubicBezTo>
                <a:cubicBezTo>
                  <a:pt x="172886" y="27478"/>
                  <a:pt x="147082" y="12762"/>
                  <a:pt x="114858" y="12762"/>
                </a:cubicBezTo>
                <a:close/>
                <a:moveTo>
                  <a:pt x="57429" y="102096"/>
                </a:moveTo>
                <a:cubicBezTo>
                  <a:pt x="57429" y="70400"/>
                  <a:pt x="83162" y="44667"/>
                  <a:pt x="114858" y="44667"/>
                </a:cubicBezTo>
                <a:cubicBezTo>
                  <a:pt x="146554" y="44667"/>
                  <a:pt x="172288" y="70400"/>
                  <a:pt x="172288" y="102096"/>
                </a:cubicBezTo>
                <a:cubicBezTo>
                  <a:pt x="172288" y="133792"/>
                  <a:pt x="146554" y="159525"/>
                  <a:pt x="114858" y="159525"/>
                </a:cubicBezTo>
                <a:cubicBezTo>
                  <a:pt x="83162" y="159525"/>
                  <a:pt x="57429" y="133792"/>
                  <a:pt x="57429" y="102096"/>
                </a:cubicBezTo>
                <a:close/>
                <a:moveTo>
                  <a:pt x="114858" y="76572"/>
                </a:moveTo>
                <a:cubicBezTo>
                  <a:pt x="114858" y="90650"/>
                  <a:pt x="103412" y="102096"/>
                  <a:pt x="89334" y="102096"/>
                </a:cubicBezTo>
                <a:cubicBezTo>
                  <a:pt x="84748" y="102096"/>
                  <a:pt x="80441" y="100900"/>
                  <a:pt x="76692" y="98746"/>
                </a:cubicBezTo>
                <a:cubicBezTo>
                  <a:pt x="76293" y="103093"/>
                  <a:pt x="76652" y="107560"/>
                  <a:pt x="77848" y="111987"/>
                </a:cubicBezTo>
                <a:cubicBezTo>
                  <a:pt x="83312" y="132406"/>
                  <a:pt x="104330" y="144530"/>
                  <a:pt x="124749" y="139066"/>
                </a:cubicBezTo>
                <a:cubicBezTo>
                  <a:pt x="145168" y="133603"/>
                  <a:pt x="157292" y="112585"/>
                  <a:pt x="151828" y="92166"/>
                </a:cubicBezTo>
                <a:cubicBezTo>
                  <a:pt x="146963" y="73940"/>
                  <a:pt x="129694" y="62335"/>
                  <a:pt x="111508" y="63930"/>
                </a:cubicBezTo>
                <a:cubicBezTo>
                  <a:pt x="113622" y="67639"/>
                  <a:pt x="114858" y="71946"/>
                  <a:pt x="114858" y="76572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169024" y="2280151"/>
            <a:ext cx="1939830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Aumentar Transparência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69024" y="2620472"/>
            <a:ext cx="1922814" cy="112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2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Facilita </a:t>
            </a:r>
            <a:r>
              <a:rPr lang="en-US" sz="1072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compartilhamento de informações</a:t>
            </a:r>
            <a:r>
              <a:rPr lang="en-US" sz="1072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entre adquirentes sobre riscos.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28068" y="1565477"/>
            <a:ext cx="2195070" cy="2348215"/>
          </a:xfrm>
          <a:custGeom>
            <a:avLst/>
            <a:gdLst/>
            <a:ahLst/>
            <a:cxnLst/>
            <a:rect l="l" t="t" r="r" b="b"/>
            <a:pathLst>
              <a:path w="2195070" h="2348215">
                <a:moveTo>
                  <a:pt x="34024" y="0"/>
                </a:moveTo>
                <a:lnTo>
                  <a:pt x="2161047" y="0"/>
                </a:lnTo>
                <a:cubicBezTo>
                  <a:pt x="2179838" y="0"/>
                  <a:pt x="2195070" y="15233"/>
                  <a:pt x="2195070" y="34024"/>
                </a:cubicBezTo>
                <a:lnTo>
                  <a:pt x="2195070" y="2314191"/>
                </a:lnTo>
                <a:cubicBezTo>
                  <a:pt x="2195070" y="2332982"/>
                  <a:pt x="2179838" y="2348215"/>
                  <a:pt x="2161047" y="2348215"/>
                </a:cubicBezTo>
                <a:lnTo>
                  <a:pt x="34024" y="2348215"/>
                </a:lnTo>
                <a:cubicBezTo>
                  <a:pt x="15233" y="2348215"/>
                  <a:pt x="0" y="2332982"/>
                  <a:pt x="0" y="2314191"/>
                </a:cubicBezTo>
                <a:lnTo>
                  <a:pt x="0" y="34024"/>
                </a:lnTo>
                <a:cubicBezTo>
                  <a:pt x="0" y="15245"/>
                  <a:pt x="15245" y="0"/>
                  <a:pt x="34024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7498229" y="1735637"/>
            <a:ext cx="408385" cy="408385"/>
          </a:xfrm>
          <a:custGeom>
            <a:avLst/>
            <a:gdLst/>
            <a:ahLst/>
            <a:cxnLst/>
            <a:rect l="l" t="t" r="r" b="b"/>
            <a:pathLst>
              <a:path w="408385" h="408385">
                <a:moveTo>
                  <a:pt x="34031" y="0"/>
                </a:moveTo>
                <a:lnTo>
                  <a:pt x="374354" y="0"/>
                </a:lnTo>
                <a:cubicBezTo>
                  <a:pt x="393149" y="0"/>
                  <a:pt x="408385" y="15236"/>
                  <a:pt x="408385" y="34031"/>
                </a:cubicBezTo>
                <a:lnTo>
                  <a:pt x="408385" y="374354"/>
                </a:lnTo>
                <a:cubicBezTo>
                  <a:pt x="408385" y="393149"/>
                  <a:pt x="393149" y="408385"/>
                  <a:pt x="374354" y="408385"/>
                </a:cubicBezTo>
                <a:lnTo>
                  <a:pt x="34031" y="408385"/>
                </a:lnTo>
                <a:cubicBezTo>
                  <a:pt x="15236" y="408385"/>
                  <a:pt x="0" y="393149"/>
                  <a:pt x="0" y="374354"/>
                </a:cubicBezTo>
                <a:lnTo>
                  <a:pt x="0" y="34031"/>
                </a:lnTo>
                <a:cubicBezTo>
                  <a:pt x="0" y="15236"/>
                  <a:pt x="15236" y="0"/>
                  <a:pt x="34031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7600325" y="1837733"/>
            <a:ext cx="204193" cy="204193"/>
          </a:xfrm>
          <a:custGeom>
            <a:avLst/>
            <a:gdLst/>
            <a:ahLst/>
            <a:cxnLst/>
            <a:rect l="l" t="t" r="r" b="b"/>
            <a:pathLst>
              <a:path w="204193" h="204193">
                <a:moveTo>
                  <a:pt x="67001" y="22334"/>
                </a:moveTo>
                <a:lnTo>
                  <a:pt x="67001" y="38286"/>
                </a:lnTo>
                <a:lnTo>
                  <a:pt x="35853" y="38286"/>
                </a:lnTo>
                <a:cubicBezTo>
                  <a:pt x="30150" y="38286"/>
                  <a:pt x="25524" y="42912"/>
                  <a:pt x="25524" y="48615"/>
                </a:cubicBezTo>
                <a:cubicBezTo>
                  <a:pt x="25524" y="50211"/>
                  <a:pt x="25883" y="51806"/>
                  <a:pt x="26601" y="53242"/>
                </a:cubicBezTo>
                <a:lnTo>
                  <a:pt x="39921" y="79882"/>
                </a:lnTo>
                <a:cubicBezTo>
                  <a:pt x="35375" y="80600"/>
                  <a:pt x="31865" y="84548"/>
                  <a:pt x="31865" y="89334"/>
                </a:cubicBezTo>
                <a:cubicBezTo>
                  <a:pt x="31865" y="94638"/>
                  <a:pt x="36133" y="98906"/>
                  <a:pt x="41437" y="98906"/>
                </a:cubicBezTo>
                <a:lnTo>
                  <a:pt x="43670" y="98906"/>
                </a:lnTo>
                <a:lnTo>
                  <a:pt x="38246" y="153144"/>
                </a:lnTo>
                <a:lnTo>
                  <a:pt x="15833" y="181181"/>
                </a:lnTo>
                <a:cubicBezTo>
                  <a:pt x="13839" y="183694"/>
                  <a:pt x="12722" y="186804"/>
                  <a:pt x="12722" y="190035"/>
                </a:cubicBezTo>
                <a:cubicBezTo>
                  <a:pt x="12722" y="197851"/>
                  <a:pt x="19063" y="204193"/>
                  <a:pt x="26880" y="204193"/>
                </a:cubicBezTo>
                <a:lnTo>
                  <a:pt x="126145" y="204193"/>
                </a:lnTo>
                <a:cubicBezTo>
                  <a:pt x="133962" y="204193"/>
                  <a:pt x="140303" y="197851"/>
                  <a:pt x="140303" y="190035"/>
                </a:cubicBezTo>
                <a:cubicBezTo>
                  <a:pt x="140303" y="186804"/>
                  <a:pt x="139226" y="183694"/>
                  <a:pt x="137192" y="181181"/>
                </a:cubicBezTo>
                <a:lnTo>
                  <a:pt x="114858" y="153144"/>
                </a:lnTo>
                <a:lnTo>
                  <a:pt x="109434" y="98906"/>
                </a:lnTo>
                <a:lnTo>
                  <a:pt x="111668" y="98906"/>
                </a:lnTo>
                <a:cubicBezTo>
                  <a:pt x="116972" y="98906"/>
                  <a:pt x="121239" y="94638"/>
                  <a:pt x="121239" y="89334"/>
                </a:cubicBezTo>
                <a:cubicBezTo>
                  <a:pt x="121239" y="84588"/>
                  <a:pt x="117770" y="80600"/>
                  <a:pt x="113183" y="79882"/>
                </a:cubicBezTo>
                <a:lnTo>
                  <a:pt x="126504" y="53242"/>
                </a:lnTo>
                <a:cubicBezTo>
                  <a:pt x="127222" y="51806"/>
                  <a:pt x="127580" y="50211"/>
                  <a:pt x="127580" y="48615"/>
                </a:cubicBezTo>
                <a:cubicBezTo>
                  <a:pt x="127580" y="42912"/>
                  <a:pt x="122954" y="38286"/>
                  <a:pt x="117251" y="38286"/>
                </a:cubicBezTo>
                <a:lnTo>
                  <a:pt x="86104" y="38286"/>
                </a:lnTo>
                <a:lnTo>
                  <a:pt x="86104" y="22334"/>
                </a:lnTo>
                <a:lnTo>
                  <a:pt x="92485" y="22334"/>
                </a:lnTo>
                <a:cubicBezTo>
                  <a:pt x="97789" y="22334"/>
                  <a:pt x="102056" y="18066"/>
                  <a:pt x="102056" y="12762"/>
                </a:cubicBezTo>
                <a:cubicBezTo>
                  <a:pt x="102056" y="7458"/>
                  <a:pt x="97829" y="3191"/>
                  <a:pt x="92525" y="3191"/>
                </a:cubicBezTo>
                <a:lnTo>
                  <a:pt x="86144" y="3191"/>
                </a:lnTo>
                <a:lnTo>
                  <a:pt x="86144" y="-3191"/>
                </a:lnTo>
                <a:cubicBezTo>
                  <a:pt x="86144" y="-8495"/>
                  <a:pt x="81876" y="-12762"/>
                  <a:pt x="76572" y="-12762"/>
                </a:cubicBezTo>
                <a:cubicBezTo>
                  <a:pt x="71268" y="-12762"/>
                  <a:pt x="67001" y="-8495"/>
                  <a:pt x="67001" y="-3191"/>
                </a:cubicBezTo>
                <a:lnTo>
                  <a:pt x="67001" y="3191"/>
                </a:lnTo>
                <a:lnTo>
                  <a:pt x="60620" y="3191"/>
                </a:lnTo>
                <a:cubicBezTo>
                  <a:pt x="55315" y="3191"/>
                  <a:pt x="51048" y="7458"/>
                  <a:pt x="51048" y="12762"/>
                </a:cubicBezTo>
                <a:cubicBezTo>
                  <a:pt x="51048" y="18066"/>
                  <a:pt x="55315" y="22334"/>
                  <a:pt x="60620" y="22334"/>
                </a:cubicBezTo>
                <a:lnTo>
                  <a:pt x="67001" y="22334"/>
                </a:lnTo>
                <a:close/>
                <a:moveTo>
                  <a:pt x="129933" y="111508"/>
                </a:moveTo>
                <a:lnTo>
                  <a:pt x="133323" y="145607"/>
                </a:lnTo>
                <a:lnTo>
                  <a:pt x="152227" y="169217"/>
                </a:lnTo>
                <a:lnTo>
                  <a:pt x="153902" y="171490"/>
                </a:lnTo>
                <a:cubicBezTo>
                  <a:pt x="157571" y="176954"/>
                  <a:pt x="159525" y="183414"/>
                  <a:pt x="159525" y="190035"/>
                </a:cubicBezTo>
                <a:cubicBezTo>
                  <a:pt x="159525" y="195100"/>
                  <a:pt x="158409" y="199925"/>
                  <a:pt x="156375" y="204193"/>
                </a:cubicBezTo>
                <a:lnTo>
                  <a:pt x="189516" y="204193"/>
                </a:lnTo>
                <a:cubicBezTo>
                  <a:pt x="197612" y="204193"/>
                  <a:pt x="204193" y="197612"/>
                  <a:pt x="204193" y="189516"/>
                </a:cubicBezTo>
                <a:cubicBezTo>
                  <a:pt x="204193" y="186605"/>
                  <a:pt x="203315" y="183773"/>
                  <a:pt x="201720" y="181380"/>
                </a:cubicBezTo>
                <a:lnTo>
                  <a:pt x="191431" y="165946"/>
                </a:lnTo>
                <a:lnTo>
                  <a:pt x="191431" y="140422"/>
                </a:lnTo>
                <a:lnTo>
                  <a:pt x="196735" y="135118"/>
                </a:lnTo>
                <a:cubicBezTo>
                  <a:pt x="201521" y="130332"/>
                  <a:pt x="204193" y="123832"/>
                  <a:pt x="204193" y="117052"/>
                </a:cubicBezTo>
                <a:lnTo>
                  <a:pt x="204193" y="76572"/>
                </a:lnTo>
                <a:cubicBezTo>
                  <a:pt x="204193" y="69513"/>
                  <a:pt x="198490" y="63810"/>
                  <a:pt x="191431" y="63810"/>
                </a:cubicBezTo>
                <a:cubicBezTo>
                  <a:pt x="184372" y="63810"/>
                  <a:pt x="178669" y="69513"/>
                  <a:pt x="178669" y="76572"/>
                </a:cubicBezTo>
                <a:lnTo>
                  <a:pt x="178669" y="82953"/>
                </a:lnTo>
                <a:lnTo>
                  <a:pt x="165906" y="82953"/>
                </a:lnTo>
                <a:lnTo>
                  <a:pt x="165906" y="76572"/>
                </a:lnTo>
                <a:cubicBezTo>
                  <a:pt x="165906" y="69513"/>
                  <a:pt x="160203" y="63810"/>
                  <a:pt x="153144" y="63810"/>
                </a:cubicBezTo>
                <a:cubicBezTo>
                  <a:pt x="146085" y="63810"/>
                  <a:pt x="140382" y="69513"/>
                  <a:pt x="140382" y="76572"/>
                </a:cubicBezTo>
                <a:lnTo>
                  <a:pt x="140382" y="89334"/>
                </a:lnTo>
                <a:cubicBezTo>
                  <a:pt x="140382" y="98268"/>
                  <a:pt x="136315" y="106244"/>
                  <a:pt x="129933" y="111508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498229" y="2280151"/>
            <a:ext cx="1939830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Fortalecer Governança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98229" y="2620472"/>
            <a:ext cx="1922814" cy="112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2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Promove </a:t>
            </a:r>
            <a:r>
              <a:rPr lang="en-US" sz="1072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controles de risco</a:t>
            </a:r>
            <a:r>
              <a:rPr lang="en-US" sz="1072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mais robustos no processo de onboarding.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57406" y="1565477"/>
            <a:ext cx="2195070" cy="2348215"/>
          </a:xfrm>
          <a:custGeom>
            <a:avLst/>
            <a:gdLst/>
            <a:ahLst/>
            <a:cxnLst/>
            <a:rect l="l" t="t" r="r" b="b"/>
            <a:pathLst>
              <a:path w="2195070" h="2348215">
                <a:moveTo>
                  <a:pt x="34024" y="0"/>
                </a:moveTo>
                <a:lnTo>
                  <a:pt x="2161047" y="0"/>
                </a:lnTo>
                <a:cubicBezTo>
                  <a:pt x="2179838" y="0"/>
                  <a:pt x="2195070" y="15233"/>
                  <a:pt x="2195070" y="34024"/>
                </a:cubicBezTo>
                <a:lnTo>
                  <a:pt x="2195070" y="2314191"/>
                </a:lnTo>
                <a:cubicBezTo>
                  <a:pt x="2195070" y="2332982"/>
                  <a:pt x="2179838" y="2348215"/>
                  <a:pt x="2161047" y="2348215"/>
                </a:cubicBezTo>
                <a:lnTo>
                  <a:pt x="34024" y="2348215"/>
                </a:lnTo>
                <a:cubicBezTo>
                  <a:pt x="15233" y="2348215"/>
                  <a:pt x="0" y="2332982"/>
                  <a:pt x="0" y="2314191"/>
                </a:cubicBezTo>
                <a:lnTo>
                  <a:pt x="0" y="34024"/>
                </a:lnTo>
                <a:cubicBezTo>
                  <a:pt x="0" y="15245"/>
                  <a:pt x="15245" y="0"/>
                  <a:pt x="34024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9827567" y="1735637"/>
            <a:ext cx="408385" cy="408385"/>
          </a:xfrm>
          <a:custGeom>
            <a:avLst/>
            <a:gdLst/>
            <a:ahLst/>
            <a:cxnLst/>
            <a:rect l="l" t="t" r="r" b="b"/>
            <a:pathLst>
              <a:path w="408385" h="408385">
                <a:moveTo>
                  <a:pt x="34031" y="0"/>
                </a:moveTo>
                <a:lnTo>
                  <a:pt x="374354" y="0"/>
                </a:lnTo>
                <a:cubicBezTo>
                  <a:pt x="393149" y="0"/>
                  <a:pt x="408385" y="15236"/>
                  <a:pt x="408385" y="34031"/>
                </a:cubicBezTo>
                <a:lnTo>
                  <a:pt x="408385" y="374354"/>
                </a:lnTo>
                <a:cubicBezTo>
                  <a:pt x="408385" y="393149"/>
                  <a:pt x="393149" y="408385"/>
                  <a:pt x="374354" y="408385"/>
                </a:cubicBezTo>
                <a:lnTo>
                  <a:pt x="34031" y="408385"/>
                </a:lnTo>
                <a:cubicBezTo>
                  <a:pt x="15236" y="408385"/>
                  <a:pt x="0" y="393149"/>
                  <a:pt x="0" y="374354"/>
                </a:cubicBezTo>
                <a:lnTo>
                  <a:pt x="0" y="34031"/>
                </a:lnTo>
                <a:cubicBezTo>
                  <a:pt x="0" y="15236"/>
                  <a:pt x="15236" y="0"/>
                  <a:pt x="34031" y="0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9904139" y="1837733"/>
            <a:ext cx="255241" cy="204193"/>
          </a:xfrm>
          <a:custGeom>
            <a:avLst/>
            <a:gdLst/>
            <a:ahLst/>
            <a:cxnLst/>
            <a:rect l="l" t="t" r="r" b="b"/>
            <a:pathLst>
              <a:path w="255241" h="204193">
                <a:moveTo>
                  <a:pt x="138229" y="43949"/>
                </a:moveTo>
                <a:cubicBezTo>
                  <a:pt x="135118" y="39283"/>
                  <a:pt x="129295" y="37169"/>
                  <a:pt x="123911" y="38805"/>
                </a:cubicBezTo>
                <a:cubicBezTo>
                  <a:pt x="118527" y="40440"/>
                  <a:pt x="114858" y="45425"/>
                  <a:pt x="114858" y="51048"/>
                </a:cubicBezTo>
                <a:lnTo>
                  <a:pt x="114858" y="153144"/>
                </a:lnTo>
                <a:cubicBezTo>
                  <a:pt x="114858" y="160203"/>
                  <a:pt x="120561" y="165906"/>
                  <a:pt x="127620" y="165906"/>
                </a:cubicBezTo>
                <a:cubicBezTo>
                  <a:pt x="134679" y="165906"/>
                  <a:pt x="140382" y="160203"/>
                  <a:pt x="140382" y="153144"/>
                </a:cubicBezTo>
                <a:lnTo>
                  <a:pt x="140382" y="93203"/>
                </a:lnTo>
                <a:lnTo>
                  <a:pt x="168060" y="134719"/>
                </a:lnTo>
                <a:cubicBezTo>
                  <a:pt x="170413" y="138269"/>
                  <a:pt x="174401" y="140382"/>
                  <a:pt x="178669" y="140382"/>
                </a:cubicBezTo>
                <a:cubicBezTo>
                  <a:pt x="182936" y="140382"/>
                  <a:pt x="186924" y="138269"/>
                  <a:pt x="189277" y="134719"/>
                </a:cubicBezTo>
                <a:lnTo>
                  <a:pt x="216955" y="93203"/>
                </a:lnTo>
                <a:lnTo>
                  <a:pt x="216955" y="153144"/>
                </a:lnTo>
                <a:cubicBezTo>
                  <a:pt x="216955" y="160203"/>
                  <a:pt x="222658" y="165906"/>
                  <a:pt x="229717" y="165906"/>
                </a:cubicBezTo>
                <a:cubicBezTo>
                  <a:pt x="236776" y="165906"/>
                  <a:pt x="242479" y="160203"/>
                  <a:pt x="242479" y="153144"/>
                </a:cubicBezTo>
                <a:lnTo>
                  <a:pt x="242479" y="51048"/>
                </a:lnTo>
                <a:cubicBezTo>
                  <a:pt x="242479" y="45425"/>
                  <a:pt x="238810" y="40480"/>
                  <a:pt x="233426" y="38844"/>
                </a:cubicBezTo>
                <a:cubicBezTo>
                  <a:pt x="228042" y="37209"/>
                  <a:pt x="222219" y="39283"/>
                  <a:pt x="219108" y="43989"/>
                </a:cubicBezTo>
                <a:lnTo>
                  <a:pt x="178669" y="104609"/>
                </a:lnTo>
                <a:lnTo>
                  <a:pt x="138229" y="43949"/>
                </a:lnTo>
                <a:close/>
                <a:moveTo>
                  <a:pt x="12762" y="38286"/>
                </a:moveTo>
                <a:cubicBezTo>
                  <a:pt x="5703" y="38286"/>
                  <a:pt x="0" y="43989"/>
                  <a:pt x="0" y="51048"/>
                </a:cubicBezTo>
                <a:cubicBezTo>
                  <a:pt x="0" y="58107"/>
                  <a:pt x="5703" y="63810"/>
                  <a:pt x="12762" y="63810"/>
                </a:cubicBezTo>
                <a:lnTo>
                  <a:pt x="38286" y="63810"/>
                </a:lnTo>
                <a:lnTo>
                  <a:pt x="38286" y="153144"/>
                </a:lnTo>
                <a:cubicBezTo>
                  <a:pt x="38286" y="160203"/>
                  <a:pt x="43989" y="165906"/>
                  <a:pt x="51048" y="165906"/>
                </a:cubicBezTo>
                <a:cubicBezTo>
                  <a:pt x="58107" y="165906"/>
                  <a:pt x="63810" y="160203"/>
                  <a:pt x="63810" y="153144"/>
                </a:cubicBezTo>
                <a:lnTo>
                  <a:pt x="63810" y="63810"/>
                </a:lnTo>
                <a:lnTo>
                  <a:pt x="89334" y="63810"/>
                </a:lnTo>
                <a:cubicBezTo>
                  <a:pt x="96393" y="63810"/>
                  <a:pt x="102096" y="58107"/>
                  <a:pt x="102096" y="51048"/>
                </a:cubicBezTo>
                <a:cubicBezTo>
                  <a:pt x="102096" y="43989"/>
                  <a:pt x="96393" y="38286"/>
                  <a:pt x="89334" y="38286"/>
                </a:cubicBezTo>
                <a:lnTo>
                  <a:pt x="12762" y="38286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9827567" y="2280151"/>
            <a:ext cx="1939830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Proteger a Marca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827567" y="2620472"/>
            <a:ext cx="1922814" cy="112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2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Defende a </a:t>
            </a:r>
            <a:r>
              <a:rPr lang="en-US" sz="1072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integridade do ecossistema</a:t>
            </a:r>
            <a:r>
              <a:rPr lang="en-US" sz="1072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Mastercard e sua reputação.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0321" y="4083852"/>
            <a:ext cx="5666345" cy="3003333"/>
          </a:xfrm>
          <a:custGeom>
            <a:avLst/>
            <a:gdLst/>
            <a:ahLst/>
            <a:cxnLst/>
            <a:rect l="l" t="t" r="r" b="b"/>
            <a:pathLst>
              <a:path w="5666345" h="3003333">
                <a:moveTo>
                  <a:pt x="34028" y="0"/>
                </a:moveTo>
                <a:lnTo>
                  <a:pt x="5632317" y="0"/>
                </a:lnTo>
                <a:cubicBezTo>
                  <a:pt x="5651110" y="0"/>
                  <a:pt x="5666345" y="15235"/>
                  <a:pt x="5666345" y="34028"/>
                </a:cubicBezTo>
                <a:lnTo>
                  <a:pt x="5666345" y="2969305"/>
                </a:lnTo>
                <a:cubicBezTo>
                  <a:pt x="5666345" y="2988098"/>
                  <a:pt x="5651110" y="3003333"/>
                  <a:pt x="5632317" y="3003333"/>
                </a:cubicBezTo>
                <a:lnTo>
                  <a:pt x="34028" y="3003333"/>
                </a:lnTo>
                <a:cubicBezTo>
                  <a:pt x="15235" y="3003333"/>
                  <a:pt x="0" y="2988098"/>
                  <a:pt x="0" y="2969305"/>
                </a:cubicBezTo>
                <a:lnTo>
                  <a:pt x="0" y="34028"/>
                </a:lnTo>
                <a:cubicBezTo>
                  <a:pt x="0" y="15235"/>
                  <a:pt x="15235" y="0"/>
                  <a:pt x="34028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546641" y="4522680"/>
            <a:ext cx="319051" cy="255241"/>
          </a:xfrm>
          <a:custGeom>
            <a:avLst/>
            <a:gdLst/>
            <a:ahLst/>
            <a:cxnLst/>
            <a:rect l="l" t="t" r="r" b="b"/>
            <a:pathLst>
              <a:path w="319051" h="255241">
                <a:moveTo>
                  <a:pt x="159525" y="7976"/>
                </a:moveTo>
                <a:cubicBezTo>
                  <a:pt x="188140" y="7976"/>
                  <a:pt x="211371" y="31208"/>
                  <a:pt x="211371" y="59822"/>
                </a:cubicBezTo>
                <a:cubicBezTo>
                  <a:pt x="211371" y="88437"/>
                  <a:pt x="188140" y="111668"/>
                  <a:pt x="159525" y="111668"/>
                </a:cubicBezTo>
                <a:cubicBezTo>
                  <a:pt x="130911" y="111668"/>
                  <a:pt x="107680" y="88437"/>
                  <a:pt x="107680" y="59822"/>
                </a:cubicBezTo>
                <a:cubicBezTo>
                  <a:pt x="107680" y="31208"/>
                  <a:pt x="130911" y="7976"/>
                  <a:pt x="159525" y="7976"/>
                </a:cubicBezTo>
                <a:close/>
                <a:moveTo>
                  <a:pt x="47858" y="43870"/>
                </a:moveTo>
                <a:cubicBezTo>
                  <a:pt x="67668" y="43870"/>
                  <a:pt x="83751" y="59953"/>
                  <a:pt x="83751" y="79763"/>
                </a:cubicBezTo>
                <a:cubicBezTo>
                  <a:pt x="83751" y="99573"/>
                  <a:pt x="67668" y="115656"/>
                  <a:pt x="47858" y="115656"/>
                </a:cubicBezTo>
                <a:cubicBezTo>
                  <a:pt x="28048" y="115656"/>
                  <a:pt x="11964" y="99573"/>
                  <a:pt x="11964" y="79763"/>
                </a:cubicBezTo>
                <a:cubicBezTo>
                  <a:pt x="11964" y="59953"/>
                  <a:pt x="28048" y="43870"/>
                  <a:pt x="47858" y="43870"/>
                </a:cubicBezTo>
                <a:close/>
                <a:moveTo>
                  <a:pt x="0" y="207383"/>
                </a:moveTo>
                <a:cubicBezTo>
                  <a:pt x="0" y="172138"/>
                  <a:pt x="28565" y="143573"/>
                  <a:pt x="63810" y="143573"/>
                </a:cubicBezTo>
                <a:cubicBezTo>
                  <a:pt x="70191" y="143573"/>
                  <a:pt x="76373" y="144520"/>
                  <a:pt x="82205" y="146265"/>
                </a:cubicBezTo>
                <a:cubicBezTo>
                  <a:pt x="65804" y="164610"/>
                  <a:pt x="55834" y="188838"/>
                  <a:pt x="55834" y="215359"/>
                </a:cubicBezTo>
                <a:lnTo>
                  <a:pt x="55834" y="223336"/>
                </a:lnTo>
                <a:cubicBezTo>
                  <a:pt x="55834" y="229019"/>
                  <a:pt x="57030" y="234403"/>
                  <a:pt x="59174" y="239288"/>
                </a:cubicBezTo>
                <a:lnTo>
                  <a:pt x="15953" y="239288"/>
                </a:lnTo>
                <a:cubicBezTo>
                  <a:pt x="7129" y="239288"/>
                  <a:pt x="0" y="232159"/>
                  <a:pt x="0" y="223336"/>
                </a:cubicBezTo>
                <a:lnTo>
                  <a:pt x="0" y="207383"/>
                </a:lnTo>
                <a:close/>
                <a:moveTo>
                  <a:pt x="259877" y="239288"/>
                </a:moveTo>
                <a:cubicBezTo>
                  <a:pt x="262021" y="234403"/>
                  <a:pt x="263217" y="229019"/>
                  <a:pt x="263217" y="223336"/>
                </a:cubicBezTo>
                <a:lnTo>
                  <a:pt x="263217" y="215359"/>
                </a:lnTo>
                <a:cubicBezTo>
                  <a:pt x="263217" y="188838"/>
                  <a:pt x="253247" y="164610"/>
                  <a:pt x="236845" y="146265"/>
                </a:cubicBezTo>
                <a:cubicBezTo>
                  <a:pt x="242678" y="144520"/>
                  <a:pt x="248860" y="143573"/>
                  <a:pt x="255241" y="143573"/>
                </a:cubicBezTo>
                <a:cubicBezTo>
                  <a:pt x="290486" y="143573"/>
                  <a:pt x="319051" y="172138"/>
                  <a:pt x="319051" y="207383"/>
                </a:cubicBezTo>
                <a:lnTo>
                  <a:pt x="319051" y="223336"/>
                </a:lnTo>
                <a:cubicBezTo>
                  <a:pt x="319051" y="232159"/>
                  <a:pt x="311922" y="239288"/>
                  <a:pt x="303098" y="239288"/>
                </a:cubicBezTo>
                <a:lnTo>
                  <a:pt x="259877" y="239288"/>
                </a:lnTo>
                <a:close/>
                <a:moveTo>
                  <a:pt x="235300" y="79763"/>
                </a:moveTo>
                <a:cubicBezTo>
                  <a:pt x="235300" y="59953"/>
                  <a:pt x="251383" y="43870"/>
                  <a:pt x="271193" y="43870"/>
                </a:cubicBezTo>
                <a:cubicBezTo>
                  <a:pt x="291003" y="43870"/>
                  <a:pt x="307087" y="59953"/>
                  <a:pt x="307087" y="79763"/>
                </a:cubicBezTo>
                <a:cubicBezTo>
                  <a:pt x="307087" y="99573"/>
                  <a:pt x="291003" y="115656"/>
                  <a:pt x="271193" y="115656"/>
                </a:cubicBezTo>
                <a:cubicBezTo>
                  <a:pt x="251383" y="115656"/>
                  <a:pt x="235300" y="99573"/>
                  <a:pt x="235300" y="79763"/>
                </a:cubicBezTo>
                <a:close/>
                <a:moveTo>
                  <a:pt x="79763" y="215359"/>
                </a:moveTo>
                <a:cubicBezTo>
                  <a:pt x="79763" y="171290"/>
                  <a:pt x="115457" y="135597"/>
                  <a:pt x="159525" y="135597"/>
                </a:cubicBezTo>
                <a:cubicBezTo>
                  <a:pt x="203594" y="135597"/>
                  <a:pt x="239288" y="171290"/>
                  <a:pt x="239288" y="215359"/>
                </a:cubicBezTo>
                <a:lnTo>
                  <a:pt x="239288" y="223336"/>
                </a:lnTo>
                <a:cubicBezTo>
                  <a:pt x="239288" y="232159"/>
                  <a:pt x="232159" y="239288"/>
                  <a:pt x="223336" y="239288"/>
                </a:cubicBezTo>
                <a:lnTo>
                  <a:pt x="95715" y="239288"/>
                </a:lnTo>
                <a:cubicBezTo>
                  <a:pt x="86892" y="239288"/>
                  <a:pt x="79763" y="232159"/>
                  <a:pt x="79763" y="223336"/>
                </a:cubicBezTo>
                <a:lnTo>
                  <a:pt x="79763" y="215359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867819" y="4514172"/>
            <a:ext cx="5036751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8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Quem Deve Usar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4514" y="4922557"/>
            <a:ext cx="5343040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Obrigatório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70038" y="5262878"/>
            <a:ext cx="119112" cy="136128"/>
          </a:xfrm>
          <a:custGeom>
            <a:avLst/>
            <a:gdLst/>
            <a:ahLst/>
            <a:cxnLst/>
            <a:rect l="l" t="t" r="r" b="b"/>
            <a:pathLst>
              <a:path w="119112" h="136128">
                <a:moveTo>
                  <a:pt x="115603" y="18638"/>
                </a:moveTo>
                <a:cubicBezTo>
                  <a:pt x="119405" y="21403"/>
                  <a:pt x="120256" y="26721"/>
                  <a:pt x="117491" y="30523"/>
                </a:cubicBezTo>
                <a:lnTo>
                  <a:pt x="49426" y="124111"/>
                </a:lnTo>
                <a:cubicBezTo>
                  <a:pt x="47964" y="126131"/>
                  <a:pt x="45704" y="127381"/>
                  <a:pt x="43205" y="127594"/>
                </a:cubicBezTo>
                <a:cubicBezTo>
                  <a:pt x="40706" y="127806"/>
                  <a:pt x="38286" y="126876"/>
                  <a:pt x="36531" y="125121"/>
                </a:cubicBezTo>
                <a:lnTo>
                  <a:pt x="2499" y="91089"/>
                </a:lnTo>
                <a:cubicBezTo>
                  <a:pt x="-824" y="87766"/>
                  <a:pt x="-824" y="82368"/>
                  <a:pt x="2499" y="79045"/>
                </a:cubicBezTo>
                <a:cubicBezTo>
                  <a:pt x="5823" y="75721"/>
                  <a:pt x="11220" y="75721"/>
                  <a:pt x="14543" y="79045"/>
                </a:cubicBezTo>
                <a:lnTo>
                  <a:pt x="41530" y="106031"/>
                </a:lnTo>
                <a:lnTo>
                  <a:pt x="103745" y="20499"/>
                </a:lnTo>
                <a:cubicBezTo>
                  <a:pt x="106510" y="16697"/>
                  <a:pt x="111827" y="15846"/>
                  <a:pt x="115629" y="18611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82738" y="5228846"/>
            <a:ext cx="242478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Adquirentes Mastercard</a:t>
            </a:r>
            <a:r>
              <a:rPr lang="en-US" sz="1072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todos os ICAs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70038" y="5535135"/>
            <a:ext cx="119112" cy="136128"/>
          </a:xfrm>
          <a:custGeom>
            <a:avLst/>
            <a:gdLst/>
            <a:ahLst/>
            <a:cxnLst/>
            <a:rect l="l" t="t" r="r" b="b"/>
            <a:pathLst>
              <a:path w="119112" h="136128">
                <a:moveTo>
                  <a:pt x="115603" y="18638"/>
                </a:moveTo>
                <a:cubicBezTo>
                  <a:pt x="119405" y="21403"/>
                  <a:pt x="120256" y="26721"/>
                  <a:pt x="117491" y="30523"/>
                </a:cubicBezTo>
                <a:lnTo>
                  <a:pt x="49426" y="124111"/>
                </a:lnTo>
                <a:cubicBezTo>
                  <a:pt x="47964" y="126131"/>
                  <a:pt x="45704" y="127381"/>
                  <a:pt x="43205" y="127594"/>
                </a:cubicBezTo>
                <a:cubicBezTo>
                  <a:pt x="40706" y="127806"/>
                  <a:pt x="38286" y="126876"/>
                  <a:pt x="36531" y="125121"/>
                </a:cubicBezTo>
                <a:lnTo>
                  <a:pt x="2499" y="91089"/>
                </a:lnTo>
                <a:cubicBezTo>
                  <a:pt x="-824" y="87766"/>
                  <a:pt x="-824" y="82368"/>
                  <a:pt x="2499" y="79045"/>
                </a:cubicBezTo>
                <a:cubicBezTo>
                  <a:pt x="5823" y="75721"/>
                  <a:pt x="11220" y="75721"/>
                  <a:pt x="14543" y="79045"/>
                </a:cubicBezTo>
                <a:lnTo>
                  <a:pt x="41530" y="106031"/>
                </a:lnTo>
                <a:lnTo>
                  <a:pt x="103745" y="20499"/>
                </a:lnTo>
                <a:cubicBezTo>
                  <a:pt x="106510" y="16697"/>
                  <a:pt x="111827" y="15846"/>
                  <a:pt x="115629" y="18611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782738" y="5501103"/>
            <a:ext cx="3088413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Processadores</a:t>
            </a:r>
            <a:r>
              <a:rPr lang="en-US" sz="1072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atuam em nome de adquirentes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4514" y="5875456"/>
            <a:ext cx="5343040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Uso Indireto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1530" y="6215777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133629" y="74073"/>
                </a:moveTo>
                <a:cubicBezTo>
                  <a:pt x="136953" y="70750"/>
                  <a:pt x="136953" y="65352"/>
                  <a:pt x="133629" y="62029"/>
                </a:cubicBezTo>
                <a:lnTo>
                  <a:pt x="91089" y="19489"/>
                </a:lnTo>
                <a:cubicBezTo>
                  <a:pt x="87766" y="16165"/>
                  <a:pt x="82368" y="16165"/>
                  <a:pt x="79045" y="19489"/>
                </a:cubicBezTo>
                <a:cubicBezTo>
                  <a:pt x="75721" y="22812"/>
                  <a:pt x="75721" y="28209"/>
                  <a:pt x="79045" y="31533"/>
                </a:cubicBezTo>
                <a:lnTo>
                  <a:pt x="107068" y="59556"/>
                </a:lnTo>
                <a:lnTo>
                  <a:pt x="8508" y="59556"/>
                </a:lnTo>
                <a:cubicBezTo>
                  <a:pt x="3802" y="59556"/>
                  <a:pt x="0" y="63358"/>
                  <a:pt x="0" y="68064"/>
                </a:cubicBezTo>
                <a:cubicBezTo>
                  <a:pt x="0" y="72770"/>
                  <a:pt x="3802" y="76572"/>
                  <a:pt x="8508" y="76572"/>
                </a:cubicBezTo>
                <a:lnTo>
                  <a:pt x="107068" y="76572"/>
                </a:lnTo>
                <a:lnTo>
                  <a:pt x="79045" y="104596"/>
                </a:lnTo>
                <a:cubicBezTo>
                  <a:pt x="75721" y="107919"/>
                  <a:pt x="75721" y="113316"/>
                  <a:pt x="79045" y="116640"/>
                </a:cubicBezTo>
                <a:cubicBezTo>
                  <a:pt x="82368" y="119963"/>
                  <a:pt x="87766" y="119963"/>
                  <a:pt x="91089" y="116640"/>
                </a:cubicBezTo>
                <a:lnTo>
                  <a:pt x="133629" y="74100"/>
                </a:ln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782738" y="6181745"/>
            <a:ext cx="376054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Áreas de Risco, Compliance, Onboarding e Prevenção à Fraude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61530" y="6488034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133629" y="74073"/>
                </a:moveTo>
                <a:cubicBezTo>
                  <a:pt x="136953" y="70750"/>
                  <a:pt x="136953" y="65352"/>
                  <a:pt x="133629" y="62029"/>
                </a:cubicBezTo>
                <a:lnTo>
                  <a:pt x="91089" y="19489"/>
                </a:lnTo>
                <a:cubicBezTo>
                  <a:pt x="87766" y="16165"/>
                  <a:pt x="82368" y="16165"/>
                  <a:pt x="79045" y="19489"/>
                </a:cubicBezTo>
                <a:cubicBezTo>
                  <a:pt x="75721" y="22812"/>
                  <a:pt x="75721" y="28209"/>
                  <a:pt x="79045" y="31533"/>
                </a:cubicBezTo>
                <a:lnTo>
                  <a:pt x="107068" y="59556"/>
                </a:lnTo>
                <a:lnTo>
                  <a:pt x="8508" y="59556"/>
                </a:lnTo>
                <a:cubicBezTo>
                  <a:pt x="3802" y="59556"/>
                  <a:pt x="0" y="63358"/>
                  <a:pt x="0" y="68064"/>
                </a:cubicBezTo>
                <a:cubicBezTo>
                  <a:pt x="0" y="72770"/>
                  <a:pt x="3802" y="76572"/>
                  <a:pt x="8508" y="76572"/>
                </a:cubicBezTo>
                <a:lnTo>
                  <a:pt x="107068" y="76572"/>
                </a:lnTo>
                <a:lnTo>
                  <a:pt x="79045" y="104596"/>
                </a:lnTo>
                <a:cubicBezTo>
                  <a:pt x="75721" y="107919"/>
                  <a:pt x="75721" y="113316"/>
                  <a:pt x="79045" y="116640"/>
                </a:cubicBezTo>
                <a:cubicBezTo>
                  <a:pt x="82368" y="119963"/>
                  <a:pt x="87766" y="119963"/>
                  <a:pt x="91089" y="116640"/>
                </a:cubicBezTo>
                <a:lnTo>
                  <a:pt x="133629" y="74100"/>
                </a:ln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782738" y="6454002"/>
            <a:ext cx="1982370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 Jurídicos e de Governança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97565" y="4083852"/>
            <a:ext cx="5649329" cy="1437856"/>
          </a:xfrm>
          <a:custGeom>
            <a:avLst/>
            <a:gdLst/>
            <a:ahLst/>
            <a:cxnLst/>
            <a:rect l="l" t="t" r="r" b="b"/>
            <a:pathLst>
              <a:path w="5649329" h="1437856">
                <a:moveTo>
                  <a:pt x="34032" y="0"/>
                </a:moveTo>
                <a:lnTo>
                  <a:pt x="5615295" y="0"/>
                </a:lnTo>
                <a:cubicBezTo>
                  <a:pt x="5634091" y="0"/>
                  <a:pt x="5649329" y="15238"/>
                  <a:pt x="5649329" y="34034"/>
                </a:cubicBezTo>
                <a:lnTo>
                  <a:pt x="5649329" y="1403822"/>
                </a:lnTo>
                <a:cubicBezTo>
                  <a:pt x="5649329" y="1422619"/>
                  <a:pt x="5634091" y="1437856"/>
                  <a:pt x="5615295" y="1437856"/>
                </a:cubicBezTo>
                <a:lnTo>
                  <a:pt x="34032" y="1437856"/>
                </a:lnTo>
                <a:cubicBezTo>
                  <a:pt x="15237" y="1437856"/>
                  <a:pt x="0" y="1422620"/>
                  <a:pt x="0" y="1403824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FF6B0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6197565" y="4083852"/>
            <a:ext cx="34032" cy="1437856"/>
          </a:xfrm>
          <a:custGeom>
            <a:avLst/>
            <a:gdLst/>
            <a:ahLst/>
            <a:cxnLst/>
            <a:rect l="l" t="t" r="r" b="b"/>
            <a:pathLst>
              <a:path w="34032" h="1437856">
                <a:moveTo>
                  <a:pt x="34032" y="0"/>
                </a:moveTo>
                <a:lnTo>
                  <a:pt x="34032" y="0"/>
                </a:lnTo>
                <a:lnTo>
                  <a:pt x="34032" y="1437856"/>
                </a:lnTo>
                <a:lnTo>
                  <a:pt x="34032" y="1437856"/>
                </a:lnTo>
                <a:cubicBezTo>
                  <a:pt x="15237" y="1437856"/>
                  <a:pt x="0" y="1422620"/>
                  <a:pt x="0" y="1403824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6406011" y="4426566"/>
            <a:ext cx="170161" cy="170161"/>
          </a:xfrm>
          <a:custGeom>
            <a:avLst/>
            <a:gdLst/>
            <a:ahLst/>
            <a:cxnLst/>
            <a:rect l="l" t="t" r="r" b="b"/>
            <a:pathLst>
              <a:path w="170161" h="170161">
                <a:moveTo>
                  <a:pt x="85080" y="170161"/>
                </a:moveTo>
                <a:cubicBezTo>
                  <a:pt x="132037" y="170161"/>
                  <a:pt x="170161" y="132037"/>
                  <a:pt x="170161" y="85080"/>
                </a:cubicBezTo>
                <a:cubicBezTo>
                  <a:pt x="170161" y="38123"/>
                  <a:pt x="132037" y="0"/>
                  <a:pt x="85080" y="0"/>
                </a:cubicBezTo>
                <a:cubicBezTo>
                  <a:pt x="38123" y="0"/>
                  <a:pt x="0" y="38123"/>
                  <a:pt x="0" y="85080"/>
                </a:cubicBezTo>
                <a:cubicBezTo>
                  <a:pt x="0" y="132037"/>
                  <a:pt x="38123" y="170161"/>
                  <a:pt x="85080" y="170161"/>
                </a:cubicBezTo>
                <a:close/>
                <a:moveTo>
                  <a:pt x="85080" y="45199"/>
                </a:moveTo>
                <a:cubicBezTo>
                  <a:pt x="89500" y="45199"/>
                  <a:pt x="93057" y="48755"/>
                  <a:pt x="93057" y="53175"/>
                </a:cubicBezTo>
                <a:lnTo>
                  <a:pt x="93057" y="90398"/>
                </a:lnTo>
                <a:cubicBezTo>
                  <a:pt x="93057" y="94818"/>
                  <a:pt x="89500" y="98374"/>
                  <a:pt x="85080" y="98374"/>
                </a:cubicBezTo>
                <a:cubicBezTo>
                  <a:pt x="80660" y="98374"/>
                  <a:pt x="77104" y="94818"/>
                  <a:pt x="77104" y="90398"/>
                </a:cubicBezTo>
                <a:lnTo>
                  <a:pt x="77104" y="53175"/>
                </a:lnTo>
                <a:cubicBezTo>
                  <a:pt x="77104" y="48755"/>
                  <a:pt x="80660" y="45199"/>
                  <a:pt x="85080" y="45199"/>
                </a:cubicBezTo>
                <a:close/>
                <a:moveTo>
                  <a:pt x="76207" y="116985"/>
                </a:moveTo>
                <a:cubicBezTo>
                  <a:pt x="76005" y="113692"/>
                  <a:pt x="77647" y="110558"/>
                  <a:pt x="80471" y="108850"/>
                </a:cubicBezTo>
                <a:cubicBezTo>
                  <a:pt x="83295" y="107142"/>
                  <a:pt x="86833" y="107142"/>
                  <a:pt x="89656" y="108850"/>
                </a:cubicBezTo>
                <a:cubicBezTo>
                  <a:pt x="92480" y="110558"/>
                  <a:pt x="94122" y="113692"/>
                  <a:pt x="93921" y="116985"/>
                </a:cubicBezTo>
                <a:cubicBezTo>
                  <a:pt x="94122" y="120279"/>
                  <a:pt x="92480" y="123413"/>
                  <a:pt x="89656" y="125121"/>
                </a:cubicBezTo>
                <a:cubicBezTo>
                  <a:pt x="86833" y="126829"/>
                  <a:pt x="83295" y="126829"/>
                  <a:pt x="80471" y="125121"/>
                </a:cubicBezTo>
                <a:cubicBezTo>
                  <a:pt x="77647" y="123413"/>
                  <a:pt x="76005" y="120279"/>
                  <a:pt x="76207" y="116985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597442" y="4392534"/>
            <a:ext cx="5164371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Obrigação Regulatória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84741" y="4766887"/>
            <a:ext cx="5360056" cy="442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2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Mastercard obriga que </a:t>
            </a:r>
            <a:r>
              <a:rPr lang="en-US" sz="1072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todo adquirente</a:t>
            </a:r>
            <a:r>
              <a:rPr lang="en-US" sz="1072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consulte e adicione estabelecimentos através do MATCH Pro. O não cumprimento sujeita a penalidades.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80548" y="5654247"/>
            <a:ext cx="5666345" cy="1437856"/>
          </a:xfrm>
          <a:custGeom>
            <a:avLst/>
            <a:gdLst/>
            <a:ahLst/>
            <a:cxnLst/>
            <a:rect l="l" t="t" r="r" b="b"/>
            <a:pathLst>
              <a:path w="5666345" h="1437856">
                <a:moveTo>
                  <a:pt x="34034" y="0"/>
                </a:moveTo>
                <a:lnTo>
                  <a:pt x="5632311" y="0"/>
                </a:lnTo>
                <a:cubicBezTo>
                  <a:pt x="5651107" y="0"/>
                  <a:pt x="5666345" y="15238"/>
                  <a:pt x="5666345" y="34034"/>
                </a:cubicBezTo>
                <a:lnTo>
                  <a:pt x="5666345" y="1403822"/>
                </a:lnTo>
                <a:cubicBezTo>
                  <a:pt x="5666345" y="1422619"/>
                  <a:pt x="5651107" y="1437856"/>
                  <a:pt x="5632311" y="1437856"/>
                </a:cubicBezTo>
                <a:lnTo>
                  <a:pt x="34034" y="1437856"/>
                </a:lnTo>
                <a:cubicBezTo>
                  <a:pt x="15238" y="1437856"/>
                  <a:pt x="0" y="1422619"/>
                  <a:pt x="0" y="1403822"/>
                </a:cubicBezTo>
                <a:lnTo>
                  <a:pt x="0" y="34034"/>
                </a:lnTo>
                <a:cubicBezTo>
                  <a:pt x="0" y="15250"/>
                  <a:pt x="15250" y="0"/>
                  <a:pt x="34034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6367725" y="6192646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68064" y="136128"/>
                </a:moveTo>
                <a:cubicBezTo>
                  <a:pt x="105630" y="136128"/>
                  <a:pt x="136128" y="105630"/>
                  <a:pt x="136128" y="68064"/>
                </a:cubicBezTo>
                <a:cubicBezTo>
                  <a:pt x="136128" y="30499"/>
                  <a:pt x="105630" y="0"/>
                  <a:pt x="68064" y="0"/>
                </a:cubicBezTo>
                <a:cubicBezTo>
                  <a:pt x="30499" y="0"/>
                  <a:pt x="0" y="30499"/>
                  <a:pt x="0" y="68064"/>
                </a:cubicBezTo>
                <a:cubicBezTo>
                  <a:pt x="0" y="105630"/>
                  <a:pt x="30499" y="136128"/>
                  <a:pt x="68064" y="136128"/>
                </a:cubicBezTo>
                <a:close/>
                <a:moveTo>
                  <a:pt x="59556" y="42540"/>
                </a:moveTo>
                <a:cubicBezTo>
                  <a:pt x="59556" y="37844"/>
                  <a:pt x="63368" y="34032"/>
                  <a:pt x="68064" y="34032"/>
                </a:cubicBezTo>
                <a:cubicBezTo>
                  <a:pt x="72760" y="34032"/>
                  <a:pt x="76572" y="37844"/>
                  <a:pt x="76572" y="42540"/>
                </a:cubicBezTo>
                <a:cubicBezTo>
                  <a:pt x="76572" y="47236"/>
                  <a:pt x="72760" y="51048"/>
                  <a:pt x="68064" y="51048"/>
                </a:cubicBezTo>
                <a:cubicBezTo>
                  <a:pt x="63368" y="51048"/>
                  <a:pt x="59556" y="47236"/>
                  <a:pt x="59556" y="42540"/>
                </a:cubicBezTo>
                <a:close/>
                <a:moveTo>
                  <a:pt x="57429" y="59556"/>
                </a:moveTo>
                <a:lnTo>
                  <a:pt x="70191" y="59556"/>
                </a:lnTo>
                <a:cubicBezTo>
                  <a:pt x="73727" y="59556"/>
                  <a:pt x="76572" y="62401"/>
                  <a:pt x="76572" y="65937"/>
                </a:cubicBezTo>
                <a:lnTo>
                  <a:pt x="76572" y="89334"/>
                </a:lnTo>
                <a:lnTo>
                  <a:pt x="78699" y="89334"/>
                </a:lnTo>
                <a:cubicBezTo>
                  <a:pt x="82235" y="89334"/>
                  <a:pt x="85080" y="92179"/>
                  <a:pt x="85080" y="95715"/>
                </a:cubicBezTo>
                <a:cubicBezTo>
                  <a:pt x="85080" y="99251"/>
                  <a:pt x="82235" y="102096"/>
                  <a:pt x="78699" y="102096"/>
                </a:cubicBezTo>
                <a:lnTo>
                  <a:pt x="57429" y="102096"/>
                </a:lnTo>
                <a:cubicBezTo>
                  <a:pt x="53893" y="102096"/>
                  <a:pt x="51048" y="99251"/>
                  <a:pt x="51048" y="95715"/>
                </a:cubicBezTo>
                <a:cubicBezTo>
                  <a:pt x="51048" y="92179"/>
                  <a:pt x="53893" y="89334"/>
                  <a:pt x="57429" y="89334"/>
                </a:cubicBezTo>
                <a:lnTo>
                  <a:pt x="63810" y="89334"/>
                </a:lnTo>
                <a:lnTo>
                  <a:pt x="63810" y="72318"/>
                </a:lnTo>
                <a:lnTo>
                  <a:pt x="57429" y="72318"/>
                </a:lnTo>
                <a:cubicBezTo>
                  <a:pt x="53893" y="72318"/>
                  <a:pt x="51048" y="69473"/>
                  <a:pt x="51048" y="65937"/>
                </a:cubicBezTo>
                <a:cubicBezTo>
                  <a:pt x="51048" y="62401"/>
                  <a:pt x="53893" y="59556"/>
                  <a:pt x="57429" y="59556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6566467" y="6150106"/>
            <a:ext cx="5178330" cy="442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2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MATCH Pro existe para que o participante desenvolva </a:t>
            </a:r>
            <a:r>
              <a:rPr lang="en-US" sz="1072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informação incremental de risco</a:t>
            </a:r>
            <a:r>
              <a:rPr lang="en-US" sz="1072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antes de entrar em um estabelecimento.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810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Regras Obrigatórias e Responsabilidades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573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Obrigações formais do adquirente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76400"/>
            <a:ext cx="5600700" cy="2667000"/>
          </a:xfrm>
          <a:custGeom>
            <a:avLst/>
            <a:gdLst/>
            <a:ahLst/>
            <a:cxnLst/>
            <a:rect l="l" t="t" r="r" b="b"/>
            <a:pathLst>
              <a:path w="5600700" h="2667000">
                <a:moveTo>
                  <a:pt x="38111" y="0"/>
                </a:moveTo>
                <a:lnTo>
                  <a:pt x="5562589" y="0"/>
                </a:lnTo>
                <a:cubicBezTo>
                  <a:pt x="5583637" y="0"/>
                  <a:pt x="5600700" y="17063"/>
                  <a:pt x="5600700" y="38111"/>
                </a:cubicBezTo>
                <a:lnTo>
                  <a:pt x="5600700" y="2628889"/>
                </a:lnTo>
                <a:cubicBezTo>
                  <a:pt x="5600700" y="2649937"/>
                  <a:pt x="5583637" y="2667000"/>
                  <a:pt x="5562589" y="2667000"/>
                </a:cubicBezTo>
                <a:lnTo>
                  <a:pt x="38111" y="2667000"/>
                </a:lnTo>
                <a:cubicBezTo>
                  <a:pt x="17063" y="2667000"/>
                  <a:pt x="0" y="2649937"/>
                  <a:pt x="0" y="2628889"/>
                </a:cubicBezTo>
                <a:lnTo>
                  <a:pt x="0" y="38111"/>
                </a:lnTo>
                <a:cubicBezTo>
                  <a:pt x="0" y="17077"/>
                  <a:pt x="17077" y="0"/>
                  <a:pt x="38111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71500" y="1866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981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143000" y="1943100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Prazos Críticos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438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07082" y="249555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6800" y="24384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dias corridos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6800" y="2705100"/>
            <a:ext cx="469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adicionar estabelecimentos terminados com reason code elegível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304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5021" y="31051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6800" y="3048000"/>
            <a:ext cx="3609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dias corridos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6800" y="3314700"/>
            <a:ext cx="3600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responder a pedidos de remoção do MATCH Pro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" y="3657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13184" y="37147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6800" y="3657600"/>
            <a:ext cx="396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dias corridos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6800" y="3924300"/>
            <a:ext cx="395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responder dúvidas sobre listagem de estabelecimento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0050" y="4495800"/>
            <a:ext cx="5581650" cy="1143000"/>
          </a:xfrm>
          <a:custGeom>
            <a:avLst/>
            <a:gdLst/>
            <a:ahLst/>
            <a:cxnLst/>
            <a:rect l="l" t="t" r="r" b="b"/>
            <a:pathLst>
              <a:path w="5581650" h="1143000">
                <a:moveTo>
                  <a:pt x="38096" y="0"/>
                </a:moveTo>
                <a:lnTo>
                  <a:pt x="5543554" y="0"/>
                </a:lnTo>
                <a:cubicBezTo>
                  <a:pt x="5564594" y="0"/>
                  <a:pt x="5581650" y="17056"/>
                  <a:pt x="5581650" y="38096"/>
                </a:cubicBezTo>
                <a:lnTo>
                  <a:pt x="5581650" y="1104904"/>
                </a:lnTo>
                <a:cubicBezTo>
                  <a:pt x="5581650" y="1125944"/>
                  <a:pt x="5564594" y="1143000"/>
                  <a:pt x="5543554" y="1143000"/>
                </a:cubicBezTo>
                <a:lnTo>
                  <a:pt x="38096" y="1143000"/>
                </a:lnTo>
                <a:cubicBezTo>
                  <a:pt x="17056" y="1143000"/>
                  <a:pt x="0" y="1125944"/>
                  <a:pt x="0" y="11049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FF6B0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00050" y="44958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595313" y="4686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6624" y="153479"/>
                </a:moveTo>
                <a:lnTo>
                  <a:pt x="37021" y="53876"/>
                </a:lnTo>
                <a:cubicBezTo>
                  <a:pt x="28687" y="65559"/>
                  <a:pt x="23812" y="79846"/>
                  <a:pt x="23812" y="95250"/>
                </a:cubicBezTo>
                <a:cubicBezTo>
                  <a:pt x="23812" y="134689"/>
                  <a:pt x="55811" y="166688"/>
                  <a:pt x="95250" y="166688"/>
                </a:cubicBezTo>
                <a:cubicBezTo>
                  <a:pt x="110691" y="166688"/>
                  <a:pt x="124978" y="161813"/>
                  <a:pt x="136624" y="153479"/>
                </a:cubicBezTo>
                <a:close/>
                <a:moveTo>
                  <a:pt x="153479" y="136624"/>
                </a:moveTo>
                <a:cubicBezTo>
                  <a:pt x="161813" y="124941"/>
                  <a:pt x="166688" y="110654"/>
                  <a:pt x="166688" y="95250"/>
                </a:cubicBezTo>
                <a:cubicBezTo>
                  <a:pt x="166688" y="55811"/>
                  <a:pt x="134689" y="23812"/>
                  <a:pt x="95250" y="23812"/>
                </a:cubicBezTo>
                <a:cubicBezTo>
                  <a:pt x="79809" y="23812"/>
                  <a:pt x="65522" y="28687"/>
                  <a:pt x="53876" y="37021"/>
                </a:cubicBezTo>
                <a:lnTo>
                  <a:pt x="153479" y="136624"/>
                </a:ln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09625" y="4648200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Proibição Expressa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1500" y="4991100"/>
            <a:ext cx="533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 </a:t>
            </a: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estritamente proibido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usar ou ameaçar usar o MATCH Pro como ferramenta de </a:t>
            </a: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cobrança/coleção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"minor discretionary activity".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0300" y="1676400"/>
            <a:ext cx="5600700" cy="3810000"/>
          </a:xfrm>
          <a:custGeom>
            <a:avLst/>
            <a:gdLst/>
            <a:ahLst/>
            <a:cxnLst/>
            <a:rect l="l" t="t" r="r" b="b"/>
            <a:pathLst>
              <a:path w="5600700" h="38100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771900"/>
                </a:lnTo>
                <a:cubicBezTo>
                  <a:pt x="5600700" y="3792928"/>
                  <a:pt x="5583628" y="3810000"/>
                  <a:pt x="5562600" y="3810000"/>
                </a:cubicBezTo>
                <a:lnTo>
                  <a:pt x="38100" y="3810000"/>
                </a:lnTo>
                <a:cubicBezTo>
                  <a:pt x="17072" y="3810000"/>
                  <a:pt x="0" y="3792928"/>
                  <a:pt x="0" y="3771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429375" y="190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686550" y="1866900"/>
            <a:ext cx="504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Principais Obrigações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0" y="23241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Responder remoção em ≤ 30 dias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0" y="26289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Responder dúvidas em ≤ 7 dias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0" y="29337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Responsável pela exatidão dos dados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0" y="32385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Consultas em mudança de controle (90 dias)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0" y="35433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Reter todos os Reference Numbers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00800" y="38481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Atuar com diligência e boa-fé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0800" y="41529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Fornecer ICA e Reason Code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00800" y="44577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Confirmar relevância dos resultados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47625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9.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Garantir dados corretos (ISO/ASCII)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00800" y="50673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Manter contato atualizado no MCP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0300" y="5638800"/>
            <a:ext cx="5600700" cy="1143000"/>
          </a:xfrm>
          <a:custGeom>
            <a:avLst/>
            <a:gdLst/>
            <a:ahLst/>
            <a:cxnLst/>
            <a:rect l="l" t="t" r="r" b="b"/>
            <a:pathLst>
              <a:path w="5600700" h="1143000">
                <a:moveTo>
                  <a:pt x="38096" y="0"/>
                </a:moveTo>
                <a:lnTo>
                  <a:pt x="5562604" y="0"/>
                </a:lnTo>
                <a:cubicBezTo>
                  <a:pt x="5583644" y="0"/>
                  <a:pt x="5600700" y="17056"/>
                  <a:pt x="5600700" y="38096"/>
                </a:cubicBezTo>
                <a:lnTo>
                  <a:pt x="5600700" y="1104904"/>
                </a:lnTo>
                <a:cubicBezTo>
                  <a:pt x="5600700" y="1125944"/>
                  <a:pt x="5583644" y="1143000"/>
                  <a:pt x="5562604" y="1143000"/>
                </a:cubicBezTo>
                <a:lnTo>
                  <a:pt x="38096" y="1143000"/>
                </a:lnTo>
                <a:cubicBezTo>
                  <a:pt x="17056" y="1143000"/>
                  <a:pt x="0" y="1125944"/>
                  <a:pt x="0" y="11049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6386513" y="5829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600825" y="5791200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Noncompliance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62700" y="613410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Falhas podem gerar </a:t>
            </a: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noncompliance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decisões desfavoráveis em compliance cases.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8100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Motivos de Inclusão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 Codes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573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Motivos elegíveis para inclusão de estabelecimentos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76400"/>
            <a:ext cx="2162175" cy="1600200"/>
          </a:xfrm>
          <a:custGeom>
            <a:avLst/>
            <a:gdLst/>
            <a:ahLst/>
            <a:cxnLst/>
            <a:rect l="l" t="t" r="r" b="b"/>
            <a:pathLst>
              <a:path w="2162175" h="1600200">
                <a:moveTo>
                  <a:pt x="38101" y="0"/>
                </a:moveTo>
                <a:lnTo>
                  <a:pt x="2124074" y="0"/>
                </a:lnTo>
                <a:cubicBezTo>
                  <a:pt x="2145117" y="0"/>
                  <a:pt x="2162175" y="17058"/>
                  <a:pt x="2162175" y="38101"/>
                </a:cubicBezTo>
                <a:lnTo>
                  <a:pt x="2162175" y="1562099"/>
                </a:lnTo>
                <a:cubicBezTo>
                  <a:pt x="2162175" y="1583142"/>
                  <a:pt x="2145117" y="1600200"/>
                  <a:pt x="2124074" y="1600200"/>
                </a:cubicBezTo>
                <a:lnTo>
                  <a:pt x="38101" y="1600200"/>
                </a:lnTo>
                <a:cubicBezTo>
                  <a:pt x="17058" y="1600200"/>
                  <a:pt x="0" y="1583142"/>
                  <a:pt x="0" y="15620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33400" y="192077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85775" y="1920776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8700" y="1844576"/>
            <a:ext cx="15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Comprometimento de Dados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" y="2454176"/>
            <a:ext cx="19240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Acesso/divulgação não autorizada de dados de conta e uso fraudulento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59261" y="1676400"/>
            <a:ext cx="2162175" cy="1600200"/>
          </a:xfrm>
          <a:custGeom>
            <a:avLst/>
            <a:gdLst/>
            <a:ahLst/>
            <a:cxnLst/>
            <a:rect l="l" t="t" r="r" b="b"/>
            <a:pathLst>
              <a:path w="2162175" h="1600200">
                <a:moveTo>
                  <a:pt x="38101" y="0"/>
                </a:moveTo>
                <a:lnTo>
                  <a:pt x="2124074" y="0"/>
                </a:lnTo>
                <a:cubicBezTo>
                  <a:pt x="2145117" y="0"/>
                  <a:pt x="2162175" y="17058"/>
                  <a:pt x="2162175" y="38101"/>
                </a:cubicBezTo>
                <a:lnTo>
                  <a:pt x="2162175" y="1562099"/>
                </a:lnTo>
                <a:cubicBezTo>
                  <a:pt x="2162175" y="1583142"/>
                  <a:pt x="2145117" y="1600200"/>
                  <a:pt x="2124074" y="1600200"/>
                </a:cubicBezTo>
                <a:lnTo>
                  <a:pt x="38101" y="1600200"/>
                </a:lnTo>
                <a:cubicBezTo>
                  <a:pt x="17058" y="1600200"/>
                  <a:pt x="0" y="1583142"/>
                  <a:pt x="0" y="15620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811661" y="20291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764036" y="2029123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06961" y="2086273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Venda Ilegal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11661" y="2486323"/>
            <a:ext cx="19240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Venda de produtos/serviços proibidos por lei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7671" y="1676400"/>
            <a:ext cx="2162175" cy="1600200"/>
          </a:xfrm>
          <a:custGeom>
            <a:avLst/>
            <a:gdLst/>
            <a:ahLst/>
            <a:cxnLst/>
            <a:rect l="l" t="t" r="r" b="b"/>
            <a:pathLst>
              <a:path w="2162175" h="1600200">
                <a:moveTo>
                  <a:pt x="38101" y="0"/>
                </a:moveTo>
                <a:lnTo>
                  <a:pt x="2124074" y="0"/>
                </a:lnTo>
                <a:cubicBezTo>
                  <a:pt x="2145117" y="0"/>
                  <a:pt x="2162175" y="17058"/>
                  <a:pt x="2162175" y="38101"/>
                </a:cubicBezTo>
                <a:lnTo>
                  <a:pt x="2162175" y="1562099"/>
                </a:lnTo>
                <a:cubicBezTo>
                  <a:pt x="2162175" y="1583142"/>
                  <a:pt x="2145117" y="1600200"/>
                  <a:pt x="2124074" y="1600200"/>
                </a:cubicBezTo>
                <a:lnTo>
                  <a:pt x="38101" y="1600200"/>
                </a:lnTo>
                <a:cubicBezTo>
                  <a:pt x="17058" y="1600200"/>
                  <a:pt x="0" y="1583142"/>
                  <a:pt x="0" y="15620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090071" y="192077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042446" y="1920776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85371" y="1844576"/>
            <a:ext cx="144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Lavagem de Transações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90071" y="2454176"/>
            <a:ext cx="19240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Submissão de transações não cobertas pelo estabelecimento Agreement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3386882"/>
            <a:ext cx="2162175" cy="1600200"/>
          </a:xfrm>
          <a:custGeom>
            <a:avLst/>
            <a:gdLst/>
            <a:ahLst/>
            <a:cxnLst/>
            <a:rect l="l" t="t" r="r" b="b"/>
            <a:pathLst>
              <a:path w="2162175" h="1600200">
                <a:moveTo>
                  <a:pt x="38101" y="0"/>
                </a:moveTo>
                <a:lnTo>
                  <a:pt x="2124074" y="0"/>
                </a:lnTo>
                <a:cubicBezTo>
                  <a:pt x="2145117" y="0"/>
                  <a:pt x="2162175" y="17058"/>
                  <a:pt x="2162175" y="38101"/>
                </a:cubicBezTo>
                <a:lnTo>
                  <a:pt x="2162175" y="1562099"/>
                </a:lnTo>
                <a:cubicBezTo>
                  <a:pt x="2162175" y="1583142"/>
                  <a:pt x="2145117" y="1600200"/>
                  <a:pt x="2124074" y="1600200"/>
                </a:cubicBezTo>
                <a:lnTo>
                  <a:pt x="38101" y="1600200"/>
                </a:lnTo>
                <a:cubicBezTo>
                  <a:pt x="17058" y="1600200"/>
                  <a:pt x="0" y="1583142"/>
                  <a:pt x="0" y="15620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33400" y="373960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5775" y="3739604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8700" y="3796754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Atividade Ilegal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3400" y="4196804"/>
            <a:ext cx="19240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Engajamento em transações ilegais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659261" y="3386882"/>
            <a:ext cx="2162175" cy="1600200"/>
          </a:xfrm>
          <a:custGeom>
            <a:avLst/>
            <a:gdLst/>
            <a:ahLst/>
            <a:cxnLst/>
            <a:rect l="l" t="t" r="r" b="b"/>
            <a:pathLst>
              <a:path w="2162175" h="1600200">
                <a:moveTo>
                  <a:pt x="38101" y="0"/>
                </a:moveTo>
                <a:lnTo>
                  <a:pt x="2124074" y="0"/>
                </a:lnTo>
                <a:cubicBezTo>
                  <a:pt x="2145117" y="0"/>
                  <a:pt x="2162175" y="17058"/>
                  <a:pt x="2162175" y="38101"/>
                </a:cubicBezTo>
                <a:lnTo>
                  <a:pt x="2162175" y="1562099"/>
                </a:lnTo>
                <a:cubicBezTo>
                  <a:pt x="2162175" y="1583142"/>
                  <a:pt x="2145117" y="1600200"/>
                  <a:pt x="2124074" y="1600200"/>
                </a:cubicBezTo>
                <a:lnTo>
                  <a:pt x="38101" y="1600200"/>
                </a:lnTo>
                <a:cubicBezTo>
                  <a:pt x="17058" y="1600200"/>
                  <a:pt x="0" y="1583142"/>
                  <a:pt x="0" y="15620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2811661" y="373960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2764036" y="3739604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06961" y="3796754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Fraude Excessiva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811661" y="4196804"/>
            <a:ext cx="19240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Razão fraude/vendas ≥ 8% nos últimos 3 meses e ≥ USD 5.000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37671" y="3386882"/>
            <a:ext cx="2162175" cy="1600200"/>
          </a:xfrm>
          <a:custGeom>
            <a:avLst/>
            <a:gdLst/>
            <a:ahLst/>
            <a:cxnLst/>
            <a:rect l="l" t="t" r="r" b="b"/>
            <a:pathLst>
              <a:path w="2162175" h="1600200">
                <a:moveTo>
                  <a:pt x="38101" y="0"/>
                </a:moveTo>
                <a:lnTo>
                  <a:pt x="2124074" y="0"/>
                </a:lnTo>
                <a:cubicBezTo>
                  <a:pt x="2145117" y="0"/>
                  <a:pt x="2162175" y="17058"/>
                  <a:pt x="2162175" y="38101"/>
                </a:cubicBezTo>
                <a:lnTo>
                  <a:pt x="2162175" y="1562099"/>
                </a:lnTo>
                <a:cubicBezTo>
                  <a:pt x="2162175" y="1583142"/>
                  <a:pt x="2145117" y="1600200"/>
                  <a:pt x="2124074" y="1600200"/>
                </a:cubicBezTo>
                <a:lnTo>
                  <a:pt x="38101" y="1600200"/>
                </a:lnTo>
                <a:cubicBezTo>
                  <a:pt x="17058" y="1600200"/>
                  <a:pt x="0" y="1583142"/>
                  <a:pt x="0" y="15620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5090071" y="36312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5042446" y="3631257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85371" y="3555057"/>
            <a:ext cx="144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Violações de Regras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90071" y="4164657"/>
            <a:ext cx="19240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Violação de Standards da Mastercard e Chargebacks excessivos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1000" y="5097363"/>
            <a:ext cx="2162175" cy="1381125"/>
          </a:xfrm>
          <a:custGeom>
            <a:avLst/>
            <a:gdLst/>
            <a:ahLst/>
            <a:cxnLst/>
            <a:rect l="l" t="t" r="r" b="b"/>
            <a:pathLst>
              <a:path w="2162175" h="1381125">
                <a:moveTo>
                  <a:pt x="38105" y="0"/>
                </a:moveTo>
                <a:lnTo>
                  <a:pt x="2124070" y="0"/>
                </a:lnTo>
                <a:cubicBezTo>
                  <a:pt x="2145115" y="0"/>
                  <a:pt x="2162175" y="17060"/>
                  <a:pt x="2162175" y="38105"/>
                </a:cubicBezTo>
                <a:lnTo>
                  <a:pt x="2162175" y="1343020"/>
                </a:lnTo>
                <a:cubicBezTo>
                  <a:pt x="2162175" y="1364065"/>
                  <a:pt x="2145115" y="1381125"/>
                  <a:pt x="2124070" y="1381125"/>
                </a:cubicBezTo>
                <a:lnTo>
                  <a:pt x="38105" y="1381125"/>
                </a:lnTo>
                <a:cubicBezTo>
                  <a:pt x="17060" y="1381125"/>
                  <a:pt x="0" y="1364065"/>
                  <a:pt x="0" y="1343020"/>
                </a:cubicBezTo>
                <a:lnTo>
                  <a:pt x="0" y="38105"/>
                </a:lnTo>
                <a:cubicBezTo>
                  <a:pt x="0" y="17060"/>
                  <a:pt x="17060" y="0"/>
                  <a:pt x="38105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533400" y="53418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85775" y="5341888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28700" y="5265688"/>
            <a:ext cx="144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Alto Risco Financeiro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3400" y="5875288"/>
            <a:ext cx="19240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Incapacidade de honrar obrigações financeiras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659261" y="5097363"/>
            <a:ext cx="2162175" cy="1381125"/>
          </a:xfrm>
          <a:custGeom>
            <a:avLst/>
            <a:gdLst/>
            <a:ahLst/>
            <a:cxnLst/>
            <a:rect l="l" t="t" r="r" b="b"/>
            <a:pathLst>
              <a:path w="2162175" h="1381125">
                <a:moveTo>
                  <a:pt x="38105" y="0"/>
                </a:moveTo>
                <a:lnTo>
                  <a:pt x="2124070" y="0"/>
                </a:lnTo>
                <a:cubicBezTo>
                  <a:pt x="2145115" y="0"/>
                  <a:pt x="2162175" y="17060"/>
                  <a:pt x="2162175" y="38105"/>
                </a:cubicBezTo>
                <a:lnTo>
                  <a:pt x="2162175" y="1343020"/>
                </a:lnTo>
                <a:cubicBezTo>
                  <a:pt x="2162175" y="1364065"/>
                  <a:pt x="2145115" y="1381125"/>
                  <a:pt x="2124070" y="1381125"/>
                </a:cubicBezTo>
                <a:lnTo>
                  <a:pt x="38105" y="1381125"/>
                </a:lnTo>
                <a:cubicBezTo>
                  <a:pt x="17060" y="1381125"/>
                  <a:pt x="0" y="1364065"/>
                  <a:pt x="0" y="1343020"/>
                </a:cubicBezTo>
                <a:lnTo>
                  <a:pt x="0" y="38105"/>
                </a:lnTo>
                <a:cubicBezTo>
                  <a:pt x="0" y="17060"/>
                  <a:pt x="17060" y="0"/>
                  <a:pt x="38105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2811661" y="53418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2764036" y="5341888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306961" y="5265688"/>
            <a:ext cx="144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PCI DSS Noncompliance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811661" y="5875288"/>
            <a:ext cx="19240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conformidade com PCI DSS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937671" y="5097363"/>
            <a:ext cx="2162175" cy="1381125"/>
          </a:xfrm>
          <a:custGeom>
            <a:avLst/>
            <a:gdLst/>
            <a:ahLst/>
            <a:cxnLst/>
            <a:rect l="l" t="t" r="r" b="b"/>
            <a:pathLst>
              <a:path w="2162175" h="1381125">
                <a:moveTo>
                  <a:pt x="38105" y="0"/>
                </a:moveTo>
                <a:lnTo>
                  <a:pt x="2124070" y="0"/>
                </a:lnTo>
                <a:cubicBezTo>
                  <a:pt x="2145115" y="0"/>
                  <a:pt x="2162175" y="17060"/>
                  <a:pt x="2162175" y="38105"/>
                </a:cubicBezTo>
                <a:lnTo>
                  <a:pt x="2162175" y="1343020"/>
                </a:lnTo>
                <a:cubicBezTo>
                  <a:pt x="2162175" y="1364065"/>
                  <a:pt x="2145115" y="1381125"/>
                  <a:pt x="2124070" y="1381125"/>
                </a:cubicBezTo>
                <a:lnTo>
                  <a:pt x="38105" y="1381125"/>
                </a:lnTo>
                <a:cubicBezTo>
                  <a:pt x="17060" y="1381125"/>
                  <a:pt x="0" y="1364065"/>
                  <a:pt x="0" y="1343020"/>
                </a:cubicBezTo>
                <a:lnTo>
                  <a:pt x="0" y="38105"/>
                </a:lnTo>
                <a:cubicBezTo>
                  <a:pt x="0" y="17060"/>
                  <a:pt x="17060" y="0"/>
                  <a:pt x="38105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5090071" y="53418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5042446" y="5341888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585371" y="5265688"/>
            <a:ext cx="144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Roubo de Identidade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090071" y="5875288"/>
            <a:ext cx="19240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Suspeita de identidade assumida ilegalmente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330380" y="1676400"/>
            <a:ext cx="4476750" cy="1733550"/>
          </a:xfrm>
          <a:custGeom>
            <a:avLst/>
            <a:gdLst/>
            <a:ahLst/>
            <a:cxnLst/>
            <a:rect l="l" t="t" r="r" b="b"/>
            <a:pathLst>
              <a:path w="4476750" h="1733550">
                <a:moveTo>
                  <a:pt x="38103" y="0"/>
                </a:moveTo>
                <a:lnTo>
                  <a:pt x="4438647" y="0"/>
                </a:lnTo>
                <a:cubicBezTo>
                  <a:pt x="4459691" y="0"/>
                  <a:pt x="4476750" y="17059"/>
                  <a:pt x="4476750" y="38103"/>
                </a:cubicBezTo>
                <a:lnTo>
                  <a:pt x="4476750" y="1695447"/>
                </a:lnTo>
                <a:cubicBezTo>
                  <a:pt x="4476750" y="1716491"/>
                  <a:pt x="4459691" y="1733550"/>
                  <a:pt x="4438647" y="1733550"/>
                </a:cubicBezTo>
                <a:lnTo>
                  <a:pt x="38103" y="1733550"/>
                </a:lnTo>
                <a:cubicBezTo>
                  <a:pt x="17059" y="1733550"/>
                  <a:pt x="0" y="1716491"/>
                  <a:pt x="0" y="169544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7541121" y="18764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94655" y="85613"/>
                </a:moveTo>
                <a:lnTo>
                  <a:pt x="84218" y="75177"/>
                </a:lnTo>
                <a:cubicBezTo>
                  <a:pt x="77242" y="68200"/>
                  <a:pt x="77242" y="56871"/>
                  <a:pt x="84218" y="49895"/>
                </a:cubicBezTo>
                <a:lnTo>
                  <a:pt x="148233" y="-14176"/>
                </a:lnTo>
                <a:cubicBezTo>
                  <a:pt x="155209" y="-21152"/>
                  <a:pt x="166539" y="-21152"/>
                  <a:pt x="173515" y="-14176"/>
                </a:cubicBezTo>
                <a:lnTo>
                  <a:pt x="183952" y="-3683"/>
                </a:lnTo>
                <a:cubicBezTo>
                  <a:pt x="190928" y="3293"/>
                  <a:pt x="190928" y="14622"/>
                  <a:pt x="183952" y="21599"/>
                </a:cubicBezTo>
                <a:lnTo>
                  <a:pt x="119937" y="85613"/>
                </a:lnTo>
                <a:cubicBezTo>
                  <a:pt x="112961" y="92590"/>
                  <a:pt x="101631" y="92590"/>
                  <a:pt x="94655" y="85613"/>
                </a:cubicBezTo>
                <a:close/>
                <a:moveTo>
                  <a:pt x="154037" y="118151"/>
                </a:moveTo>
                <a:lnTo>
                  <a:pt x="136513" y="100626"/>
                </a:lnTo>
                <a:lnTo>
                  <a:pt x="199020" y="38119"/>
                </a:lnTo>
                <a:lnTo>
                  <a:pt x="265658" y="104756"/>
                </a:lnTo>
                <a:lnTo>
                  <a:pt x="203150" y="167264"/>
                </a:lnTo>
                <a:lnTo>
                  <a:pt x="185626" y="149740"/>
                </a:lnTo>
                <a:lnTo>
                  <a:pt x="56145" y="279220"/>
                </a:lnTo>
                <a:cubicBezTo>
                  <a:pt x="47439" y="287927"/>
                  <a:pt x="33319" y="287927"/>
                  <a:pt x="24557" y="279220"/>
                </a:cubicBezTo>
                <a:cubicBezTo>
                  <a:pt x="15794" y="270514"/>
                  <a:pt x="15850" y="256394"/>
                  <a:pt x="24557" y="247631"/>
                </a:cubicBezTo>
                <a:lnTo>
                  <a:pt x="154037" y="118151"/>
                </a:lnTo>
                <a:close/>
                <a:moveTo>
                  <a:pt x="218163" y="209066"/>
                </a:moveTo>
                <a:cubicBezTo>
                  <a:pt x="211187" y="202090"/>
                  <a:pt x="211187" y="190760"/>
                  <a:pt x="218163" y="183784"/>
                </a:cubicBezTo>
                <a:lnTo>
                  <a:pt x="282178" y="119769"/>
                </a:lnTo>
                <a:cubicBezTo>
                  <a:pt x="289154" y="112793"/>
                  <a:pt x="300484" y="112793"/>
                  <a:pt x="307460" y="119769"/>
                </a:cubicBezTo>
                <a:lnTo>
                  <a:pt x="317897" y="130206"/>
                </a:lnTo>
                <a:cubicBezTo>
                  <a:pt x="324873" y="137182"/>
                  <a:pt x="324873" y="148512"/>
                  <a:pt x="317897" y="155488"/>
                </a:cubicBezTo>
                <a:lnTo>
                  <a:pt x="253882" y="219559"/>
                </a:lnTo>
                <a:cubicBezTo>
                  <a:pt x="246906" y="226535"/>
                  <a:pt x="235576" y="226535"/>
                  <a:pt x="228600" y="219559"/>
                </a:cubicBezTo>
                <a:lnTo>
                  <a:pt x="218163" y="209122"/>
                </a:ln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7882830" y="1866900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Critérios Objetivos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520880" y="2324100"/>
            <a:ext cx="4171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Todos os reason codes devem ser aplicados com base em </a:t>
            </a: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critérios objetivos e verificáveis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539930" y="3019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7768530" y="2971800"/>
            <a:ext cx="3924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Excluem rumores ou suspeitas não suportadas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330380" y="3562350"/>
            <a:ext cx="4476750" cy="2914650"/>
          </a:xfrm>
          <a:custGeom>
            <a:avLst/>
            <a:gdLst/>
            <a:ahLst/>
            <a:cxnLst/>
            <a:rect l="l" t="t" r="r" b="b"/>
            <a:pathLst>
              <a:path w="4476750" h="2914650">
                <a:moveTo>
                  <a:pt x="38094" y="0"/>
                </a:moveTo>
                <a:lnTo>
                  <a:pt x="4438656" y="0"/>
                </a:lnTo>
                <a:cubicBezTo>
                  <a:pt x="4459695" y="0"/>
                  <a:pt x="4476750" y="17055"/>
                  <a:pt x="4476750" y="38094"/>
                </a:cubicBezTo>
                <a:lnTo>
                  <a:pt x="4476750" y="2876556"/>
                </a:lnTo>
                <a:cubicBezTo>
                  <a:pt x="4476750" y="2897595"/>
                  <a:pt x="4459695" y="2914650"/>
                  <a:pt x="4438656" y="2914650"/>
                </a:cubicBezTo>
                <a:lnTo>
                  <a:pt x="38094" y="2914650"/>
                </a:lnTo>
                <a:cubicBezTo>
                  <a:pt x="17055" y="2914650"/>
                  <a:pt x="0" y="2897595"/>
                  <a:pt x="0" y="2876556"/>
                </a:cubicBezTo>
                <a:lnTo>
                  <a:pt x="0" y="38094"/>
                </a:lnTo>
                <a:cubicBezTo>
                  <a:pt x="0" y="17055"/>
                  <a:pt x="17055" y="0"/>
                  <a:pt x="38094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7520880" y="3990975"/>
            <a:ext cx="419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 Codes da Mastercard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520880" y="4410075"/>
            <a:ext cx="4171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Específicos da Mastercard; você pode receber match, mas </a:t>
            </a: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pode adicionar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usando estes codes.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520880" y="5019675"/>
            <a:ext cx="417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00: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Questionable estabelecimento/Under Investigation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520880" y="5286375"/>
            <a:ext cx="417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QMAP Determination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520880" y="5553075"/>
            <a:ext cx="417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Listing Under Privacy Review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520880" y="5819775"/>
            <a:ext cx="417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Illegal Transactions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707" y="446049"/>
            <a:ext cx="594732" cy="37171"/>
          </a:xfrm>
          <a:custGeom>
            <a:avLst/>
            <a:gdLst/>
            <a:ahLst/>
            <a:cxnLst/>
            <a:rect l="l" t="t" r="r" b="b"/>
            <a:pathLst>
              <a:path w="594732" h="37171">
                <a:moveTo>
                  <a:pt x="0" y="0"/>
                </a:moveTo>
                <a:lnTo>
                  <a:pt x="594732" y="0"/>
                </a:lnTo>
                <a:lnTo>
                  <a:pt x="594732" y="37171"/>
                </a:lnTo>
                <a:lnTo>
                  <a:pt x="0" y="37171"/>
                </a:lnTo>
                <a:lnTo>
                  <a:pt x="0" y="0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5122" y="371707"/>
            <a:ext cx="2248829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kern="0" spc="205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Funcionamento Técnico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1707" y="669073"/>
            <a:ext cx="11671610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12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Como Funciona o Matching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1707" y="1226634"/>
            <a:ext cx="11541512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Algoritmos avançados de correspondência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1707" y="1635512"/>
            <a:ext cx="3717073" cy="4553415"/>
          </a:xfrm>
          <a:custGeom>
            <a:avLst/>
            <a:gdLst/>
            <a:ahLst/>
            <a:cxnLst/>
            <a:rect l="l" t="t" r="r" b="b"/>
            <a:pathLst>
              <a:path w="3717073" h="4553415">
                <a:moveTo>
                  <a:pt x="37171" y="0"/>
                </a:moveTo>
                <a:lnTo>
                  <a:pt x="3679902" y="0"/>
                </a:lnTo>
                <a:cubicBezTo>
                  <a:pt x="3700431" y="0"/>
                  <a:pt x="3717073" y="16642"/>
                  <a:pt x="3717073" y="37171"/>
                </a:cubicBezTo>
                <a:lnTo>
                  <a:pt x="3717073" y="4516244"/>
                </a:lnTo>
                <a:cubicBezTo>
                  <a:pt x="3717073" y="4536773"/>
                  <a:pt x="3700431" y="4553415"/>
                  <a:pt x="3679902" y="4553415"/>
                </a:cubicBezTo>
                <a:lnTo>
                  <a:pt x="37171" y="4553415"/>
                </a:lnTo>
                <a:cubicBezTo>
                  <a:pt x="16642" y="4553415"/>
                  <a:pt x="0" y="4536773"/>
                  <a:pt x="0" y="4516244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57561" y="1821366"/>
            <a:ext cx="520390" cy="520390"/>
          </a:xfrm>
          <a:custGeom>
            <a:avLst/>
            <a:gdLst/>
            <a:ahLst/>
            <a:cxnLst/>
            <a:rect l="l" t="t" r="r" b="b"/>
            <a:pathLst>
              <a:path w="520390" h="520390">
                <a:moveTo>
                  <a:pt x="37171" y="0"/>
                </a:moveTo>
                <a:lnTo>
                  <a:pt x="483219" y="0"/>
                </a:lnTo>
                <a:cubicBezTo>
                  <a:pt x="503748" y="0"/>
                  <a:pt x="520390" y="16642"/>
                  <a:pt x="520390" y="37171"/>
                </a:cubicBezTo>
                <a:lnTo>
                  <a:pt x="520390" y="483219"/>
                </a:lnTo>
                <a:cubicBezTo>
                  <a:pt x="520390" y="503748"/>
                  <a:pt x="503748" y="520390"/>
                  <a:pt x="483219" y="520390"/>
                </a:cubicBezTo>
                <a:lnTo>
                  <a:pt x="37171" y="520390"/>
                </a:lnTo>
                <a:cubicBezTo>
                  <a:pt x="16642" y="520390"/>
                  <a:pt x="0" y="503748"/>
                  <a:pt x="0" y="483219"/>
                </a:cubicBezTo>
                <a:lnTo>
                  <a:pt x="0" y="37171"/>
                </a:lnTo>
                <a:cubicBezTo>
                  <a:pt x="0" y="16656"/>
                  <a:pt x="16656" y="0"/>
                  <a:pt x="37171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20183" y="1970049"/>
            <a:ext cx="195146" cy="223024"/>
          </a:xfrm>
          <a:custGeom>
            <a:avLst/>
            <a:gdLst/>
            <a:ahLst/>
            <a:cxnLst/>
            <a:rect l="l" t="t" r="r" b="b"/>
            <a:pathLst>
              <a:path w="195146" h="223024">
                <a:moveTo>
                  <a:pt x="13939" y="55756"/>
                </a:moveTo>
                <a:cubicBezTo>
                  <a:pt x="6229" y="55756"/>
                  <a:pt x="0" y="61985"/>
                  <a:pt x="0" y="69695"/>
                </a:cubicBezTo>
                <a:cubicBezTo>
                  <a:pt x="0" y="77405"/>
                  <a:pt x="6229" y="83634"/>
                  <a:pt x="13939" y="83634"/>
                </a:cubicBezTo>
                <a:lnTo>
                  <a:pt x="181207" y="83634"/>
                </a:lnTo>
                <a:cubicBezTo>
                  <a:pt x="188917" y="83634"/>
                  <a:pt x="195146" y="77405"/>
                  <a:pt x="195146" y="69695"/>
                </a:cubicBezTo>
                <a:cubicBezTo>
                  <a:pt x="195146" y="61985"/>
                  <a:pt x="188917" y="55756"/>
                  <a:pt x="181207" y="55756"/>
                </a:cubicBezTo>
                <a:lnTo>
                  <a:pt x="13939" y="55756"/>
                </a:lnTo>
                <a:close/>
                <a:moveTo>
                  <a:pt x="13939" y="139390"/>
                </a:moveTo>
                <a:cubicBezTo>
                  <a:pt x="6229" y="139390"/>
                  <a:pt x="0" y="145619"/>
                  <a:pt x="0" y="153329"/>
                </a:cubicBezTo>
                <a:cubicBezTo>
                  <a:pt x="0" y="161039"/>
                  <a:pt x="6229" y="167268"/>
                  <a:pt x="13939" y="167268"/>
                </a:cubicBezTo>
                <a:lnTo>
                  <a:pt x="181207" y="167268"/>
                </a:lnTo>
                <a:cubicBezTo>
                  <a:pt x="188917" y="167268"/>
                  <a:pt x="195146" y="161039"/>
                  <a:pt x="195146" y="153329"/>
                </a:cubicBezTo>
                <a:cubicBezTo>
                  <a:pt x="195146" y="145619"/>
                  <a:pt x="188917" y="139390"/>
                  <a:pt x="181207" y="139390"/>
                </a:cubicBezTo>
                <a:lnTo>
                  <a:pt x="13939" y="139390"/>
                </a:ln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189463" y="1932878"/>
            <a:ext cx="2397512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Correspondência Exata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7561" y="2490439"/>
            <a:ext cx="3419707" cy="48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sistema busca dados que batem </a:t>
            </a:r>
            <a:r>
              <a:rPr lang="en-US" sz="1171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letra por letra ou número por número</a:t>
            </a: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 registros existentes.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561" y="3122341"/>
            <a:ext cx="3429000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Campos Chave: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439" y="3494049"/>
            <a:ext cx="130098" cy="148683"/>
          </a:xfrm>
          <a:custGeom>
            <a:avLst/>
            <a:gdLst/>
            <a:ahLst/>
            <a:cxnLst/>
            <a:rect l="l" t="t" r="r" b="b"/>
            <a:pathLst>
              <a:path w="130098" h="148683">
                <a:moveTo>
                  <a:pt x="126264" y="20357"/>
                </a:moveTo>
                <a:cubicBezTo>
                  <a:pt x="130417" y="23377"/>
                  <a:pt x="131346" y="29185"/>
                  <a:pt x="128326" y="33337"/>
                </a:cubicBezTo>
                <a:lnTo>
                  <a:pt x="53985" y="135557"/>
                </a:lnTo>
                <a:cubicBezTo>
                  <a:pt x="52388" y="137764"/>
                  <a:pt x="49919" y="139129"/>
                  <a:pt x="47189" y="139361"/>
                </a:cubicBezTo>
                <a:cubicBezTo>
                  <a:pt x="44460" y="139594"/>
                  <a:pt x="41817" y="138577"/>
                  <a:pt x="39900" y="136661"/>
                </a:cubicBezTo>
                <a:lnTo>
                  <a:pt x="2730" y="99490"/>
                </a:lnTo>
                <a:cubicBezTo>
                  <a:pt x="-900" y="95860"/>
                  <a:pt x="-900" y="89965"/>
                  <a:pt x="2730" y="86335"/>
                </a:cubicBezTo>
                <a:cubicBezTo>
                  <a:pt x="6360" y="82705"/>
                  <a:pt x="12255" y="82705"/>
                  <a:pt x="15885" y="86335"/>
                </a:cubicBezTo>
                <a:lnTo>
                  <a:pt x="45360" y="115810"/>
                </a:lnTo>
                <a:lnTo>
                  <a:pt x="113313" y="22390"/>
                </a:lnTo>
                <a:cubicBezTo>
                  <a:pt x="116333" y="18237"/>
                  <a:pt x="122141" y="17308"/>
                  <a:pt x="126293" y="20328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17756" y="3456878"/>
            <a:ext cx="1533293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Nome do Comerciante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5439" y="3754244"/>
            <a:ext cx="130098" cy="148683"/>
          </a:xfrm>
          <a:custGeom>
            <a:avLst/>
            <a:gdLst/>
            <a:ahLst/>
            <a:cxnLst/>
            <a:rect l="l" t="t" r="r" b="b"/>
            <a:pathLst>
              <a:path w="130098" h="148683">
                <a:moveTo>
                  <a:pt x="126264" y="20357"/>
                </a:moveTo>
                <a:cubicBezTo>
                  <a:pt x="130417" y="23377"/>
                  <a:pt x="131346" y="29185"/>
                  <a:pt x="128326" y="33337"/>
                </a:cubicBezTo>
                <a:lnTo>
                  <a:pt x="53985" y="135557"/>
                </a:lnTo>
                <a:cubicBezTo>
                  <a:pt x="52388" y="137764"/>
                  <a:pt x="49919" y="139129"/>
                  <a:pt x="47189" y="139361"/>
                </a:cubicBezTo>
                <a:cubicBezTo>
                  <a:pt x="44460" y="139594"/>
                  <a:pt x="41817" y="138577"/>
                  <a:pt x="39900" y="136661"/>
                </a:cubicBezTo>
                <a:lnTo>
                  <a:pt x="2730" y="99490"/>
                </a:lnTo>
                <a:cubicBezTo>
                  <a:pt x="-900" y="95860"/>
                  <a:pt x="-900" y="89965"/>
                  <a:pt x="2730" y="86335"/>
                </a:cubicBezTo>
                <a:cubicBezTo>
                  <a:pt x="6360" y="82705"/>
                  <a:pt x="12255" y="82705"/>
                  <a:pt x="15885" y="86335"/>
                </a:cubicBezTo>
                <a:lnTo>
                  <a:pt x="45360" y="115810"/>
                </a:lnTo>
                <a:lnTo>
                  <a:pt x="113313" y="22390"/>
                </a:lnTo>
                <a:cubicBezTo>
                  <a:pt x="116333" y="18237"/>
                  <a:pt x="122141" y="17308"/>
                  <a:pt x="126293" y="20328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17756" y="3717073"/>
            <a:ext cx="864220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CNPJ/Tax ID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5439" y="4014439"/>
            <a:ext cx="130098" cy="148683"/>
          </a:xfrm>
          <a:custGeom>
            <a:avLst/>
            <a:gdLst/>
            <a:ahLst/>
            <a:cxnLst/>
            <a:rect l="l" t="t" r="r" b="b"/>
            <a:pathLst>
              <a:path w="130098" h="148683">
                <a:moveTo>
                  <a:pt x="126264" y="20357"/>
                </a:moveTo>
                <a:cubicBezTo>
                  <a:pt x="130417" y="23377"/>
                  <a:pt x="131346" y="29185"/>
                  <a:pt x="128326" y="33337"/>
                </a:cubicBezTo>
                <a:lnTo>
                  <a:pt x="53985" y="135557"/>
                </a:lnTo>
                <a:cubicBezTo>
                  <a:pt x="52388" y="137764"/>
                  <a:pt x="49919" y="139129"/>
                  <a:pt x="47189" y="139361"/>
                </a:cubicBezTo>
                <a:cubicBezTo>
                  <a:pt x="44460" y="139594"/>
                  <a:pt x="41817" y="138577"/>
                  <a:pt x="39900" y="136661"/>
                </a:cubicBezTo>
                <a:lnTo>
                  <a:pt x="2730" y="99490"/>
                </a:lnTo>
                <a:cubicBezTo>
                  <a:pt x="-900" y="95860"/>
                  <a:pt x="-900" y="89965"/>
                  <a:pt x="2730" y="86335"/>
                </a:cubicBezTo>
                <a:cubicBezTo>
                  <a:pt x="6360" y="82705"/>
                  <a:pt x="12255" y="82705"/>
                  <a:pt x="15885" y="86335"/>
                </a:cubicBezTo>
                <a:lnTo>
                  <a:pt x="45360" y="115810"/>
                </a:lnTo>
                <a:lnTo>
                  <a:pt x="113313" y="22390"/>
                </a:lnTo>
                <a:cubicBezTo>
                  <a:pt x="116333" y="18237"/>
                  <a:pt x="122141" y="17308"/>
                  <a:pt x="126293" y="20328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17756" y="3977268"/>
            <a:ext cx="799171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URL do site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5439" y="4274634"/>
            <a:ext cx="130098" cy="148683"/>
          </a:xfrm>
          <a:custGeom>
            <a:avLst/>
            <a:gdLst/>
            <a:ahLst/>
            <a:cxnLst/>
            <a:rect l="l" t="t" r="r" b="b"/>
            <a:pathLst>
              <a:path w="130098" h="148683">
                <a:moveTo>
                  <a:pt x="126264" y="20357"/>
                </a:moveTo>
                <a:cubicBezTo>
                  <a:pt x="130417" y="23377"/>
                  <a:pt x="131346" y="29185"/>
                  <a:pt x="128326" y="33337"/>
                </a:cubicBezTo>
                <a:lnTo>
                  <a:pt x="53985" y="135557"/>
                </a:lnTo>
                <a:cubicBezTo>
                  <a:pt x="52388" y="137764"/>
                  <a:pt x="49919" y="139129"/>
                  <a:pt x="47189" y="139361"/>
                </a:cubicBezTo>
                <a:cubicBezTo>
                  <a:pt x="44460" y="139594"/>
                  <a:pt x="41817" y="138577"/>
                  <a:pt x="39900" y="136661"/>
                </a:cubicBezTo>
                <a:lnTo>
                  <a:pt x="2730" y="99490"/>
                </a:lnTo>
                <a:cubicBezTo>
                  <a:pt x="-900" y="95860"/>
                  <a:pt x="-900" y="89965"/>
                  <a:pt x="2730" y="86335"/>
                </a:cubicBezTo>
                <a:cubicBezTo>
                  <a:pt x="6360" y="82705"/>
                  <a:pt x="12255" y="82705"/>
                  <a:pt x="15885" y="86335"/>
                </a:cubicBezTo>
                <a:lnTo>
                  <a:pt x="45360" y="115810"/>
                </a:lnTo>
                <a:lnTo>
                  <a:pt x="113313" y="22390"/>
                </a:lnTo>
                <a:cubicBezTo>
                  <a:pt x="116333" y="18237"/>
                  <a:pt x="122141" y="17308"/>
                  <a:pt x="126293" y="20328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17756" y="4237463"/>
            <a:ext cx="631902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Telefone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5439" y="4534829"/>
            <a:ext cx="130098" cy="148683"/>
          </a:xfrm>
          <a:custGeom>
            <a:avLst/>
            <a:gdLst/>
            <a:ahLst/>
            <a:cxnLst/>
            <a:rect l="l" t="t" r="r" b="b"/>
            <a:pathLst>
              <a:path w="130098" h="148683">
                <a:moveTo>
                  <a:pt x="126264" y="20357"/>
                </a:moveTo>
                <a:cubicBezTo>
                  <a:pt x="130417" y="23377"/>
                  <a:pt x="131346" y="29185"/>
                  <a:pt x="128326" y="33337"/>
                </a:cubicBezTo>
                <a:lnTo>
                  <a:pt x="53985" y="135557"/>
                </a:lnTo>
                <a:cubicBezTo>
                  <a:pt x="52388" y="137764"/>
                  <a:pt x="49919" y="139129"/>
                  <a:pt x="47189" y="139361"/>
                </a:cubicBezTo>
                <a:cubicBezTo>
                  <a:pt x="44460" y="139594"/>
                  <a:pt x="41817" y="138577"/>
                  <a:pt x="39900" y="136661"/>
                </a:cubicBezTo>
                <a:lnTo>
                  <a:pt x="2730" y="99490"/>
                </a:lnTo>
                <a:cubicBezTo>
                  <a:pt x="-900" y="95860"/>
                  <a:pt x="-900" y="89965"/>
                  <a:pt x="2730" y="86335"/>
                </a:cubicBezTo>
                <a:cubicBezTo>
                  <a:pt x="6360" y="82705"/>
                  <a:pt x="12255" y="82705"/>
                  <a:pt x="15885" y="86335"/>
                </a:cubicBezTo>
                <a:lnTo>
                  <a:pt x="45360" y="115810"/>
                </a:lnTo>
                <a:lnTo>
                  <a:pt x="113313" y="22390"/>
                </a:lnTo>
                <a:cubicBezTo>
                  <a:pt x="116333" y="18237"/>
                  <a:pt x="122141" y="17308"/>
                  <a:pt x="126293" y="20328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17756" y="4497659"/>
            <a:ext cx="161692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Dados dos Proprietários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7561" y="5557024"/>
            <a:ext cx="3345366" cy="446049"/>
          </a:xfrm>
          <a:custGeom>
            <a:avLst/>
            <a:gdLst/>
            <a:ahLst/>
            <a:cxnLst/>
            <a:rect l="l" t="t" r="r" b="b"/>
            <a:pathLst>
              <a:path w="3345366" h="446049">
                <a:moveTo>
                  <a:pt x="37169" y="0"/>
                </a:moveTo>
                <a:lnTo>
                  <a:pt x="3308197" y="0"/>
                </a:lnTo>
                <a:cubicBezTo>
                  <a:pt x="3328725" y="0"/>
                  <a:pt x="3345366" y="16641"/>
                  <a:pt x="3345366" y="37169"/>
                </a:cubicBezTo>
                <a:lnTo>
                  <a:pt x="3345366" y="408880"/>
                </a:lnTo>
                <a:cubicBezTo>
                  <a:pt x="3345366" y="429408"/>
                  <a:pt x="3328725" y="446049"/>
                  <a:pt x="3308197" y="446049"/>
                </a:cubicBezTo>
                <a:lnTo>
                  <a:pt x="37169" y="446049"/>
                </a:lnTo>
                <a:cubicBezTo>
                  <a:pt x="16655" y="446049"/>
                  <a:pt x="0" y="429394"/>
                  <a:pt x="0" y="408880"/>
                </a:cubicBezTo>
                <a:lnTo>
                  <a:pt x="0" y="37169"/>
                </a:lnTo>
                <a:cubicBezTo>
                  <a:pt x="0" y="16655"/>
                  <a:pt x="16655" y="0"/>
                  <a:pt x="37169" y="0"/>
                </a:cubicBezTo>
                <a:close/>
              </a:path>
            </a:pathLst>
          </a:custGeom>
          <a:solidFill>
            <a:srgbClr val="F0F0F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87659" y="5705707"/>
            <a:ext cx="148683" cy="148683"/>
          </a:xfrm>
          <a:custGeom>
            <a:avLst/>
            <a:gdLst/>
            <a:ahLst/>
            <a:cxnLst/>
            <a:rect l="l" t="t" r="r" b="b"/>
            <a:pathLst>
              <a:path w="148683" h="148683">
                <a:moveTo>
                  <a:pt x="148683" y="74341"/>
                </a:moveTo>
                <a:cubicBezTo>
                  <a:pt x="148683" y="74603"/>
                  <a:pt x="148683" y="74864"/>
                  <a:pt x="148683" y="75126"/>
                </a:cubicBezTo>
                <a:cubicBezTo>
                  <a:pt x="148567" y="85725"/>
                  <a:pt x="138926" y="92927"/>
                  <a:pt x="128326" y="92927"/>
                </a:cubicBezTo>
                <a:lnTo>
                  <a:pt x="99896" y="92927"/>
                </a:lnTo>
                <a:cubicBezTo>
                  <a:pt x="92201" y="92927"/>
                  <a:pt x="85957" y="99170"/>
                  <a:pt x="85957" y="106866"/>
                </a:cubicBezTo>
                <a:cubicBezTo>
                  <a:pt x="85957" y="107853"/>
                  <a:pt x="86073" y="108812"/>
                  <a:pt x="86248" y="109741"/>
                </a:cubicBezTo>
                <a:cubicBezTo>
                  <a:pt x="86858" y="112703"/>
                  <a:pt x="88135" y="115549"/>
                  <a:pt x="89384" y="118424"/>
                </a:cubicBezTo>
                <a:cubicBezTo>
                  <a:pt x="91155" y="122431"/>
                  <a:pt x="92898" y="126410"/>
                  <a:pt x="92898" y="130620"/>
                </a:cubicBezTo>
                <a:cubicBezTo>
                  <a:pt x="92898" y="139855"/>
                  <a:pt x="86625" y="148247"/>
                  <a:pt x="77391" y="148625"/>
                </a:cubicBezTo>
                <a:cubicBezTo>
                  <a:pt x="76374" y="148654"/>
                  <a:pt x="75358" y="148683"/>
                  <a:pt x="74312" y="148683"/>
                </a:cubicBezTo>
                <a:cubicBezTo>
                  <a:pt x="33250" y="148683"/>
                  <a:pt x="-29" y="115404"/>
                  <a:pt x="-29" y="74341"/>
                </a:cubicBezTo>
                <a:cubicBezTo>
                  <a:pt x="-29" y="33279"/>
                  <a:pt x="33279" y="0"/>
                  <a:pt x="74341" y="0"/>
                </a:cubicBezTo>
                <a:cubicBezTo>
                  <a:pt x="115404" y="0"/>
                  <a:pt x="148683" y="33279"/>
                  <a:pt x="148683" y="74341"/>
                </a:cubicBezTo>
                <a:close/>
                <a:moveTo>
                  <a:pt x="37171" y="83634"/>
                </a:moveTo>
                <a:cubicBezTo>
                  <a:pt x="37171" y="78505"/>
                  <a:pt x="33007" y="74341"/>
                  <a:pt x="27878" y="74341"/>
                </a:cubicBezTo>
                <a:cubicBezTo>
                  <a:pt x="22749" y="74341"/>
                  <a:pt x="18585" y="78505"/>
                  <a:pt x="18585" y="83634"/>
                </a:cubicBezTo>
                <a:cubicBezTo>
                  <a:pt x="18585" y="88763"/>
                  <a:pt x="22749" y="92927"/>
                  <a:pt x="27878" y="92927"/>
                </a:cubicBezTo>
                <a:cubicBezTo>
                  <a:pt x="33007" y="92927"/>
                  <a:pt x="37171" y="88763"/>
                  <a:pt x="37171" y="83634"/>
                </a:cubicBezTo>
                <a:close/>
                <a:moveTo>
                  <a:pt x="37171" y="55756"/>
                </a:moveTo>
                <a:cubicBezTo>
                  <a:pt x="42300" y="55756"/>
                  <a:pt x="46463" y="51592"/>
                  <a:pt x="46463" y="46463"/>
                </a:cubicBezTo>
                <a:cubicBezTo>
                  <a:pt x="46463" y="41335"/>
                  <a:pt x="42300" y="37171"/>
                  <a:pt x="37171" y="37171"/>
                </a:cubicBezTo>
                <a:cubicBezTo>
                  <a:pt x="32042" y="37171"/>
                  <a:pt x="27878" y="41335"/>
                  <a:pt x="27878" y="46463"/>
                </a:cubicBezTo>
                <a:cubicBezTo>
                  <a:pt x="27878" y="51592"/>
                  <a:pt x="32042" y="55756"/>
                  <a:pt x="37171" y="55756"/>
                </a:cubicBezTo>
                <a:close/>
                <a:moveTo>
                  <a:pt x="83634" y="27878"/>
                </a:moveTo>
                <a:cubicBezTo>
                  <a:pt x="83634" y="22749"/>
                  <a:pt x="79470" y="18585"/>
                  <a:pt x="74341" y="18585"/>
                </a:cubicBezTo>
                <a:cubicBezTo>
                  <a:pt x="69213" y="18585"/>
                  <a:pt x="65049" y="22749"/>
                  <a:pt x="65049" y="27878"/>
                </a:cubicBezTo>
                <a:cubicBezTo>
                  <a:pt x="65049" y="33007"/>
                  <a:pt x="69213" y="37171"/>
                  <a:pt x="74341" y="37171"/>
                </a:cubicBezTo>
                <a:cubicBezTo>
                  <a:pt x="79470" y="37171"/>
                  <a:pt x="83634" y="33007"/>
                  <a:pt x="83634" y="27878"/>
                </a:cubicBezTo>
                <a:close/>
                <a:moveTo>
                  <a:pt x="111512" y="55756"/>
                </a:moveTo>
                <a:cubicBezTo>
                  <a:pt x="116641" y="55756"/>
                  <a:pt x="120805" y="51592"/>
                  <a:pt x="120805" y="46463"/>
                </a:cubicBezTo>
                <a:cubicBezTo>
                  <a:pt x="120805" y="41335"/>
                  <a:pt x="116641" y="37171"/>
                  <a:pt x="111512" y="37171"/>
                </a:cubicBezTo>
                <a:cubicBezTo>
                  <a:pt x="106383" y="37171"/>
                  <a:pt x="102220" y="41335"/>
                  <a:pt x="102220" y="46463"/>
                </a:cubicBezTo>
                <a:cubicBezTo>
                  <a:pt x="102220" y="51592"/>
                  <a:pt x="106383" y="55756"/>
                  <a:pt x="111512" y="55756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09323" y="5668537"/>
            <a:ext cx="2956433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Visualização: </a:t>
            </a:r>
            <a:r>
              <a:rPr lang="en-US" sz="117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texto vermelho em negrito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37463" y="1635512"/>
            <a:ext cx="3717073" cy="4553415"/>
          </a:xfrm>
          <a:custGeom>
            <a:avLst/>
            <a:gdLst/>
            <a:ahLst/>
            <a:cxnLst/>
            <a:rect l="l" t="t" r="r" b="b"/>
            <a:pathLst>
              <a:path w="3717073" h="4553415">
                <a:moveTo>
                  <a:pt x="37171" y="0"/>
                </a:moveTo>
                <a:lnTo>
                  <a:pt x="3679902" y="0"/>
                </a:lnTo>
                <a:cubicBezTo>
                  <a:pt x="3700431" y="0"/>
                  <a:pt x="3717073" y="16642"/>
                  <a:pt x="3717073" y="37171"/>
                </a:cubicBezTo>
                <a:lnTo>
                  <a:pt x="3717073" y="4516244"/>
                </a:lnTo>
                <a:cubicBezTo>
                  <a:pt x="3717073" y="4536773"/>
                  <a:pt x="3700431" y="4553415"/>
                  <a:pt x="3679902" y="4553415"/>
                </a:cubicBezTo>
                <a:lnTo>
                  <a:pt x="37171" y="4553415"/>
                </a:lnTo>
                <a:cubicBezTo>
                  <a:pt x="16642" y="4553415"/>
                  <a:pt x="0" y="4536773"/>
                  <a:pt x="0" y="4516244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423317" y="1821366"/>
            <a:ext cx="520390" cy="520390"/>
          </a:xfrm>
          <a:custGeom>
            <a:avLst/>
            <a:gdLst/>
            <a:ahLst/>
            <a:cxnLst/>
            <a:rect l="l" t="t" r="r" b="b"/>
            <a:pathLst>
              <a:path w="520390" h="520390">
                <a:moveTo>
                  <a:pt x="37171" y="0"/>
                </a:moveTo>
                <a:lnTo>
                  <a:pt x="483219" y="0"/>
                </a:lnTo>
                <a:cubicBezTo>
                  <a:pt x="503748" y="0"/>
                  <a:pt x="520390" y="16642"/>
                  <a:pt x="520390" y="37171"/>
                </a:cubicBezTo>
                <a:lnTo>
                  <a:pt x="520390" y="483219"/>
                </a:lnTo>
                <a:cubicBezTo>
                  <a:pt x="520390" y="503748"/>
                  <a:pt x="503748" y="520390"/>
                  <a:pt x="483219" y="520390"/>
                </a:cubicBezTo>
                <a:lnTo>
                  <a:pt x="37171" y="520390"/>
                </a:lnTo>
                <a:cubicBezTo>
                  <a:pt x="16642" y="520390"/>
                  <a:pt x="0" y="503748"/>
                  <a:pt x="0" y="483219"/>
                </a:cubicBezTo>
                <a:lnTo>
                  <a:pt x="0" y="37171"/>
                </a:lnTo>
                <a:cubicBezTo>
                  <a:pt x="0" y="16656"/>
                  <a:pt x="16656" y="0"/>
                  <a:pt x="37171" y="0"/>
                </a:cubicBez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4544122" y="1970049"/>
            <a:ext cx="278780" cy="223024"/>
          </a:xfrm>
          <a:custGeom>
            <a:avLst/>
            <a:gdLst/>
            <a:ahLst/>
            <a:cxnLst/>
            <a:rect l="l" t="t" r="r" b="b"/>
            <a:pathLst>
              <a:path w="278780" h="223024">
                <a:moveTo>
                  <a:pt x="232433" y="14157"/>
                </a:moveTo>
                <a:cubicBezTo>
                  <a:pt x="227947" y="10498"/>
                  <a:pt x="221369" y="11195"/>
                  <a:pt x="217710" y="15681"/>
                </a:cubicBezTo>
                <a:cubicBezTo>
                  <a:pt x="214051" y="20168"/>
                  <a:pt x="214748" y="26746"/>
                  <a:pt x="219235" y="30404"/>
                </a:cubicBezTo>
                <a:cubicBezTo>
                  <a:pt x="242844" y="49571"/>
                  <a:pt x="257872" y="78755"/>
                  <a:pt x="257872" y="111512"/>
                </a:cubicBezTo>
                <a:cubicBezTo>
                  <a:pt x="257872" y="144269"/>
                  <a:pt x="242844" y="173454"/>
                  <a:pt x="219235" y="192663"/>
                </a:cubicBezTo>
                <a:cubicBezTo>
                  <a:pt x="214748" y="196322"/>
                  <a:pt x="214095" y="202900"/>
                  <a:pt x="217710" y="207387"/>
                </a:cubicBezTo>
                <a:cubicBezTo>
                  <a:pt x="221326" y="211873"/>
                  <a:pt x="227947" y="212527"/>
                  <a:pt x="232433" y="208911"/>
                </a:cubicBezTo>
                <a:cubicBezTo>
                  <a:pt x="260703" y="185868"/>
                  <a:pt x="278780" y="150803"/>
                  <a:pt x="278780" y="111512"/>
                </a:cubicBezTo>
                <a:cubicBezTo>
                  <a:pt x="278780" y="72222"/>
                  <a:pt x="260703" y="37113"/>
                  <a:pt x="232433" y="14157"/>
                </a:cubicBezTo>
                <a:close/>
                <a:moveTo>
                  <a:pt x="206080" y="46609"/>
                </a:moveTo>
                <a:cubicBezTo>
                  <a:pt x="201593" y="42950"/>
                  <a:pt x="195016" y="43647"/>
                  <a:pt x="191357" y="48133"/>
                </a:cubicBezTo>
                <a:cubicBezTo>
                  <a:pt x="187698" y="52620"/>
                  <a:pt x="188395" y="59197"/>
                  <a:pt x="192881" y="62856"/>
                </a:cubicBezTo>
                <a:cubicBezTo>
                  <a:pt x="207038" y="74356"/>
                  <a:pt x="216055" y="91867"/>
                  <a:pt x="216055" y="111512"/>
                </a:cubicBezTo>
                <a:cubicBezTo>
                  <a:pt x="216055" y="131158"/>
                  <a:pt x="207038" y="148668"/>
                  <a:pt x="192881" y="160212"/>
                </a:cubicBezTo>
                <a:cubicBezTo>
                  <a:pt x="188395" y="163871"/>
                  <a:pt x="187741" y="170448"/>
                  <a:pt x="191357" y="174935"/>
                </a:cubicBezTo>
                <a:cubicBezTo>
                  <a:pt x="194972" y="179421"/>
                  <a:pt x="201593" y="180075"/>
                  <a:pt x="206080" y="176459"/>
                </a:cubicBezTo>
                <a:cubicBezTo>
                  <a:pt x="224897" y="161126"/>
                  <a:pt x="236963" y="137735"/>
                  <a:pt x="236963" y="111556"/>
                </a:cubicBezTo>
                <a:cubicBezTo>
                  <a:pt x="236963" y="85377"/>
                  <a:pt x="224897" y="61985"/>
                  <a:pt x="206080" y="46652"/>
                </a:cubicBezTo>
                <a:close/>
                <a:moveTo>
                  <a:pt x="179726" y="79060"/>
                </a:moveTo>
                <a:cubicBezTo>
                  <a:pt x="175240" y="75401"/>
                  <a:pt x="168662" y="76098"/>
                  <a:pt x="165003" y="80585"/>
                </a:cubicBezTo>
                <a:cubicBezTo>
                  <a:pt x="161344" y="85072"/>
                  <a:pt x="162041" y="91649"/>
                  <a:pt x="166528" y="95308"/>
                </a:cubicBezTo>
                <a:cubicBezTo>
                  <a:pt x="171232" y="99141"/>
                  <a:pt x="174238" y="104978"/>
                  <a:pt x="174238" y="111512"/>
                </a:cubicBezTo>
                <a:cubicBezTo>
                  <a:pt x="174238" y="118046"/>
                  <a:pt x="171232" y="123883"/>
                  <a:pt x="166528" y="127760"/>
                </a:cubicBezTo>
                <a:cubicBezTo>
                  <a:pt x="162041" y="131419"/>
                  <a:pt x="161388" y="137996"/>
                  <a:pt x="165003" y="142483"/>
                </a:cubicBezTo>
                <a:cubicBezTo>
                  <a:pt x="168619" y="146970"/>
                  <a:pt x="175240" y="147623"/>
                  <a:pt x="179726" y="144008"/>
                </a:cubicBezTo>
                <a:cubicBezTo>
                  <a:pt x="189092" y="136298"/>
                  <a:pt x="195146" y="124624"/>
                  <a:pt x="195146" y="111512"/>
                </a:cubicBezTo>
                <a:cubicBezTo>
                  <a:pt x="195146" y="98401"/>
                  <a:pt x="189092" y="86727"/>
                  <a:pt x="179726" y="79060"/>
                </a:cubicBezTo>
                <a:close/>
                <a:moveTo>
                  <a:pt x="34848" y="153329"/>
                </a:moveTo>
                <a:lnTo>
                  <a:pt x="55756" y="153329"/>
                </a:lnTo>
                <a:lnTo>
                  <a:pt x="114169" y="205252"/>
                </a:lnTo>
                <a:cubicBezTo>
                  <a:pt x="116957" y="207735"/>
                  <a:pt x="120529" y="209085"/>
                  <a:pt x="124232" y="209085"/>
                </a:cubicBezTo>
                <a:cubicBezTo>
                  <a:pt x="132595" y="209085"/>
                  <a:pt x="139390" y="202290"/>
                  <a:pt x="139390" y="193927"/>
                </a:cubicBezTo>
                <a:lnTo>
                  <a:pt x="139390" y="29098"/>
                </a:lnTo>
                <a:cubicBezTo>
                  <a:pt x="139390" y="20734"/>
                  <a:pt x="132595" y="13939"/>
                  <a:pt x="124232" y="13939"/>
                </a:cubicBezTo>
                <a:cubicBezTo>
                  <a:pt x="120529" y="13939"/>
                  <a:pt x="116957" y="15289"/>
                  <a:pt x="114169" y="17772"/>
                </a:cubicBezTo>
                <a:lnTo>
                  <a:pt x="55756" y="69695"/>
                </a:lnTo>
                <a:lnTo>
                  <a:pt x="34848" y="69695"/>
                </a:lnTo>
                <a:cubicBezTo>
                  <a:pt x="23304" y="69695"/>
                  <a:pt x="13939" y="79060"/>
                  <a:pt x="13939" y="90604"/>
                </a:cubicBezTo>
                <a:lnTo>
                  <a:pt x="13939" y="132421"/>
                </a:lnTo>
                <a:cubicBezTo>
                  <a:pt x="13939" y="143964"/>
                  <a:pt x="23304" y="153329"/>
                  <a:pt x="34848" y="153329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055220" y="1932878"/>
            <a:ext cx="2694878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Correspondência Fonética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23317" y="2490439"/>
            <a:ext cx="3419707" cy="724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sistema converte nomes em </a:t>
            </a:r>
            <a:r>
              <a:rPr lang="en-US" sz="1171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códigos fonéticos</a:t>
            </a: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encontrar palavras que "soam iguais" ou variações de grafia.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23317" y="3363951"/>
            <a:ext cx="3429000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Exemplos: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23317" y="3698488"/>
            <a:ext cx="3345366" cy="371707"/>
          </a:xfrm>
          <a:custGeom>
            <a:avLst/>
            <a:gdLst/>
            <a:ahLst/>
            <a:cxnLst/>
            <a:rect l="l" t="t" r="r" b="b"/>
            <a:pathLst>
              <a:path w="3345366" h="371707">
                <a:moveTo>
                  <a:pt x="37171" y="0"/>
                </a:moveTo>
                <a:lnTo>
                  <a:pt x="3308195" y="0"/>
                </a:lnTo>
                <a:cubicBezTo>
                  <a:pt x="3328724" y="0"/>
                  <a:pt x="3345366" y="16642"/>
                  <a:pt x="3345366" y="37171"/>
                </a:cubicBezTo>
                <a:lnTo>
                  <a:pt x="3345366" y="334537"/>
                </a:lnTo>
                <a:cubicBezTo>
                  <a:pt x="3345366" y="355065"/>
                  <a:pt x="3328724" y="371707"/>
                  <a:pt x="3308195" y="371707"/>
                </a:cubicBezTo>
                <a:lnTo>
                  <a:pt x="37171" y="371707"/>
                </a:lnTo>
                <a:cubicBezTo>
                  <a:pt x="16656" y="371707"/>
                  <a:pt x="0" y="355052"/>
                  <a:pt x="0" y="334537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F0F0F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497659" y="3772829"/>
            <a:ext cx="3271024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"Easy"</a:t>
            </a: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soa como </a:t>
            </a:r>
            <a:r>
              <a:rPr lang="en-US" sz="117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"EZ"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23317" y="4144537"/>
            <a:ext cx="3345366" cy="371707"/>
          </a:xfrm>
          <a:custGeom>
            <a:avLst/>
            <a:gdLst/>
            <a:ahLst/>
            <a:cxnLst/>
            <a:rect l="l" t="t" r="r" b="b"/>
            <a:pathLst>
              <a:path w="3345366" h="371707">
                <a:moveTo>
                  <a:pt x="37171" y="0"/>
                </a:moveTo>
                <a:lnTo>
                  <a:pt x="3308195" y="0"/>
                </a:lnTo>
                <a:cubicBezTo>
                  <a:pt x="3328724" y="0"/>
                  <a:pt x="3345366" y="16642"/>
                  <a:pt x="3345366" y="37171"/>
                </a:cubicBezTo>
                <a:lnTo>
                  <a:pt x="3345366" y="334537"/>
                </a:lnTo>
                <a:cubicBezTo>
                  <a:pt x="3345366" y="355065"/>
                  <a:pt x="3328724" y="371707"/>
                  <a:pt x="3308195" y="371707"/>
                </a:cubicBezTo>
                <a:lnTo>
                  <a:pt x="37171" y="371707"/>
                </a:lnTo>
                <a:cubicBezTo>
                  <a:pt x="16656" y="371707"/>
                  <a:pt x="0" y="355052"/>
                  <a:pt x="0" y="334537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F0F0F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497659" y="4218878"/>
            <a:ext cx="3271024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"Rogers"</a:t>
            </a: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 </a:t>
            </a:r>
            <a:r>
              <a:rPr lang="en-US" sz="117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"Rokers"</a:t>
            </a: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(erro de digitação)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23317" y="4627756"/>
            <a:ext cx="3429000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Ajuste de Sensibilidade: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23317" y="4962293"/>
            <a:ext cx="341970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Barra deslizante de </a:t>
            </a:r>
            <a:r>
              <a:rPr lang="en-US" sz="1171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a 9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23317" y="5222488"/>
            <a:ext cx="341970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mais amplo | </a:t>
            </a:r>
            <a:r>
              <a:rPr lang="en-US" sz="117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quase perfeito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23317" y="5557024"/>
            <a:ext cx="3345366" cy="446049"/>
          </a:xfrm>
          <a:custGeom>
            <a:avLst/>
            <a:gdLst/>
            <a:ahLst/>
            <a:cxnLst/>
            <a:rect l="l" t="t" r="r" b="b"/>
            <a:pathLst>
              <a:path w="3345366" h="446049">
                <a:moveTo>
                  <a:pt x="37169" y="0"/>
                </a:moveTo>
                <a:lnTo>
                  <a:pt x="3308197" y="0"/>
                </a:lnTo>
                <a:cubicBezTo>
                  <a:pt x="3328725" y="0"/>
                  <a:pt x="3345366" y="16641"/>
                  <a:pt x="3345366" y="37169"/>
                </a:cubicBezTo>
                <a:lnTo>
                  <a:pt x="3345366" y="408880"/>
                </a:lnTo>
                <a:cubicBezTo>
                  <a:pt x="3345366" y="429408"/>
                  <a:pt x="3328725" y="446049"/>
                  <a:pt x="3308197" y="446049"/>
                </a:cubicBezTo>
                <a:lnTo>
                  <a:pt x="37169" y="446049"/>
                </a:lnTo>
                <a:cubicBezTo>
                  <a:pt x="16655" y="446049"/>
                  <a:pt x="0" y="429394"/>
                  <a:pt x="0" y="408880"/>
                </a:cubicBezTo>
                <a:lnTo>
                  <a:pt x="0" y="37169"/>
                </a:lnTo>
                <a:cubicBezTo>
                  <a:pt x="0" y="16655"/>
                  <a:pt x="16655" y="0"/>
                  <a:pt x="37169" y="0"/>
                </a:cubicBezTo>
                <a:close/>
              </a:path>
            </a:pathLst>
          </a:custGeom>
          <a:solidFill>
            <a:srgbClr val="F0F0F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4553415" y="5705707"/>
            <a:ext cx="148683" cy="148683"/>
          </a:xfrm>
          <a:custGeom>
            <a:avLst/>
            <a:gdLst/>
            <a:ahLst/>
            <a:cxnLst/>
            <a:rect l="l" t="t" r="r" b="b"/>
            <a:pathLst>
              <a:path w="148683" h="148683">
                <a:moveTo>
                  <a:pt x="148683" y="74341"/>
                </a:moveTo>
                <a:cubicBezTo>
                  <a:pt x="148683" y="74603"/>
                  <a:pt x="148683" y="74864"/>
                  <a:pt x="148683" y="75126"/>
                </a:cubicBezTo>
                <a:cubicBezTo>
                  <a:pt x="148567" y="85725"/>
                  <a:pt x="138926" y="92927"/>
                  <a:pt x="128326" y="92927"/>
                </a:cubicBezTo>
                <a:lnTo>
                  <a:pt x="99896" y="92927"/>
                </a:lnTo>
                <a:cubicBezTo>
                  <a:pt x="92201" y="92927"/>
                  <a:pt x="85957" y="99170"/>
                  <a:pt x="85957" y="106866"/>
                </a:cubicBezTo>
                <a:cubicBezTo>
                  <a:pt x="85957" y="107853"/>
                  <a:pt x="86073" y="108812"/>
                  <a:pt x="86248" y="109741"/>
                </a:cubicBezTo>
                <a:cubicBezTo>
                  <a:pt x="86858" y="112703"/>
                  <a:pt x="88135" y="115549"/>
                  <a:pt x="89384" y="118424"/>
                </a:cubicBezTo>
                <a:cubicBezTo>
                  <a:pt x="91155" y="122431"/>
                  <a:pt x="92898" y="126410"/>
                  <a:pt x="92898" y="130620"/>
                </a:cubicBezTo>
                <a:cubicBezTo>
                  <a:pt x="92898" y="139855"/>
                  <a:pt x="86625" y="148247"/>
                  <a:pt x="77391" y="148625"/>
                </a:cubicBezTo>
                <a:cubicBezTo>
                  <a:pt x="76374" y="148654"/>
                  <a:pt x="75358" y="148683"/>
                  <a:pt x="74312" y="148683"/>
                </a:cubicBezTo>
                <a:cubicBezTo>
                  <a:pt x="33250" y="148683"/>
                  <a:pt x="-29" y="115404"/>
                  <a:pt x="-29" y="74341"/>
                </a:cubicBezTo>
                <a:cubicBezTo>
                  <a:pt x="-29" y="33279"/>
                  <a:pt x="33279" y="0"/>
                  <a:pt x="74341" y="0"/>
                </a:cubicBezTo>
                <a:cubicBezTo>
                  <a:pt x="115404" y="0"/>
                  <a:pt x="148683" y="33279"/>
                  <a:pt x="148683" y="74341"/>
                </a:cubicBezTo>
                <a:close/>
                <a:moveTo>
                  <a:pt x="37171" y="83634"/>
                </a:moveTo>
                <a:cubicBezTo>
                  <a:pt x="37171" y="78505"/>
                  <a:pt x="33007" y="74341"/>
                  <a:pt x="27878" y="74341"/>
                </a:cubicBezTo>
                <a:cubicBezTo>
                  <a:pt x="22749" y="74341"/>
                  <a:pt x="18585" y="78505"/>
                  <a:pt x="18585" y="83634"/>
                </a:cubicBezTo>
                <a:cubicBezTo>
                  <a:pt x="18585" y="88763"/>
                  <a:pt x="22749" y="92927"/>
                  <a:pt x="27878" y="92927"/>
                </a:cubicBezTo>
                <a:cubicBezTo>
                  <a:pt x="33007" y="92927"/>
                  <a:pt x="37171" y="88763"/>
                  <a:pt x="37171" y="83634"/>
                </a:cubicBezTo>
                <a:close/>
                <a:moveTo>
                  <a:pt x="37171" y="55756"/>
                </a:moveTo>
                <a:cubicBezTo>
                  <a:pt x="42300" y="55756"/>
                  <a:pt x="46463" y="51592"/>
                  <a:pt x="46463" y="46463"/>
                </a:cubicBezTo>
                <a:cubicBezTo>
                  <a:pt x="46463" y="41335"/>
                  <a:pt x="42300" y="37171"/>
                  <a:pt x="37171" y="37171"/>
                </a:cubicBezTo>
                <a:cubicBezTo>
                  <a:pt x="32042" y="37171"/>
                  <a:pt x="27878" y="41335"/>
                  <a:pt x="27878" y="46463"/>
                </a:cubicBezTo>
                <a:cubicBezTo>
                  <a:pt x="27878" y="51592"/>
                  <a:pt x="32042" y="55756"/>
                  <a:pt x="37171" y="55756"/>
                </a:cubicBezTo>
                <a:close/>
                <a:moveTo>
                  <a:pt x="83634" y="27878"/>
                </a:moveTo>
                <a:cubicBezTo>
                  <a:pt x="83634" y="22749"/>
                  <a:pt x="79470" y="18585"/>
                  <a:pt x="74341" y="18585"/>
                </a:cubicBezTo>
                <a:cubicBezTo>
                  <a:pt x="69213" y="18585"/>
                  <a:pt x="65049" y="22749"/>
                  <a:pt x="65049" y="27878"/>
                </a:cubicBezTo>
                <a:cubicBezTo>
                  <a:pt x="65049" y="33007"/>
                  <a:pt x="69213" y="37171"/>
                  <a:pt x="74341" y="37171"/>
                </a:cubicBezTo>
                <a:cubicBezTo>
                  <a:pt x="79470" y="37171"/>
                  <a:pt x="83634" y="33007"/>
                  <a:pt x="83634" y="27878"/>
                </a:cubicBezTo>
                <a:close/>
                <a:moveTo>
                  <a:pt x="111512" y="55756"/>
                </a:moveTo>
                <a:cubicBezTo>
                  <a:pt x="116641" y="55756"/>
                  <a:pt x="120805" y="51592"/>
                  <a:pt x="120805" y="46463"/>
                </a:cubicBezTo>
                <a:cubicBezTo>
                  <a:pt x="120805" y="41335"/>
                  <a:pt x="116641" y="37171"/>
                  <a:pt x="111512" y="37171"/>
                </a:cubicBezTo>
                <a:cubicBezTo>
                  <a:pt x="106383" y="37171"/>
                  <a:pt x="102220" y="41335"/>
                  <a:pt x="102220" y="46463"/>
                </a:cubicBezTo>
                <a:cubicBezTo>
                  <a:pt x="102220" y="51592"/>
                  <a:pt x="106383" y="55756"/>
                  <a:pt x="111512" y="55756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4775079" y="5668537"/>
            <a:ext cx="2956433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Visualização: </a:t>
            </a:r>
            <a:r>
              <a:rPr lang="en-US" sz="1171" b="1" dirty="0">
                <a:solidFill>
                  <a:srgbClr val="FDC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texto amarelo em negrito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03220" y="1635512"/>
            <a:ext cx="3717073" cy="4553415"/>
          </a:xfrm>
          <a:custGeom>
            <a:avLst/>
            <a:gdLst/>
            <a:ahLst/>
            <a:cxnLst/>
            <a:rect l="l" t="t" r="r" b="b"/>
            <a:pathLst>
              <a:path w="3717073" h="4553415">
                <a:moveTo>
                  <a:pt x="37171" y="0"/>
                </a:moveTo>
                <a:lnTo>
                  <a:pt x="3679902" y="0"/>
                </a:lnTo>
                <a:cubicBezTo>
                  <a:pt x="3700431" y="0"/>
                  <a:pt x="3717073" y="16642"/>
                  <a:pt x="3717073" y="37171"/>
                </a:cubicBezTo>
                <a:lnTo>
                  <a:pt x="3717073" y="4516244"/>
                </a:lnTo>
                <a:cubicBezTo>
                  <a:pt x="3717073" y="4536773"/>
                  <a:pt x="3700431" y="4553415"/>
                  <a:pt x="3679902" y="4553415"/>
                </a:cubicBezTo>
                <a:lnTo>
                  <a:pt x="37171" y="4553415"/>
                </a:lnTo>
                <a:cubicBezTo>
                  <a:pt x="16642" y="4553415"/>
                  <a:pt x="0" y="4536773"/>
                  <a:pt x="0" y="4516244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8289073" y="1821366"/>
            <a:ext cx="520390" cy="520390"/>
          </a:xfrm>
          <a:custGeom>
            <a:avLst/>
            <a:gdLst/>
            <a:ahLst/>
            <a:cxnLst/>
            <a:rect l="l" t="t" r="r" b="b"/>
            <a:pathLst>
              <a:path w="520390" h="520390">
                <a:moveTo>
                  <a:pt x="37171" y="0"/>
                </a:moveTo>
                <a:lnTo>
                  <a:pt x="483219" y="0"/>
                </a:lnTo>
                <a:cubicBezTo>
                  <a:pt x="503748" y="0"/>
                  <a:pt x="520390" y="16642"/>
                  <a:pt x="520390" y="37171"/>
                </a:cubicBezTo>
                <a:lnTo>
                  <a:pt x="520390" y="483219"/>
                </a:lnTo>
                <a:cubicBezTo>
                  <a:pt x="520390" y="503748"/>
                  <a:pt x="503748" y="520390"/>
                  <a:pt x="483219" y="520390"/>
                </a:cubicBezTo>
                <a:lnTo>
                  <a:pt x="37171" y="520390"/>
                </a:lnTo>
                <a:cubicBezTo>
                  <a:pt x="16642" y="520390"/>
                  <a:pt x="0" y="503748"/>
                  <a:pt x="0" y="483219"/>
                </a:cubicBezTo>
                <a:lnTo>
                  <a:pt x="0" y="37171"/>
                </a:lnTo>
                <a:cubicBezTo>
                  <a:pt x="0" y="16656"/>
                  <a:pt x="16656" y="0"/>
                  <a:pt x="37171" y="0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8423817" y="1970049"/>
            <a:ext cx="250902" cy="223024"/>
          </a:xfrm>
          <a:custGeom>
            <a:avLst/>
            <a:gdLst/>
            <a:ahLst/>
            <a:cxnLst/>
            <a:rect l="l" t="t" r="r" b="b"/>
            <a:pathLst>
              <a:path w="250902" h="223024">
                <a:moveTo>
                  <a:pt x="125451" y="27878"/>
                </a:moveTo>
                <a:cubicBezTo>
                  <a:pt x="171624" y="27878"/>
                  <a:pt x="209085" y="65339"/>
                  <a:pt x="209085" y="111512"/>
                </a:cubicBezTo>
                <a:cubicBezTo>
                  <a:pt x="209085" y="157685"/>
                  <a:pt x="171624" y="195146"/>
                  <a:pt x="125451" y="195146"/>
                </a:cubicBezTo>
                <a:cubicBezTo>
                  <a:pt x="97050" y="195146"/>
                  <a:pt x="71917" y="180990"/>
                  <a:pt x="56802" y="159297"/>
                </a:cubicBezTo>
                <a:cubicBezTo>
                  <a:pt x="52402" y="152981"/>
                  <a:pt x="43690" y="151456"/>
                  <a:pt x="37374" y="155856"/>
                </a:cubicBezTo>
                <a:cubicBezTo>
                  <a:pt x="31058" y="160255"/>
                  <a:pt x="29533" y="168967"/>
                  <a:pt x="33933" y="175283"/>
                </a:cubicBezTo>
                <a:cubicBezTo>
                  <a:pt x="54057" y="204120"/>
                  <a:pt x="87554" y="223024"/>
                  <a:pt x="125451" y="223024"/>
                </a:cubicBezTo>
                <a:cubicBezTo>
                  <a:pt x="187044" y="223024"/>
                  <a:pt x="236963" y="173105"/>
                  <a:pt x="236963" y="111512"/>
                </a:cubicBezTo>
                <a:cubicBezTo>
                  <a:pt x="236963" y="49919"/>
                  <a:pt x="187044" y="0"/>
                  <a:pt x="125451" y="0"/>
                </a:cubicBezTo>
                <a:cubicBezTo>
                  <a:pt x="88121" y="0"/>
                  <a:pt x="55103" y="18339"/>
                  <a:pt x="34848" y="46478"/>
                </a:cubicBezTo>
                <a:lnTo>
                  <a:pt x="34848" y="34848"/>
                </a:lnTo>
                <a:cubicBezTo>
                  <a:pt x="34848" y="27138"/>
                  <a:pt x="28619" y="20909"/>
                  <a:pt x="20909" y="20909"/>
                </a:cubicBezTo>
                <a:cubicBezTo>
                  <a:pt x="13199" y="20909"/>
                  <a:pt x="6970" y="27138"/>
                  <a:pt x="6970" y="34848"/>
                </a:cubicBezTo>
                <a:lnTo>
                  <a:pt x="6970" y="83634"/>
                </a:lnTo>
                <a:cubicBezTo>
                  <a:pt x="6970" y="91344"/>
                  <a:pt x="13199" y="97573"/>
                  <a:pt x="20909" y="97573"/>
                </a:cubicBezTo>
                <a:lnTo>
                  <a:pt x="31624" y="97573"/>
                </a:lnTo>
                <a:cubicBezTo>
                  <a:pt x="31842" y="97573"/>
                  <a:pt x="32060" y="97573"/>
                  <a:pt x="32278" y="97573"/>
                </a:cubicBezTo>
                <a:lnTo>
                  <a:pt x="69739" y="97573"/>
                </a:lnTo>
                <a:cubicBezTo>
                  <a:pt x="77449" y="97573"/>
                  <a:pt x="83678" y="91344"/>
                  <a:pt x="83678" y="83634"/>
                </a:cubicBezTo>
                <a:cubicBezTo>
                  <a:pt x="83678" y="75924"/>
                  <a:pt x="77449" y="69695"/>
                  <a:pt x="69739" y="69695"/>
                </a:cubicBezTo>
                <a:lnTo>
                  <a:pt x="53055" y="69695"/>
                </a:lnTo>
                <a:cubicBezTo>
                  <a:pt x="67474" y="44692"/>
                  <a:pt x="94524" y="27878"/>
                  <a:pt x="125451" y="27878"/>
                </a:cubicBezTo>
                <a:close/>
                <a:moveTo>
                  <a:pt x="135905" y="66210"/>
                </a:moveTo>
                <a:cubicBezTo>
                  <a:pt x="135905" y="60417"/>
                  <a:pt x="131245" y="55756"/>
                  <a:pt x="125451" y="55756"/>
                </a:cubicBezTo>
                <a:cubicBezTo>
                  <a:pt x="119658" y="55756"/>
                  <a:pt x="114997" y="60417"/>
                  <a:pt x="114997" y="66210"/>
                </a:cubicBezTo>
                <a:lnTo>
                  <a:pt x="114997" y="111512"/>
                </a:lnTo>
                <a:cubicBezTo>
                  <a:pt x="114997" y="114300"/>
                  <a:pt x="116086" y="116957"/>
                  <a:pt x="118046" y="118917"/>
                </a:cubicBezTo>
                <a:lnTo>
                  <a:pt x="149409" y="150280"/>
                </a:lnTo>
                <a:cubicBezTo>
                  <a:pt x="153504" y="154375"/>
                  <a:pt x="160125" y="154375"/>
                  <a:pt x="164176" y="150280"/>
                </a:cubicBezTo>
                <a:cubicBezTo>
                  <a:pt x="168227" y="146186"/>
                  <a:pt x="168270" y="139564"/>
                  <a:pt x="164176" y="135513"/>
                </a:cubicBezTo>
                <a:lnTo>
                  <a:pt x="135862" y="107200"/>
                </a:lnTo>
                <a:lnTo>
                  <a:pt x="135862" y="66210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8920976" y="1932878"/>
            <a:ext cx="2035098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Consulta Retroativa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89073" y="2490439"/>
            <a:ext cx="3419707" cy="48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 você consultar e não houver match, o sistema continua monitorando por </a:t>
            </a:r>
            <a:r>
              <a:rPr lang="en-US" sz="117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365 dias</a:t>
            </a: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89073" y="3122341"/>
            <a:ext cx="3429000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Como funciona: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89073" y="3456878"/>
            <a:ext cx="157976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445597" y="3456878"/>
            <a:ext cx="2509024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Você consulta hoje → Nenhum match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89073" y="3754244"/>
            <a:ext cx="185854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74056" y="3754244"/>
            <a:ext cx="2035098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 monitora por 365 dias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289073" y="4051610"/>
            <a:ext cx="185854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77976" y="4051610"/>
            <a:ext cx="2090854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Outro adquirente adiciona o EC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89073" y="4348976"/>
            <a:ext cx="185854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473910" y="4376854"/>
            <a:ext cx="1983843" cy="167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Você recebe alerta retroativo!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89073" y="5557024"/>
            <a:ext cx="3345366" cy="446049"/>
          </a:xfrm>
          <a:custGeom>
            <a:avLst/>
            <a:gdLst/>
            <a:ahLst/>
            <a:cxnLst/>
            <a:rect l="l" t="t" r="r" b="b"/>
            <a:pathLst>
              <a:path w="3345366" h="446049">
                <a:moveTo>
                  <a:pt x="37169" y="0"/>
                </a:moveTo>
                <a:lnTo>
                  <a:pt x="3308197" y="0"/>
                </a:lnTo>
                <a:cubicBezTo>
                  <a:pt x="3328725" y="0"/>
                  <a:pt x="3345366" y="16641"/>
                  <a:pt x="3345366" y="37169"/>
                </a:cubicBezTo>
                <a:lnTo>
                  <a:pt x="3345366" y="408880"/>
                </a:lnTo>
                <a:cubicBezTo>
                  <a:pt x="3345366" y="429408"/>
                  <a:pt x="3328725" y="446049"/>
                  <a:pt x="3308197" y="446049"/>
                </a:cubicBezTo>
                <a:lnTo>
                  <a:pt x="37169" y="446049"/>
                </a:lnTo>
                <a:cubicBezTo>
                  <a:pt x="16655" y="446049"/>
                  <a:pt x="0" y="429394"/>
                  <a:pt x="0" y="408880"/>
                </a:cubicBezTo>
                <a:lnTo>
                  <a:pt x="0" y="37169"/>
                </a:lnTo>
                <a:cubicBezTo>
                  <a:pt x="0" y="16655"/>
                  <a:pt x="16655" y="0"/>
                  <a:pt x="37169" y="0"/>
                </a:cubicBezTo>
                <a:close/>
              </a:path>
            </a:pathLst>
          </a:custGeom>
          <a:solidFill>
            <a:srgbClr val="F0F0F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8428463" y="5705707"/>
            <a:ext cx="130098" cy="148683"/>
          </a:xfrm>
          <a:custGeom>
            <a:avLst/>
            <a:gdLst/>
            <a:ahLst/>
            <a:cxnLst/>
            <a:rect l="l" t="t" r="r" b="b"/>
            <a:pathLst>
              <a:path w="130098" h="148683">
                <a:moveTo>
                  <a:pt x="65049" y="0"/>
                </a:moveTo>
                <a:cubicBezTo>
                  <a:pt x="59909" y="0"/>
                  <a:pt x="55756" y="4153"/>
                  <a:pt x="55756" y="9293"/>
                </a:cubicBezTo>
                <a:lnTo>
                  <a:pt x="55756" y="10222"/>
                </a:lnTo>
                <a:cubicBezTo>
                  <a:pt x="34557" y="14520"/>
                  <a:pt x="18585" y="33279"/>
                  <a:pt x="18585" y="55756"/>
                </a:cubicBezTo>
                <a:lnTo>
                  <a:pt x="18585" y="62058"/>
                </a:lnTo>
                <a:cubicBezTo>
                  <a:pt x="18585" y="76026"/>
                  <a:pt x="13823" y="89587"/>
                  <a:pt x="5111" y="100506"/>
                </a:cubicBezTo>
                <a:lnTo>
                  <a:pt x="2265" y="104049"/>
                </a:lnTo>
                <a:cubicBezTo>
                  <a:pt x="784" y="105879"/>
                  <a:pt x="0" y="108144"/>
                  <a:pt x="0" y="110496"/>
                </a:cubicBezTo>
                <a:cubicBezTo>
                  <a:pt x="0" y="116188"/>
                  <a:pt x="4617" y="120805"/>
                  <a:pt x="10309" y="120805"/>
                </a:cubicBezTo>
                <a:lnTo>
                  <a:pt x="119759" y="120805"/>
                </a:lnTo>
                <a:cubicBezTo>
                  <a:pt x="125451" y="120805"/>
                  <a:pt x="130069" y="116188"/>
                  <a:pt x="130069" y="110496"/>
                </a:cubicBezTo>
                <a:cubicBezTo>
                  <a:pt x="130069" y="108144"/>
                  <a:pt x="129284" y="105879"/>
                  <a:pt x="127803" y="104049"/>
                </a:cubicBezTo>
                <a:lnTo>
                  <a:pt x="124958" y="100506"/>
                </a:lnTo>
                <a:cubicBezTo>
                  <a:pt x="116275" y="89587"/>
                  <a:pt x="111512" y="76026"/>
                  <a:pt x="111512" y="62058"/>
                </a:cubicBezTo>
                <a:lnTo>
                  <a:pt x="111512" y="55756"/>
                </a:lnTo>
                <a:cubicBezTo>
                  <a:pt x="111512" y="33279"/>
                  <a:pt x="95540" y="14520"/>
                  <a:pt x="74341" y="10222"/>
                </a:cubicBezTo>
                <a:lnTo>
                  <a:pt x="74341" y="9293"/>
                </a:lnTo>
                <a:cubicBezTo>
                  <a:pt x="74341" y="4153"/>
                  <a:pt x="70189" y="0"/>
                  <a:pt x="65049" y="0"/>
                </a:cubicBezTo>
                <a:close/>
                <a:moveTo>
                  <a:pt x="47044" y="134744"/>
                </a:moveTo>
                <a:cubicBezTo>
                  <a:pt x="49106" y="142759"/>
                  <a:pt x="56395" y="148683"/>
                  <a:pt x="65049" y="148683"/>
                </a:cubicBezTo>
                <a:cubicBezTo>
                  <a:pt x="73703" y="148683"/>
                  <a:pt x="80992" y="142759"/>
                  <a:pt x="83053" y="134744"/>
                </a:cubicBezTo>
                <a:lnTo>
                  <a:pt x="47044" y="134744"/>
                </a:ln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8640835" y="5668537"/>
            <a:ext cx="2956433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Notificação por </a:t>
            </a:r>
            <a:r>
              <a:rPr lang="en-US" sz="117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e-mail diário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71707" y="6337610"/>
            <a:ext cx="11448585" cy="520390"/>
          </a:xfrm>
          <a:custGeom>
            <a:avLst/>
            <a:gdLst/>
            <a:ahLst/>
            <a:cxnLst/>
            <a:rect l="l" t="t" r="r" b="b"/>
            <a:pathLst>
              <a:path w="11448585" h="520390">
                <a:moveTo>
                  <a:pt x="37171" y="0"/>
                </a:moveTo>
                <a:lnTo>
                  <a:pt x="11411414" y="0"/>
                </a:lnTo>
                <a:cubicBezTo>
                  <a:pt x="11431943" y="0"/>
                  <a:pt x="11448585" y="16642"/>
                  <a:pt x="11448585" y="37171"/>
                </a:cubicBezTo>
                <a:lnTo>
                  <a:pt x="11448585" y="483219"/>
                </a:lnTo>
                <a:cubicBezTo>
                  <a:pt x="11448585" y="503748"/>
                  <a:pt x="11431943" y="520390"/>
                  <a:pt x="11411414" y="520390"/>
                </a:cubicBezTo>
                <a:lnTo>
                  <a:pt x="37171" y="520390"/>
                </a:lnTo>
                <a:cubicBezTo>
                  <a:pt x="16642" y="520390"/>
                  <a:pt x="0" y="503748"/>
                  <a:pt x="0" y="483219"/>
                </a:cubicBezTo>
                <a:lnTo>
                  <a:pt x="0" y="37171"/>
                </a:lnTo>
                <a:cubicBezTo>
                  <a:pt x="0" y="16656"/>
                  <a:pt x="16656" y="0"/>
                  <a:pt x="37171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543622" y="6504878"/>
            <a:ext cx="185854" cy="185854"/>
          </a:xfrm>
          <a:custGeom>
            <a:avLst/>
            <a:gdLst/>
            <a:ahLst/>
            <a:cxnLst/>
            <a:rect l="l" t="t" r="r" b="b"/>
            <a:pathLst>
              <a:path w="185854" h="185854">
                <a:moveTo>
                  <a:pt x="92927" y="185854"/>
                </a:moveTo>
                <a:cubicBezTo>
                  <a:pt x="144215" y="185854"/>
                  <a:pt x="185854" y="144215"/>
                  <a:pt x="185854" y="92927"/>
                </a:cubicBezTo>
                <a:cubicBezTo>
                  <a:pt x="185854" y="41639"/>
                  <a:pt x="144215" y="0"/>
                  <a:pt x="92927" y="0"/>
                </a:cubicBezTo>
                <a:cubicBezTo>
                  <a:pt x="41639" y="0"/>
                  <a:pt x="0" y="41639"/>
                  <a:pt x="0" y="92927"/>
                </a:cubicBezTo>
                <a:cubicBezTo>
                  <a:pt x="0" y="144215"/>
                  <a:pt x="41639" y="185854"/>
                  <a:pt x="92927" y="185854"/>
                </a:cubicBezTo>
                <a:close/>
                <a:moveTo>
                  <a:pt x="81311" y="58079"/>
                </a:moveTo>
                <a:cubicBezTo>
                  <a:pt x="81311" y="51668"/>
                  <a:pt x="86516" y="46463"/>
                  <a:pt x="92927" y="46463"/>
                </a:cubicBezTo>
                <a:cubicBezTo>
                  <a:pt x="99338" y="46463"/>
                  <a:pt x="104543" y="51668"/>
                  <a:pt x="104543" y="58079"/>
                </a:cubicBezTo>
                <a:cubicBezTo>
                  <a:pt x="104543" y="64490"/>
                  <a:pt x="99338" y="69695"/>
                  <a:pt x="92927" y="69695"/>
                </a:cubicBezTo>
                <a:cubicBezTo>
                  <a:pt x="86516" y="69695"/>
                  <a:pt x="81311" y="64490"/>
                  <a:pt x="81311" y="58079"/>
                </a:cubicBezTo>
                <a:close/>
                <a:moveTo>
                  <a:pt x="78407" y="81311"/>
                </a:moveTo>
                <a:lnTo>
                  <a:pt x="95831" y="81311"/>
                </a:lnTo>
                <a:cubicBezTo>
                  <a:pt x="100659" y="81311"/>
                  <a:pt x="104543" y="85195"/>
                  <a:pt x="104543" y="90023"/>
                </a:cubicBezTo>
                <a:lnTo>
                  <a:pt x="104543" y="121966"/>
                </a:lnTo>
                <a:lnTo>
                  <a:pt x="107447" y="121966"/>
                </a:lnTo>
                <a:cubicBezTo>
                  <a:pt x="112274" y="121966"/>
                  <a:pt x="116159" y="125851"/>
                  <a:pt x="116159" y="130678"/>
                </a:cubicBezTo>
                <a:cubicBezTo>
                  <a:pt x="116159" y="135506"/>
                  <a:pt x="112274" y="139390"/>
                  <a:pt x="107447" y="139390"/>
                </a:cubicBezTo>
                <a:lnTo>
                  <a:pt x="78407" y="139390"/>
                </a:lnTo>
                <a:cubicBezTo>
                  <a:pt x="73579" y="139390"/>
                  <a:pt x="69695" y="135506"/>
                  <a:pt x="69695" y="130678"/>
                </a:cubicBezTo>
                <a:cubicBezTo>
                  <a:pt x="69695" y="125851"/>
                  <a:pt x="73579" y="121966"/>
                  <a:pt x="78407" y="121966"/>
                </a:cubicBezTo>
                <a:lnTo>
                  <a:pt x="87119" y="121966"/>
                </a:lnTo>
                <a:lnTo>
                  <a:pt x="87119" y="98735"/>
                </a:lnTo>
                <a:lnTo>
                  <a:pt x="78407" y="98735"/>
                </a:lnTo>
                <a:cubicBezTo>
                  <a:pt x="73579" y="98735"/>
                  <a:pt x="69695" y="94851"/>
                  <a:pt x="69695" y="90023"/>
                </a:cubicBezTo>
                <a:cubicBezTo>
                  <a:pt x="69695" y="85195"/>
                  <a:pt x="73579" y="81311"/>
                  <a:pt x="78407" y="81311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827049" y="6486293"/>
            <a:ext cx="6374780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Janela de Consulta Retroativa aumentou:</a:t>
            </a: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</a:t>
            </a:r>
            <a:r>
              <a:rPr lang="en-US" sz="1171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dias no MATCH legado</a:t>
            </a:r>
            <a:r>
              <a:rPr lang="en-US" sz="117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</a:t>
            </a:r>
            <a:r>
              <a:rPr lang="en-US" sz="1171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365 dias no MATCH Pro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4757" y="437708"/>
            <a:ext cx="583611" cy="36476"/>
          </a:xfrm>
          <a:custGeom>
            <a:avLst/>
            <a:gdLst/>
            <a:ahLst/>
            <a:cxnLst/>
            <a:rect l="l" t="t" r="r" b="b"/>
            <a:pathLst>
              <a:path w="583611" h="36476">
                <a:moveTo>
                  <a:pt x="0" y="0"/>
                </a:moveTo>
                <a:lnTo>
                  <a:pt x="583611" y="0"/>
                </a:lnTo>
                <a:lnTo>
                  <a:pt x="583611" y="36476"/>
                </a:lnTo>
                <a:lnTo>
                  <a:pt x="0" y="36476"/>
                </a:lnTo>
                <a:lnTo>
                  <a:pt x="0" y="0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94271" y="364757"/>
            <a:ext cx="2380039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kern="0" spc="201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Monitoramento Contínuo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4757" y="656562"/>
            <a:ext cx="11681340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47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Consultas Retroativas e Retenção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4757" y="1203698"/>
            <a:ext cx="11553675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Janela estendida e retenção de registros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4757" y="1677882"/>
            <a:ext cx="5617257" cy="1167222"/>
          </a:xfrm>
          <a:custGeom>
            <a:avLst/>
            <a:gdLst/>
            <a:ahLst/>
            <a:cxnLst/>
            <a:rect l="l" t="t" r="r" b="b"/>
            <a:pathLst>
              <a:path w="5617257" h="1167222">
                <a:moveTo>
                  <a:pt x="36476" y="0"/>
                </a:moveTo>
                <a:lnTo>
                  <a:pt x="5580781" y="0"/>
                </a:lnTo>
                <a:cubicBezTo>
                  <a:pt x="5600926" y="0"/>
                  <a:pt x="5617257" y="16331"/>
                  <a:pt x="5617257" y="36476"/>
                </a:cubicBezTo>
                <a:lnTo>
                  <a:pt x="5617257" y="1130746"/>
                </a:lnTo>
                <a:cubicBezTo>
                  <a:pt x="5617257" y="1150891"/>
                  <a:pt x="5600926" y="1167222"/>
                  <a:pt x="5580781" y="1167222"/>
                </a:cubicBezTo>
                <a:lnTo>
                  <a:pt x="36476" y="1167222"/>
                </a:lnTo>
                <a:cubicBezTo>
                  <a:pt x="16331" y="1167222"/>
                  <a:pt x="0" y="1150891"/>
                  <a:pt x="0" y="1130746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83611" y="1896736"/>
            <a:ext cx="729514" cy="729514"/>
          </a:xfrm>
          <a:custGeom>
            <a:avLst/>
            <a:gdLst/>
            <a:ahLst/>
            <a:cxnLst/>
            <a:rect l="l" t="t" r="r" b="b"/>
            <a:pathLst>
              <a:path w="729514" h="729514">
                <a:moveTo>
                  <a:pt x="36476" y="0"/>
                </a:moveTo>
                <a:lnTo>
                  <a:pt x="693038" y="0"/>
                </a:lnTo>
                <a:cubicBezTo>
                  <a:pt x="713183" y="0"/>
                  <a:pt x="729514" y="16331"/>
                  <a:pt x="729514" y="36476"/>
                </a:cubicBezTo>
                <a:lnTo>
                  <a:pt x="729514" y="693038"/>
                </a:lnTo>
                <a:cubicBezTo>
                  <a:pt x="729514" y="713183"/>
                  <a:pt x="713183" y="729514"/>
                  <a:pt x="693038" y="729514"/>
                </a:cubicBezTo>
                <a:lnTo>
                  <a:pt x="36476" y="729514"/>
                </a:lnTo>
                <a:cubicBezTo>
                  <a:pt x="16331" y="729514"/>
                  <a:pt x="0" y="713183"/>
                  <a:pt x="0" y="693038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04745" y="2097352"/>
            <a:ext cx="287246" cy="328281"/>
          </a:xfrm>
          <a:custGeom>
            <a:avLst/>
            <a:gdLst/>
            <a:ahLst/>
            <a:cxnLst/>
            <a:rect l="l" t="t" r="r" b="b"/>
            <a:pathLst>
              <a:path w="287246" h="328281">
                <a:moveTo>
                  <a:pt x="82070" y="0"/>
                </a:moveTo>
                <a:cubicBezTo>
                  <a:pt x="93419" y="0"/>
                  <a:pt x="102588" y="9169"/>
                  <a:pt x="102588" y="20518"/>
                </a:cubicBezTo>
                <a:lnTo>
                  <a:pt x="102588" y="41035"/>
                </a:lnTo>
                <a:lnTo>
                  <a:pt x="184658" y="41035"/>
                </a:lnTo>
                <a:lnTo>
                  <a:pt x="184658" y="20518"/>
                </a:lnTo>
                <a:cubicBezTo>
                  <a:pt x="184658" y="9169"/>
                  <a:pt x="193827" y="0"/>
                  <a:pt x="205176" y="0"/>
                </a:cubicBezTo>
                <a:cubicBezTo>
                  <a:pt x="216525" y="0"/>
                  <a:pt x="225693" y="9169"/>
                  <a:pt x="225693" y="20518"/>
                </a:cubicBezTo>
                <a:lnTo>
                  <a:pt x="225693" y="41035"/>
                </a:lnTo>
                <a:lnTo>
                  <a:pt x="246211" y="41035"/>
                </a:lnTo>
                <a:cubicBezTo>
                  <a:pt x="268844" y="41035"/>
                  <a:pt x="287246" y="59437"/>
                  <a:pt x="287246" y="82070"/>
                </a:cubicBezTo>
                <a:lnTo>
                  <a:pt x="287246" y="266728"/>
                </a:lnTo>
                <a:cubicBezTo>
                  <a:pt x="287246" y="289362"/>
                  <a:pt x="268844" y="307764"/>
                  <a:pt x="246211" y="307764"/>
                </a:cubicBezTo>
                <a:lnTo>
                  <a:pt x="41035" y="307764"/>
                </a:lnTo>
                <a:cubicBezTo>
                  <a:pt x="18402" y="307764"/>
                  <a:pt x="0" y="289362"/>
                  <a:pt x="0" y="266728"/>
                </a:cubicBezTo>
                <a:lnTo>
                  <a:pt x="0" y="82070"/>
                </a:lnTo>
                <a:cubicBezTo>
                  <a:pt x="0" y="59437"/>
                  <a:pt x="18402" y="41035"/>
                  <a:pt x="41035" y="41035"/>
                </a:cubicBezTo>
                <a:lnTo>
                  <a:pt x="61553" y="41035"/>
                </a:lnTo>
                <a:lnTo>
                  <a:pt x="61553" y="20518"/>
                </a:lnTo>
                <a:cubicBezTo>
                  <a:pt x="61553" y="9169"/>
                  <a:pt x="70722" y="0"/>
                  <a:pt x="82070" y="0"/>
                </a:cubicBezTo>
                <a:close/>
                <a:moveTo>
                  <a:pt x="197738" y="146637"/>
                </a:moveTo>
                <a:cubicBezTo>
                  <a:pt x="202226" y="139455"/>
                  <a:pt x="200046" y="129966"/>
                  <a:pt x="192865" y="125414"/>
                </a:cubicBezTo>
                <a:cubicBezTo>
                  <a:pt x="185684" y="120861"/>
                  <a:pt x="176195" y="123105"/>
                  <a:pt x="171642" y="130287"/>
                </a:cubicBezTo>
                <a:lnTo>
                  <a:pt x="132274" y="193314"/>
                </a:lnTo>
                <a:lnTo>
                  <a:pt x="114963" y="170232"/>
                </a:lnTo>
                <a:cubicBezTo>
                  <a:pt x="109833" y="163435"/>
                  <a:pt x="100216" y="162025"/>
                  <a:pt x="93419" y="167154"/>
                </a:cubicBezTo>
                <a:cubicBezTo>
                  <a:pt x="86623" y="172284"/>
                  <a:pt x="85212" y="181901"/>
                  <a:pt x="90341" y="188698"/>
                </a:cubicBezTo>
                <a:lnTo>
                  <a:pt x="121118" y="229733"/>
                </a:lnTo>
                <a:cubicBezTo>
                  <a:pt x="124131" y="233772"/>
                  <a:pt x="129004" y="236080"/>
                  <a:pt x="134070" y="235888"/>
                </a:cubicBezTo>
                <a:cubicBezTo>
                  <a:pt x="139135" y="235696"/>
                  <a:pt x="143751" y="233003"/>
                  <a:pt x="146444" y="228643"/>
                </a:cubicBezTo>
                <a:lnTo>
                  <a:pt x="197738" y="146572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459028" y="1914974"/>
            <a:ext cx="2389158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5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365 Dias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59028" y="2352682"/>
            <a:ext cx="2316206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 Monitoramento Contínuo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4757" y="2991007"/>
            <a:ext cx="5617257" cy="3866423"/>
          </a:xfrm>
          <a:custGeom>
            <a:avLst/>
            <a:gdLst/>
            <a:ahLst/>
            <a:cxnLst/>
            <a:rect l="l" t="t" r="r" b="b"/>
            <a:pathLst>
              <a:path w="5617257" h="3866423">
                <a:moveTo>
                  <a:pt x="36460" y="0"/>
                </a:moveTo>
                <a:lnTo>
                  <a:pt x="5580796" y="0"/>
                </a:lnTo>
                <a:cubicBezTo>
                  <a:pt x="5600933" y="0"/>
                  <a:pt x="5617257" y="16324"/>
                  <a:pt x="5617257" y="36460"/>
                </a:cubicBezTo>
                <a:lnTo>
                  <a:pt x="5617257" y="3829963"/>
                </a:lnTo>
                <a:cubicBezTo>
                  <a:pt x="5617257" y="3850099"/>
                  <a:pt x="5600933" y="3866423"/>
                  <a:pt x="5580796" y="3866423"/>
                </a:cubicBezTo>
                <a:lnTo>
                  <a:pt x="36460" y="3866423"/>
                </a:lnTo>
                <a:cubicBezTo>
                  <a:pt x="16324" y="3866423"/>
                  <a:pt x="0" y="3850099"/>
                  <a:pt x="0" y="3829963"/>
                </a:cubicBezTo>
                <a:lnTo>
                  <a:pt x="0" y="36460"/>
                </a:lnTo>
                <a:cubicBezTo>
                  <a:pt x="0" y="16337"/>
                  <a:pt x="16337" y="0"/>
                  <a:pt x="36460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83611" y="3246337"/>
            <a:ext cx="273568" cy="218854"/>
          </a:xfrm>
          <a:custGeom>
            <a:avLst/>
            <a:gdLst/>
            <a:ahLst/>
            <a:cxnLst/>
            <a:rect l="l" t="t" r="r" b="b"/>
            <a:pathLst>
              <a:path w="273568" h="218854">
                <a:moveTo>
                  <a:pt x="177776" y="89978"/>
                </a:moveTo>
                <a:cubicBezTo>
                  <a:pt x="182991" y="88568"/>
                  <a:pt x="188462" y="91047"/>
                  <a:pt x="190813" y="95877"/>
                </a:cubicBezTo>
                <a:lnTo>
                  <a:pt x="198764" y="111949"/>
                </a:lnTo>
                <a:cubicBezTo>
                  <a:pt x="203167" y="112547"/>
                  <a:pt x="207484" y="113744"/>
                  <a:pt x="211545" y="115411"/>
                </a:cubicBezTo>
                <a:lnTo>
                  <a:pt x="226505" y="105452"/>
                </a:lnTo>
                <a:cubicBezTo>
                  <a:pt x="230994" y="102460"/>
                  <a:pt x="236935" y="103058"/>
                  <a:pt x="240740" y="106862"/>
                </a:cubicBezTo>
                <a:lnTo>
                  <a:pt x="248947" y="115069"/>
                </a:lnTo>
                <a:cubicBezTo>
                  <a:pt x="252751" y="118874"/>
                  <a:pt x="253349" y="124858"/>
                  <a:pt x="250357" y="129303"/>
                </a:cubicBezTo>
                <a:lnTo>
                  <a:pt x="240398" y="144221"/>
                </a:lnTo>
                <a:cubicBezTo>
                  <a:pt x="241210" y="146230"/>
                  <a:pt x="241936" y="148325"/>
                  <a:pt x="242535" y="150505"/>
                </a:cubicBezTo>
                <a:cubicBezTo>
                  <a:pt x="243133" y="152685"/>
                  <a:pt x="243518" y="154822"/>
                  <a:pt x="243817" y="157002"/>
                </a:cubicBezTo>
                <a:lnTo>
                  <a:pt x="259932" y="164953"/>
                </a:lnTo>
                <a:cubicBezTo>
                  <a:pt x="264762" y="167346"/>
                  <a:pt x="267241" y="172818"/>
                  <a:pt x="265831" y="177990"/>
                </a:cubicBezTo>
                <a:lnTo>
                  <a:pt x="262839" y="189189"/>
                </a:lnTo>
                <a:cubicBezTo>
                  <a:pt x="261428" y="194361"/>
                  <a:pt x="256598" y="197866"/>
                  <a:pt x="251212" y="197524"/>
                </a:cubicBezTo>
                <a:lnTo>
                  <a:pt x="233259" y="196370"/>
                </a:lnTo>
                <a:cubicBezTo>
                  <a:pt x="230566" y="199833"/>
                  <a:pt x="227446" y="203039"/>
                  <a:pt x="223898" y="205774"/>
                </a:cubicBezTo>
                <a:lnTo>
                  <a:pt x="225052" y="223684"/>
                </a:lnTo>
                <a:cubicBezTo>
                  <a:pt x="225394" y="229070"/>
                  <a:pt x="221889" y="233943"/>
                  <a:pt x="216717" y="235311"/>
                </a:cubicBezTo>
                <a:lnTo>
                  <a:pt x="205518" y="238303"/>
                </a:lnTo>
                <a:cubicBezTo>
                  <a:pt x="200303" y="239714"/>
                  <a:pt x="194874" y="237234"/>
                  <a:pt x="192481" y="232404"/>
                </a:cubicBezTo>
                <a:lnTo>
                  <a:pt x="184530" y="216332"/>
                </a:lnTo>
                <a:cubicBezTo>
                  <a:pt x="180127" y="215734"/>
                  <a:pt x="175810" y="214537"/>
                  <a:pt x="171749" y="212870"/>
                </a:cubicBezTo>
                <a:lnTo>
                  <a:pt x="156788" y="222829"/>
                </a:lnTo>
                <a:cubicBezTo>
                  <a:pt x="152300" y="225822"/>
                  <a:pt x="146359" y="225223"/>
                  <a:pt x="142554" y="221419"/>
                </a:cubicBezTo>
                <a:lnTo>
                  <a:pt x="134347" y="213212"/>
                </a:lnTo>
                <a:cubicBezTo>
                  <a:pt x="130543" y="209408"/>
                  <a:pt x="129945" y="203466"/>
                  <a:pt x="132937" y="198978"/>
                </a:cubicBezTo>
                <a:lnTo>
                  <a:pt x="142896" y="184017"/>
                </a:lnTo>
                <a:cubicBezTo>
                  <a:pt x="142084" y="182008"/>
                  <a:pt x="141358" y="179914"/>
                  <a:pt x="140759" y="177734"/>
                </a:cubicBezTo>
                <a:cubicBezTo>
                  <a:pt x="140161" y="175554"/>
                  <a:pt x="139776" y="173374"/>
                  <a:pt x="139477" y="171236"/>
                </a:cubicBezTo>
                <a:lnTo>
                  <a:pt x="123362" y="163286"/>
                </a:lnTo>
                <a:cubicBezTo>
                  <a:pt x="118532" y="160892"/>
                  <a:pt x="116095" y="155421"/>
                  <a:pt x="117463" y="150249"/>
                </a:cubicBezTo>
                <a:lnTo>
                  <a:pt x="120455" y="139049"/>
                </a:lnTo>
                <a:cubicBezTo>
                  <a:pt x="121866" y="133877"/>
                  <a:pt x="126696" y="130372"/>
                  <a:pt x="132082" y="130714"/>
                </a:cubicBezTo>
                <a:lnTo>
                  <a:pt x="149992" y="131868"/>
                </a:lnTo>
                <a:cubicBezTo>
                  <a:pt x="152685" y="128406"/>
                  <a:pt x="155805" y="125200"/>
                  <a:pt x="159353" y="122464"/>
                </a:cubicBezTo>
                <a:lnTo>
                  <a:pt x="158199" y="104597"/>
                </a:lnTo>
                <a:cubicBezTo>
                  <a:pt x="157857" y="99211"/>
                  <a:pt x="161362" y="94338"/>
                  <a:pt x="166534" y="92970"/>
                </a:cubicBezTo>
                <a:lnTo>
                  <a:pt x="177734" y="89978"/>
                </a:lnTo>
                <a:close/>
                <a:moveTo>
                  <a:pt x="191668" y="145333"/>
                </a:moveTo>
                <a:cubicBezTo>
                  <a:pt x="181288" y="145345"/>
                  <a:pt x="172870" y="153782"/>
                  <a:pt x="172882" y="164162"/>
                </a:cubicBezTo>
                <a:cubicBezTo>
                  <a:pt x="172894" y="174542"/>
                  <a:pt x="181331" y="182960"/>
                  <a:pt x="191711" y="182948"/>
                </a:cubicBezTo>
                <a:cubicBezTo>
                  <a:pt x="202091" y="182937"/>
                  <a:pt x="210509" y="174500"/>
                  <a:pt x="210498" y="164119"/>
                </a:cubicBezTo>
                <a:cubicBezTo>
                  <a:pt x="210486" y="153739"/>
                  <a:pt x="202049" y="145321"/>
                  <a:pt x="191668" y="145333"/>
                </a:cubicBezTo>
                <a:close/>
                <a:moveTo>
                  <a:pt x="96133" y="-19449"/>
                </a:moveTo>
                <a:lnTo>
                  <a:pt x="107333" y="-16457"/>
                </a:lnTo>
                <a:cubicBezTo>
                  <a:pt x="112505" y="-15046"/>
                  <a:pt x="116010" y="-10173"/>
                  <a:pt x="115668" y="-4830"/>
                </a:cubicBezTo>
                <a:lnTo>
                  <a:pt x="114514" y="13037"/>
                </a:lnTo>
                <a:cubicBezTo>
                  <a:pt x="118062" y="15773"/>
                  <a:pt x="121182" y="18936"/>
                  <a:pt x="123875" y="22441"/>
                </a:cubicBezTo>
                <a:lnTo>
                  <a:pt x="141828" y="21287"/>
                </a:lnTo>
                <a:cubicBezTo>
                  <a:pt x="147171" y="20945"/>
                  <a:pt x="152044" y="24450"/>
                  <a:pt x="153454" y="29622"/>
                </a:cubicBezTo>
                <a:lnTo>
                  <a:pt x="156447" y="40821"/>
                </a:lnTo>
                <a:cubicBezTo>
                  <a:pt x="157814" y="45994"/>
                  <a:pt x="155378" y="51465"/>
                  <a:pt x="150548" y="53859"/>
                </a:cubicBezTo>
                <a:lnTo>
                  <a:pt x="134433" y="61809"/>
                </a:lnTo>
                <a:cubicBezTo>
                  <a:pt x="134134" y="63989"/>
                  <a:pt x="133706" y="66169"/>
                  <a:pt x="133151" y="68306"/>
                </a:cubicBezTo>
                <a:cubicBezTo>
                  <a:pt x="132595" y="70444"/>
                  <a:pt x="131825" y="72581"/>
                  <a:pt x="131013" y="74590"/>
                </a:cubicBezTo>
                <a:lnTo>
                  <a:pt x="140973" y="89551"/>
                </a:lnTo>
                <a:cubicBezTo>
                  <a:pt x="143965" y="94039"/>
                  <a:pt x="143367" y="99980"/>
                  <a:pt x="139562" y="103785"/>
                </a:cubicBezTo>
                <a:lnTo>
                  <a:pt x="131355" y="111992"/>
                </a:lnTo>
                <a:cubicBezTo>
                  <a:pt x="127551" y="115796"/>
                  <a:pt x="121609" y="116395"/>
                  <a:pt x="117121" y="113402"/>
                </a:cubicBezTo>
                <a:lnTo>
                  <a:pt x="102160" y="103443"/>
                </a:lnTo>
                <a:cubicBezTo>
                  <a:pt x="98100" y="105110"/>
                  <a:pt x="93782" y="106307"/>
                  <a:pt x="89380" y="106905"/>
                </a:cubicBezTo>
                <a:lnTo>
                  <a:pt x="81429" y="122977"/>
                </a:lnTo>
                <a:cubicBezTo>
                  <a:pt x="79035" y="127807"/>
                  <a:pt x="73564" y="130244"/>
                  <a:pt x="68392" y="128876"/>
                </a:cubicBezTo>
                <a:lnTo>
                  <a:pt x="57193" y="125884"/>
                </a:lnTo>
                <a:cubicBezTo>
                  <a:pt x="51978" y="124473"/>
                  <a:pt x="48516" y="119600"/>
                  <a:pt x="48857" y="114257"/>
                </a:cubicBezTo>
                <a:lnTo>
                  <a:pt x="50012" y="96347"/>
                </a:lnTo>
                <a:cubicBezTo>
                  <a:pt x="46464" y="93611"/>
                  <a:pt x="43343" y="90448"/>
                  <a:pt x="40650" y="86943"/>
                </a:cubicBezTo>
                <a:lnTo>
                  <a:pt x="22698" y="88097"/>
                </a:lnTo>
                <a:cubicBezTo>
                  <a:pt x="17354" y="88439"/>
                  <a:pt x="12482" y="84934"/>
                  <a:pt x="11071" y="79762"/>
                </a:cubicBezTo>
                <a:lnTo>
                  <a:pt x="8079" y="68563"/>
                </a:lnTo>
                <a:cubicBezTo>
                  <a:pt x="6711" y="63391"/>
                  <a:pt x="9147" y="57919"/>
                  <a:pt x="13978" y="55526"/>
                </a:cubicBezTo>
                <a:lnTo>
                  <a:pt x="30092" y="47575"/>
                </a:lnTo>
                <a:cubicBezTo>
                  <a:pt x="30392" y="45395"/>
                  <a:pt x="30819" y="43258"/>
                  <a:pt x="31375" y="41078"/>
                </a:cubicBezTo>
                <a:cubicBezTo>
                  <a:pt x="31973" y="38898"/>
                  <a:pt x="32657" y="36803"/>
                  <a:pt x="33512" y="34794"/>
                </a:cubicBezTo>
                <a:lnTo>
                  <a:pt x="23552" y="19876"/>
                </a:lnTo>
                <a:cubicBezTo>
                  <a:pt x="20560" y="15388"/>
                  <a:pt x="21159" y="9447"/>
                  <a:pt x="24963" y="5642"/>
                </a:cubicBezTo>
                <a:lnTo>
                  <a:pt x="33170" y="-2565"/>
                </a:lnTo>
                <a:cubicBezTo>
                  <a:pt x="36974" y="-6369"/>
                  <a:pt x="42916" y="-6967"/>
                  <a:pt x="47404" y="-3975"/>
                </a:cubicBezTo>
                <a:lnTo>
                  <a:pt x="62365" y="5984"/>
                </a:lnTo>
                <a:cubicBezTo>
                  <a:pt x="66426" y="4317"/>
                  <a:pt x="70743" y="3120"/>
                  <a:pt x="75146" y="2522"/>
                </a:cubicBezTo>
                <a:lnTo>
                  <a:pt x="83096" y="-13550"/>
                </a:lnTo>
                <a:cubicBezTo>
                  <a:pt x="85490" y="-18380"/>
                  <a:pt x="90919" y="-20817"/>
                  <a:pt x="96133" y="-19449"/>
                </a:cubicBezTo>
                <a:close/>
                <a:moveTo>
                  <a:pt x="82241" y="35906"/>
                </a:moveTo>
                <a:cubicBezTo>
                  <a:pt x="71861" y="35906"/>
                  <a:pt x="63434" y="44333"/>
                  <a:pt x="63434" y="54714"/>
                </a:cubicBezTo>
                <a:cubicBezTo>
                  <a:pt x="63434" y="65094"/>
                  <a:pt x="71861" y="73521"/>
                  <a:pt x="82241" y="73521"/>
                </a:cubicBezTo>
                <a:cubicBezTo>
                  <a:pt x="92622" y="73521"/>
                  <a:pt x="101049" y="65094"/>
                  <a:pt x="101049" y="54714"/>
                </a:cubicBezTo>
                <a:cubicBezTo>
                  <a:pt x="101049" y="44333"/>
                  <a:pt x="92622" y="35906"/>
                  <a:pt x="82241" y="35906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57179" y="3209861"/>
            <a:ext cx="501540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Funcionamento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3611" y="4705364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36476" y="0"/>
                </a:moveTo>
                <a:lnTo>
                  <a:pt x="255330" y="0"/>
                </a:lnTo>
                <a:cubicBezTo>
                  <a:pt x="275475" y="0"/>
                  <a:pt x="291806" y="16331"/>
                  <a:pt x="291806" y="36476"/>
                </a:cubicBezTo>
                <a:lnTo>
                  <a:pt x="291806" y="255330"/>
                </a:lnTo>
                <a:cubicBezTo>
                  <a:pt x="291806" y="275475"/>
                  <a:pt x="275475" y="291806"/>
                  <a:pt x="255330" y="291806"/>
                </a:cubicBezTo>
                <a:lnTo>
                  <a:pt x="36476" y="291806"/>
                </a:lnTo>
                <a:cubicBezTo>
                  <a:pt x="16331" y="291806"/>
                  <a:pt x="0" y="275475"/>
                  <a:pt x="0" y="255330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56562" y="4778316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118546" y="59273"/>
                </a:moveTo>
                <a:cubicBezTo>
                  <a:pt x="118546" y="72353"/>
                  <a:pt x="114300" y="84436"/>
                  <a:pt x="107147" y="94238"/>
                </a:cubicBezTo>
                <a:lnTo>
                  <a:pt x="143224" y="130344"/>
                </a:lnTo>
                <a:cubicBezTo>
                  <a:pt x="146786" y="133906"/>
                  <a:pt x="146786" y="139691"/>
                  <a:pt x="143224" y="143253"/>
                </a:cubicBezTo>
                <a:cubicBezTo>
                  <a:pt x="139662" y="146815"/>
                  <a:pt x="133877" y="146815"/>
                  <a:pt x="130315" y="143253"/>
                </a:cubicBezTo>
                <a:lnTo>
                  <a:pt x="94238" y="107147"/>
                </a:lnTo>
                <a:cubicBezTo>
                  <a:pt x="84436" y="114300"/>
                  <a:pt x="72353" y="118546"/>
                  <a:pt x="59273" y="118546"/>
                </a:cubicBezTo>
                <a:cubicBezTo>
                  <a:pt x="26530" y="118546"/>
                  <a:pt x="0" y="92016"/>
                  <a:pt x="0" y="59273"/>
                </a:cubicBezTo>
                <a:cubicBezTo>
                  <a:pt x="0" y="26530"/>
                  <a:pt x="26530" y="0"/>
                  <a:pt x="59273" y="0"/>
                </a:cubicBezTo>
                <a:cubicBezTo>
                  <a:pt x="92016" y="0"/>
                  <a:pt x="118546" y="26530"/>
                  <a:pt x="118546" y="59273"/>
                </a:cubicBezTo>
                <a:close/>
                <a:moveTo>
                  <a:pt x="59273" y="100308"/>
                </a:moveTo>
                <a:cubicBezTo>
                  <a:pt x="81921" y="100308"/>
                  <a:pt x="100308" y="81921"/>
                  <a:pt x="100308" y="59273"/>
                </a:cubicBezTo>
                <a:cubicBezTo>
                  <a:pt x="100308" y="36625"/>
                  <a:pt x="81921" y="18238"/>
                  <a:pt x="59273" y="18238"/>
                </a:cubicBezTo>
                <a:cubicBezTo>
                  <a:pt x="36625" y="18238"/>
                  <a:pt x="18238" y="36625"/>
                  <a:pt x="18238" y="59273"/>
                </a:cubicBezTo>
                <a:cubicBezTo>
                  <a:pt x="18238" y="81921"/>
                  <a:pt x="36625" y="100308"/>
                  <a:pt x="59273" y="100308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84844" y="4705364"/>
            <a:ext cx="3209861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Pesquisa Automática Diária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4844" y="4924218"/>
            <a:ext cx="320074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0F0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 Pro monitora EC e Principal Owners por 365 dias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3611" y="5216024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36476" y="0"/>
                </a:moveTo>
                <a:lnTo>
                  <a:pt x="255330" y="0"/>
                </a:lnTo>
                <a:cubicBezTo>
                  <a:pt x="275475" y="0"/>
                  <a:pt x="291806" y="16331"/>
                  <a:pt x="291806" y="36476"/>
                </a:cubicBezTo>
                <a:lnTo>
                  <a:pt x="291806" y="255330"/>
                </a:lnTo>
                <a:cubicBezTo>
                  <a:pt x="291806" y="275475"/>
                  <a:pt x="275475" y="291806"/>
                  <a:pt x="255330" y="291806"/>
                </a:cubicBezTo>
                <a:lnTo>
                  <a:pt x="36476" y="291806"/>
                </a:lnTo>
                <a:cubicBezTo>
                  <a:pt x="16331" y="291806"/>
                  <a:pt x="0" y="275475"/>
                  <a:pt x="0" y="255330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56562" y="5288975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72951" y="0"/>
                </a:moveTo>
                <a:cubicBezTo>
                  <a:pt x="113214" y="0"/>
                  <a:pt x="145903" y="32688"/>
                  <a:pt x="145903" y="72951"/>
                </a:cubicBezTo>
                <a:cubicBezTo>
                  <a:pt x="145903" y="113214"/>
                  <a:pt x="113214" y="145903"/>
                  <a:pt x="72951" y="145903"/>
                </a:cubicBezTo>
                <a:cubicBezTo>
                  <a:pt x="32688" y="145903"/>
                  <a:pt x="0" y="113214"/>
                  <a:pt x="0" y="72951"/>
                </a:cubicBezTo>
                <a:cubicBezTo>
                  <a:pt x="0" y="32688"/>
                  <a:pt x="32688" y="0"/>
                  <a:pt x="72951" y="0"/>
                </a:cubicBezTo>
                <a:close/>
                <a:moveTo>
                  <a:pt x="66112" y="34196"/>
                </a:moveTo>
                <a:lnTo>
                  <a:pt x="66112" y="72951"/>
                </a:lnTo>
                <a:cubicBezTo>
                  <a:pt x="66112" y="75231"/>
                  <a:pt x="67252" y="77368"/>
                  <a:pt x="69161" y="78651"/>
                </a:cubicBezTo>
                <a:lnTo>
                  <a:pt x="96518" y="96889"/>
                </a:lnTo>
                <a:cubicBezTo>
                  <a:pt x="99653" y="98997"/>
                  <a:pt x="103899" y="98142"/>
                  <a:pt x="106007" y="94979"/>
                </a:cubicBezTo>
                <a:cubicBezTo>
                  <a:pt x="108116" y="91816"/>
                  <a:pt x="107261" y="87599"/>
                  <a:pt x="104098" y="85490"/>
                </a:cubicBezTo>
                <a:lnTo>
                  <a:pt x="79791" y="69304"/>
                </a:lnTo>
                <a:lnTo>
                  <a:pt x="79791" y="34196"/>
                </a:lnTo>
                <a:cubicBezTo>
                  <a:pt x="79791" y="30406"/>
                  <a:pt x="76741" y="27357"/>
                  <a:pt x="72951" y="27357"/>
                </a:cubicBezTo>
                <a:cubicBezTo>
                  <a:pt x="69161" y="27357"/>
                  <a:pt x="66112" y="30406"/>
                  <a:pt x="66112" y="34196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84844" y="5216024"/>
            <a:ext cx="3802591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Visibilidade por 30 Dias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4844" y="5434878"/>
            <a:ext cx="379347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0F0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Retroactive match aparece por 30 dias e é reportado uma única vez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3611" y="5726684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36476" y="0"/>
                </a:moveTo>
                <a:lnTo>
                  <a:pt x="255330" y="0"/>
                </a:lnTo>
                <a:cubicBezTo>
                  <a:pt x="275475" y="0"/>
                  <a:pt x="291806" y="16331"/>
                  <a:pt x="291806" y="36476"/>
                </a:cubicBezTo>
                <a:lnTo>
                  <a:pt x="291806" y="255330"/>
                </a:lnTo>
                <a:cubicBezTo>
                  <a:pt x="291806" y="275475"/>
                  <a:pt x="275475" y="291806"/>
                  <a:pt x="255330" y="291806"/>
                </a:cubicBezTo>
                <a:lnTo>
                  <a:pt x="36476" y="291806"/>
                </a:lnTo>
                <a:cubicBezTo>
                  <a:pt x="16331" y="291806"/>
                  <a:pt x="0" y="275475"/>
                  <a:pt x="0" y="255330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56562" y="5799635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13678" y="18238"/>
                </a:moveTo>
                <a:cubicBezTo>
                  <a:pt x="6127" y="18238"/>
                  <a:pt x="0" y="24365"/>
                  <a:pt x="0" y="31916"/>
                </a:cubicBezTo>
                <a:cubicBezTo>
                  <a:pt x="0" y="36219"/>
                  <a:pt x="2023" y="40266"/>
                  <a:pt x="5471" y="42859"/>
                </a:cubicBezTo>
                <a:lnTo>
                  <a:pt x="64744" y="87314"/>
                </a:lnTo>
                <a:cubicBezTo>
                  <a:pt x="69617" y="90961"/>
                  <a:pt x="76285" y="90961"/>
                  <a:pt x="81158" y="87314"/>
                </a:cubicBezTo>
                <a:lnTo>
                  <a:pt x="140431" y="42859"/>
                </a:lnTo>
                <a:cubicBezTo>
                  <a:pt x="143880" y="40266"/>
                  <a:pt x="145903" y="36219"/>
                  <a:pt x="145903" y="31916"/>
                </a:cubicBezTo>
                <a:cubicBezTo>
                  <a:pt x="145903" y="24365"/>
                  <a:pt x="139776" y="18238"/>
                  <a:pt x="132224" y="18238"/>
                </a:cubicBezTo>
                <a:lnTo>
                  <a:pt x="13678" y="18238"/>
                </a:lnTo>
                <a:close/>
                <a:moveTo>
                  <a:pt x="0" y="55853"/>
                </a:moveTo>
                <a:lnTo>
                  <a:pt x="0" y="109427"/>
                </a:lnTo>
                <a:cubicBezTo>
                  <a:pt x="0" y="119486"/>
                  <a:pt x="8179" y="127665"/>
                  <a:pt x="18238" y="127665"/>
                </a:cubicBezTo>
                <a:lnTo>
                  <a:pt x="127665" y="127665"/>
                </a:lnTo>
                <a:cubicBezTo>
                  <a:pt x="137724" y="127665"/>
                  <a:pt x="145903" y="119486"/>
                  <a:pt x="145903" y="109427"/>
                </a:cubicBezTo>
                <a:lnTo>
                  <a:pt x="145903" y="55853"/>
                </a:lnTo>
                <a:lnTo>
                  <a:pt x="89365" y="98256"/>
                </a:lnTo>
                <a:cubicBezTo>
                  <a:pt x="79648" y="105552"/>
                  <a:pt x="66255" y="105552"/>
                  <a:pt x="56537" y="98256"/>
                </a:cubicBezTo>
                <a:lnTo>
                  <a:pt x="0" y="55853"/>
                </a:ln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84844" y="5726684"/>
            <a:ext cx="3218980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Notificação por E-mail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84844" y="5945538"/>
            <a:ext cx="3209861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0F0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Envio 1 vez ao dia para contato do My Company Manager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3611" y="6237343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36476" y="0"/>
                </a:moveTo>
                <a:lnTo>
                  <a:pt x="255330" y="0"/>
                </a:lnTo>
                <a:cubicBezTo>
                  <a:pt x="275475" y="0"/>
                  <a:pt x="291806" y="16331"/>
                  <a:pt x="291806" y="36476"/>
                </a:cubicBezTo>
                <a:lnTo>
                  <a:pt x="291806" y="255330"/>
                </a:lnTo>
                <a:cubicBezTo>
                  <a:pt x="291806" y="275475"/>
                  <a:pt x="275475" y="291806"/>
                  <a:pt x="255330" y="291806"/>
                </a:cubicBezTo>
                <a:lnTo>
                  <a:pt x="36476" y="291806"/>
                </a:lnTo>
                <a:cubicBezTo>
                  <a:pt x="16331" y="291806"/>
                  <a:pt x="0" y="275475"/>
                  <a:pt x="0" y="255330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665681" y="6310295"/>
            <a:ext cx="127665" cy="145903"/>
          </a:xfrm>
          <a:custGeom>
            <a:avLst/>
            <a:gdLst/>
            <a:ahLst/>
            <a:cxnLst/>
            <a:rect l="l" t="t" r="r" b="b"/>
            <a:pathLst>
              <a:path w="127665" h="145903">
                <a:moveTo>
                  <a:pt x="38955" y="1681"/>
                </a:moveTo>
                <a:cubicBezTo>
                  <a:pt x="40209" y="-2052"/>
                  <a:pt x="43685" y="-4559"/>
                  <a:pt x="47618" y="-4559"/>
                </a:cubicBezTo>
                <a:lnTo>
                  <a:pt x="80076" y="-4559"/>
                </a:lnTo>
                <a:cubicBezTo>
                  <a:pt x="84008" y="-4559"/>
                  <a:pt x="87485" y="-2052"/>
                  <a:pt x="88739" y="1681"/>
                </a:cubicBezTo>
                <a:lnTo>
                  <a:pt x="91189" y="9119"/>
                </a:lnTo>
                <a:lnTo>
                  <a:pt x="118546" y="9119"/>
                </a:lnTo>
                <a:cubicBezTo>
                  <a:pt x="123590" y="9119"/>
                  <a:pt x="127665" y="13194"/>
                  <a:pt x="127665" y="18238"/>
                </a:cubicBezTo>
                <a:cubicBezTo>
                  <a:pt x="127665" y="23282"/>
                  <a:pt x="123590" y="27357"/>
                  <a:pt x="118546" y="27357"/>
                </a:cubicBezTo>
                <a:lnTo>
                  <a:pt x="9119" y="27357"/>
                </a:lnTo>
                <a:cubicBezTo>
                  <a:pt x="4075" y="27357"/>
                  <a:pt x="0" y="23282"/>
                  <a:pt x="0" y="18238"/>
                </a:cubicBezTo>
                <a:cubicBezTo>
                  <a:pt x="0" y="13194"/>
                  <a:pt x="4075" y="9119"/>
                  <a:pt x="9119" y="9119"/>
                </a:cubicBezTo>
                <a:lnTo>
                  <a:pt x="36476" y="9119"/>
                </a:lnTo>
                <a:lnTo>
                  <a:pt x="38955" y="1681"/>
                </a:lnTo>
                <a:close/>
                <a:moveTo>
                  <a:pt x="9119" y="41035"/>
                </a:moveTo>
                <a:lnTo>
                  <a:pt x="118546" y="41035"/>
                </a:lnTo>
                <a:lnTo>
                  <a:pt x="118546" y="127665"/>
                </a:lnTo>
                <a:cubicBezTo>
                  <a:pt x="118546" y="137724"/>
                  <a:pt x="110367" y="145903"/>
                  <a:pt x="100308" y="145903"/>
                </a:cubicBezTo>
                <a:lnTo>
                  <a:pt x="27357" y="145903"/>
                </a:lnTo>
                <a:cubicBezTo>
                  <a:pt x="17297" y="145903"/>
                  <a:pt x="9119" y="137724"/>
                  <a:pt x="9119" y="127665"/>
                </a:cubicBezTo>
                <a:lnTo>
                  <a:pt x="9119" y="41035"/>
                </a:lnTo>
                <a:close/>
                <a:moveTo>
                  <a:pt x="34196" y="59273"/>
                </a:moveTo>
                <a:cubicBezTo>
                  <a:pt x="30406" y="59273"/>
                  <a:pt x="27357" y="62322"/>
                  <a:pt x="27357" y="66112"/>
                </a:cubicBezTo>
                <a:lnTo>
                  <a:pt x="27357" y="120826"/>
                </a:lnTo>
                <a:cubicBezTo>
                  <a:pt x="27357" y="124616"/>
                  <a:pt x="30406" y="127665"/>
                  <a:pt x="34196" y="127665"/>
                </a:cubicBezTo>
                <a:cubicBezTo>
                  <a:pt x="37986" y="127665"/>
                  <a:pt x="41035" y="124616"/>
                  <a:pt x="41035" y="120826"/>
                </a:cubicBezTo>
                <a:lnTo>
                  <a:pt x="41035" y="66112"/>
                </a:lnTo>
                <a:cubicBezTo>
                  <a:pt x="41035" y="62322"/>
                  <a:pt x="37986" y="59273"/>
                  <a:pt x="34196" y="59273"/>
                </a:cubicBezTo>
                <a:close/>
                <a:moveTo>
                  <a:pt x="63832" y="59273"/>
                </a:moveTo>
                <a:cubicBezTo>
                  <a:pt x="60042" y="59273"/>
                  <a:pt x="56993" y="62322"/>
                  <a:pt x="56993" y="66112"/>
                </a:cubicBezTo>
                <a:lnTo>
                  <a:pt x="56993" y="120826"/>
                </a:lnTo>
                <a:cubicBezTo>
                  <a:pt x="56993" y="124616"/>
                  <a:pt x="60042" y="127665"/>
                  <a:pt x="63832" y="127665"/>
                </a:cubicBezTo>
                <a:cubicBezTo>
                  <a:pt x="67623" y="127665"/>
                  <a:pt x="70672" y="124616"/>
                  <a:pt x="70672" y="120826"/>
                </a:cubicBezTo>
                <a:lnTo>
                  <a:pt x="70672" y="66112"/>
                </a:lnTo>
                <a:cubicBezTo>
                  <a:pt x="70672" y="62322"/>
                  <a:pt x="67623" y="59273"/>
                  <a:pt x="63832" y="59273"/>
                </a:cubicBezTo>
                <a:close/>
                <a:moveTo>
                  <a:pt x="93469" y="59273"/>
                </a:moveTo>
                <a:cubicBezTo>
                  <a:pt x="89679" y="59273"/>
                  <a:pt x="86630" y="62322"/>
                  <a:pt x="86630" y="66112"/>
                </a:cubicBezTo>
                <a:lnTo>
                  <a:pt x="86630" y="120826"/>
                </a:lnTo>
                <a:cubicBezTo>
                  <a:pt x="86630" y="124616"/>
                  <a:pt x="89679" y="127665"/>
                  <a:pt x="93469" y="127665"/>
                </a:cubicBezTo>
                <a:cubicBezTo>
                  <a:pt x="97259" y="127665"/>
                  <a:pt x="100308" y="124616"/>
                  <a:pt x="100308" y="120826"/>
                </a:cubicBezTo>
                <a:lnTo>
                  <a:pt x="100308" y="66112"/>
                </a:lnTo>
                <a:cubicBezTo>
                  <a:pt x="100308" y="62322"/>
                  <a:pt x="97259" y="59273"/>
                  <a:pt x="93469" y="59273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984844" y="6237343"/>
            <a:ext cx="2890699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Exclusão Após 30 Dias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4844" y="6456197"/>
            <a:ext cx="2881580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0F0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 Pro deleta após 30 dias - não é restaurável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04857" y="1677882"/>
            <a:ext cx="5617257" cy="4194705"/>
          </a:xfrm>
          <a:custGeom>
            <a:avLst/>
            <a:gdLst/>
            <a:ahLst/>
            <a:cxnLst/>
            <a:rect l="l" t="t" r="r" b="b"/>
            <a:pathLst>
              <a:path w="5617257" h="4194705">
                <a:moveTo>
                  <a:pt x="36494" y="0"/>
                </a:moveTo>
                <a:lnTo>
                  <a:pt x="5580763" y="0"/>
                </a:lnTo>
                <a:cubicBezTo>
                  <a:pt x="5600918" y="0"/>
                  <a:pt x="5617257" y="16339"/>
                  <a:pt x="5617257" y="36494"/>
                </a:cubicBezTo>
                <a:lnTo>
                  <a:pt x="5617257" y="4158211"/>
                </a:lnTo>
                <a:cubicBezTo>
                  <a:pt x="5617257" y="4178366"/>
                  <a:pt x="5600918" y="4194705"/>
                  <a:pt x="5580763" y="4194705"/>
                </a:cubicBezTo>
                <a:lnTo>
                  <a:pt x="36494" y="4194705"/>
                </a:lnTo>
                <a:cubicBezTo>
                  <a:pt x="16339" y="4194705"/>
                  <a:pt x="0" y="4178366"/>
                  <a:pt x="0" y="4158211"/>
                </a:cubicBezTo>
                <a:lnTo>
                  <a:pt x="0" y="36494"/>
                </a:lnTo>
                <a:cubicBezTo>
                  <a:pt x="0" y="16352"/>
                  <a:pt x="16352" y="0"/>
                  <a:pt x="36494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464746" y="1933212"/>
            <a:ext cx="191497" cy="218854"/>
          </a:xfrm>
          <a:custGeom>
            <a:avLst/>
            <a:gdLst/>
            <a:ahLst/>
            <a:cxnLst/>
            <a:rect l="l" t="t" r="r" b="b"/>
            <a:pathLst>
              <a:path w="191497" h="218854">
                <a:moveTo>
                  <a:pt x="191497" y="87969"/>
                </a:moveTo>
                <a:cubicBezTo>
                  <a:pt x="185171" y="92158"/>
                  <a:pt x="177904" y="95535"/>
                  <a:pt x="170339" y="98228"/>
                </a:cubicBezTo>
                <a:cubicBezTo>
                  <a:pt x="150249" y="105409"/>
                  <a:pt x="123875" y="109427"/>
                  <a:pt x="95749" y="109427"/>
                </a:cubicBezTo>
                <a:cubicBezTo>
                  <a:pt x="67623" y="109427"/>
                  <a:pt x="41206" y="105366"/>
                  <a:pt x="21159" y="98228"/>
                </a:cubicBezTo>
                <a:cubicBezTo>
                  <a:pt x="13636" y="95535"/>
                  <a:pt x="6326" y="92158"/>
                  <a:pt x="0" y="87969"/>
                </a:cubicBezTo>
                <a:lnTo>
                  <a:pt x="0" y="123105"/>
                </a:lnTo>
                <a:cubicBezTo>
                  <a:pt x="0" y="141999"/>
                  <a:pt x="42873" y="157301"/>
                  <a:pt x="95749" y="157301"/>
                </a:cubicBezTo>
                <a:cubicBezTo>
                  <a:pt x="148624" y="157301"/>
                  <a:pt x="191497" y="141999"/>
                  <a:pt x="191497" y="123105"/>
                </a:cubicBezTo>
                <a:lnTo>
                  <a:pt x="191497" y="87969"/>
                </a:lnTo>
                <a:close/>
                <a:moveTo>
                  <a:pt x="191497" y="54714"/>
                </a:moveTo>
                <a:lnTo>
                  <a:pt x="191497" y="34196"/>
                </a:lnTo>
                <a:cubicBezTo>
                  <a:pt x="191497" y="15303"/>
                  <a:pt x="148624" y="0"/>
                  <a:pt x="95749" y="0"/>
                </a:cubicBezTo>
                <a:cubicBezTo>
                  <a:pt x="42873" y="0"/>
                  <a:pt x="0" y="15303"/>
                  <a:pt x="0" y="34196"/>
                </a:cubicBezTo>
                <a:lnTo>
                  <a:pt x="0" y="54714"/>
                </a:lnTo>
                <a:cubicBezTo>
                  <a:pt x="0" y="73607"/>
                  <a:pt x="42873" y="88909"/>
                  <a:pt x="95749" y="88909"/>
                </a:cubicBezTo>
                <a:cubicBezTo>
                  <a:pt x="148624" y="88909"/>
                  <a:pt x="191497" y="73607"/>
                  <a:pt x="191497" y="54714"/>
                </a:cubicBezTo>
                <a:close/>
                <a:moveTo>
                  <a:pt x="170339" y="166620"/>
                </a:moveTo>
                <a:cubicBezTo>
                  <a:pt x="150291" y="173758"/>
                  <a:pt x="123918" y="177819"/>
                  <a:pt x="95749" y="177819"/>
                </a:cubicBezTo>
                <a:cubicBezTo>
                  <a:pt x="67580" y="177819"/>
                  <a:pt x="41206" y="173758"/>
                  <a:pt x="21159" y="166620"/>
                </a:cubicBezTo>
                <a:cubicBezTo>
                  <a:pt x="13636" y="163927"/>
                  <a:pt x="6326" y="160550"/>
                  <a:pt x="0" y="156361"/>
                </a:cubicBezTo>
                <a:lnTo>
                  <a:pt x="0" y="184658"/>
                </a:lnTo>
                <a:cubicBezTo>
                  <a:pt x="0" y="203551"/>
                  <a:pt x="42873" y="218854"/>
                  <a:pt x="95749" y="218854"/>
                </a:cubicBezTo>
                <a:cubicBezTo>
                  <a:pt x="148624" y="218854"/>
                  <a:pt x="191497" y="203551"/>
                  <a:pt x="191497" y="184658"/>
                </a:cubicBezTo>
                <a:lnTo>
                  <a:pt x="191497" y="156361"/>
                </a:lnTo>
                <a:cubicBezTo>
                  <a:pt x="185171" y="160550"/>
                  <a:pt x="177904" y="163927"/>
                  <a:pt x="170339" y="16662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697279" y="1896736"/>
            <a:ext cx="501540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Retenção de Registros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3711" y="2334444"/>
            <a:ext cx="5179548" cy="984844"/>
          </a:xfrm>
          <a:custGeom>
            <a:avLst/>
            <a:gdLst/>
            <a:ahLst/>
            <a:cxnLst/>
            <a:rect l="l" t="t" r="r" b="b"/>
            <a:pathLst>
              <a:path w="5179548" h="984844">
                <a:moveTo>
                  <a:pt x="36479" y="0"/>
                </a:moveTo>
                <a:lnTo>
                  <a:pt x="5143070" y="0"/>
                </a:lnTo>
                <a:cubicBezTo>
                  <a:pt x="5163216" y="0"/>
                  <a:pt x="5179548" y="16332"/>
                  <a:pt x="5179548" y="36479"/>
                </a:cubicBezTo>
                <a:lnTo>
                  <a:pt x="5179548" y="948365"/>
                </a:lnTo>
                <a:cubicBezTo>
                  <a:pt x="5179548" y="968512"/>
                  <a:pt x="5163216" y="984844"/>
                  <a:pt x="5143070" y="984844"/>
                </a:cubicBezTo>
                <a:lnTo>
                  <a:pt x="36479" y="984844"/>
                </a:lnTo>
                <a:cubicBezTo>
                  <a:pt x="16332" y="984844"/>
                  <a:pt x="0" y="968512"/>
                  <a:pt x="0" y="948365"/>
                </a:cubicBezTo>
                <a:lnTo>
                  <a:pt x="0" y="36479"/>
                </a:lnTo>
                <a:cubicBezTo>
                  <a:pt x="0" y="16346"/>
                  <a:pt x="16346" y="0"/>
                  <a:pt x="36479" y="0"/>
                </a:cubicBezTo>
                <a:close/>
              </a:path>
            </a:pathLst>
          </a:custGeom>
          <a:solidFill>
            <a:srgbClr val="FF6B0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569614" y="2480347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36474" y="0"/>
                </a:moveTo>
                <a:lnTo>
                  <a:pt x="401234" y="0"/>
                </a:lnTo>
                <a:cubicBezTo>
                  <a:pt x="421365" y="0"/>
                  <a:pt x="437708" y="16344"/>
                  <a:pt x="437708" y="36474"/>
                </a:cubicBezTo>
                <a:lnTo>
                  <a:pt x="437708" y="401234"/>
                </a:lnTo>
                <a:cubicBezTo>
                  <a:pt x="437708" y="421378"/>
                  <a:pt x="421378" y="437708"/>
                  <a:pt x="401234" y="437708"/>
                </a:cubicBezTo>
                <a:lnTo>
                  <a:pt x="36474" y="437708"/>
                </a:lnTo>
                <a:cubicBezTo>
                  <a:pt x="16330" y="437708"/>
                  <a:pt x="0" y="421378"/>
                  <a:pt x="0" y="401234"/>
                </a:cubicBezTo>
                <a:lnTo>
                  <a:pt x="0" y="36474"/>
                </a:lnTo>
                <a:cubicBezTo>
                  <a:pt x="0" y="16344"/>
                  <a:pt x="16344" y="0"/>
                  <a:pt x="36474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725348" y="2553298"/>
            <a:ext cx="237092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16749" y="2480347"/>
            <a:ext cx="1212817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16749" y="2735677"/>
            <a:ext cx="1194579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Registros no sistema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69614" y="2991007"/>
            <a:ext cx="4951575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 estabelecimento ficam 5 anos, com expurgo automático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23711" y="3501666"/>
            <a:ext cx="5179548" cy="984844"/>
          </a:xfrm>
          <a:custGeom>
            <a:avLst/>
            <a:gdLst/>
            <a:ahLst/>
            <a:cxnLst/>
            <a:rect l="l" t="t" r="r" b="b"/>
            <a:pathLst>
              <a:path w="5179548" h="984844">
                <a:moveTo>
                  <a:pt x="36479" y="0"/>
                </a:moveTo>
                <a:lnTo>
                  <a:pt x="5143070" y="0"/>
                </a:lnTo>
                <a:cubicBezTo>
                  <a:pt x="5163216" y="0"/>
                  <a:pt x="5179548" y="16332"/>
                  <a:pt x="5179548" y="36479"/>
                </a:cubicBezTo>
                <a:lnTo>
                  <a:pt x="5179548" y="948365"/>
                </a:lnTo>
                <a:cubicBezTo>
                  <a:pt x="5179548" y="968512"/>
                  <a:pt x="5163216" y="984844"/>
                  <a:pt x="5143070" y="984844"/>
                </a:cubicBezTo>
                <a:lnTo>
                  <a:pt x="36479" y="984844"/>
                </a:lnTo>
                <a:cubicBezTo>
                  <a:pt x="16332" y="984844"/>
                  <a:pt x="0" y="968512"/>
                  <a:pt x="0" y="948365"/>
                </a:cubicBezTo>
                <a:lnTo>
                  <a:pt x="0" y="36479"/>
                </a:lnTo>
                <a:cubicBezTo>
                  <a:pt x="0" y="16346"/>
                  <a:pt x="16346" y="0"/>
                  <a:pt x="36479" y="0"/>
                </a:cubicBezTo>
                <a:close/>
              </a:path>
            </a:pathLst>
          </a:custGeom>
          <a:solidFill>
            <a:srgbClr val="F0F0F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6569614" y="3647569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36474" y="0"/>
                </a:moveTo>
                <a:lnTo>
                  <a:pt x="401234" y="0"/>
                </a:lnTo>
                <a:cubicBezTo>
                  <a:pt x="421365" y="0"/>
                  <a:pt x="437708" y="16344"/>
                  <a:pt x="437708" y="36474"/>
                </a:cubicBezTo>
                <a:lnTo>
                  <a:pt x="437708" y="401234"/>
                </a:lnTo>
                <a:cubicBezTo>
                  <a:pt x="437708" y="421378"/>
                  <a:pt x="421378" y="437708"/>
                  <a:pt x="401234" y="437708"/>
                </a:cubicBezTo>
                <a:lnTo>
                  <a:pt x="36474" y="437708"/>
                </a:lnTo>
                <a:cubicBezTo>
                  <a:pt x="16330" y="437708"/>
                  <a:pt x="0" y="421378"/>
                  <a:pt x="0" y="401234"/>
                </a:cubicBezTo>
                <a:lnTo>
                  <a:pt x="0" y="36474"/>
                </a:lnTo>
                <a:cubicBezTo>
                  <a:pt x="0" y="16344"/>
                  <a:pt x="16344" y="0"/>
                  <a:pt x="36474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6724778" y="3720521"/>
            <a:ext cx="237092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116749" y="3647569"/>
            <a:ext cx="1386076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16749" y="3902899"/>
            <a:ext cx="1367838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Retenção de evidências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69614" y="4158229"/>
            <a:ext cx="4951575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Usuário deve reter registros/evidências por mínimo 2 anos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23711" y="4668889"/>
            <a:ext cx="5179548" cy="984844"/>
          </a:xfrm>
          <a:custGeom>
            <a:avLst/>
            <a:gdLst/>
            <a:ahLst/>
            <a:cxnLst/>
            <a:rect l="l" t="t" r="r" b="b"/>
            <a:pathLst>
              <a:path w="5179548" h="984844">
                <a:moveTo>
                  <a:pt x="36479" y="0"/>
                </a:moveTo>
                <a:lnTo>
                  <a:pt x="5143070" y="0"/>
                </a:lnTo>
                <a:cubicBezTo>
                  <a:pt x="5163216" y="0"/>
                  <a:pt x="5179548" y="16332"/>
                  <a:pt x="5179548" y="36479"/>
                </a:cubicBezTo>
                <a:lnTo>
                  <a:pt x="5179548" y="948365"/>
                </a:lnTo>
                <a:cubicBezTo>
                  <a:pt x="5179548" y="968512"/>
                  <a:pt x="5163216" y="984844"/>
                  <a:pt x="5143070" y="984844"/>
                </a:cubicBezTo>
                <a:lnTo>
                  <a:pt x="36479" y="984844"/>
                </a:lnTo>
                <a:cubicBezTo>
                  <a:pt x="16332" y="984844"/>
                  <a:pt x="0" y="968512"/>
                  <a:pt x="0" y="948365"/>
                </a:cubicBezTo>
                <a:lnTo>
                  <a:pt x="0" y="36479"/>
                </a:lnTo>
                <a:cubicBezTo>
                  <a:pt x="0" y="16346"/>
                  <a:pt x="16346" y="0"/>
                  <a:pt x="36479" y="0"/>
                </a:cubicBezTo>
                <a:close/>
              </a:path>
            </a:pathLst>
          </a:custGeom>
          <a:solidFill>
            <a:srgbClr val="F0F0F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6569614" y="4814791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36474" y="0"/>
                </a:moveTo>
                <a:lnTo>
                  <a:pt x="401234" y="0"/>
                </a:lnTo>
                <a:cubicBezTo>
                  <a:pt x="421365" y="0"/>
                  <a:pt x="437708" y="16344"/>
                  <a:pt x="437708" y="36474"/>
                </a:cubicBezTo>
                <a:lnTo>
                  <a:pt x="437708" y="401234"/>
                </a:lnTo>
                <a:cubicBezTo>
                  <a:pt x="437708" y="421378"/>
                  <a:pt x="421378" y="437708"/>
                  <a:pt x="401234" y="437708"/>
                </a:cubicBezTo>
                <a:lnTo>
                  <a:pt x="36474" y="437708"/>
                </a:lnTo>
                <a:cubicBezTo>
                  <a:pt x="16330" y="437708"/>
                  <a:pt x="0" y="421378"/>
                  <a:pt x="0" y="401234"/>
                </a:cubicBezTo>
                <a:lnTo>
                  <a:pt x="0" y="36474"/>
                </a:lnTo>
                <a:cubicBezTo>
                  <a:pt x="0" y="16344"/>
                  <a:pt x="16344" y="0"/>
                  <a:pt x="36474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744583" y="4887743"/>
            <a:ext cx="200616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116749" y="4814791"/>
            <a:ext cx="1167222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116749" y="5070121"/>
            <a:ext cx="1148984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Consultas no banco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69614" y="5325451"/>
            <a:ext cx="4951575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Banco de dados armazena registros de consulta por 365 dias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23095" y="6018489"/>
            <a:ext cx="5599019" cy="838941"/>
          </a:xfrm>
          <a:custGeom>
            <a:avLst/>
            <a:gdLst/>
            <a:ahLst/>
            <a:cxnLst/>
            <a:rect l="l" t="t" r="r" b="b"/>
            <a:pathLst>
              <a:path w="5599019" h="838941">
                <a:moveTo>
                  <a:pt x="36476" y="0"/>
                </a:moveTo>
                <a:lnTo>
                  <a:pt x="5562542" y="0"/>
                </a:lnTo>
                <a:cubicBezTo>
                  <a:pt x="5582687" y="0"/>
                  <a:pt x="5599019" y="16331"/>
                  <a:pt x="5599019" y="36477"/>
                </a:cubicBezTo>
                <a:lnTo>
                  <a:pt x="5599019" y="802464"/>
                </a:lnTo>
                <a:cubicBezTo>
                  <a:pt x="5599019" y="822610"/>
                  <a:pt x="5582687" y="838941"/>
                  <a:pt x="5562542" y="838941"/>
                </a:cubicBezTo>
                <a:lnTo>
                  <a:pt x="36476" y="838941"/>
                </a:lnTo>
                <a:cubicBezTo>
                  <a:pt x="16331" y="838941"/>
                  <a:pt x="0" y="822610"/>
                  <a:pt x="0" y="802465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F6B0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6223095" y="6018489"/>
            <a:ext cx="36476" cy="838941"/>
          </a:xfrm>
          <a:custGeom>
            <a:avLst/>
            <a:gdLst/>
            <a:ahLst/>
            <a:cxnLst/>
            <a:rect l="l" t="t" r="r" b="b"/>
            <a:pathLst>
              <a:path w="36476" h="838941">
                <a:moveTo>
                  <a:pt x="36476" y="0"/>
                </a:moveTo>
                <a:lnTo>
                  <a:pt x="36476" y="0"/>
                </a:lnTo>
                <a:lnTo>
                  <a:pt x="36476" y="838941"/>
                </a:lnTo>
                <a:lnTo>
                  <a:pt x="36476" y="838941"/>
                </a:lnTo>
                <a:cubicBezTo>
                  <a:pt x="16331" y="838941"/>
                  <a:pt x="0" y="822610"/>
                  <a:pt x="0" y="802465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6460187" y="6301176"/>
            <a:ext cx="273568" cy="273568"/>
          </a:xfrm>
          <a:custGeom>
            <a:avLst/>
            <a:gdLst/>
            <a:ahLst/>
            <a:cxnLst/>
            <a:rect l="l" t="t" r="r" b="b"/>
            <a:pathLst>
              <a:path w="273568" h="273568">
                <a:moveTo>
                  <a:pt x="136784" y="0"/>
                </a:moveTo>
                <a:cubicBezTo>
                  <a:pt x="144638" y="0"/>
                  <a:pt x="151851" y="4328"/>
                  <a:pt x="155592" y="11221"/>
                </a:cubicBezTo>
                <a:lnTo>
                  <a:pt x="271003" y="224945"/>
                </a:lnTo>
                <a:cubicBezTo>
                  <a:pt x="274583" y="231571"/>
                  <a:pt x="274423" y="239585"/>
                  <a:pt x="270576" y="246051"/>
                </a:cubicBezTo>
                <a:cubicBezTo>
                  <a:pt x="266728" y="252516"/>
                  <a:pt x="259729" y="256470"/>
                  <a:pt x="252195" y="256470"/>
                </a:cubicBezTo>
                <a:lnTo>
                  <a:pt x="21372" y="256470"/>
                </a:lnTo>
                <a:cubicBezTo>
                  <a:pt x="13839" y="256470"/>
                  <a:pt x="6893" y="252516"/>
                  <a:pt x="2992" y="246051"/>
                </a:cubicBezTo>
                <a:cubicBezTo>
                  <a:pt x="-908" y="239585"/>
                  <a:pt x="-1015" y="231571"/>
                  <a:pt x="2565" y="224945"/>
                </a:cubicBezTo>
                <a:lnTo>
                  <a:pt x="117976" y="11221"/>
                </a:lnTo>
                <a:cubicBezTo>
                  <a:pt x="121716" y="4328"/>
                  <a:pt x="128929" y="0"/>
                  <a:pt x="136784" y="0"/>
                </a:cubicBezTo>
                <a:close/>
                <a:moveTo>
                  <a:pt x="136784" y="89764"/>
                </a:moveTo>
                <a:cubicBezTo>
                  <a:pt x="129677" y="89764"/>
                  <a:pt x="123960" y="95482"/>
                  <a:pt x="123960" y="102588"/>
                </a:cubicBezTo>
                <a:lnTo>
                  <a:pt x="123960" y="162431"/>
                </a:lnTo>
                <a:cubicBezTo>
                  <a:pt x="123960" y="169537"/>
                  <a:pt x="129677" y="175254"/>
                  <a:pt x="136784" y="175254"/>
                </a:cubicBezTo>
                <a:cubicBezTo>
                  <a:pt x="143890" y="175254"/>
                  <a:pt x="149607" y="169537"/>
                  <a:pt x="149607" y="162431"/>
                </a:cubicBezTo>
                <a:lnTo>
                  <a:pt x="149607" y="102588"/>
                </a:lnTo>
                <a:cubicBezTo>
                  <a:pt x="149607" y="95482"/>
                  <a:pt x="143890" y="89764"/>
                  <a:pt x="136784" y="89764"/>
                </a:cubicBezTo>
                <a:close/>
                <a:moveTo>
                  <a:pt x="151050" y="205176"/>
                </a:moveTo>
                <a:cubicBezTo>
                  <a:pt x="151375" y="199880"/>
                  <a:pt x="148734" y="194842"/>
                  <a:pt x="144194" y="192096"/>
                </a:cubicBezTo>
                <a:cubicBezTo>
                  <a:pt x="139655" y="189351"/>
                  <a:pt x="133966" y="189351"/>
                  <a:pt x="129427" y="192096"/>
                </a:cubicBezTo>
                <a:cubicBezTo>
                  <a:pt x="124887" y="194842"/>
                  <a:pt x="122247" y="199880"/>
                  <a:pt x="122571" y="205176"/>
                </a:cubicBezTo>
                <a:cubicBezTo>
                  <a:pt x="122247" y="210471"/>
                  <a:pt x="124887" y="215509"/>
                  <a:pt x="129427" y="218255"/>
                </a:cubicBezTo>
                <a:cubicBezTo>
                  <a:pt x="133966" y="221001"/>
                  <a:pt x="139655" y="221001"/>
                  <a:pt x="144194" y="218255"/>
                </a:cubicBezTo>
                <a:cubicBezTo>
                  <a:pt x="148734" y="215509"/>
                  <a:pt x="151375" y="210471"/>
                  <a:pt x="151050" y="205176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6911574" y="6200868"/>
            <a:ext cx="4805672" cy="474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Importante:</a:t>
            </a:r>
            <a:r>
              <a:rPr lang="en-US" sz="1149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Checar painel de retroativas </a:t>
            </a:r>
            <a:r>
              <a:rPr lang="en-US" sz="1149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diariamente</a:t>
            </a:r>
            <a:r>
              <a:rPr lang="en-US" sz="1149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elas somem em 30 dias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810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Integração Técnica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Canais de Acesso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573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UI, API e Bulk File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76400"/>
            <a:ext cx="3705225" cy="3619500"/>
          </a:xfrm>
          <a:custGeom>
            <a:avLst/>
            <a:gdLst/>
            <a:ahLst/>
            <a:cxnLst/>
            <a:rect l="l" t="t" r="r" b="b"/>
            <a:pathLst>
              <a:path w="3705225" h="3619500">
                <a:moveTo>
                  <a:pt x="38113" y="0"/>
                </a:moveTo>
                <a:lnTo>
                  <a:pt x="3667112" y="0"/>
                </a:lnTo>
                <a:cubicBezTo>
                  <a:pt x="3688161" y="0"/>
                  <a:pt x="3705225" y="17064"/>
                  <a:pt x="3705225" y="38113"/>
                </a:cubicBezTo>
                <a:lnTo>
                  <a:pt x="3705225" y="3581387"/>
                </a:lnTo>
                <a:cubicBezTo>
                  <a:pt x="3705225" y="3602436"/>
                  <a:pt x="3688161" y="3619500"/>
                  <a:pt x="3667112" y="3619500"/>
                </a:cubicBezTo>
                <a:lnTo>
                  <a:pt x="38113" y="3619500"/>
                </a:lnTo>
                <a:cubicBezTo>
                  <a:pt x="17064" y="3619500"/>
                  <a:pt x="0" y="3602436"/>
                  <a:pt x="0" y="3581387"/>
                </a:cubicBezTo>
                <a:lnTo>
                  <a:pt x="0" y="38113"/>
                </a:lnTo>
                <a:cubicBezTo>
                  <a:pt x="0" y="17064"/>
                  <a:pt x="17064" y="0"/>
                  <a:pt x="38113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71500" y="1866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981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143000" y="1962150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476500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6B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Company Performance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819400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gráfica para gestão manual, relatórios e consultas individuais.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3467100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Acesso: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3810000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Mastercard Connect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4076700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Menu → Store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4343400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My Company Performance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" y="4610100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Request Access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4876800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Selecionar MATCH Pro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41750" y="1676400"/>
            <a:ext cx="3705225" cy="3619500"/>
          </a:xfrm>
          <a:custGeom>
            <a:avLst/>
            <a:gdLst/>
            <a:ahLst/>
            <a:cxnLst/>
            <a:rect l="l" t="t" r="r" b="b"/>
            <a:pathLst>
              <a:path w="3705225" h="3619500">
                <a:moveTo>
                  <a:pt x="38113" y="0"/>
                </a:moveTo>
                <a:lnTo>
                  <a:pt x="3667112" y="0"/>
                </a:lnTo>
                <a:cubicBezTo>
                  <a:pt x="3688161" y="0"/>
                  <a:pt x="3705225" y="17064"/>
                  <a:pt x="3705225" y="38113"/>
                </a:cubicBezTo>
                <a:lnTo>
                  <a:pt x="3705225" y="3581387"/>
                </a:lnTo>
                <a:cubicBezTo>
                  <a:pt x="3705225" y="3602436"/>
                  <a:pt x="3688161" y="3619500"/>
                  <a:pt x="3667112" y="3619500"/>
                </a:cubicBezTo>
                <a:lnTo>
                  <a:pt x="38113" y="3619500"/>
                </a:lnTo>
                <a:cubicBezTo>
                  <a:pt x="17064" y="3619500"/>
                  <a:pt x="0" y="3602436"/>
                  <a:pt x="0" y="3581387"/>
                </a:cubicBezTo>
                <a:lnTo>
                  <a:pt x="0" y="38113"/>
                </a:lnTo>
                <a:cubicBezTo>
                  <a:pt x="0" y="17064"/>
                  <a:pt x="17064" y="0"/>
                  <a:pt x="38113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432250" y="1866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532263" y="19812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003750" y="1962150"/>
            <a:ext cx="39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32250" y="2476500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6B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Programming Interface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32250" y="2819400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Integração sistêmica para consultas em tempo real e automação de processos.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32250" y="3467100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Endpoints: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60825" y="38481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651325" y="3810000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Termination Inquiry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60825" y="4114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651325" y="4076700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Terminated Merchant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60825" y="4381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651325" y="4343400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Retroactive Inquiry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60825" y="4648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651325" y="4610100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 Details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60825" y="4914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651325" y="4876800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Countries/States/Cities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02501" y="1676400"/>
            <a:ext cx="3705225" cy="3619500"/>
          </a:xfrm>
          <a:custGeom>
            <a:avLst/>
            <a:gdLst/>
            <a:ahLst/>
            <a:cxnLst/>
            <a:rect l="l" t="t" r="r" b="b"/>
            <a:pathLst>
              <a:path w="3705225" h="3619500">
                <a:moveTo>
                  <a:pt x="38113" y="0"/>
                </a:moveTo>
                <a:lnTo>
                  <a:pt x="3667112" y="0"/>
                </a:lnTo>
                <a:cubicBezTo>
                  <a:pt x="3688161" y="0"/>
                  <a:pt x="3705225" y="17064"/>
                  <a:pt x="3705225" y="38113"/>
                </a:cubicBezTo>
                <a:lnTo>
                  <a:pt x="3705225" y="3581387"/>
                </a:lnTo>
                <a:cubicBezTo>
                  <a:pt x="3705225" y="3602436"/>
                  <a:pt x="3688161" y="3619500"/>
                  <a:pt x="3667112" y="3619500"/>
                </a:cubicBezTo>
                <a:lnTo>
                  <a:pt x="38113" y="3619500"/>
                </a:lnTo>
                <a:cubicBezTo>
                  <a:pt x="17064" y="3619500"/>
                  <a:pt x="0" y="3602436"/>
                  <a:pt x="0" y="3581387"/>
                </a:cubicBezTo>
                <a:lnTo>
                  <a:pt x="0" y="38113"/>
                </a:lnTo>
                <a:cubicBezTo>
                  <a:pt x="0" y="17064"/>
                  <a:pt x="17064" y="0"/>
                  <a:pt x="38113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8293001" y="1866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8393013" y="19812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0"/>
                </a:moveTo>
                <a:cubicBezTo>
                  <a:pt x="27102" y="0"/>
                  <a:pt x="14288" y="12814"/>
                  <a:pt x="14288" y="28575"/>
                </a:cubicBezTo>
                <a:lnTo>
                  <a:pt x="14288" y="200025"/>
                </a:lnTo>
                <a:cubicBezTo>
                  <a:pt x="14288" y="215786"/>
                  <a:pt x="27102" y="228600"/>
                  <a:pt x="42863" y="228600"/>
                </a:cubicBezTo>
                <a:lnTo>
                  <a:pt x="78581" y="228600"/>
                </a:lnTo>
                <a:lnTo>
                  <a:pt x="78581" y="178594"/>
                </a:lnTo>
                <a:cubicBezTo>
                  <a:pt x="78581" y="162833"/>
                  <a:pt x="91395" y="150019"/>
                  <a:pt x="107156" y="150019"/>
                </a:cubicBezTo>
                <a:lnTo>
                  <a:pt x="185738" y="150019"/>
                </a:lnTo>
                <a:lnTo>
                  <a:pt x="185738" y="76126"/>
                </a:lnTo>
                <a:cubicBezTo>
                  <a:pt x="185738" y="68535"/>
                  <a:pt x="182746" y="61258"/>
                  <a:pt x="177388" y="55900"/>
                </a:cubicBezTo>
                <a:lnTo>
                  <a:pt x="129793" y="8349"/>
                </a:lnTo>
                <a:cubicBezTo>
                  <a:pt x="124435" y="2991"/>
                  <a:pt x="117202" y="0"/>
                  <a:pt x="109612" y="0"/>
                </a:cubicBezTo>
                <a:lnTo>
                  <a:pt x="42863" y="0"/>
                </a:lnTo>
                <a:close/>
                <a:moveTo>
                  <a:pt x="159618" y="78581"/>
                </a:moveTo>
                <a:lnTo>
                  <a:pt x="117872" y="78581"/>
                </a:lnTo>
                <a:cubicBezTo>
                  <a:pt x="111934" y="78581"/>
                  <a:pt x="107156" y="73804"/>
                  <a:pt x="107156" y="67866"/>
                </a:cubicBezTo>
                <a:lnTo>
                  <a:pt x="107156" y="26119"/>
                </a:lnTo>
                <a:lnTo>
                  <a:pt x="159618" y="78581"/>
                </a:lnTo>
                <a:close/>
                <a:moveTo>
                  <a:pt x="117872" y="169664"/>
                </a:moveTo>
                <a:cubicBezTo>
                  <a:pt x="107022" y="169664"/>
                  <a:pt x="98227" y="178460"/>
                  <a:pt x="98227" y="189309"/>
                </a:cubicBezTo>
                <a:lnTo>
                  <a:pt x="98227" y="225028"/>
                </a:lnTo>
                <a:cubicBezTo>
                  <a:pt x="98227" y="235878"/>
                  <a:pt x="107022" y="244673"/>
                  <a:pt x="117872" y="244673"/>
                </a:cubicBezTo>
                <a:lnTo>
                  <a:pt x="125016" y="244673"/>
                </a:lnTo>
                <a:cubicBezTo>
                  <a:pt x="135865" y="244673"/>
                  <a:pt x="144661" y="235878"/>
                  <a:pt x="144661" y="225028"/>
                </a:cubicBezTo>
                <a:lnTo>
                  <a:pt x="144661" y="221456"/>
                </a:lnTo>
                <a:cubicBezTo>
                  <a:pt x="144661" y="216545"/>
                  <a:pt x="140643" y="212527"/>
                  <a:pt x="135731" y="212527"/>
                </a:cubicBezTo>
                <a:cubicBezTo>
                  <a:pt x="130820" y="212527"/>
                  <a:pt x="126802" y="216545"/>
                  <a:pt x="126802" y="221456"/>
                </a:cubicBezTo>
                <a:lnTo>
                  <a:pt x="126802" y="225028"/>
                </a:lnTo>
                <a:cubicBezTo>
                  <a:pt x="126802" y="226010"/>
                  <a:pt x="125998" y="226814"/>
                  <a:pt x="125016" y="226814"/>
                </a:cubicBezTo>
                <a:lnTo>
                  <a:pt x="117872" y="226814"/>
                </a:lnTo>
                <a:cubicBezTo>
                  <a:pt x="116890" y="226814"/>
                  <a:pt x="116086" y="226010"/>
                  <a:pt x="116086" y="225028"/>
                </a:cubicBezTo>
                <a:lnTo>
                  <a:pt x="116086" y="189309"/>
                </a:lnTo>
                <a:cubicBezTo>
                  <a:pt x="116086" y="188327"/>
                  <a:pt x="116890" y="187523"/>
                  <a:pt x="117872" y="187523"/>
                </a:cubicBezTo>
                <a:lnTo>
                  <a:pt x="125016" y="187523"/>
                </a:lnTo>
                <a:cubicBezTo>
                  <a:pt x="125998" y="187523"/>
                  <a:pt x="126802" y="188327"/>
                  <a:pt x="126802" y="189309"/>
                </a:cubicBezTo>
                <a:lnTo>
                  <a:pt x="126802" y="192881"/>
                </a:lnTo>
                <a:cubicBezTo>
                  <a:pt x="126802" y="197793"/>
                  <a:pt x="130820" y="201811"/>
                  <a:pt x="135731" y="201811"/>
                </a:cubicBezTo>
                <a:cubicBezTo>
                  <a:pt x="140643" y="201811"/>
                  <a:pt x="144661" y="197793"/>
                  <a:pt x="144661" y="192881"/>
                </a:cubicBezTo>
                <a:lnTo>
                  <a:pt x="144661" y="189309"/>
                </a:lnTo>
                <a:cubicBezTo>
                  <a:pt x="144661" y="178460"/>
                  <a:pt x="135865" y="169664"/>
                  <a:pt x="125016" y="169664"/>
                </a:cubicBezTo>
                <a:lnTo>
                  <a:pt x="117872" y="169664"/>
                </a:lnTo>
                <a:close/>
                <a:moveTo>
                  <a:pt x="178594" y="169664"/>
                </a:moveTo>
                <a:cubicBezTo>
                  <a:pt x="165780" y="169664"/>
                  <a:pt x="155377" y="180067"/>
                  <a:pt x="155377" y="192881"/>
                </a:cubicBezTo>
                <a:cubicBezTo>
                  <a:pt x="155377" y="205695"/>
                  <a:pt x="165780" y="216098"/>
                  <a:pt x="178594" y="216098"/>
                </a:cubicBezTo>
                <a:cubicBezTo>
                  <a:pt x="181541" y="216098"/>
                  <a:pt x="183952" y="218509"/>
                  <a:pt x="183952" y="221456"/>
                </a:cubicBezTo>
                <a:cubicBezTo>
                  <a:pt x="183952" y="224403"/>
                  <a:pt x="181541" y="226814"/>
                  <a:pt x="178594" y="226814"/>
                </a:cubicBezTo>
                <a:lnTo>
                  <a:pt x="164306" y="226814"/>
                </a:lnTo>
                <a:cubicBezTo>
                  <a:pt x="159395" y="226814"/>
                  <a:pt x="155377" y="230832"/>
                  <a:pt x="155377" y="235744"/>
                </a:cubicBezTo>
                <a:cubicBezTo>
                  <a:pt x="155377" y="240655"/>
                  <a:pt x="159395" y="244673"/>
                  <a:pt x="164306" y="244673"/>
                </a:cubicBezTo>
                <a:lnTo>
                  <a:pt x="178594" y="244673"/>
                </a:lnTo>
                <a:cubicBezTo>
                  <a:pt x="191408" y="244673"/>
                  <a:pt x="201811" y="234270"/>
                  <a:pt x="201811" y="221456"/>
                </a:cubicBezTo>
                <a:cubicBezTo>
                  <a:pt x="201811" y="208642"/>
                  <a:pt x="191408" y="198239"/>
                  <a:pt x="178594" y="198239"/>
                </a:cubicBezTo>
                <a:cubicBezTo>
                  <a:pt x="175647" y="198239"/>
                  <a:pt x="173236" y="195828"/>
                  <a:pt x="173236" y="192881"/>
                </a:cubicBezTo>
                <a:cubicBezTo>
                  <a:pt x="173236" y="189934"/>
                  <a:pt x="175647" y="187523"/>
                  <a:pt x="178594" y="187523"/>
                </a:cubicBezTo>
                <a:lnTo>
                  <a:pt x="189309" y="187523"/>
                </a:lnTo>
                <a:cubicBezTo>
                  <a:pt x="194221" y="187523"/>
                  <a:pt x="198239" y="183505"/>
                  <a:pt x="198239" y="178594"/>
                </a:cubicBezTo>
                <a:cubicBezTo>
                  <a:pt x="198239" y="173682"/>
                  <a:pt x="194221" y="169664"/>
                  <a:pt x="189309" y="169664"/>
                </a:cubicBezTo>
                <a:lnTo>
                  <a:pt x="178594" y="169664"/>
                </a:lnTo>
                <a:close/>
                <a:moveTo>
                  <a:pt x="221456" y="169664"/>
                </a:moveTo>
                <a:cubicBezTo>
                  <a:pt x="216545" y="169664"/>
                  <a:pt x="212527" y="173682"/>
                  <a:pt x="212527" y="178594"/>
                </a:cubicBezTo>
                <a:lnTo>
                  <a:pt x="212527" y="192703"/>
                </a:lnTo>
                <a:cubicBezTo>
                  <a:pt x="212527" y="208553"/>
                  <a:pt x="217215" y="224091"/>
                  <a:pt x="226010" y="237262"/>
                </a:cubicBezTo>
                <a:lnTo>
                  <a:pt x="228287" y="240700"/>
                </a:lnTo>
                <a:cubicBezTo>
                  <a:pt x="229939" y="243200"/>
                  <a:pt x="232752" y="244673"/>
                  <a:pt x="235699" y="244673"/>
                </a:cubicBezTo>
                <a:cubicBezTo>
                  <a:pt x="238646" y="244673"/>
                  <a:pt x="241459" y="243200"/>
                  <a:pt x="243111" y="240700"/>
                </a:cubicBezTo>
                <a:lnTo>
                  <a:pt x="245388" y="237262"/>
                </a:lnTo>
                <a:cubicBezTo>
                  <a:pt x="254184" y="224046"/>
                  <a:pt x="258872" y="208553"/>
                  <a:pt x="258872" y="192703"/>
                </a:cubicBezTo>
                <a:lnTo>
                  <a:pt x="258872" y="178594"/>
                </a:lnTo>
                <a:cubicBezTo>
                  <a:pt x="258872" y="173682"/>
                  <a:pt x="254853" y="169664"/>
                  <a:pt x="249942" y="169664"/>
                </a:cubicBezTo>
                <a:cubicBezTo>
                  <a:pt x="245031" y="169664"/>
                  <a:pt x="241012" y="173682"/>
                  <a:pt x="241012" y="178594"/>
                </a:cubicBezTo>
                <a:lnTo>
                  <a:pt x="241012" y="192703"/>
                </a:lnTo>
                <a:cubicBezTo>
                  <a:pt x="241012" y="201454"/>
                  <a:pt x="239182" y="210071"/>
                  <a:pt x="235654" y="218018"/>
                </a:cubicBezTo>
                <a:cubicBezTo>
                  <a:pt x="232127" y="210071"/>
                  <a:pt x="230297" y="201454"/>
                  <a:pt x="230297" y="192703"/>
                </a:cubicBezTo>
                <a:lnTo>
                  <a:pt x="230297" y="178594"/>
                </a:lnTo>
                <a:cubicBezTo>
                  <a:pt x="230297" y="173682"/>
                  <a:pt x="226278" y="169664"/>
                  <a:pt x="221367" y="169664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8864501" y="196215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Bulk File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93001" y="2476500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GFT/NGFT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93001" y="2819400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Processamento assíncrono de grandes volumes via arquivos CSV.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93001" y="3467100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Formato: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31101" y="38481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50750"/>
                </a:lnTo>
                <a:cubicBezTo>
                  <a:pt x="114300" y="45690"/>
                  <a:pt x="112306" y="40838"/>
                  <a:pt x="108734" y="37267"/>
                </a:cubicBezTo>
                <a:lnTo>
                  <a:pt x="77004" y="5566"/>
                </a:lnTo>
                <a:cubicBezTo>
                  <a:pt x="73432" y="1994"/>
                  <a:pt x="68610" y="0"/>
                  <a:pt x="63550" y="0"/>
                </a:cubicBezTo>
                <a:lnTo>
                  <a:pt x="19050" y="0"/>
                </a:lnTo>
                <a:close/>
                <a:moveTo>
                  <a:pt x="96887" y="52388"/>
                </a:moveTo>
                <a:lnTo>
                  <a:pt x="69056" y="52388"/>
                </a:lnTo>
                <a:cubicBezTo>
                  <a:pt x="65097" y="52388"/>
                  <a:pt x="61912" y="49203"/>
                  <a:pt x="61912" y="45244"/>
                </a:cubicBezTo>
                <a:lnTo>
                  <a:pt x="61912" y="17413"/>
                </a:lnTo>
                <a:lnTo>
                  <a:pt x="96887" y="52388"/>
                </a:ln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8512076" y="3810000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Arquivos CSV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31101" y="41148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19050" y="21431"/>
                </a:moveTo>
                <a:cubicBezTo>
                  <a:pt x="19050" y="25390"/>
                  <a:pt x="22235" y="28575"/>
                  <a:pt x="26194" y="28575"/>
                </a:cubicBezTo>
                <a:lnTo>
                  <a:pt x="40481" y="28575"/>
                </a:lnTo>
                <a:cubicBezTo>
                  <a:pt x="44440" y="28575"/>
                  <a:pt x="47625" y="25390"/>
                  <a:pt x="47625" y="21431"/>
                </a:cubicBezTo>
                <a:cubicBezTo>
                  <a:pt x="47625" y="17472"/>
                  <a:pt x="44440" y="14288"/>
                  <a:pt x="40481" y="14288"/>
                </a:cubicBezTo>
                <a:lnTo>
                  <a:pt x="26194" y="14288"/>
                </a:lnTo>
                <a:cubicBezTo>
                  <a:pt x="22235" y="14288"/>
                  <a:pt x="19050" y="17472"/>
                  <a:pt x="19050" y="21431"/>
                </a:cubicBezTo>
                <a:close/>
                <a:moveTo>
                  <a:pt x="19050" y="50006"/>
                </a:moveTo>
                <a:cubicBezTo>
                  <a:pt x="19050" y="53965"/>
                  <a:pt x="22235" y="57150"/>
                  <a:pt x="26194" y="57150"/>
                </a:cubicBezTo>
                <a:lnTo>
                  <a:pt x="40481" y="57150"/>
                </a:lnTo>
                <a:cubicBezTo>
                  <a:pt x="44440" y="57150"/>
                  <a:pt x="47625" y="53965"/>
                  <a:pt x="47625" y="50006"/>
                </a:cubicBezTo>
                <a:cubicBezTo>
                  <a:pt x="47625" y="46047"/>
                  <a:pt x="44440" y="42863"/>
                  <a:pt x="40481" y="42863"/>
                </a:cubicBezTo>
                <a:lnTo>
                  <a:pt x="26194" y="42863"/>
                </a:lnTo>
                <a:cubicBezTo>
                  <a:pt x="22235" y="42863"/>
                  <a:pt x="19050" y="46047"/>
                  <a:pt x="19050" y="50006"/>
                </a:cubicBezTo>
                <a:close/>
                <a:moveTo>
                  <a:pt x="38100" y="71438"/>
                </a:moveTo>
                <a:lnTo>
                  <a:pt x="28575" y="71438"/>
                </a:lnTo>
                <a:cubicBezTo>
                  <a:pt x="23306" y="71438"/>
                  <a:pt x="19050" y="75694"/>
                  <a:pt x="19050" y="80962"/>
                </a:cubicBezTo>
                <a:lnTo>
                  <a:pt x="19050" y="95250"/>
                </a:lnTo>
                <a:cubicBezTo>
                  <a:pt x="19050" y="103138"/>
                  <a:pt x="25450" y="109537"/>
                  <a:pt x="33338" y="109537"/>
                </a:cubicBezTo>
                <a:cubicBezTo>
                  <a:pt x="41225" y="109537"/>
                  <a:pt x="47625" y="103138"/>
                  <a:pt x="47625" y="95250"/>
                </a:cubicBezTo>
                <a:lnTo>
                  <a:pt x="47625" y="80962"/>
                </a:lnTo>
                <a:cubicBezTo>
                  <a:pt x="47625" y="75694"/>
                  <a:pt x="43369" y="71438"/>
                  <a:pt x="38100" y="71438"/>
                </a:cubicBezTo>
                <a:close/>
                <a:moveTo>
                  <a:pt x="33338" y="90488"/>
                </a:moveTo>
                <a:cubicBezTo>
                  <a:pt x="35966" y="90488"/>
                  <a:pt x="38100" y="92622"/>
                  <a:pt x="38100" y="95250"/>
                </a:cubicBezTo>
                <a:cubicBezTo>
                  <a:pt x="38100" y="97878"/>
                  <a:pt x="35966" y="100013"/>
                  <a:pt x="33338" y="100013"/>
                </a:cubicBezTo>
                <a:cubicBezTo>
                  <a:pt x="30709" y="100013"/>
                  <a:pt x="28575" y="97878"/>
                  <a:pt x="28575" y="95250"/>
                </a:cubicBezTo>
                <a:cubicBezTo>
                  <a:pt x="28575" y="92622"/>
                  <a:pt x="30709" y="90488"/>
                  <a:pt x="33338" y="90488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8512076" y="4076700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arquivo por ICA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21576" y="4381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19050"/>
                </a:moveTo>
                <a:cubicBezTo>
                  <a:pt x="0" y="13781"/>
                  <a:pt x="4256" y="9525"/>
                  <a:pt x="9525" y="9525"/>
                </a:cubicBezTo>
                <a:lnTo>
                  <a:pt x="38100" y="9525"/>
                </a:lnTo>
                <a:cubicBezTo>
                  <a:pt x="43369" y="9525"/>
                  <a:pt x="47625" y="13781"/>
                  <a:pt x="47625" y="19050"/>
                </a:cubicBezTo>
                <a:cubicBezTo>
                  <a:pt x="47625" y="24319"/>
                  <a:pt x="43369" y="28575"/>
                  <a:pt x="38100" y="28575"/>
                </a:cubicBezTo>
                <a:lnTo>
                  <a:pt x="33338" y="28575"/>
                </a:lnTo>
                <a:lnTo>
                  <a:pt x="33338" y="61912"/>
                </a:lnTo>
                <a:lnTo>
                  <a:pt x="100013" y="61912"/>
                </a:lnTo>
                <a:lnTo>
                  <a:pt x="100013" y="28575"/>
                </a:lnTo>
                <a:lnTo>
                  <a:pt x="95250" y="28575"/>
                </a:lnTo>
                <a:cubicBezTo>
                  <a:pt x="89981" y="28575"/>
                  <a:pt x="85725" y="24319"/>
                  <a:pt x="85725" y="19050"/>
                </a:cubicBezTo>
                <a:cubicBezTo>
                  <a:pt x="85725" y="13781"/>
                  <a:pt x="89981" y="9525"/>
                  <a:pt x="95250" y="9525"/>
                </a:cubicBezTo>
                <a:lnTo>
                  <a:pt x="123825" y="9525"/>
                </a:lnTo>
                <a:cubicBezTo>
                  <a:pt x="129094" y="9525"/>
                  <a:pt x="133350" y="13781"/>
                  <a:pt x="133350" y="19050"/>
                </a:cubicBezTo>
                <a:cubicBezTo>
                  <a:pt x="133350" y="24319"/>
                  <a:pt x="129094" y="28575"/>
                  <a:pt x="123825" y="28575"/>
                </a:cubicBezTo>
                <a:lnTo>
                  <a:pt x="119062" y="28575"/>
                </a:lnTo>
                <a:lnTo>
                  <a:pt x="119062" y="123825"/>
                </a:lnTo>
                <a:lnTo>
                  <a:pt x="123825" y="123825"/>
                </a:lnTo>
                <a:cubicBezTo>
                  <a:pt x="129094" y="123825"/>
                  <a:pt x="133350" y="128081"/>
                  <a:pt x="133350" y="133350"/>
                </a:cubicBezTo>
                <a:cubicBezTo>
                  <a:pt x="133350" y="138619"/>
                  <a:pt x="129094" y="142875"/>
                  <a:pt x="123825" y="142875"/>
                </a:cubicBezTo>
                <a:lnTo>
                  <a:pt x="95250" y="142875"/>
                </a:lnTo>
                <a:cubicBezTo>
                  <a:pt x="89981" y="142875"/>
                  <a:pt x="85725" y="138619"/>
                  <a:pt x="85725" y="133350"/>
                </a:cubicBezTo>
                <a:cubicBezTo>
                  <a:pt x="85725" y="128081"/>
                  <a:pt x="89981" y="123825"/>
                  <a:pt x="95250" y="123825"/>
                </a:cubicBezTo>
                <a:lnTo>
                  <a:pt x="100013" y="123825"/>
                </a:lnTo>
                <a:lnTo>
                  <a:pt x="100013" y="80962"/>
                </a:lnTo>
                <a:lnTo>
                  <a:pt x="33338" y="80962"/>
                </a:lnTo>
                <a:lnTo>
                  <a:pt x="33338" y="123825"/>
                </a:lnTo>
                <a:lnTo>
                  <a:pt x="38100" y="123825"/>
                </a:lnTo>
                <a:cubicBezTo>
                  <a:pt x="43369" y="123825"/>
                  <a:pt x="47625" y="128081"/>
                  <a:pt x="47625" y="133350"/>
                </a:cubicBezTo>
                <a:cubicBezTo>
                  <a:pt x="47625" y="138619"/>
                  <a:pt x="43369" y="142875"/>
                  <a:pt x="38100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cubicBezTo>
                  <a:pt x="0" y="128081"/>
                  <a:pt x="4256" y="123825"/>
                  <a:pt x="9525" y="123825"/>
                </a:cubicBezTo>
                <a:lnTo>
                  <a:pt x="14288" y="123825"/>
                </a:lnTo>
                <a:lnTo>
                  <a:pt x="14288" y="28575"/>
                </a:lnTo>
                <a:lnTo>
                  <a:pt x="9525" y="28575"/>
                </a:lnTo>
                <a:cubicBezTo>
                  <a:pt x="4256" y="28575"/>
                  <a:pt x="0" y="24319"/>
                  <a:pt x="0" y="19050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8512076" y="4343400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header + detail records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93001" y="4724400"/>
            <a:ext cx="3324225" cy="381000"/>
          </a:xfrm>
          <a:custGeom>
            <a:avLst/>
            <a:gdLst/>
            <a:ahLst/>
            <a:cxnLst/>
            <a:rect l="l" t="t" r="r" b="b"/>
            <a:pathLst>
              <a:path w="3324225" h="381000">
                <a:moveTo>
                  <a:pt x="38100" y="0"/>
                </a:moveTo>
                <a:lnTo>
                  <a:pt x="3286125" y="0"/>
                </a:lnTo>
                <a:cubicBezTo>
                  <a:pt x="3307153" y="0"/>
                  <a:pt x="3324225" y="17072"/>
                  <a:pt x="3324225" y="38100"/>
                </a:cubicBezTo>
                <a:lnTo>
                  <a:pt x="3324225" y="342900"/>
                </a:lnTo>
                <a:cubicBezTo>
                  <a:pt x="3324225" y="363928"/>
                  <a:pt x="3307153" y="381000"/>
                  <a:pt x="328612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0F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8388251" y="4838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8616851" y="4800600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Ideal para </a:t>
            </a: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processamento em massa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81000" y="5448300"/>
            <a:ext cx="5638800" cy="1143000"/>
          </a:xfrm>
          <a:custGeom>
            <a:avLst/>
            <a:gdLst/>
            <a:ahLst/>
            <a:cxnLst/>
            <a:rect l="l" t="t" r="r" b="b"/>
            <a:pathLst>
              <a:path w="5638800" h="1143000">
                <a:moveTo>
                  <a:pt x="38096" y="0"/>
                </a:moveTo>
                <a:lnTo>
                  <a:pt x="5600704" y="0"/>
                </a:lnTo>
                <a:cubicBezTo>
                  <a:pt x="5621744" y="0"/>
                  <a:pt x="5638800" y="17056"/>
                  <a:pt x="5638800" y="38096"/>
                </a:cubicBezTo>
                <a:lnTo>
                  <a:pt x="5638800" y="1104904"/>
                </a:lnTo>
                <a:cubicBezTo>
                  <a:pt x="5638800" y="1125944"/>
                  <a:pt x="5621744" y="1143000"/>
                  <a:pt x="5600704" y="1143000"/>
                </a:cubicBezTo>
                <a:lnTo>
                  <a:pt x="38096" y="1143000"/>
                </a:lnTo>
                <a:cubicBezTo>
                  <a:pt x="17056" y="1143000"/>
                  <a:pt x="0" y="1125944"/>
                  <a:pt x="0" y="11049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546497" y="56483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83046" y="29468"/>
                </a:moveTo>
                <a:lnTo>
                  <a:pt x="109835" y="29468"/>
                </a:lnTo>
                <a:lnTo>
                  <a:pt x="109835" y="45541"/>
                </a:lnTo>
                <a:lnTo>
                  <a:pt x="83046" y="45541"/>
                </a:lnTo>
                <a:lnTo>
                  <a:pt x="83046" y="29468"/>
                </a:lnTo>
                <a:close/>
                <a:moveTo>
                  <a:pt x="80367" y="10716"/>
                </a:moveTo>
                <a:cubicBezTo>
                  <a:pt x="71493" y="10716"/>
                  <a:pt x="64294" y="17915"/>
                  <a:pt x="64294" y="26789"/>
                </a:cubicBezTo>
                <a:lnTo>
                  <a:pt x="64294" y="48220"/>
                </a:lnTo>
                <a:cubicBezTo>
                  <a:pt x="64294" y="57094"/>
                  <a:pt x="71493" y="64294"/>
                  <a:pt x="80367" y="64294"/>
                </a:cubicBezTo>
                <a:lnTo>
                  <a:pt x="85725" y="64294"/>
                </a:lnTo>
                <a:lnTo>
                  <a:pt x="85725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42863" y="96441"/>
                </a:lnTo>
                <a:lnTo>
                  <a:pt x="42863" y="107156"/>
                </a:lnTo>
                <a:lnTo>
                  <a:pt x="37505" y="107156"/>
                </a:lnTo>
                <a:cubicBezTo>
                  <a:pt x="28631" y="107156"/>
                  <a:pt x="21431" y="114356"/>
                  <a:pt x="21431" y="123230"/>
                </a:cubicBezTo>
                <a:lnTo>
                  <a:pt x="21431" y="144661"/>
                </a:lnTo>
                <a:cubicBezTo>
                  <a:pt x="21431" y="153535"/>
                  <a:pt x="28631" y="160734"/>
                  <a:pt x="37505" y="160734"/>
                </a:cubicBezTo>
                <a:lnTo>
                  <a:pt x="69652" y="160734"/>
                </a:lnTo>
                <a:cubicBezTo>
                  <a:pt x="78525" y="160734"/>
                  <a:pt x="85725" y="153535"/>
                  <a:pt x="85725" y="144661"/>
                </a:cubicBezTo>
                <a:lnTo>
                  <a:pt x="85725" y="123230"/>
                </a:lnTo>
                <a:cubicBezTo>
                  <a:pt x="85725" y="114356"/>
                  <a:pt x="78525" y="107156"/>
                  <a:pt x="69652" y="107156"/>
                </a:cubicBezTo>
                <a:lnTo>
                  <a:pt x="64294" y="107156"/>
                </a:lnTo>
                <a:lnTo>
                  <a:pt x="64294" y="96441"/>
                </a:lnTo>
                <a:lnTo>
                  <a:pt x="128588" y="96441"/>
                </a:lnTo>
                <a:lnTo>
                  <a:pt x="128588" y="107156"/>
                </a:lnTo>
                <a:lnTo>
                  <a:pt x="123230" y="107156"/>
                </a:lnTo>
                <a:cubicBezTo>
                  <a:pt x="114356" y="107156"/>
                  <a:pt x="107156" y="114356"/>
                  <a:pt x="107156" y="123230"/>
                </a:cubicBezTo>
                <a:lnTo>
                  <a:pt x="107156" y="144661"/>
                </a:lnTo>
                <a:cubicBezTo>
                  <a:pt x="107156" y="153535"/>
                  <a:pt x="114356" y="160734"/>
                  <a:pt x="123230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123230"/>
                </a:lnTo>
                <a:cubicBezTo>
                  <a:pt x="171450" y="114356"/>
                  <a:pt x="164250" y="107156"/>
                  <a:pt x="155377" y="107156"/>
                </a:cubicBezTo>
                <a:lnTo>
                  <a:pt x="150019" y="107156"/>
                </a:lnTo>
                <a:lnTo>
                  <a:pt x="150019" y="96441"/>
                </a:lnTo>
                <a:lnTo>
                  <a:pt x="182166" y="96441"/>
                </a:lnTo>
                <a:cubicBezTo>
                  <a:pt x="188093" y="96441"/>
                  <a:pt x="192881" y="91652"/>
                  <a:pt x="192881" y="85725"/>
                </a:cubicBezTo>
                <a:cubicBezTo>
                  <a:pt x="192881" y="79798"/>
                  <a:pt x="188093" y="75009"/>
                  <a:pt x="182166" y="75009"/>
                </a:cubicBezTo>
                <a:lnTo>
                  <a:pt x="107156" y="75009"/>
                </a:lnTo>
                <a:lnTo>
                  <a:pt x="107156" y="64294"/>
                </a:lnTo>
                <a:lnTo>
                  <a:pt x="112514" y="64294"/>
                </a:lnTo>
                <a:cubicBezTo>
                  <a:pt x="121388" y="64294"/>
                  <a:pt x="128588" y="57094"/>
                  <a:pt x="128588" y="48220"/>
                </a:cubicBezTo>
                <a:lnTo>
                  <a:pt x="128588" y="26789"/>
                </a:lnTo>
                <a:cubicBezTo>
                  <a:pt x="128588" y="17915"/>
                  <a:pt x="121388" y="10716"/>
                  <a:pt x="112514" y="10716"/>
                </a:cubicBezTo>
                <a:lnTo>
                  <a:pt x="80367" y="10716"/>
                </a:lnTo>
                <a:close/>
                <a:moveTo>
                  <a:pt x="150019" y="125909"/>
                </a:moveTo>
                <a:lnTo>
                  <a:pt x="152698" y="125909"/>
                </a:lnTo>
                <a:lnTo>
                  <a:pt x="152698" y="141982"/>
                </a:lnTo>
                <a:lnTo>
                  <a:pt x="125909" y="141982"/>
                </a:lnTo>
                <a:lnTo>
                  <a:pt x="125909" y="125909"/>
                </a:lnTo>
                <a:lnTo>
                  <a:pt x="150019" y="125909"/>
                </a:lnTo>
                <a:close/>
                <a:moveTo>
                  <a:pt x="64294" y="125909"/>
                </a:moveTo>
                <a:lnTo>
                  <a:pt x="66973" y="125909"/>
                </a:lnTo>
                <a:lnTo>
                  <a:pt x="66973" y="141982"/>
                </a:lnTo>
                <a:lnTo>
                  <a:pt x="40184" y="141982"/>
                </a:lnTo>
                <a:lnTo>
                  <a:pt x="40184" y="125909"/>
                </a:lnTo>
                <a:lnTo>
                  <a:pt x="64294" y="125909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752475" y="560070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Regra do ICA Correto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33400" y="5943600"/>
            <a:ext cx="5410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Toda atividade deve ocorrer no </a:t>
            </a: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ICA correto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Consulta no ICA errado pode ser considerado noncompliance.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72200" y="5448300"/>
            <a:ext cx="5638800" cy="1143000"/>
          </a:xfrm>
          <a:custGeom>
            <a:avLst/>
            <a:gdLst/>
            <a:ahLst/>
            <a:cxnLst/>
            <a:rect l="l" t="t" r="r" b="b"/>
            <a:pathLst>
              <a:path w="5638800" h="1143000">
                <a:moveTo>
                  <a:pt x="38096" y="0"/>
                </a:moveTo>
                <a:lnTo>
                  <a:pt x="5600704" y="0"/>
                </a:lnTo>
                <a:cubicBezTo>
                  <a:pt x="5621744" y="0"/>
                  <a:pt x="5638800" y="17056"/>
                  <a:pt x="5638800" y="38096"/>
                </a:cubicBezTo>
                <a:lnTo>
                  <a:pt x="5638800" y="1104904"/>
                </a:lnTo>
                <a:cubicBezTo>
                  <a:pt x="5638800" y="1125944"/>
                  <a:pt x="5621744" y="1143000"/>
                  <a:pt x="5600704" y="1143000"/>
                </a:cubicBezTo>
                <a:lnTo>
                  <a:pt x="38096" y="1143000"/>
                </a:lnTo>
                <a:cubicBezTo>
                  <a:pt x="17056" y="1143000"/>
                  <a:pt x="0" y="1125944"/>
                  <a:pt x="0" y="11049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6348413" y="56483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4724" y="3148"/>
                </a:moveTo>
                <a:cubicBezTo>
                  <a:pt x="110538" y="-1038"/>
                  <a:pt x="103741" y="-1038"/>
                  <a:pt x="99555" y="3148"/>
                </a:cubicBezTo>
                <a:cubicBezTo>
                  <a:pt x="95369" y="7334"/>
                  <a:pt x="95369" y="14131"/>
                  <a:pt x="99555" y="18317"/>
                </a:cubicBezTo>
                <a:lnTo>
                  <a:pt x="102703" y="21431"/>
                </a:lnTo>
                <a:lnTo>
                  <a:pt x="9410" y="114724"/>
                </a:lnTo>
                <a:cubicBezTo>
                  <a:pt x="3382" y="120752"/>
                  <a:pt x="0" y="128922"/>
                  <a:pt x="0" y="137461"/>
                </a:cubicBezTo>
                <a:lnTo>
                  <a:pt x="0" y="139303"/>
                </a:lnTo>
                <a:cubicBezTo>
                  <a:pt x="0" y="157051"/>
                  <a:pt x="14399" y="171450"/>
                  <a:pt x="32147" y="171450"/>
                </a:cubicBezTo>
                <a:lnTo>
                  <a:pt x="33989" y="171450"/>
                </a:lnTo>
                <a:cubicBezTo>
                  <a:pt x="42528" y="171450"/>
                  <a:pt x="50698" y="168068"/>
                  <a:pt x="56726" y="162040"/>
                </a:cubicBezTo>
                <a:lnTo>
                  <a:pt x="150019" y="68747"/>
                </a:lnTo>
                <a:lnTo>
                  <a:pt x="153166" y="71895"/>
                </a:lnTo>
                <a:cubicBezTo>
                  <a:pt x="157352" y="76081"/>
                  <a:pt x="164150" y="76081"/>
                  <a:pt x="168336" y="71895"/>
                </a:cubicBezTo>
                <a:cubicBezTo>
                  <a:pt x="172522" y="67709"/>
                  <a:pt x="172522" y="60912"/>
                  <a:pt x="168336" y="56726"/>
                </a:cubicBezTo>
                <a:lnTo>
                  <a:pt x="114758" y="3148"/>
                </a:lnTo>
                <a:close/>
                <a:moveTo>
                  <a:pt x="68747" y="85725"/>
                </a:moveTo>
                <a:lnTo>
                  <a:pt x="117872" y="36601"/>
                </a:lnTo>
                <a:lnTo>
                  <a:pt x="134849" y="53578"/>
                </a:lnTo>
                <a:lnTo>
                  <a:pt x="102703" y="85725"/>
                </a:lnTo>
                <a:lnTo>
                  <a:pt x="68714" y="85725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6543675" y="560070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Ambiente de Testes MTF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24600" y="5943600"/>
            <a:ext cx="5410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Obrigatório: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Testes no MTF antes da produção. Simula ambiente real sem riscos.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81000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Noncompliance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Penalidades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573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Multas por violação das regras do MATCH Pro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76400"/>
            <a:ext cx="3286125" cy="1943100"/>
          </a:xfrm>
          <a:custGeom>
            <a:avLst/>
            <a:gdLst/>
            <a:ahLst/>
            <a:cxnLst/>
            <a:rect l="l" t="t" r="r" b="b"/>
            <a:pathLst>
              <a:path w="3286125" h="1943100">
                <a:moveTo>
                  <a:pt x="38104" y="0"/>
                </a:moveTo>
                <a:lnTo>
                  <a:pt x="3248021" y="0"/>
                </a:lnTo>
                <a:cubicBezTo>
                  <a:pt x="3269065" y="0"/>
                  <a:pt x="3286125" y="17060"/>
                  <a:pt x="3286125" y="38104"/>
                </a:cubicBezTo>
                <a:lnTo>
                  <a:pt x="3286125" y="1904996"/>
                </a:lnTo>
                <a:cubicBezTo>
                  <a:pt x="3286125" y="1926040"/>
                  <a:pt x="3269065" y="1943100"/>
                  <a:pt x="3248021" y="1943100"/>
                </a:cubicBezTo>
                <a:lnTo>
                  <a:pt x="38104" y="1943100"/>
                </a:lnTo>
                <a:cubicBezTo>
                  <a:pt x="17060" y="1943100"/>
                  <a:pt x="0" y="1926040"/>
                  <a:pt x="0" y="1904996"/>
                </a:cubicBezTo>
                <a:lnTo>
                  <a:pt x="0" y="38104"/>
                </a:lnTo>
                <a:cubicBezTo>
                  <a:pt x="0" y="17074"/>
                  <a:pt x="17074" y="0"/>
                  <a:pt x="38104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33400" y="1828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981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181100" y="1962150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Falha em Habilitar Acesso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" y="2476500"/>
            <a:ext cx="704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6B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39130" y="2590800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/mês por ICA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400" y="2971800"/>
            <a:ext cx="3057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Falha em implementar uso contínuo por ICA até certificação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7590" y="1676400"/>
            <a:ext cx="3286125" cy="1943100"/>
          </a:xfrm>
          <a:custGeom>
            <a:avLst/>
            <a:gdLst/>
            <a:ahLst/>
            <a:cxnLst/>
            <a:rect l="l" t="t" r="r" b="b"/>
            <a:pathLst>
              <a:path w="3286125" h="1943100">
                <a:moveTo>
                  <a:pt x="38104" y="0"/>
                </a:moveTo>
                <a:lnTo>
                  <a:pt x="3248021" y="0"/>
                </a:lnTo>
                <a:cubicBezTo>
                  <a:pt x="3269065" y="0"/>
                  <a:pt x="3286125" y="17060"/>
                  <a:pt x="3286125" y="38104"/>
                </a:cubicBezTo>
                <a:lnTo>
                  <a:pt x="3286125" y="1904996"/>
                </a:lnTo>
                <a:cubicBezTo>
                  <a:pt x="3286125" y="1926040"/>
                  <a:pt x="3269065" y="1943100"/>
                  <a:pt x="3248021" y="1943100"/>
                </a:cubicBezTo>
                <a:lnTo>
                  <a:pt x="38104" y="1943100"/>
                </a:lnTo>
                <a:cubicBezTo>
                  <a:pt x="17060" y="1943100"/>
                  <a:pt x="0" y="1926040"/>
                  <a:pt x="0" y="1904996"/>
                </a:cubicBezTo>
                <a:lnTo>
                  <a:pt x="0" y="38104"/>
                </a:lnTo>
                <a:cubicBezTo>
                  <a:pt x="0" y="17074"/>
                  <a:pt x="17074" y="0"/>
                  <a:pt x="38104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969990" y="1828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122390" y="1981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617690" y="1962150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Falha em Consultar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69990" y="2476500"/>
            <a:ext cx="542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6B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17219" y="259080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 instância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69990" y="2971800"/>
            <a:ext cx="3057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consultar MATCH Pro antes de assinar com estabelecimento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3771900"/>
            <a:ext cx="3286125" cy="1943100"/>
          </a:xfrm>
          <a:custGeom>
            <a:avLst/>
            <a:gdLst/>
            <a:ahLst/>
            <a:cxnLst/>
            <a:rect l="l" t="t" r="r" b="b"/>
            <a:pathLst>
              <a:path w="3286125" h="1943100">
                <a:moveTo>
                  <a:pt x="38104" y="0"/>
                </a:moveTo>
                <a:lnTo>
                  <a:pt x="3248021" y="0"/>
                </a:lnTo>
                <a:cubicBezTo>
                  <a:pt x="3269065" y="0"/>
                  <a:pt x="3286125" y="17060"/>
                  <a:pt x="3286125" y="38104"/>
                </a:cubicBezTo>
                <a:lnTo>
                  <a:pt x="3286125" y="1904996"/>
                </a:lnTo>
                <a:cubicBezTo>
                  <a:pt x="3286125" y="1926040"/>
                  <a:pt x="3269065" y="1943100"/>
                  <a:pt x="3248021" y="1943100"/>
                </a:cubicBezTo>
                <a:lnTo>
                  <a:pt x="38104" y="1943100"/>
                </a:lnTo>
                <a:cubicBezTo>
                  <a:pt x="17060" y="1943100"/>
                  <a:pt x="0" y="1926040"/>
                  <a:pt x="0" y="1904996"/>
                </a:cubicBezTo>
                <a:lnTo>
                  <a:pt x="0" y="38104"/>
                </a:lnTo>
                <a:cubicBezTo>
                  <a:pt x="0" y="17074"/>
                  <a:pt x="17074" y="0"/>
                  <a:pt x="38104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33400" y="3924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85800" y="4076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3584" y="153591"/>
                </a:moveTo>
                <a:lnTo>
                  <a:pt x="103584" y="125016"/>
                </a:lnTo>
                <a:lnTo>
                  <a:pt x="75009" y="125016"/>
                </a:lnTo>
                <a:cubicBezTo>
                  <a:pt x="69071" y="125016"/>
                  <a:pt x="64294" y="120238"/>
                  <a:pt x="64294" y="114300"/>
                </a:cubicBezTo>
                <a:cubicBezTo>
                  <a:pt x="64294" y="108362"/>
                  <a:pt x="69071" y="103584"/>
                  <a:pt x="75009" y="103584"/>
                </a:cubicBezTo>
                <a:lnTo>
                  <a:pt x="103584" y="103584"/>
                </a:lnTo>
                <a:lnTo>
                  <a:pt x="103584" y="75009"/>
                </a:lnTo>
                <a:cubicBezTo>
                  <a:pt x="103584" y="69071"/>
                  <a:pt x="108362" y="64294"/>
                  <a:pt x="114300" y="64294"/>
                </a:cubicBezTo>
                <a:cubicBezTo>
                  <a:pt x="120238" y="64294"/>
                  <a:pt x="125016" y="69071"/>
                  <a:pt x="125016" y="75009"/>
                </a:cubicBezTo>
                <a:lnTo>
                  <a:pt x="125016" y="103584"/>
                </a:lnTo>
                <a:lnTo>
                  <a:pt x="153591" y="103584"/>
                </a:lnTo>
                <a:cubicBezTo>
                  <a:pt x="159529" y="103584"/>
                  <a:pt x="164306" y="108362"/>
                  <a:pt x="164306" y="114300"/>
                </a:cubicBezTo>
                <a:cubicBezTo>
                  <a:pt x="164306" y="120238"/>
                  <a:pt x="159529" y="125016"/>
                  <a:pt x="153591" y="125016"/>
                </a:cubicBezTo>
                <a:lnTo>
                  <a:pt x="125016" y="125016"/>
                </a:lnTo>
                <a:lnTo>
                  <a:pt x="125016" y="153591"/>
                </a:lnTo>
                <a:cubicBezTo>
                  <a:pt x="125016" y="159529"/>
                  <a:pt x="120238" y="164306"/>
                  <a:pt x="114300" y="164306"/>
                </a:cubicBezTo>
                <a:cubicBezTo>
                  <a:pt x="108362" y="164306"/>
                  <a:pt x="103584" y="159529"/>
                  <a:pt x="103584" y="153591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181100" y="4057650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Falha em Adicionar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3400" y="4572000"/>
            <a:ext cx="542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6B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80629" y="468630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/mês por inst.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3400" y="5067300"/>
            <a:ext cx="3057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adicionar estabelecimento terminado com reason code elegível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17590" y="3771900"/>
            <a:ext cx="3286125" cy="1943100"/>
          </a:xfrm>
          <a:custGeom>
            <a:avLst/>
            <a:gdLst/>
            <a:ahLst/>
            <a:cxnLst/>
            <a:rect l="l" t="t" r="r" b="b"/>
            <a:pathLst>
              <a:path w="3286125" h="1943100">
                <a:moveTo>
                  <a:pt x="38104" y="0"/>
                </a:moveTo>
                <a:lnTo>
                  <a:pt x="3248021" y="0"/>
                </a:lnTo>
                <a:cubicBezTo>
                  <a:pt x="3269065" y="0"/>
                  <a:pt x="3286125" y="17060"/>
                  <a:pt x="3286125" y="38104"/>
                </a:cubicBezTo>
                <a:lnTo>
                  <a:pt x="3286125" y="1904996"/>
                </a:lnTo>
                <a:cubicBezTo>
                  <a:pt x="3286125" y="1926040"/>
                  <a:pt x="3269065" y="1943100"/>
                  <a:pt x="3248021" y="1943100"/>
                </a:cubicBezTo>
                <a:lnTo>
                  <a:pt x="38104" y="1943100"/>
                </a:lnTo>
                <a:cubicBezTo>
                  <a:pt x="17060" y="1943100"/>
                  <a:pt x="0" y="1926040"/>
                  <a:pt x="0" y="1904996"/>
                </a:cubicBezTo>
                <a:lnTo>
                  <a:pt x="0" y="38104"/>
                </a:lnTo>
                <a:cubicBezTo>
                  <a:pt x="0" y="17074"/>
                  <a:pt x="17074" y="0"/>
                  <a:pt x="38104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3969990" y="3924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122390" y="4076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3949" y="184175"/>
                </a:moveTo>
                <a:lnTo>
                  <a:pt x="44425" y="64651"/>
                </a:lnTo>
                <a:cubicBezTo>
                  <a:pt x="34424" y="78671"/>
                  <a:pt x="28575" y="95816"/>
                  <a:pt x="28575" y="114300"/>
                </a:cubicBezTo>
                <a:cubicBezTo>
                  <a:pt x="28575" y="161627"/>
                  <a:pt x="66973" y="200025"/>
                  <a:pt x="114300" y="200025"/>
                </a:cubicBezTo>
                <a:cubicBezTo>
                  <a:pt x="132829" y="200025"/>
                  <a:pt x="149974" y="194176"/>
                  <a:pt x="163949" y="184175"/>
                </a:cubicBezTo>
                <a:close/>
                <a:moveTo>
                  <a:pt x="184175" y="163949"/>
                </a:moveTo>
                <a:cubicBezTo>
                  <a:pt x="194176" y="149929"/>
                  <a:pt x="200025" y="132784"/>
                  <a:pt x="200025" y="114300"/>
                </a:cubicBezTo>
                <a:cubicBezTo>
                  <a:pt x="200025" y="66973"/>
                  <a:pt x="161627" y="28575"/>
                  <a:pt x="114300" y="28575"/>
                </a:cubicBezTo>
                <a:cubicBezTo>
                  <a:pt x="95771" y="28575"/>
                  <a:pt x="78626" y="34424"/>
                  <a:pt x="64651" y="44425"/>
                </a:cubicBezTo>
                <a:lnTo>
                  <a:pt x="184175" y="163949"/>
                </a:ln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617690" y="4057650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Uso Indevido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969990" y="4572000"/>
            <a:ext cx="542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6B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17219" y="468630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 instância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969990" y="5067300"/>
            <a:ext cx="3057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Dados inválidos, adição indevida, usar como collection tool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00050" y="5867400"/>
            <a:ext cx="6705600" cy="800100"/>
          </a:xfrm>
          <a:custGeom>
            <a:avLst/>
            <a:gdLst/>
            <a:ahLst/>
            <a:cxnLst/>
            <a:rect l="l" t="t" r="r" b="b"/>
            <a:pathLst>
              <a:path w="6705600" h="800100">
                <a:moveTo>
                  <a:pt x="38100" y="0"/>
                </a:moveTo>
                <a:lnTo>
                  <a:pt x="6667499" y="0"/>
                </a:lnTo>
                <a:cubicBezTo>
                  <a:pt x="6688542" y="0"/>
                  <a:pt x="6705600" y="17058"/>
                  <a:pt x="6705600" y="38101"/>
                </a:cubicBezTo>
                <a:lnTo>
                  <a:pt x="6705600" y="761999"/>
                </a:lnTo>
                <a:cubicBezTo>
                  <a:pt x="6705600" y="783042"/>
                  <a:pt x="6688542" y="800100"/>
                  <a:pt x="6667499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0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400050" y="58674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609600" y="61245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234181"/>
                </a:moveTo>
                <a:lnTo>
                  <a:pt x="0" y="61113"/>
                </a:lnTo>
                <a:cubicBezTo>
                  <a:pt x="0" y="48165"/>
                  <a:pt x="13450" y="39570"/>
                  <a:pt x="25840" y="43253"/>
                </a:cubicBezTo>
                <a:cubicBezTo>
                  <a:pt x="74786" y="57876"/>
                  <a:pt x="109389" y="46323"/>
                  <a:pt x="144214" y="34714"/>
                </a:cubicBezTo>
                <a:cubicBezTo>
                  <a:pt x="180212" y="22715"/>
                  <a:pt x="216433" y="10660"/>
                  <a:pt x="268839" y="27403"/>
                </a:cubicBezTo>
                <a:cubicBezTo>
                  <a:pt x="279164" y="30696"/>
                  <a:pt x="285750" y="40686"/>
                  <a:pt x="285750" y="51569"/>
                </a:cubicBezTo>
                <a:lnTo>
                  <a:pt x="285750" y="224637"/>
                </a:lnTo>
                <a:cubicBezTo>
                  <a:pt x="285750" y="237585"/>
                  <a:pt x="272300" y="246180"/>
                  <a:pt x="259966" y="242497"/>
                </a:cubicBezTo>
                <a:cubicBezTo>
                  <a:pt x="211020" y="227874"/>
                  <a:pt x="176361" y="239427"/>
                  <a:pt x="141591" y="251036"/>
                </a:cubicBezTo>
                <a:cubicBezTo>
                  <a:pt x="105594" y="263035"/>
                  <a:pt x="69373" y="275090"/>
                  <a:pt x="16966" y="258347"/>
                </a:cubicBezTo>
                <a:cubicBezTo>
                  <a:pt x="6641" y="255054"/>
                  <a:pt x="56" y="245064"/>
                  <a:pt x="56" y="234181"/>
                </a:cubicBezTo>
                <a:close/>
                <a:moveTo>
                  <a:pt x="187523" y="142875"/>
                </a:moveTo>
                <a:cubicBezTo>
                  <a:pt x="187523" y="113295"/>
                  <a:pt x="167543" y="89297"/>
                  <a:pt x="142875" y="89297"/>
                </a:cubicBezTo>
                <a:cubicBezTo>
                  <a:pt x="118207" y="89297"/>
                  <a:pt x="98227" y="113295"/>
                  <a:pt x="98227" y="142875"/>
                </a:cubicBezTo>
                <a:cubicBezTo>
                  <a:pt x="98227" y="172455"/>
                  <a:pt x="118207" y="196453"/>
                  <a:pt x="142875" y="196453"/>
                </a:cubicBezTo>
                <a:cubicBezTo>
                  <a:pt x="167543" y="196453"/>
                  <a:pt x="187523" y="172455"/>
                  <a:pt x="187523" y="142875"/>
                </a:cubicBezTo>
                <a:close/>
                <a:moveTo>
                  <a:pt x="66973" y="230832"/>
                </a:moveTo>
                <a:cubicBezTo>
                  <a:pt x="69428" y="230832"/>
                  <a:pt x="71382" y="228712"/>
                  <a:pt x="70991" y="226312"/>
                </a:cubicBezTo>
                <a:cubicBezTo>
                  <a:pt x="68424" y="210796"/>
                  <a:pt x="55922" y="198686"/>
                  <a:pt x="40184" y="196732"/>
                </a:cubicBezTo>
                <a:cubicBezTo>
                  <a:pt x="37728" y="196453"/>
                  <a:pt x="35719" y="198462"/>
                  <a:pt x="35719" y="200918"/>
                </a:cubicBezTo>
                <a:lnTo>
                  <a:pt x="35719" y="223186"/>
                </a:lnTo>
                <a:cubicBezTo>
                  <a:pt x="35719" y="225196"/>
                  <a:pt x="37058" y="226981"/>
                  <a:pt x="39067" y="227484"/>
                </a:cubicBezTo>
                <a:cubicBezTo>
                  <a:pt x="49057" y="229828"/>
                  <a:pt x="58210" y="230888"/>
                  <a:pt x="66973" y="230888"/>
                </a:cubicBezTo>
                <a:close/>
                <a:moveTo>
                  <a:pt x="244729" y="202313"/>
                </a:moveTo>
                <a:cubicBezTo>
                  <a:pt x="247520" y="202760"/>
                  <a:pt x="250031" y="200639"/>
                  <a:pt x="250031" y="197848"/>
                </a:cubicBezTo>
                <a:lnTo>
                  <a:pt x="250031" y="174073"/>
                </a:lnTo>
                <a:cubicBezTo>
                  <a:pt x="250031" y="171617"/>
                  <a:pt x="248022" y="169552"/>
                  <a:pt x="245566" y="169887"/>
                </a:cubicBezTo>
                <a:cubicBezTo>
                  <a:pt x="231502" y="171617"/>
                  <a:pt x="219949" y="181552"/>
                  <a:pt x="215875" y="194779"/>
                </a:cubicBezTo>
                <a:cubicBezTo>
                  <a:pt x="215094" y="197402"/>
                  <a:pt x="217159" y="199858"/>
                  <a:pt x="219894" y="199913"/>
                </a:cubicBezTo>
                <a:cubicBezTo>
                  <a:pt x="227819" y="200137"/>
                  <a:pt x="236079" y="200862"/>
                  <a:pt x="244673" y="202313"/>
                </a:cubicBezTo>
                <a:close/>
                <a:moveTo>
                  <a:pt x="250031" y="84832"/>
                </a:moveTo>
                <a:lnTo>
                  <a:pt x="250031" y="62564"/>
                </a:lnTo>
                <a:cubicBezTo>
                  <a:pt x="250031" y="60554"/>
                  <a:pt x="248636" y="58769"/>
                  <a:pt x="246683" y="58266"/>
                </a:cubicBezTo>
                <a:cubicBezTo>
                  <a:pt x="236693" y="55922"/>
                  <a:pt x="227540" y="54862"/>
                  <a:pt x="218777" y="54862"/>
                </a:cubicBezTo>
                <a:cubicBezTo>
                  <a:pt x="216322" y="54862"/>
                  <a:pt x="214368" y="56983"/>
                  <a:pt x="214759" y="59382"/>
                </a:cubicBezTo>
                <a:cubicBezTo>
                  <a:pt x="217326" y="74898"/>
                  <a:pt x="229828" y="87009"/>
                  <a:pt x="245566" y="88962"/>
                </a:cubicBezTo>
                <a:cubicBezTo>
                  <a:pt x="248022" y="89241"/>
                  <a:pt x="250031" y="87232"/>
                  <a:pt x="250031" y="84776"/>
                </a:cubicBezTo>
                <a:close/>
                <a:moveTo>
                  <a:pt x="69875" y="90915"/>
                </a:moveTo>
                <a:cubicBezTo>
                  <a:pt x="70656" y="88292"/>
                  <a:pt x="68591" y="85837"/>
                  <a:pt x="65856" y="85781"/>
                </a:cubicBezTo>
                <a:cubicBezTo>
                  <a:pt x="57931" y="85558"/>
                  <a:pt x="49671" y="84832"/>
                  <a:pt x="41077" y="83381"/>
                </a:cubicBezTo>
                <a:cubicBezTo>
                  <a:pt x="38286" y="82934"/>
                  <a:pt x="35775" y="85055"/>
                  <a:pt x="35775" y="87846"/>
                </a:cubicBezTo>
                <a:lnTo>
                  <a:pt x="35719" y="111621"/>
                </a:lnTo>
                <a:cubicBezTo>
                  <a:pt x="35719" y="114077"/>
                  <a:pt x="37728" y="116142"/>
                  <a:pt x="40184" y="115807"/>
                </a:cubicBezTo>
                <a:cubicBezTo>
                  <a:pt x="54248" y="114077"/>
                  <a:pt x="65801" y="104142"/>
                  <a:pt x="69875" y="90915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1042988" y="6019800"/>
            <a:ext cx="355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Até </a:t>
            </a:r>
            <a:r>
              <a:rPr lang="en-US" sz="1500" b="1" dirty="0">
                <a:solidFill>
                  <a:srgbClr val="FF6B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US$ 25.000</a:t>
            </a:r>
            <a:r>
              <a:rPr lang="en-US" sz="15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 penalidades por mês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42988" y="6286500"/>
            <a:ext cx="3533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Soma máxima de multas por mês para um único ICA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30380" y="1676400"/>
            <a:ext cx="4476750" cy="3657600"/>
          </a:xfrm>
          <a:custGeom>
            <a:avLst/>
            <a:gdLst/>
            <a:ahLst/>
            <a:cxnLst/>
            <a:rect l="l" t="t" r="r" b="b"/>
            <a:pathLst>
              <a:path w="4476750" h="3657600">
                <a:moveTo>
                  <a:pt x="38112" y="0"/>
                </a:moveTo>
                <a:lnTo>
                  <a:pt x="4438638" y="0"/>
                </a:lnTo>
                <a:cubicBezTo>
                  <a:pt x="4459687" y="0"/>
                  <a:pt x="4476750" y="17063"/>
                  <a:pt x="4476750" y="38112"/>
                </a:cubicBezTo>
                <a:lnTo>
                  <a:pt x="4476750" y="3619488"/>
                </a:lnTo>
                <a:cubicBezTo>
                  <a:pt x="4476750" y="3640537"/>
                  <a:pt x="4459687" y="3657600"/>
                  <a:pt x="4438638" y="3657600"/>
                </a:cubicBezTo>
                <a:lnTo>
                  <a:pt x="38112" y="3657600"/>
                </a:lnTo>
                <a:cubicBezTo>
                  <a:pt x="17063" y="3657600"/>
                  <a:pt x="0" y="3640537"/>
                  <a:pt x="0" y="3619488"/>
                </a:cubicBezTo>
                <a:lnTo>
                  <a:pt x="0" y="38112"/>
                </a:lnTo>
                <a:cubicBezTo>
                  <a:pt x="0" y="17078"/>
                  <a:pt x="17078" y="0"/>
                  <a:pt x="38112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7520880" y="18383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7844730" y="1828800"/>
            <a:ext cx="392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Impacto Além das Multas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30405" y="239553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7835205" y="2395538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 Reputacional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835205" y="2624138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Danos à imagem perante a Mastercard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482780" y="314801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7835205" y="3148013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Escalação Regulatória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835205" y="3376613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Ações de compliance adicionais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30405" y="390048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7835205" y="3900488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Decisões Desfavoráveis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35205" y="4129088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 compliance cases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06593" y="46529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7835205" y="4652963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Noncompliance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835205" y="4881563"/>
            <a:ext cx="196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Violação das regras do programa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330380" y="5486400"/>
            <a:ext cx="4476750" cy="1181100"/>
          </a:xfrm>
          <a:custGeom>
            <a:avLst/>
            <a:gdLst/>
            <a:ahLst/>
            <a:cxnLst/>
            <a:rect l="l" t="t" r="r" b="b"/>
            <a:pathLst>
              <a:path w="4476750" h="1181100">
                <a:moveTo>
                  <a:pt x="38102" y="0"/>
                </a:moveTo>
                <a:lnTo>
                  <a:pt x="4438648" y="0"/>
                </a:lnTo>
                <a:cubicBezTo>
                  <a:pt x="4459677" y="0"/>
                  <a:pt x="4476750" y="17073"/>
                  <a:pt x="4476750" y="38102"/>
                </a:cubicBezTo>
                <a:lnTo>
                  <a:pt x="4476750" y="1142998"/>
                </a:lnTo>
                <a:cubicBezTo>
                  <a:pt x="4476750" y="1164041"/>
                  <a:pt x="4459691" y="1181100"/>
                  <a:pt x="4438648" y="1181100"/>
                </a:cubicBezTo>
                <a:lnTo>
                  <a:pt x="38102" y="1181100"/>
                </a:lnTo>
                <a:cubicBezTo>
                  <a:pt x="17073" y="1181100"/>
                  <a:pt x="0" y="1164027"/>
                  <a:pt x="0" y="11429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7506593" y="5676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7720905" y="5638800"/>
            <a:ext cx="402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Prevenção é Essencial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482780" y="6019800"/>
            <a:ext cx="4248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Investir em </a:t>
            </a: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governança e automação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é mais econômico que arcar com penalidades.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381000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Recomendações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Boas Práticas e Fluxo de Onboarding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573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Governança e processos recomendados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76400"/>
            <a:ext cx="6724650" cy="4057650"/>
          </a:xfrm>
          <a:custGeom>
            <a:avLst/>
            <a:gdLst/>
            <a:ahLst/>
            <a:cxnLst/>
            <a:rect l="l" t="t" r="r" b="b"/>
            <a:pathLst>
              <a:path w="6724650" h="4057650">
                <a:moveTo>
                  <a:pt x="38101" y="0"/>
                </a:moveTo>
                <a:lnTo>
                  <a:pt x="6686549" y="0"/>
                </a:lnTo>
                <a:cubicBezTo>
                  <a:pt x="6707591" y="0"/>
                  <a:pt x="6724650" y="17059"/>
                  <a:pt x="6724650" y="38101"/>
                </a:cubicBezTo>
                <a:lnTo>
                  <a:pt x="6724650" y="4019549"/>
                </a:lnTo>
                <a:cubicBezTo>
                  <a:pt x="6724650" y="4040591"/>
                  <a:pt x="6707591" y="4057650"/>
                  <a:pt x="6686549" y="4057650"/>
                </a:cubicBezTo>
                <a:lnTo>
                  <a:pt x="38101" y="4057650"/>
                </a:lnTo>
                <a:cubicBezTo>
                  <a:pt x="17059" y="4057650"/>
                  <a:pt x="0" y="4040591"/>
                  <a:pt x="0" y="401954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28650" y="19050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57250" y="18669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Boas Práticas Recomendadas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2324100"/>
            <a:ext cx="3114675" cy="781050"/>
          </a:xfrm>
          <a:custGeom>
            <a:avLst/>
            <a:gdLst/>
            <a:ahLst/>
            <a:cxnLst/>
            <a:rect l="l" t="t" r="r" b="b"/>
            <a:pathLst>
              <a:path w="3114675" h="781050">
                <a:moveTo>
                  <a:pt x="38100" y="0"/>
                </a:moveTo>
                <a:lnTo>
                  <a:pt x="3076575" y="0"/>
                </a:lnTo>
                <a:cubicBezTo>
                  <a:pt x="3097617" y="0"/>
                  <a:pt x="3114675" y="17058"/>
                  <a:pt x="3114675" y="38100"/>
                </a:cubicBezTo>
                <a:lnTo>
                  <a:pt x="3114675" y="742950"/>
                </a:lnTo>
                <a:cubicBezTo>
                  <a:pt x="3114675" y="763992"/>
                  <a:pt x="3097617" y="781050"/>
                  <a:pt x="3076575" y="781050"/>
                </a:cubicBezTo>
                <a:lnTo>
                  <a:pt x="38100" y="781050"/>
                </a:lnTo>
                <a:cubicBezTo>
                  <a:pt x="17058" y="781050"/>
                  <a:pt x="0" y="763992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0F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66750" y="2438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14400" y="2400300"/>
            <a:ext cx="2771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Integração Obrigatória: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Ao fluxo de onboarding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98540" y="2324100"/>
            <a:ext cx="3114675" cy="781050"/>
          </a:xfrm>
          <a:custGeom>
            <a:avLst/>
            <a:gdLst/>
            <a:ahLst/>
            <a:cxnLst/>
            <a:rect l="l" t="t" r="r" b="b"/>
            <a:pathLst>
              <a:path w="3114675" h="781050">
                <a:moveTo>
                  <a:pt x="38100" y="0"/>
                </a:moveTo>
                <a:lnTo>
                  <a:pt x="3076575" y="0"/>
                </a:lnTo>
                <a:cubicBezTo>
                  <a:pt x="3097617" y="0"/>
                  <a:pt x="3114675" y="17058"/>
                  <a:pt x="3114675" y="38100"/>
                </a:cubicBezTo>
                <a:lnTo>
                  <a:pt x="3114675" y="742950"/>
                </a:lnTo>
                <a:cubicBezTo>
                  <a:pt x="3114675" y="763992"/>
                  <a:pt x="3097617" y="781050"/>
                  <a:pt x="3076575" y="781050"/>
                </a:cubicBezTo>
                <a:lnTo>
                  <a:pt x="38100" y="781050"/>
                </a:lnTo>
                <a:cubicBezTo>
                  <a:pt x="17058" y="781050"/>
                  <a:pt x="0" y="763992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0F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874740" y="24384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141440" y="2400300"/>
            <a:ext cx="2771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Automação: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Consultas por API para evitar falhas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" y="3214688"/>
            <a:ext cx="3114675" cy="781050"/>
          </a:xfrm>
          <a:custGeom>
            <a:avLst/>
            <a:gdLst/>
            <a:ahLst/>
            <a:cxnLst/>
            <a:rect l="l" t="t" r="r" b="b"/>
            <a:pathLst>
              <a:path w="3114675" h="781050">
                <a:moveTo>
                  <a:pt x="38100" y="0"/>
                </a:moveTo>
                <a:lnTo>
                  <a:pt x="3076575" y="0"/>
                </a:lnTo>
                <a:cubicBezTo>
                  <a:pt x="3097617" y="0"/>
                  <a:pt x="3114675" y="17058"/>
                  <a:pt x="3114675" y="38100"/>
                </a:cubicBezTo>
                <a:lnTo>
                  <a:pt x="3114675" y="742950"/>
                </a:lnTo>
                <a:cubicBezTo>
                  <a:pt x="3114675" y="763992"/>
                  <a:pt x="3097617" y="781050"/>
                  <a:pt x="3076575" y="781050"/>
                </a:cubicBezTo>
                <a:lnTo>
                  <a:pt x="38100" y="781050"/>
                </a:lnTo>
                <a:cubicBezTo>
                  <a:pt x="17058" y="781050"/>
                  <a:pt x="0" y="763992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0F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76275" y="332898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47625"/>
                </a:moveTo>
                <a:lnTo>
                  <a:pt x="76200" y="76200"/>
                </a:lnTo>
                <a:lnTo>
                  <a:pt x="114300" y="76200"/>
                </a:lnTo>
                <a:lnTo>
                  <a:pt x="114300" y="47625"/>
                </a:lnTo>
                <a:lnTo>
                  <a:pt x="76200" y="47625"/>
                </a:lnTo>
                <a:close/>
                <a:moveTo>
                  <a:pt x="57150" y="47625"/>
                </a:moveTo>
                <a:lnTo>
                  <a:pt x="1905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57150" y="47625"/>
                </a:lnTo>
                <a:close/>
                <a:moveTo>
                  <a:pt x="0" y="95250"/>
                </a:move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95250"/>
                </a:lnTo>
                <a:close/>
                <a:moveTo>
                  <a:pt x="114300" y="95250"/>
                </a:moveTo>
                <a:lnTo>
                  <a:pt x="76200" y="95250"/>
                </a:lnTo>
                <a:lnTo>
                  <a:pt x="76200" y="123825"/>
                </a:lnTo>
                <a:lnTo>
                  <a:pt x="114300" y="123825"/>
                </a:lnTo>
                <a:lnTo>
                  <a:pt x="114300" y="95250"/>
                </a:lnTo>
                <a:close/>
                <a:moveTo>
                  <a:pt x="57150" y="123825"/>
                </a:moveTo>
                <a:lnTo>
                  <a:pt x="57150" y="95250"/>
                </a:lnTo>
                <a:lnTo>
                  <a:pt x="19050" y="95250"/>
                </a:lnTo>
                <a:lnTo>
                  <a:pt x="19050" y="12382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14400" y="3290888"/>
            <a:ext cx="2771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Matriz de Decisão: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tratamento de matches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98540" y="3214688"/>
            <a:ext cx="3114675" cy="781050"/>
          </a:xfrm>
          <a:custGeom>
            <a:avLst/>
            <a:gdLst/>
            <a:ahLst/>
            <a:cxnLst/>
            <a:rect l="l" t="t" r="r" b="b"/>
            <a:pathLst>
              <a:path w="3114675" h="781050">
                <a:moveTo>
                  <a:pt x="38100" y="0"/>
                </a:moveTo>
                <a:lnTo>
                  <a:pt x="3076575" y="0"/>
                </a:lnTo>
                <a:cubicBezTo>
                  <a:pt x="3097617" y="0"/>
                  <a:pt x="3114675" y="17058"/>
                  <a:pt x="3114675" y="38100"/>
                </a:cubicBezTo>
                <a:lnTo>
                  <a:pt x="3114675" y="742950"/>
                </a:lnTo>
                <a:cubicBezTo>
                  <a:pt x="3114675" y="763992"/>
                  <a:pt x="3097617" y="781050"/>
                  <a:pt x="3076575" y="781050"/>
                </a:cubicBezTo>
                <a:lnTo>
                  <a:pt x="38100" y="781050"/>
                </a:lnTo>
                <a:cubicBezTo>
                  <a:pt x="17058" y="781050"/>
                  <a:pt x="0" y="763992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0F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893790" y="33289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141440" y="3290888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Segmentação: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 Reason Code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" y="4105275"/>
            <a:ext cx="3114675" cy="781050"/>
          </a:xfrm>
          <a:custGeom>
            <a:avLst/>
            <a:gdLst/>
            <a:ahLst/>
            <a:cxnLst/>
            <a:rect l="l" t="t" r="r" b="b"/>
            <a:pathLst>
              <a:path w="3114675" h="781050">
                <a:moveTo>
                  <a:pt x="38100" y="0"/>
                </a:moveTo>
                <a:lnTo>
                  <a:pt x="3076575" y="0"/>
                </a:lnTo>
                <a:cubicBezTo>
                  <a:pt x="3097617" y="0"/>
                  <a:pt x="3114675" y="17058"/>
                  <a:pt x="3114675" y="38100"/>
                </a:cubicBezTo>
                <a:lnTo>
                  <a:pt x="3114675" y="742950"/>
                </a:lnTo>
                <a:cubicBezTo>
                  <a:pt x="3114675" y="763992"/>
                  <a:pt x="3097617" y="781050"/>
                  <a:pt x="3076575" y="781050"/>
                </a:cubicBezTo>
                <a:lnTo>
                  <a:pt x="38100" y="781050"/>
                </a:lnTo>
                <a:cubicBezTo>
                  <a:pt x="17058" y="781050"/>
                  <a:pt x="0" y="763992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0F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57225" y="42195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6669" y="67151"/>
                </a:moveTo>
                <a:lnTo>
                  <a:pt x="9644" y="88166"/>
                </a:lnTo>
                <a:lnTo>
                  <a:pt x="9644" y="28575"/>
                </a:lnTo>
                <a:cubicBezTo>
                  <a:pt x="9644" y="18068"/>
                  <a:pt x="18187" y="9525"/>
                  <a:pt x="28694" y="9525"/>
                </a:cubicBezTo>
                <a:lnTo>
                  <a:pt x="69979" y="9525"/>
                </a:lnTo>
                <a:cubicBezTo>
                  <a:pt x="74087" y="9525"/>
                  <a:pt x="78105" y="10864"/>
                  <a:pt x="81409" y="13335"/>
                </a:cubicBezTo>
                <a:lnTo>
                  <a:pt x="92839" y="21908"/>
                </a:lnTo>
                <a:cubicBezTo>
                  <a:pt x="94476" y="23158"/>
                  <a:pt x="96500" y="23813"/>
                  <a:pt x="98554" y="23813"/>
                </a:cubicBezTo>
                <a:lnTo>
                  <a:pt x="133469" y="23813"/>
                </a:lnTo>
                <a:cubicBezTo>
                  <a:pt x="143976" y="23813"/>
                  <a:pt x="152519" y="32355"/>
                  <a:pt x="152519" y="42863"/>
                </a:cubicBezTo>
                <a:lnTo>
                  <a:pt x="152519" y="47625"/>
                </a:lnTo>
                <a:lnTo>
                  <a:pt x="43755" y="47625"/>
                </a:lnTo>
                <a:cubicBezTo>
                  <a:pt x="31462" y="47625"/>
                  <a:pt x="20538" y="55483"/>
                  <a:pt x="16639" y="67151"/>
                </a:cubicBezTo>
                <a:close/>
                <a:moveTo>
                  <a:pt x="142220" y="133350"/>
                </a:moveTo>
                <a:lnTo>
                  <a:pt x="29468" y="133350"/>
                </a:lnTo>
                <a:cubicBezTo>
                  <a:pt x="19705" y="133350"/>
                  <a:pt x="12829" y="123795"/>
                  <a:pt x="15925" y="114538"/>
                </a:cubicBezTo>
                <a:lnTo>
                  <a:pt x="30212" y="71676"/>
                </a:lnTo>
                <a:cubicBezTo>
                  <a:pt x="32147" y="65842"/>
                  <a:pt x="37624" y="61912"/>
                  <a:pt x="43755" y="61912"/>
                </a:cubicBezTo>
                <a:lnTo>
                  <a:pt x="156508" y="61912"/>
                </a:lnTo>
                <a:cubicBezTo>
                  <a:pt x="166271" y="61912"/>
                  <a:pt x="173147" y="71467"/>
                  <a:pt x="170051" y="80724"/>
                </a:cubicBezTo>
                <a:lnTo>
                  <a:pt x="155764" y="123587"/>
                </a:lnTo>
                <a:cubicBezTo>
                  <a:pt x="153829" y="129421"/>
                  <a:pt x="148352" y="133350"/>
                  <a:pt x="142220" y="13335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914400" y="4181475"/>
            <a:ext cx="2771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Evidências: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Documentar todas as decisões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98540" y="4105275"/>
            <a:ext cx="3114675" cy="781050"/>
          </a:xfrm>
          <a:custGeom>
            <a:avLst/>
            <a:gdLst/>
            <a:ahLst/>
            <a:cxnLst/>
            <a:rect l="l" t="t" r="r" b="b"/>
            <a:pathLst>
              <a:path w="3114675" h="781050">
                <a:moveTo>
                  <a:pt x="38100" y="0"/>
                </a:moveTo>
                <a:lnTo>
                  <a:pt x="3076575" y="0"/>
                </a:lnTo>
                <a:cubicBezTo>
                  <a:pt x="3097617" y="0"/>
                  <a:pt x="3114675" y="17058"/>
                  <a:pt x="3114675" y="38100"/>
                </a:cubicBezTo>
                <a:lnTo>
                  <a:pt x="3114675" y="742950"/>
                </a:lnTo>
                <a:cubicBezTo>
                  <a:pt x="3114675" y="763992"/>
                  <a:pt x="3097617" y="781050"/>
                  <a:pt x="3076575" y="781050"/>
                </a:cubicBezTo>
                <a:lnTo>
                  <a:pt x="38100" y="781050"/>
                </a:lnTo>
                <a:cubicBezTo>
                  <a:pt x="17058" y="781050"/>
                  <a:pt x="0" y="763992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0F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3874740" y="421957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66675"/>
                </a:moveTo>
                <a:cubicBezTo>
                  <a:pt x="112335" y="66675"/>
                  <a:pt x="126206" y="52804"/>
                  <a:pt x="126206" y="35719"/>
                </a:cubicBezTo>
                <a:cubicBezTo>
                  <a:pt x="126206" y="18634"/>
                  <a:pt x="112335" y="4763"/>
                  <a:pt x="95250" y="4763"/>
                </a:cubicBezTo>
                <a:cubicBezTo>
                  <a:pt x="78165" y="4763"/>
                  <a:pt x="64294" y="18634"/>
                  <a:pt x="64294" y="35719"/>
                </a:cubicBezTo>
                <a:cubicBezTo>
                  <a:pt x="64294" y="52804"/>
                  <a:pt x="78165" y="66675"/>
                  <a:pt x="95250" y="66675"/>
                </a:cubicBezTo>
                <a:close/>
                <a:moveTo>
                  <a:pt x="28575" y="69056"/>
                </a:moveTo>
                <a:cubicBezTo>
                  <a:pt x="40403" y="69056"/>
                  <a:pt x="50006" y="59453"/>
                  <a:pt x="50006" y="47625"/>
                </a:cubicBezTo>
                <a:cubicBezTo>
                  <a:pt x="50006" y="35797"/>
                  <a:pt x="40403" y="26194"/>
                  <a:pt x="28575" y="26194"/>
                </a:cubicBezTo>
                <a:cubicBezTo>
                  <a:pt x="16747" y="26194"/>
                  <a:pt x="7144" y="35797"/>
                  <a:pt x="7144" y="47625"/>
                </a:cubicBezTo>
                <a:cubicBezTo>
                  <a:pt x="7144" y="59453"/>
                  <a:pt x="16747" y="69056"/>
                  <a:pt x="28575" y="69056"/>
                </a:cubicBezTo>
                <a:close/>
                <a:moveTo>
                  <a:pt x="0" y="123825"/>
                </a:moveTo>
                <a:lnTo>
                  <a:pt x="0" y="133350"/>
                </a:lnTo>
                <a:cubicBezTo>
                  <a:pt x="0" y="138619"/>
                  <a:pt x="4256" y="142875"/>
                  <a:pt x="9525" y="142875"/>
                </a:cubicBezTo>
                <a:lnTo>
                  <a:pt x="35332" y="142875"/>
                </a:lnTo>
                <a:cubicBezTo>
                  <a:pt x="34052" y="139958"/>
                  <a:pt x="33338" y="136743"/>
                  <a:pt x="33338" y="133350"/>
                </a:cubicBezTo>
                <a:lnTo>
                  <a:pt x="33338" y="128588"/>
                </a:lnTo>
                <a:cubicBezTo>
                  <a:pt x="33338" y="112752"/>
                  <a:pt x="39291" y="98286"/>
                  <a:pt x="49084" y="87332"/>
                </a:cubicBezTo>
                <a:cubicBezTo>
                  <a:pt x="45601" y="86291"/>
                  <a:pt x="41910" y="85725"/>
                  <a:pt x="38100" y="85725"/>
                </a:cubicBezTo>
                <a:cubicBezTo>
                  <a:pt x="17056" y="85725"/>
                  <a:pt x="0" y="102781"/>
                  <a:pt x="0" y="123825"/>
                </a:cubicBezTo>
                <a:close/>
                <a:moveTo>
                  <a:pt x="183356" y="47625"/>
                </a:moveTo>
                <a:cubicBezTo>
                  <a:pt x="183356" y="35797"/>
                  <a:pt x="173753" y="26194"/>
                  <a:pt x="161925" y="26194"/>
                </a:cubicBezTo>
                <a:cubicBezTo>
                  <a:pt x="150097" y="26194"/>
                  <a:pt x="140494" y="35797"/>
                  <a:pt x="140494" y="47625"/>
                </a:cubicBezTo>
                <a:cubicBezTo>
                  <a:pt x="140494" y="59453"/>
                  <a:pt x="150097" y="69056"/>
                  <a:pt x="161925" y="69056"/>
                </a:cubicBezTo>
                <a:cubicBezTo>
                  <a:pt x="173753" y="69056"/>
                  <a:pt x="183356" y="59453"/>
                  <a:pt x="183356" y="47625"/>
                </a:cubicBezTo>
                <a:close/>
                <a:moveTo>
                  <a:pt x="47625" y="128588"/>
                </a:moveTo>
                <a:lnTo>
                  <a:pt x="47625" y="133350"/>
                </a:lnTo>
                <a:cubicBezTo>
                  <a:pt x="47625" y="138619"/>
                  <a:pt x="51881" y="142875"/>
                  <a:pt x="57150" y="142875"/>
                </a:cubicBezTo>
                <a:lnTo>
                  <a:pt x="103823" y="142875"/>
                </a:lnTo>
                <a:cubicBezTo>
                  <a:pt x="101709" y="136446"/>
                  <a:pt x="101947" y="129659"/>
                  <a:pt x="107007" y="123825"/>
                </a:cubicBezTo>
                <a:cubicBezTo>
                  <a:pt x="102840" y="119003"/>
                  <a:pt x="100905" y="112008"/>
                  <a:pt x="103614" y="104983"/>
                </a:cubicBezTo>
                <a:cubicBezTo>
                  <a:pt x="105579" y="99893"/>
                  <a:pt x="108347" y="95131"/>
                  <a:pt x="111770" y="90904"/>
                </a:cubicBezTo>
                <a:cubicBezTo>
                  <a:pt x="113377" y="88940"/>
                  <a:pt x="115223" y="87422"/>
                  <a:pt x="117217" y="86320"/>
                </a:cubicBezTo>
                <a:cubicBezTo>
                  <a:pt x="110639" y="82897"/>
                  <a:pt x="103168" y="80962"/>
                  <a:pt x="95250" y="80962"/>
                </a:cubicBezTo>
                <a:cubicBezTo>
                  <a:pt x="68937" y="80962"/>
                  <a:pt x="47625" y="102275"/>
                  <a:pt x="47625" y="128588"/>
                </a:cubicBezTo>
                <a:close/>
                <a:moveTo>
                  <a:pt x="185916" y="115461"/>
                </a:moveTo>
                <a:cubicBezTo>
                  <a:pt x="187791" y="114389"/>
                  <a:pt x="188744" y="112157"/>
                  <a:pt x="187940" y="110103"/>
                </a:cubicBezTo>
                <a:cubicBezTo>
                  <a:pt x="186511" y="106412"/>
                  <a:pt x="184517" y="102930"/>
                  <a:pt x="182017" y="99864"/>
                </a:cubicBezTo>
                <a:cubicBezTo>
                  <a:pt x="180648" y="98167"/>
                  <a:pt x="178237" y="97869"/>
                  <a:pt x="176361" y="98971"/>
                </a:cubicBezTo>
                <a:cubicBezTo>
                  <a:pt x="169872" y="102721"/>
                  <a:pt x="161895" y="98137"/>
                  <a:pt x="161895" y="90607"/>
                </a:cubicBezTo>
                <a:cubicBezTo>
                  <a:pt x="161895" y="88434"/>
                  <a:pt x="160437" y="86499"/>
                  <a:pt x="158294" y="86171"/>
                </a:cubicBezTo>
                <a:cubicBezTo>
                  <a:pt x="154454" y="85576"/>
                  <a:pt x="150316" y="85576"/>
                  <a:pt x="146477" y="86171"/>
                </a:cubicBezTo>
                <a:cubicBezTo>
                  <a:pt x="144334" y="86499"/>
                  <a:pt x="142875" y="88434"/>
                  <a:pt x="142875" y="90607"/>
                </a:cubicBezTo>
                <a:cubicBezTo>
                  <a:pt x="142875" y="98108"/>
                  <a:pt x="134898" y="102721"/>
                  <a:pt x="128409" y="98971"/>
                </a:cubicBezTo>
                <a:cubicBezTo>
                  <a:pt x="126534" y="97899"/>
                  <a:pt x="124123" y="98197"/>
                  <a:pt x="122753" y="99864"/>
                </a:cubicBezTo>
                <a:cubicBezTo>
                  <a:pt x="120253" y="102930"/>
                  <a:pt x="118259" y="106412"/>
                  <a:pt x="116830" y="110103"/>
                </a:cubicBezTo>
                <a:cubicBezTo>
                  <a:pt x="116056" y="112127"/>
                  <a:pt x="116979" y="114360"/>
                  <a:pt x="118854" y="115431"/>
                </a:cubicBezTo>
                <a:cubicBezTo>
                  <a:pt x="125373" y="119182"/>
                  <a:pt x="125373" y="128379"/>
                  <a:pt x="118854" y="132159"/>
                </a:cubicBezTo>
                <a:cubicBezTo>
                  <a:pt x="116979" y="133231"/>
                  <a:pt x="116026" y="135463"/>
                  <a:pt x="116830" y="137487"/>
                </a:cubicBezTo>
                <a:cubicBezTo>
                  <a:pt x="118259" y="141178"/>
                  <a:pt x="120253" y="144661"/>
                  <a:pt x="122753" y="147727"/>
                </a:cubicBezTo>
                <a:cubicBezTo>
                  <a:pt x="124123" y="149423"/>
                  <a:pt x="126534" y="149721"/>
                  <a:pt x="128409" y="148620"/>
                </a:cubicBezTo>
                <a:cubicBezTo>
                  <a:pt x="134898" y="144869"/>
                  <a:pt x="142875" y="149483"/>
                  <a:pt x="142875" y="156984"/>
                </a:cubicBezTo>
                <a:cubicBezTo>
                  <a:pt x="142875" y="159157"/>
                  <a:pt x="144334" y="161092"/>
                  <a:pt x="146477" y="161419"/>
                </a:cubicBezTo>
                <a:cubicBezTo>
                  <a:pt x="150316" y="162014"/>
                  <a:pt x="154454" y="162014"/>
                  <a:pt x="158294" y="161419"/>
                </a:cubicBezTo>
                <a:cubicBezTo>
                  <a:pt x="160437" y="161092"/>
                  <a:pt x="161895" y="159157"/>
                  <a:pt x="161895" y="156984"/>
                </a:cubicBezTo>
                <a:cubicBezTo>
                  <a:pt x="161895" y="149483"/>
                  <a:pt x="169872" y="144869"/>
                  <a:pt x="176361" y="148620"/>
                </a:cubicBezTo>
                <a:cubicBezTo>
                  <a:pt x="178237" y="149691"/>
                  <a:pt x="180648" y="149394"/>
                  <a:pt x="182017" y="147727"/>
                </a:cubicBezTo>
                <a:cubicBezTo>
                  <a:pt x="184517" y="144661"/>
                  <a:pt x="186511" y="141178"/>
                  <a:pt x="187940" y="137487"/>
                </a:cubicBezTo>
                <a:cubicBezTo>
                  <a:pt x="188714" y="135463"/>
                  <a:pt x="187791" y="133231"/>
                  <a:pt x="185916" y="132159"/>
                </a:cubicBezTo>
                <a:cubicBezTo>
                  <a:pt x="179397" y="128409"/>
                  <a:pt x="179397" y="119211"/>
                  <a:pt x="185916" y="115431"/>
                </a:cubicBezTo>
                <a:close/>
                <a:moveTo>
                  <a:pt x="140494" y="123825"/>
                </a:moveTo>
                <a:cubicBezTo>
                  <a:pt x="140494" y="117254"/>
                  <a:pt x="145829" y="111919"/>
                  <a:pt x="152400" y="111919"/>
                </a:cubicBezTo>
                <a:cubicBezTo>
                  <a:pt x="158971" y="111919"/>
                  <a:pt x="164306" y="117254"/>
                  <a:pt x="164306" y="123825"/>
                </a:cubicBezTo>
                <a:cubicBezTo>
                  <a:pt x="164306" y="130396"/>
                  <a:pt x="158971" y="135731"/>
                  <a:pt x="152400" y="135731"/>
                </a:cubicBezTo>
                <a:cubicBezTo>
                  <a:pt x="145829" y="135731"/>
                  <a:pt x="140494" y="130396"/>
                  <a:pt x="140494" y="123825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141440" y="4181475"/>
            <a:ext cx="2771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Governança: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Formal com Risco/Compliance/Jurídico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1500" y="4995863"/>
            <a:ext cx="3114675" cy="552450"/>
          </a:xfrm>
          <a:custGeom>
            <a:avLst/>
            <a:gdLst/>
            <a:ahLst/>
            <a:cxnLst/>
            <a:rect l="l" t="t" r="r" b="b"/>
            <a:pathLst>
              <a:path w="3114675" h="552450">
                <a:moveTo>
                  <a:pt x="38102" y="0"/>
                </a:moveTo>
                <a:lnTo>
                  <a:pt x="3076573" y="0"/>
                </a:lnTo>
                <a:cubicBezTo>
                  <a:pt x="3097616" y="0"/>
                  <a:pt x="3114675" y="17059"/>
                  <a:pt x="3114675" y="38102"/>
                </a:cubicBezTo>
                <a:lnTo>
                  <a:pt x="3114675" y="514348"/>
                </a:lnTo>
                <a:cubicBezTo>
                  <a:pt x="3114675" y="535391"/>
                  <a:pt x="3097616" y="552450"/>
                  <a:pt x="3076573" y="552450"/>
                </a:cubicBezTo>
                <a:lnTo>
                  <a:pt x="38102" y="552450"/>
                </a:lnTo>
                <a:cubicBezTo>
                  <a:pt x="17059" y="552450"/>
                  <a:pt x="0" y="535391"/>
                  <a:pt x="0" y="5143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0F0F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57225" y="511016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914400" y="5072063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Treinamento: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Contínuo dos times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798540" y="4995863"/>
            <a:ext cx="3114675" cy="552450"/>
          </a:xfrm>
          <a:custGeom>
            <a:avLst/>
            <a:gdLst/>
            <a:ahLst/>
            <a:cxnLst/>
            <a:rect l="l" t="t" r="r" b="b"/>
            <a:pathLst>
              <a:path w="3114675" h="552450">
                <a:moveTo>
                  <a:pt x="38102" y="0"/>
                </a:moveTo>
                <a:lnTo>
                  <a:pt x="3076573" y="0"/>
                </a:lnTo>
                <a:cubicBezTo>
                  <a:pt x="3097616" y="0"/>
                  <a:pt x="3114675" y="17059"/>
                  <a:pt x="3114675" y="38102"/>
                </a:cubicBezTo>
                <a:lnTo>
                  <a:pt x="3114675" y="514348"/>
                </a:lnTo>
                <a:cubicBezTo>
                  <a:pt x="3114675" y="535391"/>
                  <a:pt x="3097616" y="552450"/>
                  <a:pt x="3076573" y="552450"/>
                </a:cubicBezTo>
                <a:lnTo>
                  <a:pt x="38102" y="552450"/>
                </a:lnTo>
                <a:cubicBezTo>
                  <a:pt x="17059" y="552450"/>
                  <a:pt x="0" y="535391"/>
                  <a:pt x="0" y="5143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0F0F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3893790" y="51101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141440" y="5072063"/>
            <a:ext cx="2638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Proteção de Dados: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Garantir segurança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1000" y="5886450"/>
            <a:ext cx="6724650" cy="590550"/>
          </a:xfrm>
          <a:custGeom>
            <a:avLst/>
            <a:gdLst/>
            <a:ahLst/>
            <a:cxnLst/>
            <a:rect l="l" t="t" r="r" b="b"/>
            <a:pathLst>
              <a:path w="6724650" h="590550">
                <a:moveTo>
                  <a:pt x="38102" y="0"/>
                </a:moveTo>
                <a:lnTo>
                  <a:pt x="6686548" y="0"/>
                </a:lnTo>
                <a:cubicBezTo>
                  <a:pt x="6707577" y="0"/>
                  <a:pt x="6724650" y="17073"/>
                  <a:pt x="6724650" y="38102"/>
                </a:cubicBezTo>
                <a:lnTo>
                  <a:pt x="6724650" y="552448"/>
                </a:lnTo>
                <a:cubicBezTo>
                  <a:pt x="6724650" y="573491"/>
                  <a:pt x="6707591" y="590550"/>
                  <a:pt x="6686548" y="590550"/>
                </a:cubicBezTo>
                <a:lnTo>
                  <a:pt x="38102" y="590550"/>
                </a:lnTo>
                <a:cubicBezTo>
                  <a:pt x="17073" y="590550"/>
                  <a:pt x="0" y="573477"/>
                  <a:pt x="0" y="5524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07219" y="603885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1042988" y="6057900"/>
            <a:ext cx="56292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Dica:</a:t>
            </a: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Automatizar fluxos reduz riscos operacionais e garante conformidade contínua.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30380" y="1676400"/>
            <a:ext cx="4476750" cy="4095750"/>
          </a:xfrm>
          <a:custGeom>
            <a:avLst/>
            <a:gdLst/>
            <a:ahLst/>
            <a:cxnLst/>
            <a:rect l="l" t="t" r="r" b="b"/>
            <a:pathLst>
              <a:path w="4476750" h="4095750">
                <a:moveTo>
                  <a:pt x="38090" y="0"/>
                </a:moveTo>
                <a:lnTo>
                  <a:pt x="4438660" y="0"/>
                </a:lnTo>
                <a:cubicBezTo>
                  <a:pt x="4459696" y="0"/>
                  <a:pt x="4476750" y="17054"/>
                  <a:pt x="4476750" y="38090"/>
                </a:cubicBezTo>
                <a:lnTo>
                  <a:pt x="4476750" y="4057660"/>
                </a:lnTo>
                <a:cubicBezTo>
                  <a:pt x="4476750" y="4078696"/>
                  <a:pt x="4459696" y="4095750"/>
                  <a:pt x="4438660" y="4095750"/>
                </a:cubicBezTo>
                <a:lnTo>
                  <a:pt x="38090" y="4095750"/>
                </a:lnTo>
                <a:cubicBezTo>
                  <a:pt x="17054" y="4095750"/>
                  <a:pt x="0" y="4078696"/>
                  <a:pt x="0" y="4057660"/>
                </a:cubicBezTo>
                <a:lnTo>
                  <a:pt x="0" y="38090"/>
                </a:lnTo>
                <a:cubicBezTo>
                  <a:pt x="0" y="17068"/>
                  <a:pt x="17068" y="0"/>
                  <a:pt x="38090" y="0"/>
                </a:cubicBezTo>
                <a:close/>
              </a:path>
            </a:pathLst>
          </a:cu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7549455" y="190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7806630" y="1866900"/>
            <a:ext cx="392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Fluxo de Onboarding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20880" y="23541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7478018" y="2354163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939980" y="2354163"/>
            <a:ext cx="184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Coleta de Dados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939980" y="2582763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0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Cadastrais do estabelecimento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20880" y="290973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7478018" y="2909739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939980" y="2909739"/>
            <a:ext cx="168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Consulta MATCH Pro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939980" y="3138339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0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Obrigatória (UI, API ou Bulk)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20880" y="346531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7478018" y="3465314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939980" y="3465314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Análise de Resultado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939980" y="3693914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0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 match → segue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20880" y="402088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7478018" y="4020889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3b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939980" y="4020889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 Positivo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939980" y="4249489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0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 para comitê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520880" y="457646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7478018" y="457646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939980" y="4576465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Decisão Formal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939980" y="4805065"/>
            <a:ext cx="159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0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Documentada e registrada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520880" y="51320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7478018" y="513204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939980" y="5132040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Ativação ou Recusa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939980" y="5360640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0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 base na análise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349430" y="5924550"/>
            <a:ext cx="4457700" cy="552450"/>
          </a:xfrm>
          <a:custGeom>
            <a:avLst/>
            <a:gdLst/>
            <a:ahLst/>
            <a:cxnLst/>
            <a:rect l="l" t="t" r="r" b="b"/>
            <a:pathLst>
              <a:path w="4457700" h="552450">
                <a:moveTo>
                  <a:pt x="38100" y="0"/>
                </a:moveTo>
                <a:lnTo>
                  <a:pt x="4419598" y="0"/>
                </a:lnTo>
                <a:cubicBezTo>
                  <a:pt x="4440641" y="0"/>
                  <a:pt x="4457700" y="17059"/>
                  <a:pt x="4457700" y="38102"/>
                </a:cubicBezTo>
                <a:lnTo>
                  <a:pt x="4457700" y="514348"/>
                </a:lnTo>
                <a:cubicBezTo>
                  <a:pt x="4457700" y="535391"/>
                  <a:pt x="4440641" y="552450"/>
                  <a:pt x="4419598" y="552450"/>
                </a:cubicBez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0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Shape 62"/>
          <p:cNvSpPr/>
          <p:nvPr/>
        </p:nvSpPr>
        <p:spPr>
          <a:xfrm>
            <a:off x="7349430" y="5924550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0"/>
                </a:moveTo>
                <a:lnTo>
                  <a:pt x="38100" y="0"/>
                </a:lnTo>
                <a:lnTo>
                  <a:pt x="38100" y="552450"/>
                </a:ln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7549455" y="60864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7920930" y="6076950"/>
            <a:ext cx="3524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Obrigatório: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Consultar MATCH Pro </a:t>
            </a:r>
            <a:r>
              <a:rPr lang="en-US" sz="12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antes da ativação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89905f0b6e474e017a9d1b8534643c22131541aa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779" b="77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2C2C">
                  <a:alpha val="90000"/>
                </a:srgbClr>
              </a:gs>
              <a:gs pos="50000">
                <a:srgbClr val="2C2C2C">
                  <a:alpha val="80000"/>
                </a:srgbClr>
              </a:gs>
              <a:gs pos="100000">
                <a:srgbClr val="FF6B00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0" y="1029891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1104900" y="1220391"/>
            <a:ext cx="9982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Próximos Passos e Suporte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19200" y="1944291"/>
            <a:ext cx="9753600" cy="1200150"/>
          </a:xfrm>
          <a:custGeom>
            <a:avLst/>
            <a:gdLst/>
            <a:ahLst/>
            <a:cxnLst/>
            <a:rect l="l" t="t" r="r" b="b"/>
            <a:pathLst>
              <a:path w="9753600" h="1200150">
                <a:moveTo>
                  <a:pt x="38105" y="0"/>
                </a:moveTo>
                <a:lnTo>
                  <a:pt x="9715495" y="0"/>
                </a:lnTo>
                <a:cubicBezTo>
                  <a:pt x="9736540" y="0"/>
                  <a:pt x="9753600" y="17060"/>
                  <a:pt x="9753600" y="38105"/>
                </a:cubicBezTo>
                <a:lnTo>
                  <a:pt x="9753600" y="1162045"/>
                </a:lnTo>
                <a:cubicBezTo>
                  <a:pt x="9753600" y="1183090"/>
                  <a:pt x="9736540" y="1200150"/>
                  <a:pt x="9715495" y="1200150"/>
                </a:cubicBezTo>
                <a:lnTo>
                  <a:pt x="38105" y="1200150"/>
                </a:lnTo>
                <a:cubicBezTo>
                  <a:pt x="17060" y="1200150"/>
                  <a:pt x="0" y="1183090"/>
                  <a:pt x="0" y="1162045"/>
                </a:cubicBezTo>
                <a:lnTo>
                  <a:pt x="0" y="38105"/>
                </a:lnTo>
                <a:cubicBezTo>
                  <a:pt x="0" y="17074"/>
                  <a:pt x="17074" y="0"/>
                  <a:pt x="38105" y="0"/>
                </a:cubicBezTo>
                <a:close/>
              </a:path>
            </a:pathLst>
          </a:custGeom>
          <a:solidFill>
            <a:srgbClr val="F0F0F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400175" y="2172891"/>
            <a:ext cx="93916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MATCH Pro é </a:t>
            </a:r>
            <a:r>
              <a:rPr lang="en-US" sz="150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obrigatório</a:t>
            </a:r>
            <a:r>
              <a:rPr lang="en-US" sz="15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faz parte das responsabilidades formais impostas pela Mastercard.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04938" y="2634853"/>
            <a:ext cx="93821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F0F0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sistema </a:t>
            </a:r>
            <a:r>
              <a:rPr lang="en-US" sz="135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apóia a tomada de decisão</a:t>
            </a:r>
            <a:r>
              <a:rPr lang="en-US" sz="1350" dirty="0">
                <a:solidFill>
                  <a:srgbClr val="F0F0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mas não decide por conta própria. A </a:t>
            </a:r>
            <a:r>
              <a:rPr lang="en-US" sz="1350" b="1" dirty="0">
                <a:solidFill>
                  <a:srgbClr val="FF6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responsabilidade final é do adquirente</a:t>
            </a:r>
            <a:r>
              <a:rPr lang="en-US" sz="1350" dirty="0">
                <a:solidFill>
                  <a:srgbClr val="F0F0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19200" y="3294459"/>
            <a:ext cx="3095625" cy="1809750"/>
          </a:xfrm>
          <a:custGeom>
            <a:avLst/>
            <a:gdLst/>
            <a:ahLst/>
            <a:cxnLst/>
            <a:rect l="l" t="t" r="r" b="b"/>
            <a:pathLst>
              <a:path w="3095625" h="1809750">
                <a:moveTo>
                  <a:pt x="38095" y="0"/>
                </a:moveTo>
                <a:lnTo>
                  <a:pt x="3057530" y="0"/>
                </a:lnTo>
                <a:cubicBezTo>
                  <a:pt x="3078569" y="0"/>
                  <a:pt x="3095625" y="17056"/>
                  <a:pt x="3095625" y="38095"/>
                </a:cubicBezTo>
                <a:lnTo>
                  <a:pt x="3095625" y="1771655"/>
                </a:lnTo>
                <a:cubicBezTo>
                  <a:pt x="3095625" y="1792694"/>
                  <a:pt x="3078569" y="1809750"/>
                  <a:pt x="3057530" y="1809750"/>
                </a:cubicBezTo>
                <a:lnTo>
                  <a:pt x="38095" y="1809750"/>
                </a:lnTo>
                <a:cubicBezTo>
                  <a:pt x="17056" y="1809750"/>
                  <a:pt x="0" y="1792694"/>
                  <a:pt x="0" y="1771655"/>
                </a:cubicBezTo>
                <a:lnTo>
                  <a:pt x="0" y="38095"/>
                </a:lnTo>
                <a:cubicBezTo>
                  <a:pt x="0" y="17070"/>
                  <a:pt x="17070" y="0"/>
                  <a:pt x="38095" y="0"/>
                </a:cubicBezTo>
                <a:close/>
              </a:path>
            </a:pathLst>
          </a:custGeom>
          <a:solidFill>
            <a:srgbClr val="F0F0F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2628007" y="348495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89" y="35719"/>
                </a:moveTo>
                <a:cubicBezTo>
                  <a:pt x="11999" y="35719"/>
                  <a:pt x="0" y="47718"/>
                  <a:pt x="0" y="62508"/>
                </a:cubicBezTo>
                <a:cubicBezTo>
                  <a:pt x="0" y="70935"/>
                  <a:pt x="3963" y="78860"/>
                  <a:pt x="10716" y="83939"/>
                </a:cubicBezTo>
                <a:lnTo>
                  <a:pt x="126802" y="171004"/>
                </a:lnTo>
                <a:cubicBezTo>
                  <a:pt x="136345" y="178147"/>
                  <a:pt x="149405" y="178147"/>
                  <a:pt x="158948" y="171004"/>
                </a:cubicBezTo>
                <a:lnTo>
                  <a:pt x="275034" y="83939"/>
                </a:lnTo>
                <a:cubicBezTo>
                  <a:pt x="281787" y="78860"/>
                  <a:pt x="285750" y="70935"/>
                  <a:pt x="285750" y="62508"/>
                </a:cubicBezTo>
                <a:cubicBezTo>
                  <a:pt x="285750" y="47718"/>
                  <a:pt x="273751" y="35719"/>
                  <a:pt x="258961" y="35719"/>
                </a:cubicBezTo>
                <a:lnTo>
                  <a:pt x="26789" y="35719"/>
                </a:lnTo>
                <a:close/>
                <a:moveTo>
                  <a:pt x="0" y="109389"/>
                </a:moveTo>
                <a:lnTo>
                  <a:pt x="0" y="214313"/>
                </a:lnTo>
                <a:cubicBezTo>
                  <a:pt x="0" y="234014"/>
                  <a:pt x="16018" y="250031"/>
                  <a:pt x="35719" y="250031"/>
                </a:cubicBezTo>
                <a:lnTo>
                  <a:pt x="250031" y="250031"/>
                </a:lnTo>
                <a:cubicBezTo>
                  <a:pt x="269732" y="250031"/>
                  <a:pt x="285750" y="234014"/>
                  <a:pt x="285750" y="214313"/>
                </a:cubicBezTo>
                <a:lnTo>
                  <a:pt x="285750" y="109389"/>
                </a:lnTo>
                <a:lnTo>
                  <a:pt x="175022" y="192435"/>
                </a:lnTo>
                <a:cubicBezTo>
                  <a:pt x="155990" y="206722"/>
                  <a:pt x="129760" y="206722"/>
                  <a:pt x="110728" y="192435"/>
                </a:cubicBezTo>
                <a:lnTo>
                  <a:pt x="0" y="109389"/>
                </a:ln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362075" y="3885009"/>
            <a:ext cx="2809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Suporte MTF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4227909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MATCHPro.help@mastercard.com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6363" y="4532709"/>
            <a:ext cx="2781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0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Suporte técnico e dúvidas sobre ambiente de testes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46550" y="3294459"/>
            <a:ext cx="3095625" cy="1809750"/>
          </a:xfrm>
          <a:custGeom>
            <a:avLst/>
            <a:gdLst/>
            <a:ahLst/>
            <a:cxnLst/>
            <a:rect l="l" t="t" r="r" b="b"/>
            <a:pathLst>
              <a:path w="3095625" h="1809750">
                <a:moveTo>
                  <a:pt x="38095" y="0"/>
                </a:moveTo>
                <a:lnTo>
                  <a:pt x="3057530" y="0"/>
                </a:lnTo>
                <a:cubicBezTo>
                  <a:pt x="3078569" y="0"/>
                  <a:pt x="3095625" y="17056"/>
                  <a:pt x="3095625" y="38095"/>
                </a:cubicBezTo>
                <a:lnTo>
                  <a:pt x="3095625" y="1771655"/>
                </a:lnTo>
                <a:cubicBezTo>
                  <a:pt x="3095625" y="1792694"/>
                  <a:pt x="3078569" y="1809750"/>
                  <a:pt x="3057530" y="1809750"/>
                </a:cubicBezTo>
                <a:lnTo>
                  <a:pt x="38095" y="1809750"/>
                </a:lnTo>
                <a:cubicBezTo>
                  <a:pt x="17056" y="1809750"/>
                  <a:pt x="0" y="1792694"/>
                  <a:pt x="0" y="1771655"/>
                </a:cubicBezTo>
                <a:lnTo>
                  <a:pt x="0" y="38095"/>
                </a:lnTo>
                <a:cubicBezTo>
                  <a:pt x="0" y="17070"/>
                  <a:pt x="17070" y="0"/>
                  <a:pt x="38095" y="0"/>
                </a:cubicBezTo>
                <a:close/>
              </a:path>
            </a:pathLst>
          </a:custGeom>
          <a:solidFill>
            <a:srgbClr val="F0F0F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5937498" y="3484959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25016" y="138410"/>
                </a:moveTo>
                <a:cubicBezTo>
                  <a:pt x="161979" y="138410"/>
                  <a:pt x="191988" y="108401"/>
                  <a:pt x="191988" y="71438"/>
                </a:cubicBezTo>
                <a:cubicBezTo>
                  <a:pt x="191988" y="34474"/>
                  <a:pt x="161979" y="4465"/>
                  <a:pt x="125016" y="4465"/>
                </a:cubicBezTo>
                <a:cubicBezTo>
                  <a:pt x="88052" y="4465"/>
                  <a:pt x="58043" y="34474"/>
                  <a:pt x="58043" y="71438"/>
                </a:cubicBezTo>
                <a:cubicBezTo>
                  <a:pt x="58043" y="108401"/>
                  <a:pt x="88052" y="138410"/>
                  <a:pt x="125016" y="138410"/>
                </a:cubicBezTo>
                <a:close/>
                <a:moveTo>
                  <a:pt x="108440" y="169664"/>
                </a:moveTo>
                <a:cubicBezTo>
                  <a:pt x="53467" y="169664"/>
                  <a:pt x="8930" y="214201"/>
                  <a:pt x="8930" y="269174"/>
                </a:cubicBezTo>
                <a:cubicBezTo>
                  <a:pt x="8930" y="278327"/>
                  <a:pt x="16352" y="285750"/>
                  <a:pt x="25505" y="285750"/>
                </a:cubicBezTo>
                <a:lnTo>
                  <a:pt x="165869" y="285750"/>
                </a:lnTo>
                <a:cubicBezTo>
                  <a:pt x="145666" y="261975"/>
                  <a:pt x="133945" y="231335"/>
                  <a:pt x="133945" y="198909"/>
                </a:cubicBezTo>
                <a:lnTo>
                  <a:pt x="133945" y="181552"/>
                </a:lnTo>
                <a:cubicBezTo>
                  <a:pt x="133945" y="177478"/>
                  <a:pt x="134503" y="173459"/>
                  <a:pt x="135564" y="169664"/>
                </a:cubicBezTo>
                <a:lnTo>
                  <a:pt x="108440" y="169664"/>
                </a:lnTo>
                <a:close/>
                <a:moveTo>
                  <a:pt x="248524" y="272635"/>
                </a:moveTo>
                <a:lnTo>
                  <a:pt x="241102" y="276151"/>
                </a:lnTo>
                <a:lnTo>
                  <a:pt x="241102" y="171171"/>
                </a:lnTo>
                <a:lnTo>
                  <a:pt x="294680" y="189030"/>
                </a:lnTo>
                <a:lnTo>
                  <a:pt x="294680" y="199969"/>
                </a:lnTo>
                <a:cubicBezTo>
                  <a:pt x="294680" y="231111"/>
                  <a:pt x="276709" y="259407"/>
                  <a:pt x="248524" y="272690"/>
                </a:cubicBezTo>
                <a:close/>
                <a:moveTo>
                  <a:pt x="235465" y="144828"/>
                </a:moveTo>
                <a:lnTo>
                  <a:pt x="172957" y="165646"/>
                </a:lnTo>
                <a:cubicBezTo>
                  <a:pt x="165646" y="168101"/>
                  <a:pt x="160734" y="174910"/>
                  <a:pt x="160734" y="182612"/>
                </a:cubicBezTo>
                <a:lnTo>
                  <a:pt x="160734" y="199969"/>
                </a:lnTo>
                <a:cubicBezTo>
                  <a:pt x="160734" y="241492"/>
                  <a:pt x="184733" y="279276"/>
                  <a:pt x="222238" y="296912"/>
                </a:cubicBezTo>
                <a:lnTo>
                  <a:pt x="232563" y="301768"/>
                </a:lnTo>
                <a:cubicBezTo>
                  <a:pt x="235241" y="302995"/>
                  <a:pt x="238144" y="303665"/>
                  <a:pt x="241046" y="303665"/>
                </a:cubicBezTo>
                <a:cubicBezTo>
                  <a:pt x="243948" y="303665"/>
                  <a:pt x="246906" y="302995"/>
                  <a:pt x="249529" y="301768"/>
                </a:cubicBezTo>
                <a:lnTo>
                  <a:pt x="259854" y="296912"/>
                </a:lnTo>
                <a:cubicBezTo>
                  <a:pt x="297470" y="279220"/>
                  <a:pt x="321469" y="241436"/>
                  <a:pt x="321469" y="199913"/>
                </a:cubicBezTo>
                <a:lnTo>
                  <a:pt x="321469" y="182556"/>
                </a:lnTo>
                <a:cubicBezTo>
                  <a:pt x="321469" y="174854"/>
                  <a:pt x="316557" y="168046"/>
                  <a:pt x="309246" y="165590"/>
                </a:cubicBezTo>
                <a:lnTo>
                  <a:pt x="246738" y="144773"/>
                </a:lnTo>
                <a:cubicBezTo>
                  <a:pt x="243055" y="143545"/>
                  <a:pt x="239092" y="143545"/>
                  <a:pt x="235465" y="144773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4689425" y="3885009"/>
            <a:ext cx="2809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Company Manager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98950" y="4227909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Mastercard Connect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703713" y="4532709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0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Solicitar acesso e manter contatos atualizados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873901" y="3294459"/>
            <a:ext cx="3095625" cy="1809750"/>
          </a:xfrm>
          <a:custGeom>
            <a:avLst/>
            <a:gdLst/>
            <a:ahLst/>
            <a:cxnLst/>
            <a:rect l="l" t="t" r="r" b="b"/>
            <a:pathLst>
              <a:path w="3095625" h="1809750">
                <a:moveTo>
                  <a:pt x="38095" y="0"/>
                </a:moveTo>
                <a:lnTo>
                  <a:pt x="3057530" y="0"/>
                </a:lnTo>
                <a:cubicBezTo>
                  <a:pt x="3078569" y="0"/>
                  <a:pt x="3095625" y="17056"/>
                  <a:pt x="3095625" y="38095"/>
                </a:cubicBezTo>
                <a:lnTo>
                  <a:pt x="3095625" y="1771655"/>
                </a:lnTo>
                <a:cubicBezTo>
                  <a:pt x="3095625" y="1792694"/>
                  <a:pt x="3078569" y="1809750"/>
                  <a:pt x="3057530" y="1809750"/>
                </a:cubicBezTo>
                <a:lnTo>
                  <a:pt x="38095" y="1809750"/>
                </a:lnTo>
                <a:cubicBezTo>
                  <a:pt x="17056" y="1809750"/>
                  <a:pt x="0" y="1792694"/>
                  <a:pt x="0" y="1771655"/>
                </a:cubicBezTo>
                <a:lnTo>
                  <a:pt x="0" y="38095"/>
                </a:lnTo>
                <a:cubicBezTo>
                  <a:pt x="0" y="17070"/>
                  <a:pt x="17070" y="0"/>
                  <a:pt x="38095" y="0"/>
                </a:cubicBezTo>
                <a:close/>
              </a:path>
            </a:pathLst>
          </a:custGeom>
          <a:solidFill>
            <a:srgbClr val="F0F0F0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9264997" y="3484959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01364" y="670"/>
                </a:moveTo>
                <a:cubicBezTo>
                  <a:pt x="191877" y="-2065"/>
                  <a:pt x="181998" y="3460"/>
                  <a:pt x="179263" y="12948"/>
                </a:cubicBezTo>
                <a:lnTo>
                  <a:pt x="107826" y="262979"/>
                </a:lnTo>
                <a:cubicBezTo>
                  <a:pt x="105091" y="272467"/>
                  <a:pt x="110617" y="282346"/>
                  <a:pt x="120104" y="285080"/>
                </a:cubicBezTo>
                <a:cubicBezTo>
                  <a:pt x="129592" y="287815"/>
                  <a:pt x="139471" y="282290"/>
                  <a:pt x="142205" y="272802"/>
                </a:cubicBezTo>
                <a:lnTo>
                  <a:pt x="213643" y="22771"/>
                </a:lnTo>
                <a:cubicBezTo>
                  <a:pt x="216377" y="13283"/>
                  <a:pt x="210852" y="3404"/>
                  <a:pt x="201364" y="670"/>
                </a:cubicBezTo>
                <a:close/>
                <a:moveTo>
                  <a:pt x="237418" y="76628"/>
                </a:moveTo>
                <a:cubicBezTo>
                  <a:pt x="230442" y="83604"/>
                  <a:pt x="230442" y="94934"/>
                  <a:pt x="237418" y="101910"/>
                </a:cubicBezTo>
                <a:lnTo>
                  <a:pt x="278383" y="142875"/>
                </a:lnTo>
                <a:lnTo>
                  <a:pt x="237418" y="183840"/>
                </a:lnTo>
                <a:cubicBezTo>
                  <a:pt x="230442" y="190816"/>
                  <a:pt x="230442" y="202146"/>
                  <a:pt x="237418" y="209122"/>
                </a:cubicBezTo>
                <a:cubicBezTo>
                  <a:pt x="244394" y="216098"/>
                  <a:pt x="255724" y="216098"/>
                  <a:pt x="262700" y="209122"/>
                </a:cubicBezTo>
                <a:lnTo>
                  <a:pt x="316278" y="155544"/>
                </a:lnTo>
                <a:cubicBezTo>
                  <a:pt x="323255" y="148568"/>
                  <a:pt x="323255" y="137238"/>
                  <a:pt x="316278" y="130262"/>
                </a:cubicBezTo>
                <a:lnTo>
                  <a:pt x="262700" y="76684"/>
                </a:lnTo>
                <a:cubicBezTo>
                  <a:pt x="255724" y="69707"/>
                  <a:pt x="244394" y="69707"/>
                  <a:pt x="237418" y="76684"/>
                </a:cubicBezTo>
                <a:close/>
                <a:moveTo>
                  <a:pt x="84106" y="76628"/>
                </a:moveTo>
                <a:cubicBezTo>
                  <a:pt x="77130" y="69652"/>
                  <a:pt x="65801" y="69652"/>
                  <a:pt x="58824" y="76628"/>
                </a:cubicBezTo>
                <a:lnTo>
                  <a:pt x="5246" y="130206"/>
                </a:lnTo>
                <a:cubicBezTo>
                  <a:pt x="-1730" y="137182"/>
                  <a:pt x="-1730" y="148512"/>
                  <a:pt x="5246" y="155488"/>
                </a:cubicBezTo>
                <a:lnTo>
                  <a:pt x="58824" y="209066"/>
                </a:lnTo>
                <a:cubicBezTo>
                  <a:pt x="65801" y="216043"/>
                  <a:pt x="77130" y="216043"/>
                  <a:pt x="84106" y="209066"/>
                </a:cubicBezTo>
                <a:cubicBezTo>
                  <a:pt x="91083" y="202090"/>
                  <a:pt x="91083" y="190760"/>
                  <a:pt x="84106" y="183784"/>
                </a:cubicBezTo>
                <a:lnTo>
                  <a:pt x="43142" y="142875"/>
                </a:lnTo>
                <a:lnTo>
                  <a:pt x="84051" y="101910"/>
                </a:lnTo>
                <a:cubicBezTo>
                  <a:pt x="91027" y="94934"/>
                  <a:pt x="91027" y="83604"/>
                  <a:pt x="84051" y="76628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8016776" y="3885009"/>
            <a:ext cx="2809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Developers Zone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26301" y="4227909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developer.mastercard.com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031063" y="4532709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0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Documentação técnica completa das APIs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219200" y="5256609"/>
            <a:ext cx="9753600" cy="571500"/>
          </a:xfrm>
          <a:custGeom>
            <a:avLst/>
            <a:gdLst/>
            <a:ahLst/>
            <a:cxnLst/>
            <a:rect l="l" t="t" r="r" b="b"/>
            <a:pathLst>
              <a:path w="9753600" h="571500">
                <a:moveTo>
                  <a:pt x="38102" y="0"/>
                </a:moveTo>
                <a:lnTo>
                  <a:pt x="9715498" y="0"/>
                </a:lnTo>
                <a:cubicBezTo>
                  <a:pt x="9736541" y="0"/>
                  <a:pt x="9753600" y="17059"/>
                  <a:pt x="9753600" y="38102"/>
                </a:cubicBezTo>
                <a:lnTo>
                  <a:pt x="9753600" y="533398"/>
                </a:lnTo>
                <a:cubicBezTo>
                  <a:pt x="9753600" y="554441"/>
                  <a:pt x="9736541" y="571500"/>
                  <a:pt x="97154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6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3951536" y="542805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4280148" y="5447109"/>
            <a:ext cx="36317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Proteja seu negócio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011864" y="542805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0F0F0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1667</Words>
  <Application>Microsoft Office PowerPoint</Application>
  <PresentationFormat>Widescreen</PresentationFormat>
  <Paragraphs>334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Liter</vt:lpstr>
      <vt:lpstr>Quattrocento 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Mastercard MATCH Pro</dc:title>
  <dc:subject>Mastercard MATCH Pro</dc:subject>
  <dc:creator>Vinicius</dc:creator>
  <cp:lastModifiedBy>Vinicius Sugamele</cp:lastModifiedBy>
  <cp:revision>2</cp:revision>
  <dcterms:created xsi:type="dcterms:W3CDTF">2026-01-09T16:45:22Z</dcterms:created>
  <dcterms:modified xsi:type="dcterms:W3CDTF">2026-01-09T16:46:20Z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{"Label":"Mastercard MATCH Pro","ContentProducer":"001191110108MACG2KBH8F10000","ProduceID":"19ba39c7-f082-8877-8000-0000397749bc","ReservedCode1":"","ContentPropagator":"001191110108MACG2KBH8F20000","PropagateID":"19ba39c7-f082-8877-8000-0000397749bc","ReservedCode2":""}</vt:lpwstr>
  </property>
</Properties>
</file>