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27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243B67">
              <a:alpha val="80000"/>
            </a:srgbClr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Facilitadores de Pagamento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Negócio, Ecossistema e Regulamentação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36576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2025  |  Confidencial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Queremos Resolver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499616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74320" y="1499616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74320" y="149961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99616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Peças do Tabuleiro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99339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74320" y="1993392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74320" y="199339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199339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Adquirente vs PayFac vs Marketplace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74320" y="248716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48716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Cada Empresa se Encaixa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98094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274320" y="2980944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274320" y="298094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298094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uma Transação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347472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74320" y="3474720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347472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Pós-Pagamento: Seu Diferencial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100584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663440" y="1005840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663440" y="1005840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100584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Modelos para Operar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1499616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4663440" y="1499616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663440" y="149961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1499616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Receita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63440" y="199339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4663440" y="1993392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663440" y="199339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199339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Riscos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663440" y="248716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663440" y="2487168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4663440" y="248716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12080" y="248716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Regulamentação: Elo, Visa, Mastercard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663440" y="298094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4663440" y="2980944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4663440" y="298094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12080" y="298094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Implementação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663440" y="347472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4663440" y="3474720"/>
            <a:ext cx="475488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4663440" y="3474720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12080" y="347472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Próximos Passos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 que Queremos Resolver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91440" cy="1097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85800" y="1005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processar transações, reter uma taxa, fazer o split para afiliados e oferecer a plataforma como serviço?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19659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196596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pagamentos com cartão, Pix e outros métodos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2331720"/>
            <a:ext cx="19659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514600" y="2331720"/>
            <a:ext cx="1965960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514600" y="2331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9718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 markup sobre cada transação processada pela plataforma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19659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196596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663440" y="2331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9718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 repassar automaticamente para produtores e afiliados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2331720"/>
            <a:ext cx="19659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812280" y="2331720"/>
            <a:ext cx="1965960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812280" y="2331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Service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9718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a infraestrutura para outras empresas operarem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Peças do Tabuleiro: O Ecossistema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Bandeira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005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/ Mastercard / Elo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1600200"/>
            <a:ext cx="36576" cy="182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5029200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Adquirente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691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Fiserv · Worldpay · Adyen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36576" cy="182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502920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Provider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· Antifraude · Payfac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2971800"/>
            <a:ext cx="36576" cy="182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50292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PayFac / Subadquirente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Pagar.me · Checkout.com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3657600"/>
            <a:ext cx="36576" cy="182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502920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Afiliado / Sub-Lojista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Produtores · Parceiros · Vendedores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1005840"/>
            <a:ext cx="3063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852160" y="100584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Bandeira: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as regras e roteia transações. É a fonte da regulamentação de todo o ecossistema.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0720" y="1691640"/>
            <a:ext cx="3063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0" y="169164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Adquirente: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direta com a Bandeira. Faz settlement e assume risco financeiro primário.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60720" y="2377440"/>
            <a:ext cx="3063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852160" y="237744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empresa que presta serviços em nome do Adquirente. Deve ser registrada.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3063240"/>
            <a:ext cx="3063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852160" y="306324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PayFac: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 sub-lojistas. Recebe os fundos e é obrigado a pagar os afiliados.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60720" y="3749040"/>
            <a:ext cx="3063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852160" y="374904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Sub-Lojista: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sob o guarda-chuva do PayFac. Não tem relação direta com a Bandeira.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Adquirente vs PayFac vs Marketplace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1031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31720" y="960120"/>
            <a:ext cx="2194560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331720" y="960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Adquirente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960120"/>
            <a:ext cx="246888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26280" y="960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PayFac / Subadquirente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95160" y="960120"/>
            <a:ext cx="21031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995160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463040"/>
            <a:ext cx="210312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01752" y="146304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Bandeira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31720" y="1463040"/>
            <a:ext cx="219456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404872" y="14630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Direta (ICA/BIN)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6280" y="1463040"/>
            <a:ext cx="246888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99432" y="14630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Adquirente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95160" y="1463040"/>
            <a:ext cx="210312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068312" y="146304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Adquirente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1975104"/>
            <a:ext cx="210312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01752" y="19751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31720" y="1975104"/>
            <a:ext cx="21945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404872" y="19751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Lojistas diretos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1975104"/>
            <a:ext cx="24688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99432" y="19751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Sub-lojistas (afiliados)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95160" y="1975104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068312" y="19751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Varejistas do marketplace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2487168"/>
            <a:ext cx="210312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01752" y="24871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Fundos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31720" y="2487168"/>
            <a:ext cx="219456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2404872" y="248716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do Banco Emissor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26280" y="2487168"/>
            <a:ext cx="246888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599432" y="24871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do Adquirente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95160" y="2487168"/>
            <a:ext cx="210312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068312" y="24871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do Adquirente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2999232"/>
            <a:ext cx="210312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301752" y="29992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de Pagar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31720" y="2999232"/>
            <a:ext cx="21945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2404872" y="29992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Payfac / Lojista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26280" y="2999232"/>
            <a:ext cx="24688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599432" y="299923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Sub-Lojista (obrigatório)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95160" y="2999232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7068312" y="29992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Varejistas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3511296"/>
            <a:ext cx="210312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301752" y="35112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Primário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31720" y="3511296"/>
            <a:ext cx="219456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2404872" y="351129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100%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26280" y="3511296"/>
            <a:ext cx="246888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599432" y="351129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(fraude, chargeback)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95160" y="3511296"/>
            <a:ext cx="210312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7068312" y="35112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disputas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8600" y="4023360"/>
            <a:ext cx="210312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301752" y="40233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KYC/KYB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31720" y="4023360"/>
            <a:ext cx="21945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2404872" y="40233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 completo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26280" y="4023360"/>
            <a:ext cx="24688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4599432" y="402336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 por sub-lojista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95160" y="4023360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7068312" y="40233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 por varejista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28600" y="4535424"/>
            <a:ext cx="210312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301752" y="453542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331720" y="4535424"/>
            <a:ext cx="219456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2404872" y="453542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Fiserv, Adyen, Worldpay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526280" y="4535424"/>
            <a:ext cx="246888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4599432" y="453542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Pagar.me, Checkout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995160" y="4535424"/>
            <a:ext cx="210312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7068312" y="453542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Hotmart, Ticto, Kiwify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Cada Empresa se Encaixa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8346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Adquirentes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 dos Trilhos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Fiserv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331720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Worldpay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788920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3152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46120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315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" y="3801291"/>
            <a:ext cx="2752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Possuem licença ICA/BIN direta com Mastercard e Visa. Processam volumes em massa, liquidam com os bancos e patrocinam (sponsor) os PayFacs abaixo deles.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960120"/>
            <a:ext cx="57150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3246120" y="960120"/>
            <a:ext cx="2834640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337560" y="960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PayFacs / Gateways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Tecnologia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83280" y="1874520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3429000" y="1920240"/>
            <a:ext cx="201168" cy="20116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37033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3429000" y="2377440"/>
            <a:ext cx="201168" cy="20116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7033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Checkout.com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89811" y="2740914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3429000" y="2834640"/>
            <a:ext cx="201168" cy="20116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703320" y="274091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Pagar.me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57109" y="233172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Atuam como Payment Facilitators e Gateways. Simplificam a integração e podem ter licença de adquirente em alguns países.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55848" y="3177540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3401568" y="322326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3675888" y="31775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Hotmart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64992" y="4091940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3410712" y="413766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3685032" y="40919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Kiwify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 rot="16200000">
            <a:off x="4832604" y="3108960"/>
            <a:ext cx="265176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40">
            <a:extLst>
              <a:ext uri="{FF2B5EF4-FFF2-40B4-BE49-F238E27FC236}">
                <a16:creationId xmlns:a16="http://schemas.microsoft.com/office/drawing/2014/main" id="{5C0C9C9C-E66A-9EF1-18DC-5D6F37EDD168}"/>
              </a:ext>
            </a:extLst>
          </p:cNvPr>
          <p:cNvSpPr/>
          <p:nvPr/>
        </p:nvSpPr>
        <p:spPr>
          <a:xfrm>
            <a:off x="3383280" y="3584448"/>
            <a:ext cx="2560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318504" y="173736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Operam sobre infraestrutura de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adquirentes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Adyen/Stripe. Fazem o split de pagamento, retêm taxa, e repassam para produtores e afiliados.</a:t>
            </a:r>
            <a:endParaRPr lang="en-US" sz="900" dirty="0"/>
          </a:p>
        </p:txBody>
      </p:sp>
      <p:sp>
        <p:nvSpPr>
          <p:cNvPr id="53" name="Shape 34">
            <a:extLst>
              <a:ext uri="{FF2B5EF4-FFF2-40B4-BE49-F238E27FC236}">
                <a16:creationId xmlns:a16="http://schemas.microsoft.com/office/drawing/2014/main" id="{D4520C1D-171C-6827-1B96-CFE81B4C1DAE}"/>
              </a:ext>
            </a:extLst>
          </p:cNvPr>
          <p:cNvSpPr/>
          <p:nvPr/>
        </p:nvSpPr>
        <p:spPr>
          <a:xfrm>
            <a:off x="411480" y="3742509"/>
            <a:ext cx="265176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3401568" y="368046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3721608" y="3584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Ticto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de uma Transação — Autorização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35131" y="1985555"/>
            <a:ext cx="11155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35131" y="1985555"/>
            <a:ext cx="1115568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10035" y="1756955"/>
            <a:ext cx="365760" cy="365760"/>
          </a:xfrm>
          <a:prstGeom prst="ellipse">
            <a:avLst/>
          </a:prstGeom>
          <a:solidFill>
            <a:srgbClr val="6366F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10035" y="17569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0851" y="2442755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0851" y="2945675"/>
            <a:ext cx="10241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 dados do cartão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59843" y="2854235"/>
            <a:ext cx="73152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442139" y="1985555"/>
            <a:ext cx="11155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442139" y="1985555"/>
            <a:ext cx="1115568" cy="4572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817043" y="1756955"/>
            <a:ext cx="365760" cy="365760"/>
          </a:xfrm>
          <a:prstGeom prst="ellipse">
            <a:avLst/>
          </a:prstGeom>
          <a:solidFill>
            <a:srgbClr val="2E5FA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817043" y="17569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7859" y="2442755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Plataforma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87859" y="2945675"/>
            <a:ext cx="10241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e envia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PSP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diretamente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Adquirente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6851" y="2854235"/>
            <a:ext cx="73152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649147" y="1985555"/>
            <a:ext cx="11155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649147" y="1985555"/>
            <a:ext cx="1115568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024051" y="1756955"/>
            <a:ext cx="365760" cy="365760"/>
          </a:xfrm>
          <a:prstGeom prst="ellipse">
            <a:avLst/>
          </a:prstGeom>
          <a:solidFill>
            <a:srgbClr val="4A90D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024051" y="17569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94867" y="2442755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/ PSP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94867" y="2945675"/>
            <a:ext cx="10241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 e roteia ao adquirente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73859" y="2854235"/>
            <a:ext cx="73152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856155" y="1985555"/>
            <a:ext cx="11155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856155" y="1985555"/>
            <a:ext cx="1115568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231059" y="1756955"/>
            <a:ext cx="365760" cy="3657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231059" y="17569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01875" y="2442755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Adquirente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901875" y="2945675"/>
            <a:ext cx="10241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com a bandeira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80867" y="2854235"/>
            <a:ext cx="73152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5063163" y="1985555"/>
            <a:ext cx="11155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063163" y="1985555"/>
            <a:ext cx="111556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5438067" y="1756955"/>
            <a:ext cx="365760" cy="36576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5438067" y="17569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08883" y="2442755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Bandeira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108883" y="2945675"/>
            <a:ext cx="10241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Roteia ao banco emissor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87875" y="2854235"/>
            <a:ext cx="73152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270171" y="1985555"/>
            <a:ext cx="11155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6270171" y="1985555"/>
            <a:ext cx="1115568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645075" y="1756955"/>
            <a:ext cx="365760" cy="36576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645075" y="17569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15891" y="2442755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Emissor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15891" y="2945675"/>
            <a:ext cx="10241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saldo e aprova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394883" y="2854235"/>
            <a:ext cx="73152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7477179" y="1985555"/>
            <a:ext cx="11155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7477179" y="1985555"/>
            <a:ext cx="1115568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7852083" y="1756955"/>
            <a:ext cx="365760" cy="365760"/>
          </a:xfrm>
          <a:prstGeom prst="ellipse">
            <a:avLst/>
          </a:prstGeom>
          <a:solidFill>
            <a:srgbClr val="E8772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7852083" y="17569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522899" y="2442755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522899" y="2945675"/>
            <a:ext cx="10241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/ Recusado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Modelos para Operar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83464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005840"/>
            <a:ext cx="118872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828800" y="1005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Subadquirente Pronto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719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rápida de produto e tráfego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993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ganha: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Split nativo integrado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542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Checkout pronto para uso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816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Antifraude incluído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Liquidação simplificada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456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Desvantagens: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7124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Menor margem por transação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9502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Controle fino limitado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4187952"/>
            <a:ext cx="26517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65760" y="4251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Pagar.me · PagSeguro · Mercado Pago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960120"/>
            <a:ext cx="283464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7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3246120" y="960120"/>
            <a:ext cx="2834640" cy="9601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337560" y="9875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1005840"/>
            <a:ext cx="118872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800600" y="1005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1325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PayFac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1719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com controle da experiência de pagamento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7560" y="1993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ganha: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Onboarding próprio dos afiliados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2542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Regras de split customizáveis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2816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Controle do fluxo financeiro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UX personalizada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37560" y="3456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Desvantagens: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83280" y="37124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KYC/KYB obrigatório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83280" y="39502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Risco assume-se com o volume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37560" y="4187952"/>
            <a:ext cx="26517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3337560" y="4251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 · Adyen · Worldpay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960120"/>
            <a:ext cx="283464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217920" y="960120"/>
            <a:ext cx="283464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309360" y="9875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72400" y="1005840"/>
            <a:ext cx="118872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772400" y="1005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Escala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1325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Adquirente Próprio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09360" y="1719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direta com as bandeiras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09360" y="1993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ganha: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5508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Máxima margem possível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55080" y="2542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IRD e roteamento próprios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55080" y="2816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Controle total do clearing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09360" y="3182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Desvantagens: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55080" y="34381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Caro e regulatório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55080" y="36758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Exige escala gigante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55080" y="39136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Aprovação das bandeiras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09360" y="4187952"/>
            <a:ext cx="26517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6309360" y="4251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· Mastercard (direto)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de Receita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02920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502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Markup de Taxa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08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fonte de receita. Paga 3% ao adquirente e cobra 6–10% do lojista.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212848"/>
            <a:ext cx="33832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68680" y="22677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Custo: 3% → Cobra: 7% → Lucro: 4% por transação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502920" cy="18745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09160" y="1005840"/>
            <a:ext cx="502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Taxa por Saque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508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Cobrada quando o afiliado solicita transferência do saldo acumulado.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2212848"/>
            <a:ext cx="33832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303520" y="22677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R$ 3 a R$ 10 por saque solicitado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502920" cy="18745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74320" y="3063240"/>
            <a:ext cx="502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5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Taxa Fixa por Venda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566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fixo cobrado além do percentual sobre cada transação aprovada.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4270248"/>
            <a:ext cx="33832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68680" y="43251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R$ 0,50 a R$ 2,00 por transação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06324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709160" y="3063240"/>
            <a:ext cx="502920" cy="1874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709160" y="3063240"/>
            <a:ext cx="502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0352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 (Cashflow)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3566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sobre o tempo entre receber do adquirente e pagar o afiliado (D+7, D+15).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4270248"/>
            <a:ext cx="33832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303520" y="43251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Rendimento sobre capital em float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Gestão de Riscos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8346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 Financeiro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11430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91640" y="1572768"/>
            <a:ext cx="13258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691640" y="15727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1143000" cy="82296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84048" y="1920240"/>
            <a:ext cx="1106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91640" y="1920240"/>
            <a:ext cx="132588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709928" y="1920240"/>
            <a:ext cx="1289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financeira + antifraude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1143000" cy="82296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84048" y="2880360"/>
            <a:ext cx="1106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transacional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91640" y="2880360"/>
            <a:ext cx="132588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709928" y="2880360"/>
            <a:ext cx="1289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KYC/KYB + lista MATCH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1143000" cy="82296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84048" y="3840480"/>
            <a:ext cx="1106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de afiliado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91640" y="3840480"/>
            <a:ext cx="132588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709928" y="3840480"/>
            <a:ext cx="1289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de percentual em reserva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960120"/>
            <a:ext cx="283464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A8A0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3246120" y="960120"/>
            <a:ext cx="2834640" cy="54864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33756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 Operacional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37560" y="1572768"/>
            <a:ext cx="11430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337560" y="15727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1572768"/>
            <a:ext cx="13258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663440" y="15727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37560" y="1920240"/>
            <a:ext cx="1143000" cy="82296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355848" y="1920240"/>
            <a:ext cx="1106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em webhook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920240"/>
            <a:ext cx="132588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681728" y="1920240"/>
            <a:ext cx="1289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automático + fila de mensagens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37560" y="2880360"/>
            <a:ext cx="1143000" cy="82296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3355848" y="2880360"/>
            <a:ext cx="1106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Inconsistência de split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880360"/>
            <a:ext cx="132588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681728" y="2880360"/>
            <a:ext cx="1289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diária do ledger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37560" y="3840480"/>
            <a:ext cx="1143000" cy="82296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3355848" y="3840480"/>
            <a:ext cx="1106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Indisponibilidade do PSP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3840480"/>
            <a:ext cx="132588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681728" y="3840480"/>
            <a:ext cx="1289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Multi-provedor / fallback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17920" y="960120"/>
            <a:ext cx="283464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217920" y="960120"/>
            <a:ext cx="283464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30936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 Regulatório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09360" y="1572768"/>
            <a:ext cx="11430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309360" y="15727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635240" y="1572768"/>
            <a:ext cx="13258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7635240" y="15727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309360" y="1920240"/>
            <a:ext cx="1143000" cy="82296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6327648" y="1920240"/>
            <a:ext cx="1106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KYC/KYB incompleto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635240" y="1920240"/>
            <a:ext cx="132588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7653528" y="1920240"/>
            <a:ext cx="1289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onboarding estruturado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09360" y="2880360"/>
            <a:ext cx="1143000" cy="82296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6327648" y="2880360"/>
            <a:ext cx="1106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não cumprido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635240" y="2880360"/>
            <a:ext cx="132588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7653528" y="2880360"/>
            <a:ext cx="1289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 + certificação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309360" y="3840480"/>
            <a:ext cx="1143000" cy="82296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6327648" y="3840480"/>
            <a:ext cx="1106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sem registro formal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635240" y="3840480"/>
            <a:ext cx="132588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7653528" y="3840480"/>
            <a:ext cx="1289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nas bandeiras no prazo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Regulamentação: ELO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73152" cy="5029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51790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Liquidação via CIP no prazo regulatório vigente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249424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capturadas via Credenciador homologado na bandeira Elo com SoftDescriptor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Subcredenciador responsável por homologar integração com cada Credenciador com que irá operar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96012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200400" y="960120"/>
            <a:ext cx="27432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73152" cy="5029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337560" y="960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1591056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566160" y="151790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via portal elo.com.br → 'Seja um facilitador'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249424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566160" y="21762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de formulário com dados do representante legal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2907792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56616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assinado eletronicamente (enviar para aceitacaofacilitadores@elo.com.br)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3566160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566160" y="34930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assinatura, Elo disponibiliza o ID-Subcredenciador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96012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126480" y="960120"/>
            <a:ext cx="27432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126480" y="960120"/>
            <a:ext cx="73152" cy="5029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263640" y="960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Habilitação em Produção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1591056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92240" y="151790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assinado + trilha de Negociação concluída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2249424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492240" y="21762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de Compliance &amp; Segurança da Informação concluída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2907792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9224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SoftDescriptor concluída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3566160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492240" y="34930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 ECs físicos] Trilha PVTE concluída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63640" y="4224528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492240" y="41513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 exigido] Trilha CIP para liquidação via câmara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Regulamentação: VISA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502920"/>
          </a:xfrm>
          <a:prstGeom prst="rect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73152" cy="5029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51790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obrigatório via Program Request Management (visaonline.com)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23113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15798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complementar: Visa Marketplace Program Registration Form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87121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27980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de PayFac atribuído pela Visa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51129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43814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por Comerciante Patrocinado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200400" y="960120"/>
            <a:ext cx="2743200" cy="502920"/>
          </a:xfrm>
          <a:prstGeom prst="rect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73152" cy="5029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337560" y="960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Obrigações do PayFac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59105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566160" y="151790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por TODOS os atos dos comerciantes patrocinados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223113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566160" y="215798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Proibido depositar em nome de outro facilitador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87121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566160" y="27980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PCI DSS para todos os comerciantes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351129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566160" y="343814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Fornecer atendimento ao cliente diretamente ou via comerciante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415137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566160" y="407822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repassar responsabilidade financeira ao titular do cartão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96012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126480" y="960120"/>
            <a:ext cx="2743200" cy="502920"/>
          </a:xfrm>
          <a:prstGeom prst="rect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126480" y="960120"/>
            <a:ext cx="73152" cy="5029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263640" y="960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e Regras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159105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92240" y="151790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Comerciante &gt; US$ 1M/ano: contrato direto com Adquirente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223113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492240" y="215798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Marketplace: varejistas fora da jurisdição não podem exceder USD 10M anuais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63640" y="287121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492240" y="27980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Varejistas externos: limitados a 10% do volume total do Marketplace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63640" y="3511296"/>
            <a:ext cx="164592" cy="164592"/>
          </a:xfrm>
          <a:prstGeom prst="ellipse">
            <a:avLst/>
          </a:prstGeom>
          <a:solidFill>
            <a:srgbClr val="1A1F71"/>
          </a:solidFill>
          <a:ln w="12700">
            <a:solidFill>
              <a:srgbClr val="1A1F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492240" y="343814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Comerciante de alto risco de marca: registro especial como Internet High-Risk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EB001B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Regulamentação: MASTERCARD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0233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73152" cy="502920"/>
          </a:xfrm>
          <a:prstGeom prst="rect">
            <a:avLst/>
          </a:prstGeom>
          <a:solidFill>
            <a:srgbClr val="EB001B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e Obrigações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146304" cy="146304"/>
          </a:xfrm>
          <a:prstGeom prst="ellipse">
            <a:avLst/>
          </a:prstGeom>
          <a:solidFill>
            <a:srgbClr val="EB001B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21792" y="151790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via Mastercard Connect: My Company Manager &gt; Related Companies &gt; Payment Facilitator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103120"/>
            <a:ext cx="146304" cy="146304"/>
          </a:xfrm>
          <a:prstGeom prst="ellipse">
            <a:avLst/>
          </a:prstGeom>
          <a:solidFill>
            <a:srgbClr val="EB001B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21792" y="20299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PayFac não pode ser patrocinado de outro PayFac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615184"/>
            <a:ext cx="146304" cy="146304"/>
          </a:xfrm>
          <a:prstGeom prst="ellipse">
            <a:avLst/>
          </a:prstGeom>
          <a:solidFill>
            <a:srgbClr val="EB001B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21792" y="254203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PayFac não pode patrocinar outro PayFac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127248"/>
            <a:ext cx="146304" cy="146304"/>
          </a:xfrm>
          <a:prstGeom prst="ellipse">
            <a:avLst/>
          </a:prstGeom>
          <a:solidFill>
            <a:srgbClr val="EB001B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21792" y="30540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de enviar transações válidas ao Adquirente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639312"/>
            <a:ext cx="146304" cy="146304"/>
          </a:xfrm>
          <a:prstGeom prst="ellipse">
            <a:avLst/>
          </a:prstGeom>
          <a:solidFill>
            <a:srgbClr val="EB001B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1792" y="356616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continuamente a atividade dos sub-lojistas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146304" cy="146304"/>
          </a:xfrm>
          <a:prstGeom prst="ellipse">
            <a:avLst/>
          </a:prstGeom>
          <a:solidFill>
            <a:srgbClr val="EB001B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21792" y="40782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os Estabelecimentos Comerciais Patrocinados por todas as transações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4663440"/>
            <a:ext cx="146304" cy="146304"/>
          </a:xfrm>
          <a:prstGeom prst="ellipse">
            <a:avLst/>
          </a:prstGeom>
          <a:solidFill>
            <a:srgbClr val="EB001B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21792" y="459028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trimestral de atividade por sub-lojista ao Adquirente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960120"/>
            <a:ext cx="42976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572000" y="960120"/>
            <a:ext cx="42976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73152" cy="502920"/>
          </a:xfrm>
          <a:prstGeom prst="rect">
            <a:avLst/>
          </a:prstGeom>
          <a:solidFill>
            <a:srgbClr val="EB001B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e MCCs de Exceção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1572768"/>
            <a:ext cx="411480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709160" y="15727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Sub-lojista com volume anual Mastercard + Maestro &gt; USD 10 milhões deve fazer Acordo direto com o Adquirente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MCCs de Exceção (isentos do limite de USD 10M):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542032"/>
            <a:ext cx="411480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736592" y="2542032"/>
            <a:ext cx="3968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4900 — Serviços Públicos (água, gás, energia)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880360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736592" y="2880360"/>
            <a:ext cx="3968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6012 — Serviços Financeiros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218688"/>
            <a:ext cx="411480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736592" y="3218688"/>
            <a:ext cx="3968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6513 — Imóveis / Aluguéis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557016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736592" y="3557016"/>
            <a:ext cx="3968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8011 / 8050 / 8062 / 8099 — Saúde (médicos, hospitais)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895344"/>
            <a:ext cx="411480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736592" y="3895344"/>
            <a:ext cx="3968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8211 / 8220 / 8241 / 8244 / 8249 / 8299 — Educação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4233672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736592" y="4233672"/>
            <a:ext cx="3968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9311 — Pagamentos de Impostos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de Implementação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80160" y="2240280"/>
            <a:ext cx="662940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280160" y="2103120"/>
            <a:ext cx="320040" cy="32004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74320" y="2606040"/>
            <a:ext cx="28346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283464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·  Início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Validação Rápida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456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Integrar Pagar.me ou similar via 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Gestão de comissão no próprio sistema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Markup agressivo para geração de caixa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4608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Dashboard simples de afiliados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10058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PSP pronto, controlar afiliado no sistema, split lógico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2103120"/>
            <a:ext cx="320040" cy="320040"/>
          </a:xfrm>
          <a:prstGeom prst="ellipse">
            <a:avLst/>
          </a:prstGeom>
          <a:solidFill>
            <a:srgbClr val="E8772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246120" y="2606040"/>
            <a:ext cx="28346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7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246120" y="2606040"/>
            <a:ext cx="2834640" cy="777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3756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·  Crescimento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Avançado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3456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Migração para PayFac (Stripe Connect / Adyen)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Split nativo e controle de onboarding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Customização de pricing por cliente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4608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KYC/KYB estruturado para afiliados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6120" y="10058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Stripe Connect ou Adyen para escalar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2103120"/>
            <a:ext cx="320040" cy="32004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217920" y="2606040"/>
            <a:ext cx="28346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217920" y="2606040"/>
            <a:ext cx="28346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30936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·  Alta Escala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PayFac com Adquirente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3456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Negociar modelo PayFac com Adquirente (ex: Worldpay)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508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Capturar parte do MDR real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Registro nas bandeiras (Visa, Mastercard, Elo)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55080" y="4608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Relatórios trimestrais às bandeiras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10058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justifica negociar modelo PayFac formal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822960"/>
          </a:xfrm>
          <a:prstGeom prst="rect">
            <a:avLst/>
          </a:prstGeom>
          <a:solidFill>
            <a:srgbClr val="243B67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73152" cy="82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está construindo uma máquina de vendas com distribuição via afiliados e camada financeira própria — o modelo exato de Hotmart, Ticto e Kiwify.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114800" cy="777240"/>
          </a:xfrm>
          <a:prstGeom prst="rect">
            <a:avLst/>
          </a:prstGeom>
          <a:solidFill>
            <a:srgbClr val="243B67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502920" cy="777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PSP / Adquirente parceiro para iniciar a operação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828800"/>
            <a:ext cx="4114800" cy="777240"/>
          </a:xfrm>
          <a:prstGeom prst="rect">
            <a:avLst/>
          </a:prstGeom>
          <a:solidFill>
            <a:srgbClr val="243B67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502920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17720" y="18288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182880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o processo de KYC/KYB para onboarding de afiliados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4114800" cy="777240"/>
          </a:xfrm>
          <a:prstGeom prst="rect">
            <a:avLst/>
          </a:prstGeom>
          <a:solidFill>
            <a:srgbClr val="243B67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50292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20040" y="27432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74320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Registrar-se nas bandeiras (Elo, Visa, Mastercard) conforme volume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2743200"/>
            <a:ext cx="4114800" cy="777240"/>
          </a:xfrm>
          <a:prstGeom prst="rect">
            <a:avLst/>
          </a:prstGeom>
          <a:solidFill>
            <a:srgbClr val="243B6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617720" y="2743200"/>
            <a:ext cx="50292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617720" y="27432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274320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controles de chargeback, fraude e relatórios trimestrais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42847"/>
          </a:solidFill>
          <a:ln w="12700">
            <a:solidFill>
              <a:srgbClr val="1428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EcommIT  |  Facilitadores de Pagamento  |  Maio 2025  |  Confidencial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1547</Words>
  <Application>Microsoft Office PowerPoint</Application>
  <PresentationFormat>On-screen Show (16:9)</PresentationFormat>
  <Paragraphs>316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Facilitadores de Pagamento</dc:title>
  <dc:subject>PptxGenJS Presentation</dc:subject>
  <dc:creator>EcommIT</dc:creator>
  <cp:lastModifiedBy>Vinicius Sugamele</cp:lastModifiedBy>
  <cp:revision>2</cp:revision>
  <dcterms:created xsi:type="dcterms:W3CDTF">2026-05-05T18:06:37Z</dcterms:created>
  <dcterms:modified xsi:type="dcterms:W3CDTF">2026-05-05T18:20:08Z</dcterms:modified>
</cp:coreProperties>
</file>