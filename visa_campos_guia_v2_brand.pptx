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65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28600"/>
                </a:solidFill>
              </a:rPr>
              <a:t>VISA INTERCHANGE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 xml:space="preserve">Variáveis de </a:t>
            </a:r>
            <a:r>
              <a:rPr lang="en-US" sz="3400" b="1" dirty="0" err="1">
                <a:solidFill>
                  <a:srgbClr val="FFFFFF"/>
                </a:solidFill>
              </a:rPr>
              <a:t>Expressão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463040" cy="45720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A4A4A"/>
                </a:solidFill>
              </a:rPr>
              <a:t>Regras</a:t>
            </a:r>
            <a:r>
              <a:rPr lang="en-US" sz="1200" dirty="0">
                <a:solidFill>
                  <a:srgbClr val="4A4A4A"/>
                </a:solidFill>
              </a:rPr>
              <a:t xml:space="preserve"> no sistema de Interchange Fee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BASE II · VIP · IRF Guide Brazil ·  —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8600"/>
                </a:solidFill>
              </a:rPr>
              <a:t>19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4297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Variáveis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mapeadas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42519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560320" y="42793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8600"/>
                </a:solidFill>
              </a:rPr>
              <a:t>47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4297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Regras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Visa BR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0" y="42519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0" y="42793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8600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12080" y="4297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Fontes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 dado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VISÃO GERAL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De onde vêm as variáveis?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 xml:space="preserve">Cada variável usada nas </a:t>
            </a:r>
            <a:r>
              <a:rPr lang="en-US" sz="1050" dirty="0" err="1">
                <a:solidFill>
                  <a:srgbClr val="4A4A4A"/>
                </a:solidFill>
              </a:rPr>
              <a:t>expressões</a:t>
            </a:r>
            <a:r>
              <a:rPr lang="en-US" sz="1050" dirty="0">
                <a:solidFill>
                  <a:srgbClr val="4A4A4A"/>
                </a:solidFill>
              </a:rPr>
              <a:t xml:space="preserve"> </a:t>
            </a:r>
            <a:r>
              <a:rPr lang="en-US" sz="1050" dirty="0" err="1">
                <a:solidFill>
                  <a:srgbClr val="4A4A4A"/>
                </a:solidFill>
              </a:rPr>
              <a:t>tem</a:t>
            </a:r>
            <a:r>
              <a:rPr lang="en-US" sz="1050" dirty="0">
                <a:solidFill>
                  <a:srgbClr val="4A4A4A"/>
                </a:solidFill>
              </a:rPr>
              <a:t xml:space="preserve"> origem em um campo específico da transação Visa.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43200" cy="5943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📄  BASE II Clearing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Arquivo de liquidação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(TC 05, TC 07, TC 15...)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2743200" cy="29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29768" y="2203704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SETTL_FLAG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250545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TRAN_CODE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2807208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94360" y="2752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TCQ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3108960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9436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" y="3410712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MOTO_ECI_IND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" y="3712464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POS_ENTRY_MODE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" y="401421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94360" y="3959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" y="4315968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94360" y="4261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1463040"/>
            <a:ext cx="2743200" cy="594360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38328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🗂️  Derivado do BIN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1773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Tabela de produtos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registrada na Visa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205740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401568" y="2203704"/>
            <a:ext cx="109728" cy="109728"/>
          </a:xfrm>
          <a:prstGeom prst="ellipse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56616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01568" y="2505456"/>
            <a:ext cx="109728" cy="109728"/>
          </a:xfrm>
          <a:prstGeom prst="ellipse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56616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01568" y="2807208"/>
            <a:ext cx="109728" cy="109728"/>
          </a:xfrm>
          <a:prstGeom prst="ellipse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566160" y="2752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SUBTYPE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01568" y="3108960"/>
            <a:ext cx="109728" cy="109728"/>
          </a:xfrm>
          <a:prstGeom prst="ellipse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56616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ISS_REG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1463040"/>
            <a:ext cx="2743200" cy="5943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35508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VIP / Autorização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1773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Campos retidos 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message ISO 8583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63640" y="205740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53796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RESP_CODE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73368" y="2505456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53796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73368" y="2807208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537960" y="2752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73368" y="3108960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53796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73368" y="3410712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94360" y="456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29768" y="4617984"/>
            <a:ext cx="109728" cy="109728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653796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063240" y="3383280"/>
            <a:ext cx="22860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6035040" y="3383280"/>
            <a:ext cx="22860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CAMPOS FUNDAMENTAIS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SETTL_FLAG  e  AFS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Presentes em quase todas as regras — definem jurisdição e tipo de conta.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97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297680" cy="34747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SETTL_FLAG  —  Settlement Flag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Origem: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0, posição 150  |  Campo BASE II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Valores: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4023360" cy="347472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23682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340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3774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NNSS doméstico (Brasil → Brasil)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4023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02920" y="27523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2920" y="27249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'9'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7614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NNSS doméstico (padrão recomendado)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4023360" cy="347472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02920" y="31363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2920" y="31089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31455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Internacional / cross-border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6C27A"/>
                </a:solidFill>
              </a:rPr>
              <a:t>⚠️  Regras NNSS usam IN ('8','9'). Regras internacionais usam ='0'. Nunca misture.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137160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800600" y="1371600"/>
            <a:ext cx="4023360" cy="347472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92040" y="13898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AFS  —  Account Funding Source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828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Origem: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52160" y="18288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28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Derivado da tabela de BIN Ranges Visa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3776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Valores: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2304288"/>
            <a:ext cx="3749040" cy="274320"/>
          </a:xfrm>
          <a:prstGeom prst="rect">
            <a:avLst/>
          </a:prstGeom>
          <a:solidFill>
            <a:srgbClr val="FFF8F0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974336" y="2340864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974336" y="23225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94960" y="2359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Crédito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37760" y="2615184"/>
            <a:ext cx="3749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974336" y="265176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974336" y="263347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'D'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94960" y="2670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Débito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37760" y="2926080"/>
            <a:ext cx="3749040" cy="274320"/>
          </a:xfrm>
          <a:prstGeom prst="rect">
            <a:avLst/>
          </a:prstGeom>
          <a:solidFill>
            <a:srgbClr val="FFF8F0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4974336" y="2962656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974336" y="29443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'P'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94960" y="2980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Pré-pago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37760" y="3236976"/>
            <a:ext cx="3749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4974336" y="3273552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974336" y="325526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'H'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94960" y="3291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Charge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37760" y="3547872"/>
            <a:ext cx="3749040" cy="274320"/>
          </a:xfrm>
          <a:prstGeom prst="rect">
            <a:avLst/>
          </a:prstGeom>
          <a:solidFill>
            <a:srgbClr val="FFF8F0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4974336" y="3584448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974336" y="356616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'R'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394960" y="3602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Deferred Debit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37760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28600"/>
                </a:solidFill>
              </a:rPr>
              <a:t>ℹ️  AFS é determinado automaticamente pelo BIN Range — não enviado na transação.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4270000"/>
            <a:ext cx="85039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57200" y="4306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🔒  Trava Geográfica: ACQR_COUNTRY_CODE e ISSR_COUNTRY_CODE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4580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 xml:space="preserve">O SETTL_FLAG identifica o tipo de liquidação, mas não é suficiente isoladamente. O código de país </a:t>
            </a:r>
            <a:r>
              <a:rPr lang="en-US" sz="8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076 (Brasil)</a:t>
            </a:r>
            <a:r>
              <a:rPr lang="en-US" sz="800" dirty="0">
                <a:solidFill>
                  <a:srgbClr val="2C2C2C"/>
                </a:solidFill>
              </a:rPr>
              <a:t xml:space="preserve"> é o que garante que a transação é doméstica.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2C2C2C"/>
                </a:solidFill>
              </a:rPr>
              <a:t>ISSR_COUNTRY_CODE:</a:t>
            </a:r>
            <a:r>
              <a:rPr lang="en-US" sz="800" dirty="0">
                <a:solidFill>
                  <a:srgbClr val="2C2C2C"/>
                </a:solidFill>
              </a:rPr>
              <a:t xml:space="preserve"> VIP Field 19 / Field 43 (autorização) ou TCR 0, pos. 130-132 (clearing)  |  </a:t>
            </a:r>
            <a:r>
              <a:rPr lang="en-US" sz="800" b="1" dirty="0">
                <a:solidFill>
                  <a:srgbClr val="2C2C2C"/>
                </a:solidFill>
              </a:rPr>
              <a:t>ACQR_COUNTRY_CODE:</a:t>
            </a:r>
            <a:r>
              <a:rPr lang="en-US" sz="800" dirty="0">
                <a:solidFill>
                  <a:srgbClr val="2C2C2C"/>
                </a:solidFill>
              </a:rPr>
              <a:t xml:space="preserve"> derivado do BIN adquirente (análogo ao ISSR_COUNTRY_CODE)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PRODUTO &amp; REGIÃO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PID, SUBTYPE, ISS_REG  e  ACQR_REG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Identificam o produto Visa, o subtipo e a região do emissor — todos derivados do BIN.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97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297680" cy="32918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PID — Product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Posição: derivado do BIN Range (Visa Product Table)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I^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Infinite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34086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3225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440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HNW / Signature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1480" y="25968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F^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26334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Classic / CLS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88950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28712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N^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Platinum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316382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F6C27A"/>
          </a:solidFill>
          <a:ln w="12700">
            <a:solidFill>
              <a:srgbClr val="F6C2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1480" y="31455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P^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14400" y="3182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Gold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14600" y="206654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514600" y="2048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17520" y="20848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BNDES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14600" y="234086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514600" y="23225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1752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Vale (Benefício)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14600" y="261518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514600" y="25968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017520" y="26334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Agro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14600" y="288950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2514600" y="28712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X^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017520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B2B Virtual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14600" y="316382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2514600" y="31455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K^/S^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017520" y="3182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Corp Travel CTA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00600" y="1371600"/>
            <a:ext cx="1828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800600" y="1371600"/>
            <a:ext cx="1828800" cy="310896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892040" y="1389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SUBTYPE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17373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Derivado do BIN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92040" y="197510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892040" y="1956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'VA'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440680" y="199339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Vale Alim.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92040" y="226771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892040" y="22494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'VR'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440680" y="22860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Vale Ref.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92040" y="256032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892040" y="25420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'VCUS'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440680" y="25786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Agro Cust.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12280" y="137160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6812280" y="1371600"/>
            <a:ext cx="2011680" cy="310896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690372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ISS_REG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0372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Derivado do BIN (região ISO)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903720" y="1975104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6903720" y="195681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434072" y="19933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LAC — Latin America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903720" y="2377440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6903720" y="23591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≠'5'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434072" y="23957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Internacional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00600" y="3246120"/>
            <a:ext cx="4023360" cy="1417320"/>
          </a:xfrm>
          <a:prstGeom prst="rect">
            <a:avLst/>
          </a:prstGeom>
          <a:solidFill>
            <a:srgbClr val="F2F2F2"/>
          </a:solidFill>
          <a:ln w="63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4937760" y="3310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Como obter PID, AFS, SUBTYPE, ISS_REG e ACQR_REG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37760" y="360273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2C2C"/>
                </a:solidFill>
              </a:rPr>
              <a:t xml:space="preserve">1. </a:t>
            </a:r>
            <a:r>
              <a:rPr lang="en-US" sz="800" dirty="0">
                <a:solidFill>
                  <a:srgbClr val="2C2C2C"/>
                </a:solidFill>
              </a:rPr>
              <a:t>Receber o PAN na autorização (VIP Field 2)
</a:t>
            </a:r>
            <a:r>
              <a:rPr lang="en-US" sz="800" b="1" dirty="0">
                <a:solidFill>
                  <a:srgbClr val="2C2C2C"/>
                </a:solidFill>
              </a:rPr>
              <a:t xml:space="preserve">2. </a:t>
            </a:r>
            <a:r>
              <a:rPr lang="en-US" sz="800" dirty="0">
                <a:solidFill>
                  <a:srgbClr val="2C2C2C"/>
                </a:solidFill>
              </a:rPr>
              <a:t>Consultar BIN Range table (IP0015T1 / IP0016T1 no MPE)
</a:t>
            </a:r>
            <a:r>
              <a:rPr lang="en-US" sz="800" b="1" dirty="0">
                <a:solidFill>
                  <a:srgbClr val="2C2C2C"/>
                </a:solidFill>
              </a:rPr>
              <a:t xml:space="preserve">3. </a:t>
            </a:r>
            <a:r>
              <a:rPr lang="en-US" sz="800" dirty="0">
                <a:solidFill>
                  <a:srgbClr val="2C2C2C"/>
                </a:solidFill>
              </a:rPr>
              <a:t>Extrair: Product ID, AFS type, Subtype, ISS_REG (região emissor).
ACQR_REG é derivado analogamente do BIN do adquirente (mesmos códigos de região Visa: 1=US 2=CA 3=EU 4=AP 5=LAC 6=CEMEA). Para regras inter-regionais, o motor compara ISS_REG com ACQR_REG.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PRESENÇA &amp; eCommerce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</a:rPr>
              <a:t>POS_ENTRY_MODE  e  MOTO_ECI_IND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Determinam se a transação é presencial e se tem autenticação Visa Secure (3DS).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8463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846320" cy="32918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POS_ENTRY_MODE  (TCR 0, pos. 162-163  |  VIP Field 22)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Valores que indicam Card Present (presencial):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572000" cy="24688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93776" y="203911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" y="202082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59536" y="204825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" y="2029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755648" y="20482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Tarja magnética (lida)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572000" cy="24688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93776" y="231343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3776" y="22951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9536" y="232257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59536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755648" y="23225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Código de barras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4572000" cy="24688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93776" y="258775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93776" y="25694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59536" y="259689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59536" y="2578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755648" y="25968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Chip EMV (contato)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4572000" cy="24688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93776" y="286207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93776" y="28437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9536" y="287121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59536" y="28529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755648" y="28712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Contactless / NFC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4572000" cy="24688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93776" y="313639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93776" y="31181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59536" y="314553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59536" y="31272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755648" y="3145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Tarja magnética (fallback)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383280"/>
            <a:ext cx="4572000" cy="24688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93776" y="341071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93776" y="339242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9536" y="341985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59536" y="3401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755648" y="34198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Contactless fallback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3657600"/>
            <a:ext cx="4572000" cy="24688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493776" y="368503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93776" y="36667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59536" y="369417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859536" y="3675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755648" y="36941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Chip fallback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931920"/>
            <a:ext cx="4572000" cy="246888"/>
          </a:xfrm>
          <a:prstGeom prst="rect">
            <a:avLst/>
          </a:prstGeom>
          <a:solidFill>
            <a:srgbClr val="FFF8F0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493776" y="395935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493776" y="39410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59536" y="396849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59536" y="3950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Not Present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755648" y="39684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Manual / MOTO / Digitado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206240"/>
            <a:ext cx="4572000" cy="246888"/>
          </a:xfrm>
          <a:prstGeom prst="rect">
            <a:avLst/>
          </a:prstGeom>
          <a:solidFill>
            <a:srgbClr val="FFF8F0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493776" y="423367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493776" y="42153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59536" y="424281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859536" y="4224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Not Present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755648" y="4242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Credencial armazenada (token)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349240" y="1371600"/>
            <a:ext cx="34747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5349240" y="1371600"/>
            <a:ext cx="3474720" cy="329184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54406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MOTO_ECI_IND  (TCR1, pos.116)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40680" y="1764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8600"/>
                </a:solidFill>
              </a:rPr>
              <a:t>⚠️  ATENÇÃO — campo do CLEARING BASE II, diferente do ECI da autorização VIP!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440680" y="2221992"/>
            <a:ext cx="3246120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5504688" y="2368296"/>
            <a:ext cx="384048" cy="384048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5504688" y="233172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61888" y="2350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Visa Secure autenticado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(3DS — CAVV presente)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40680" y="2999232"/>
            <a:ext cx="324612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5504688" y="3145536"/>
            <a:ext cx="384048" cy="384048"/>
          </a:xfrm>
          <a:prstGeom prst="ellipse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5504688" y="310896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961888" y="3127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Não autenticado 3DS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(standard eCommerce)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440680" y="3858768"/>
            <a:ext cx="324612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5532120" y="39136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2C2C"/>
                </a:solidFill>
              </a:rPr>
              <a:t>Expressão CORRETA para Visa Secure: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532120" y="413308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8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(POS_ENTRY_MODE NOT IN ('02','03','05','07','90','91','95')) &amp; (MOTO_ECI_IND='5')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VISA DIRECT &amp; DISPUTES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BAI, TCQ  e  TRAN_CODE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Identificam OCT, AFT, pagamentos de contas e código de transação BASE II.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657600" cy="310896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BAI — Business Application Identifier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3, pos. 15-16 / 19-20  |  VIP Field 62.21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975104"/>
            <a:ext cx="347472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2020824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20025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1248" y="203911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Top-Up (PP Top Up OCT)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304288"/>
            <a:ext cx="3474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7200" y="2350008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" y="236829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Card Payment (OCT)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633472"/>
            <a:ext cx="347472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266090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" y="2697480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Account-to-Account (AFT)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962656"/>
            <a:ext cx="3474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57200" y="3008376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29900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" y="302666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Consumer Bill Payment (CBPS)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0" y="1371600"/>
            <a:ext cx="21945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114800" y="1371600"/>
            <a:ext cx="2194560" cy="310896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206240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TCQ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1737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</a:rPr>
              <a:t>Transaction Category Qualifier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06240" y="2011680"/>
            <a:ext cx="201168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251960" y="2084832"/>
            <a:ext cx="329184" cy="329184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251960" y="206654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45152" y="2139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AFT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06240" y="2560320"/>
            <a:ext cx="201168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251960" y="2633472"/>
            <a:ext cx="329184" cy="329184"/>
          </a:xfrm>
          <a:prstGeom prst="ellipse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251960" y="261518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'2'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45152" y="2688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OCT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1371600"/>
            <a:ext cx="23774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446520" y="1371600"/>
            <a:ext cx="2377440" cy="310896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53796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TRAN_CODE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1737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</a:rPr>
              <a:t>Transaction Code BASE II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37960" y="1975104"/>
            <a:ext cx="219456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583680" y="201168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583680" y="19933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150608" y="2039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Purchase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37960" y="2304288"/>
            <a:ext cx="2194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6583680" y="234086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583680" y="23225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150608" y="236829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ATM Cash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37960" y="2633472"/>
            <a:ext cx="219456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6583680" y="267004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583680" y="26517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150608" y="269748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Dispute Fin.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37960" y="2962656"/>
            <a:ext cx="2194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6583680" y="299923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583680" y="29809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35/36/37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150608" y="302666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</a:rPr>
              <a:t>Dispute Rvrsl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VALORES &amp; PROGRAMAS ESPECIAIS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MVV, INST, AMOUNT  e  SPI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64008" cy="14173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41422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84632" y="11247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MVV — Merchant Verification 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380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4632" y="15270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5, pos. 82-91  |  VIP Field 62.20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70992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4632" y="1856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10 chars alfanuméricos (A-F, 0-9). Primeiros 6 atribuídos pela Visa.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64008" cy="1417320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84048" y="2606040"/>
            <a:ext cx="41422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" y="26791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INST — Número de Parcelas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9352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" y="3081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8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2, pos. 42-46 (Special Merchant ID)  |  VIP Field 62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" y="326440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" y="3410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1 = à vista  |  2-6 = Parcelado range 1  |  7+ = Parcelado range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4632" y="37033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4A4A"/>
                </a:solidFill>
              </a:rPr>
              <a:t>⚡ Verificar mapeamento exato do campo de parcelamento da autorização para o campo de clearing.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64008" cy="141732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727448" y="1051560"/>
            <a:ext cx="40965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28032" y="1124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AMOUNT — Valor da Transação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13807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28032" y="1527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0, pos. 77-88  |  VIP Field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8032" y="17099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28032" y="1856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Moeda local (BRL para NNSS). Decimal. Ex: 25000.00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28032" y="2148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4A4A"/>
                </a:solidFill>
              </a:rPr>
              <a:t>⚡ Usado nos tiers BNDES (T1 a T10) com ranges de valor.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64008" cy="141732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27448" y="2606040"/>
            <a:ext cx="40965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828032" y="2679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SPI — Special Purchase Indicator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9352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28032" y="3081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2, pos. 47  |  BASE II only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32644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28032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'5' = Crediário Instantâneo (BR-CRED-SPI5)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'1'=Top-Up  '2'=COBAN  '3'=Carnê  '4'=Recurring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3703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4A4A"/>
                </a:solidFill>
              </a:rPr>
              <a:t>⚡ SPI='5' + INST &gt;= 2 = Crediário Instantâneo Parcelado.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2C2C2C"/>
                </a:solidFill>
              </a:rPr>
              <a:t>⚡ De/Para na Autorização VIP (SPI não trafega no ISO 8583):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C2C2C"/>
                </a:solidFill>
              </a:rPr>
              <a:t>Crediário (SPI=5) → Field 104, Dataset ID 5D, Tag 82 (valor=43)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C2C2C"/>
                </a:solidFill>
              </a:rPr>
              <a:t>Top-Up / COBAN → Field 62.4 ou Field 104, Dataset ID 65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20040" y="4178808"/>
            <a:ext cx="85039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57200" y="4233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💡  Como obter MVV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</a:rPr>
              <a:t>O MVV é enviado pelo merchant na autorização (Field 62.20) e deve ser retido pelo acquirer para reenvio no clearing e nos disputes. É obrigatório para os programas VPP, B2B Virtual Registered e Visa Direct SFP. O registro é feito pela Visa e os primeiros 6 dígitos identificam o programa.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CAMPOS COMPLEMENTARES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</a:rPr>
              <a:t>TAD, RESP_CODE, MCC  e  TIMELINESS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64008" cy="1417320"/>
          </a:xfrm>
          <a:prstGeom prst="rect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41422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84632" y="11247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TAD — Travel Authorization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380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4632" y="15270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8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Derivado do produto (VIP retained field)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70992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4632" y="1856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'A' = Air  |  'H' = Hotel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632" y="21488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6C27A"/>
                </a:solidFill>
              </a:rPr>
              <a:t>⚡ Usado em BR-CTA-TRAV. IRF Guide exige Acquiring ID registrado para CTA.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64008" cy="141732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84048" y="2606040"/>
            <a:ext cx="41422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" y="26791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RESP_CODE — Código de Resposta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9352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" y="3081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0 (retido da autorização)  |  VIP Field 39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" y="326440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" y="3410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'00' = Aprovada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4632" y="37033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4A4A"/>
                </a:solidFill>
              </a:rPr>
              <a:t>⚡ BR-ATM-CASH: RESP_CODE='00' garante que só transações aprovadas recebem o fee BRL 5.08.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64008" cy="14173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727448" y="1051560"/>
            <a:ext cx="40965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28032" y="1124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MCC — Merchant Category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13807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28032" y="1527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0, pos. 133-136  |  VIP Field 18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8032" y="17099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28032" y="1856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4 dígitos numéricos (ISO 18245). Ex: 5411=Supermercado, 5541=Gas Station.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28032" y="2148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28600"/>
                </a:solidFill>
              </a:rPr>
              <a:t>⚡ ⚠️  Lista de MCCs do Supermarket estava incompleta. Adicionados 5441,5451,5462,5499,5921.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64008" cy="1417320"/>
          </a:xfrm>
          <a:prstGeom prst="rect">
            <a:avLst/>
          </a:prstGeom>
          <a:solidFill>
            <a:srgbClr val="F6C27A"/>
          </a:solidFill>
          <a:ln w="12700">
            <a:solidFill>
              <a:srgbClr val="F6C2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27448" y="2606040"/>
            <a:ext cx="40965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828032" y="2679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</a:rPr>
              <a:t>TIMELINESS / MANDATORY_DATA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9352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28032" y="3081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C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Campos internos do motor de interchange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32644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A4A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28032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TIMELINESS = dias entre data de compra e clearing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</a:rPr>
              <a:t>MANDATORY_DATA = dado obrigatório ausente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3703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6C27A"/>
                </a:solidFill>
              </a:rPr>
              <a:t>⚡ ⚠️  Não são campos padrão BASE II. Documentar o mapeamento para reason codes 1R e downgrade.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20040" y="4178808"/>
            <a:ext cx="8503920" cy="713232"/>
          </a:xfrm>
          <a:prstGeom prst="rect">
            <a:avLst/>
          </a:prstGeom>
          <a:solidFill>
            <a:srgbClr val="F7F8FA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57200" y="4224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</a:rPr>
              <a:t>MCCs Supermarket corrigidos  (IRF Guide Table 5-4):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57200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5300 Wholesale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517904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517904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5411 Supermarket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578608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2578608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5422 Meat/Freezer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639312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639312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5441 Candy/Nut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700016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700016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5451 Dairy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760720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5760720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5462 Bakeries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821424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821424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5499 Misc Food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882128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7882128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5921 Pkg Liquor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FLUXO DE PONTA A PONTA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C2C"/>
                </a:solidFill>
              </a:rPr>
              <a:t>Como uma transação vira uma regra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77824" y="1188720"/>
            <a:ext cx="457200" cy="457200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77824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93192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Autorização VIP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ISO 8583 → PAN, Amount, MCC, POS Entry Mode, INST, SPI, MVV, TAD, RESP_CODE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92808" y="1417320"/>
            <a:ext cx="146304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596896" y="1188720"/>
            <a:ext cx="457200" cy="457200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59689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39112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112264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BIN Lookup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12264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PAN → consulta IP0015T1/IP0016T1 → AFS, PID, SUBTYPE, ISS_REG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11880" y="1417320"/>
            <a:ext cx="146304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315968" y="1188720"/>
            <a:ext cx="457200" cy="457200"/>
          </a:xfrm>
          <a:prstGeom prst="ellipse">
            <a:avLst/>
          </a:prstGeom>
          <a:solidFill>
            <a:srgbClr val="F28600"/>
          </a:solidFill>
          <a:ln w="12700">
            <a:solidFill>
              <a:srgbClr val="F286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31596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58184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831336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Clearing BASE II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31336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TC 05/07/15… → SETTL_FLAG, TRAN_CODE, TCQ, BAI, MOTO_ECI_IND, TIMELINESS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330952" y="1417320"/>
            <a:ext cx="146304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035040" y="118872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0350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77256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550408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Motor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0408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Avalia CONDITION_EXPRESSION com todas as variáveis → match na regra de maior prioridade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50024" y="1417320"/>
            <a:ext cx="146304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754112" y="118872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75411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96328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269480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Resultado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RATE_PCT / FIXED_FEE / CAP_FEE aplicados → lançamento na VISA_IFEE_RULE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28600"/>
                </a:solidFill>
              </a:rPr>
              <a:t>▶ Passo 6 — Validação FPI / TC 04</a:t>
            </a:r>
            <a:endParaRPr lang="en-US" sz="7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</a:rPr>
              <a:t>O motor gera um FPI (Fee Program Indicator) → viaja no TCR 1 para a VisaNet. A diferença entre o FPI previsto e o cálculo final da bandeira retorna no relatório TC 04 (Shadow Calculation), permitindo auditoria e reclassificação.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" y="3429000"/>
            <a:ext cx="8503920" cy="1463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600"/>
                </a:solidFill>
              </a:rPr>
              <a:t>Exemplo — BR-ECOM-INF-SEC (Infinite eCommerce Visa Secure)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37856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(SETTL_FLAG IN ('8','9'))  &amp;  (PID='I^')  &amp;  (AFS='C') 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(POS_ENTRY_MODE NOT IN ('02','03','05','07','90','91','95'))  &amp;  (MOTO_ECI_IND='5')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8600"/>
                </a:solidFill>
              </a:rPr>
              <a:t>→  RATE_PCT = 1.33%  |  FIXED_FEE = 0.00  |  CAP = 0.00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4A4A"/>
      </a:dk2>
      <a:lt2>
        <a:srgbClr val="E7E6E6"/>
      </a:lt2>
      <a:accent1>
        <a:srgbClr val="4A4A4A"/>
      </a:accent1>
      <a:accent2>
        <a:srgbClr val="F28600"/>
      </a:accent2>
      <a:accent3>
        <a:srgbClr val="6B7280"/>
      </a:accent3>
      <a:accent4>
        <a:srgbClr val="F6C27A"/>
      </a:accent4>
      <a:accent5>
        <a:srgbClr val="4A4A4A"/>
      </a:accent5>
      <a:accent6>
        <a:srgbClr val="4A4A4A"/>
      </a:accent6>
      <a:hlink>
        <a:srgbClr val="2C2C2C"/>
      </a:hlink>
      <a:folHlink>
        <a:srgbClr val="4A4A4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2C2C2C"/>
      </a:accent1>
      <a:accent2>
        <a:srgbClr val="F28600"/>
      </a:accent2>
      <a:accent3>
        <a:srgbClr val="4A4A4A"/>
      </a:accent3>
      <a:accent4>
        <a:srgbClr val="2C2C2C"/>
      </a:accent4>
      <a:accent5>
        <a:srgbClr val="F28600"/>
      </a:accent5>
      <a:accent6>
        <a:srgbClr val="4A4A4A"/>
      </a:accent6>
      <a:hlink>
        <a:srgbClr val="4A4A4A"/>
      </a:hlink>
      <a:folHlink>
        <a:srgbClr val="4A4A4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1470</Words>
  <Application>Microsoft Office PowerPoint</Application>
  <PresentationFormat>On-screen Show (16:9)</PresentationFormat>
  <Paragraphs>278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Visa Interchange — Variáveis e Como Obtê-las</dc:title>
  <dc:subject>PptxGenJS Presentation</dc:subject>
  <dc:creator>PptxGenJS</dc:creator>
  <cp:lastModifiedBy>Vinicius Sugamele</cp:lastModifiedBy>
  <cp:revision>2</cp:revision>
  <dcterms:created xsi:type="dcterms:W3CDTF">2026-04-29T01:48:55Z</dcterms:created>
  <dcterms:modified xsi:type="dcterms:W3CDTF">2026-04-29T20:16:04Z</dcterms:modified>
</cp:coreProperties>
</file>